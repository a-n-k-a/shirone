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handoutMasterIdLst>
    <p:handoutMasterId r:id="rId59"/>
  </p:handoutMasterIdLst>
  <p:sldIdLst>
    <p:sldId id="316" r:id="rId2"/>
    <p:sldId id="256" r:id="rId3"/>
    <p:sldId id="520" r:id="rId4"/>
    <p:sldId id="445" r:id="rId5"/>
    <p:sldId id="331" r:id="rId6"/>
    <p:sldId id="521" r:id="rId7"/>
    <p:sldId id="260" r:id="rId8"/>
    <p:sldId id="262" r:id="rId9"/>
    <p:sldId id="259" r:id="rId10"/>
    <p:sldId id="453" r:id="rId11"/>
    <p:sldId id="454" r:id="rId12"/>
    <p:sldId id="455" r:id="rId13"/>
    <p:sldId id="457" r:id="rId14"/>
    <p:sldId id="466" r:id="rId15"/>
    <p:sldId id="468" r:id="rId16"/>
    <p:sldId id="469" r:id="rId17"/>
    <p:sldId id="470" r:id="rId18"/>
    <p:sldId id="471" r:id="rId19"/>
    <p:sldId id="475" r:id="rId20"/>
    <p:sldId id="477" r:id="rId21"/>
    <p:sldId id="479" r:id="rId22"/>
    <p:sldId id="480" r:id="rId23"/>
    <p:sldId id="481" r:id="rId24"/>
    <p:sldId id="482" r:id="rId25"/>
    <p:sldId id="483" r:id="rId26"/>
    <p:sldId id="484" r:id="rId27"/>
    <p:sldId id="307" r:id="rId28"/>
    <p:sldId id="522" r:id="rId29"/>
    <p:sldId id="502" r:id="rId30"/>
    <p:sldId id="503" r:id="rId31"/>
    <p:sldId id="504" r:id="rId32"/>
    <p:sldId id="505" r:id="rId33"/>
    <p:sldId id="523" r:id="rId34"/>
    <p:sldId id="506" r:id="rId35"/>
    <p:sldId id="507" r:id="rId36"/>
    <p:sldId id="508" r:id="rId37"/>
    <p:sldId id="509" r:id="rId38"/>
    <p:sldId id="510" r:id="rId39"/>
    <p:sldId id="511" r:id="rId40"/>
    <p:sldId id="512" r:id="rId41"/>
    <p:sldId id="258" r:id="rId42"/>
    <p:sldId id="261" r:id="rId43"/>
    <p:sldId id="282" r:id="rId44"/>
    <p:sldId id="265" r:id="rId45"/>
    <p:sldId id="277" r:id="rId46"/>
    <p:sldId id="266" r:id="rId47"/>
    <p:sldId id="300" r:id="rId48"/>
    <p:sldId id="299" r:id="rId49"/>
    <p:sldId id="285" r:id="rId50"/>
    <p:sldId id="286" r:id="rId51"/>
    <p:sldId id="287" r:id="rId52"/>
    <p:sldId id="301" r:id="rId53"/>
    <p:sldId id="302" r:id="rId54"/>
    <p:sldId id="303" r:id="rId55"/>
    <p:sldId id="304" r:id="rId56"/>
    <p:sldId id="513"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AB9"/>
    <a:srgbClr val="EDFA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78329" autoAdjust="0"/>
  </p:normalViewPr>
  <p:slideViewPr>
    <p:cSldViewPr>
      <p:cViewPr varScale="1">
        <p:scale>
          <a:sx n="61" d="100"/>
          <a:sy n="61" d="100"/>
        </p:scale>
        <p:origin x="1910" y="53"/>
      </p:cViewPr>
      <p:guideLst>
        <p:guide orient="horz" pos="2160"/>
        <p:guide pos="2880"/>
      </p:guideLst>
    </p:cSldViewPr>
  </p:slideViewPr>
  <p:notesTextViewPr>
    <p:cViewPr>
      <p:scale>
        <a:sx n="100" d="100"/>
        <a:sy n="100" d="100"/>
      </p:scale>
      <p:origin x="0" y="0"/>
    </p:cViewPr>
  </p:notesTextViewPr>
  <p:sorterViewPr>
    <p:cViewPr>
      <p:scale>
        <a:sx n="141" d="100"/>
        <a:sy n="141" d="100"/>
      </p:scale>
      <p:origin x="0" y="-1105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U08048</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r>
              <a:rPr lang="en-US"/>
              <a:t>Feb. 2015</a:t>
            </a: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Lecture 1</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E9306DB-C550-504E-9DCA-DAF3404DD813}" type="slidenum">
              <a:rPr lang="en-US" smtClean="0"/>
              <a:t>‹#›</a:t>
            </a:fld>
            <a:endParaRPr lang="en-US"/>
          </a:p>
        </p:txBody>
      </p:sp>
    </p:spTree>
    <p:extLst>
      <p:ext uri="{BB962C8B-B14F-4D97-AF65-F5344CB8AC3E}">
        <p14:creationId xmlns:p14="http://schemas.microsoft.com/office/powerpoint/2010/main" val="2159531469"/>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U08048</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r>
              <a:rPr lang="en-US"/>
              <a:t>Feb. 2015</a:t>
            </a: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Lecture 1</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3E1D0F5-CBB9-476F-834C-2232B1EFF560}" type="slidenum">
              <a:rPr lang="en-US" smtClean="0"/>
              <a:pPr/>
              <a:t>‹#›</a:t>
            </a:fld>
            <a:endParaRPr lang="en-US"/>
          </a:p>
        </p:txBody>
      </p:sp>
    </p:spTree>
    <p:extLst>
      <p:ext uri="{BB962C8B-B14F-4D97-AF65-F5344CB8AC3E}">
        <p14:creationId xmlns:p14="http://schemas.microsoft.com/office/powerpoint/2010/main" val="3835043501"/>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p:cNvSpPr>
            <a:spLocks noGrp="1"/>
          </p:cNvSpPr>
          <p:nvPr>
            <p:ph type="hdr" sz="quarter"/>
          </p:nvPr>
        </p:nvSpPr>
        <p:spPr/>
        <p:txBody>
          <a:bodyPr/>
          <a:lstStyle/>
          <a:p>
            <a:r>
              <a:rPr lang="en-US"/>
              <a:t>U08048</a:t>
            </a:r>
          </a:p>
        </p:txBody>
      </p:sp>
      <p:sp>
        <p:nvSpPr>
          <p:cNvPr id="5" name="Date Placeholder 4"/>
          <p:cNvSpPr>
            <a:spLocks noGrp="1"/>
          </p:cNvSpPr>
          <p:nvPr>
            <p:ph type="dt" idx="1"/>
          </p:nvPr>
        </p:nvSpPr>
        <p:spPr/>
        <p:txBody>
          <a:bodyPr/>
          <a:lstStyle/>
          <a:p>
            <a:r>
              <a:rPr lang="en-US"/>
              <a:t>Feb. 2015</a:t>
            </a:r>
          </a:p>
        </p:txBody>
      </p:sp>
      <p:sp>
        <p:nvSpPr>
          <p:cNvPr id="6" name="Footer Placeholder 5"/>
          <p:cNvSpPr>
            <a:spLocks noGrp="1"/>
          </p:cNvSpPr>
          <p:nvPr>
            <p:ph type="ftr" sz="quarter" idx="4"/>
          </p:nvPr>
        </p:nvSpPr>
        <p:spPr/>
        <p:txBody>
          <a:bodyPr/>
          <a:lstStyle/>
          <a:p>
            <a:r>
              <a:rPr lang="en-US"/>
              <a:t>Lecture 1</a:t>
            </a:r>
          </a:p>
        </p:txBody>
      </p:sp>
      <p:sp>
        <p:nvSpPr>
          <p:cNvPr id="7" name="Slide Number Placeholder 6"/>
          <p:cNvSpPr>
            <a:spLocks noGrp="1"/>
          </p:cNvSpPr>
          <p:nvPr>
            <p:ph type="sldNum" sz="quarter" idx="5"/>
          </p:nvPr>
        </p:nvSpPr>
        <p:spPr/>
        <p:txBody>
          <a:bodyPr/>
          <a:lstStyle/>
          <a:p>
            <a:fld id="{53E1D0F5-CBB9-476F-834C-2232B1EFF560}" type="slidenum">
              <a:rPr lang="en-US" smtClean="0"/>
              <a:pPr/>
              <a:t>6</a:t>
            </a:fld>
            <a:endParaRPr lang="en-US"/>
          </a:p>
        </p:txBody>
      </p:sp>
    </p:spTree>
    <p:extLst>
      <p:ext uri="{BB962C8B-B14F-4D97-AF65-F5344CB8AC3E}">
        <p14:creationId xmlns:p14="http://schemas.microsoft.com/office/powerpoint/2010/main" val="2562558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CD8F50E0-DA15-4EE3-9E03-07B90F8D9CCD}" type="slidenum">
              <a:rPr lang="zh-CN" altLang="en-US" smtClean="0"/>
              <a:pPr/>
              <a:t>10</a:t>
            </a:fld>
            <a:endParaRPr lang="en-US" altLang="zh-CN"/>
          </a:p>
        </p:txBody>
      </p:sp>
      <p:sp>
        <p:nvSpPr>
          <p:cNvPr id="56323" name="Rectangle 2"/>
          <p:cNvSpPr>
            <a:spLocks noGrp="1" noRot="1" noChangeAspect="1" noChangeArrowheads="1" noTextEdit="1"/>
          </p:cNvSpPr>
          <p:nvPr>
            <p:ph type="sldImg"/>
          </p:nvPr>
        </p:nvSpPr>
        <p:spPr>
          <a:xfrm>
            <a:off x="590550" y="503238"/>
            <a:ext cx="5600700" cy="4200525"/>
          </a:xfrm>
          <a:ln/>
        </p:spPr>
      </p:sp>
      <p:sp>
        <p:nvSpPr>
          <p:cNvPr id="56324" name="Rectangle 3"/>
          <p:cNvSpPr>
            <a:spLocks noGrp="1" noChangeArrowheads="1"/>
          </p:cNvSpPr>
          <p:nvPr>
            <p:ph type="body" idx="1"/>
          </p:nvPr>
        </p:nvSpPr>
        <p:spPr>
          <a:xfrm>
            <a:off x="904875" y="4711700"/>
            <a:ext cx="4972050" cy="4462463"/>
          </a:xfrm>
          <a:noFill/>
          <a:ln/>
        </p:spPr>
        <p:txBody>
          <a:bodyPr>
            <a:normAutofit fontScale="70000" lnSpcReduction="20000"/>
          </a:bodyPr>
          <a:lstStyle/>
          <a:p>
            <a:pPr eaLnBrk="1" hangingPunct="1">
              <a:spcBef>
                <a:spcPct val="50000"/>
              </a:spcBef>
            </a:pPr>
            <a:r>
              <a:rPr lang="en-US" altLang="zh-CN" sz="2400" u="sng" dirty="0">
                <a:latin typeface="Tahoma" pitchFamily="34" charset="0"/>
              </a:rPr>
              <a:t>Include</a:t>
            </a:r>
            <a:r>
              <a:rPr lang="en-US" altLang="zh-CN" sz="2400" dirty="0">
                <a:latin typeface="Tahoma" pitchFamily="34" charset="0"/>
              </a:rPr>
              <a:t> relationships factor use cases into additional ones. Includes are especially helpful when the same use case can be factored out of two different use cases. Both </a:t>
            </a:r>
            <a:r>
              <a:rPr lang="en-US" altLang="zh-CN" sz="2400" i="1" dirty="0">
                <a:latin typeface="Tahoma" pitchFamily="34" charset="0"/>
              </a:rPr>
              <a:t>Make Appointment</a:t>
            </a:r>
            <a:r>
              <a:rPr lang="en-US" altLang="zh-CN" sz="2400" dirty="0">
                <a:latin typeface="Tahoma" pitchFamily="34" charset="0"/>
              </a:rPr>
              <a:t> and </a:t>
            </a:r>
            <a:r>
              <a:rPr lang="en-US" altLang="zh-CN" sz="2400" i="1" dirty="0">
                <a:latin typeface="Tahoma" pitchFamily="34" charset="0"/>
              </a:rPr>
              <a:t>Request Medication</a:t>
            </a:r>
            <a:r>
              <a:rPr lang="en-US" altLang="zh-CN" sz="2400" dirty="0">
                <a:latin typeface="Tahoma" pitchFamily="34" charset="0"/>
              </a:rPr>
              <a:t> include</a:t>
            </a:r>
            <a:r>
              <a:rPr lang="en-US" altLang="zh-CN" sz="2400" i="1" dirty="0">
                <a:latin typeface="Tahoma" pitchFamily="34" charset="0"/>
              </a:rPr>
              <a:t> Check Patient</a:t>
            </a:r>
            <a:r>
              <a:rPr lang="en-US" altLang="zh-CN" sz="2400" dirty="0">
                <a:latin typeface="Tahoma" pitchFamily="34" charset="0"/>
              </a:rPr>
              <a:t> </a:t>
            </a:r>
            <a:r>
              <a:rPr lang="en-US" altLang="zh-CN" sz="2400" i="1" dirty="0">
                <a:latin typeface="Tahoma" pitchFamily="34" charset="0"/>
              </a:rPr>
              <a:t>Record</a:t>
            </a:r>
            <a:r>
              <a:rPr lang="en-US" altLang="zh-CN" sz="2400" dirty="0">
                <a:latin typeface="Tahoma" pitchFamily="34" charset="0"/>
              </a:rPr>
              <a:t> as a subtask. In the diagram,</a:t>
            </a:r>
            <a:r>
              <a:rPr lang="en-GB" sz="2400" dirty="0">
                <a:latin typeface="Tahoma" pitchFamily="34" charset="0"/>
              </a:rPr>
              <a:t> </a:t>
            </a:r>
            <a:r>
              <a:rPr lang="en-US" altLang="zh-CN" sz="2400" dirty="0">
                <a:latin typeface="Tahoma" pitchFamily="34" charset="0"/>
              </a:rPr>
              <a:t>include notation is a dotted line beginning at base use case ending with an arrows pointing to the include use case. The dotted line is labeled</a:t>
            </a:r>
          </a:p>
          <a:p>
            <a:pPr eaLnBrk="1" hangingPunct="1">
              <a:spcBef>
                <a:spcPct val="50000"/>
              </a:spcBef>
            </a:pPr>
            <a:r>
              <a:rPr lang="en-US" altLang="zh-CN" sz="2400" dirty="0">
                <a:latin typeface="Tahoma" pitchFamily="34" charset="0"/>
              </a:rPr>
              <a:t>&lt;&lt;include&gt;&gt;.</a:t>
            </a:r>
          </a:p>
          <a:p>
            <a:pPr eaLnBrk="1" hangingPunct="1">
              <a:spcBef>
                <a:spcPct val="50000"/>
              </a:spcBef>
            </a:pPr>
            <a:r>
              <a:rPr lang="en-US" altLang="zh-CN" sz="2400" dirty="0">
                <a:latin typeface="Tahoma" pitchFamily="34" charset="0"/>
              </a:rPr>
              <a:t>An </a:t>
            </a:r>
            <a:r>
              <a:rPr lang="en-US" altLang="zh-CN" sz="2400" u="sng" dirty="0">
                <a:latin typeface="Tahoma" pitchFamily="34" charset="0"/>
              </a:rPr>
              <a:t>extend</a:t>
            </a:r>
            <a:r>
              <a:rPr lang="en-US" altLang="zh-CN" sz="2400" dirty="0">
                <a:latin typeface="Tahoma" pitchFamily="34" charset="0"/>
              </a:rPr>
              <a:t> relationship indicates that one use case is a variation of another. Extend notation is a dotted line, labeled &lt;&lt;extend&gt;&gt;, and with an</a:t>
            </a:r>
            <a:r>
              <a:rPr lang="en-GB" sz="2400" dirty="0">
                <a:latin typeface="Tahoma" pitchFamily="34" charset="0"/>
              </a:rPr>
              <a:t> </a:t>
            </a:r>
            <a:r>
              <a:rPr lang="en-US" altLang="zh-CN" sz="2400" dirty="0">
                <a:latin typeface="Tahoma" pitchFamily="34" charset="0"/>
              </a:rPr>
              <a:t>arrow toward the base case. The extension point, which determines when the extended case is appropriate, is written inside the base case</a:t>
            </a:r>
            <a:endParaRPr lang="en-GB" sz="2400" dirty="0">
              <a:latin typeface="Tahoma" pitchFamily="34" charset="0"/>
            </a:endParaRPr>
          </a:p>
        </p:txBody>
      </p:sp>
    </p:spTree>
    <p:extLst>
      <p:ext uri="{BB962C8B-B14F-4D97-AF65-F5344CB8AC3E}">
        <p14:creationId xmlns:p14="http://schemas.microsoft.com/office/powerpoint/2010/main" val="3106872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EC13A57C-AC2D-4E2C-89BF-239F479E17A6}" type="slidenum">
              <a:rPr lang="zh-CN" altLang="en-US" smtClean="0"/>
              <a:pPr/>
              <a:t>15</a:t>
            </a:fld>
            <a:endParaRPr lang="en-US" altLang="zh-CN"/>
          </a:p>
        </p:txBody>
      </p:sp>
      <p:sp>
        <p:nvSpPr>
          <p:cNvPr id="59395" name="Rectangle 2"/>
          <p:cNvSpPr>
            <a:spLocks noGrp="1" noRot="1" noChangeAspect="1" noChangeArrowheads="1" noTextEdit="1"/>
          </p:cNvSpPr>
          <p:nvPr>
            <p:ph type="sldImg"/>
          </p:nvPr>
        </p:nvSpPr>
        <p:spPr>
          <a:xfrm>
            <a:off x="823913" y="-157163"/>
            <a:ext cx="5024437" cy="3768726"/>
          </a:xfrm>
          <a:ln/>
        </p:spPr>
      </p:sp>
      <p:sp>
        <p:nvSpPr>
          <p:cNvPr id="59396" name="Rectangle 3"/>
          <p:cNvSpPr>
            <a:spLocks noGrp="1" noChangeArrowheads="1"/>
          </p:cNvSpPr>
          <p:nvPr>
            <p:ph type="body" idx="1"/>
          </p:nvPr>
        </p:nvSpPr>
        <p:spPr>
          <a:xfrm>
            <a:off x="452438" y="3573463"/>
            <a:ext cx="5919787" cy="5683250"/>
          </a:xfrm>
          <a:noFill/>
          <a:ln/>
        </p:spPr>
        <p:txBody>
          <a:bodyPr/>
          <a:lstStyle/>
          <a:p>
            <a:pPr eaLnBrk="1" hangingPunct="1"/>
            <a:endParaRPr lang="it-IT"/>
          </a:p>
        </p:txBody>
      </p:sp>
    </p:spTree>
    <p:extLst>
      <p:ext uri="{BB962C8B-B14F-4D97-AF65-F5344CB8AC3E}">
        <p14:creationId xmlns:p14="http://schemas.microsoft.com/office/powerpoint/2010/main" val="4039108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U08048</a:t>
            </a:r>
          </a:p>
        </p:txBody>
      </p:sp>
      <p:sp>
        <p:nvSpPr>
          <p:cNvPr id="5" name="Date Placeholder 4"/>
          <p:cNvSpPr>
            <a:spLocks noGrp="1"/>
          </p:cNvSpPr>
          <p:nvPr>
            <p:ph type="dt" idx="1"/>
          </p:nvPr>
        </p:nvSpPr>
        <p:spPr/>
        <p:txBody>
          <a:bodyPr/>
          <a:lstStyle/>
          <a:p>
            <a:r>
              <a:rPr lang="en-US"/>
              <a:t>Feb. 2015</a:t>
            </a:r>
          </a:p>
        </p:txBody>
      </p:sp>
      <p:sp>
        <p:nvSpPr>
          <p:cNvPr id="6" name="Footer Placeholder 5"/>
          <p:cNvSpPr>
            <a:spLocks noGrp="1"/>
          </p:cNvSpPr>
          <p:nvPr>
            <p:ph type="ftr" sz="quarter" idx="4"/>
          </p:nvPr>
        </p:nvSpPr>
        <p:spPr/>
        <p:txBody>
          <a:bodyPr/>
          <a:lstStyle/>
          <a:p>
            <a:r>
              <a:rPr lang="en-US"/>
              <a:t>Lecture 1</a:t>
            </a:r>
          </a:p>
        </p:txBody>
      </p:sp>
      <p:sp>
        <p:nvSpPr>
          <p:cNvPr id="7" name="Slide Number Placeholder 6"/>
          <p:cNvSpPr>
            <a:spLocks noGrp="1"/>
          </p:cNvSpPr>
          <p:nvPr>
            <p:ph type="sldNum" sz="quarter" idx="5"/>
          </p:nvPr>
        </p:nvSpPr>
        <p:spPr/>
        <p:txBody>
          <a:bodyPr/>
          <a:lstStyle/>
          <a:p>
            <a:fld id="{53E1D0F5-CBB9-476F-834C-2232B1EFF560}" type="slidenum">
              <a:rPr lang="en-US" smtClean="0"/>
              <a:pPr/>
              <a:t>19</a:t>
            </a:fld>
            <a:endParaRPr lang="en-US"/>
          </a:p>
        </p:txBody>
      </p:sp>
    </p:spTree>
    <p:extLst>
      <p:ext uri="{BB962C8B-B14F-4D97-AF65-F5344CB8AC3E}">
        <p14:creationId xmlns:p14="http://schemas.microsoft.com/office/powerpoint/2010/main" val="3898704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U08048</a:t>
            </a:r>
          </a:p>
        </p:txBody>
      </p:sp>
      <p:sp>
        <p:nvSpPr>
          <p:cNvPr id="5" name="Date Placeholder 4"/>
          <p:cNvSpPr>
            <a:spLocks noGrp="1"/>
          </p:cNvSpPr>
          <p:nvPr>
            <p:ph type="dt" idx="1"/>
          </p:nvPr>
        </p:nvSpPr>
        <p:spPr/>
        <p:txBody>
          <a:bodyPr/>
          <a:lstStyle/>
          <a:p>
            <a:r>
              <a:rPr lang="en-US"/>
              <a:t>Feb. 2015</a:t>
            </a:r>
          </a:p>
        </p:txBody>
      </p:sp>
      <p:sp>
        <p:nvSpPr>
          <p:cNvPr id="6" name="Footer Placeholder 5"/>
          <p:cNvSpPr>
            <a:spLocks noGrp="1"/>
          </p:cNvSpPr>
          <p:nvPr>
            <p:ph type="ftr" sz="quarter" idx="4"/>
          </p:nvPr>
        </p:nvSpPr>
        <p:spPr/>
        <p:txBody>
          <a:bodyPr/>
          <a:lstStyle/>
          <a:p>
            <a:r>
              <a:rPr lang="en-US"/>
              <a:t>Lecture 1</a:t>
            </a:r>
          </a:p>
        </p:txBody>
      </p:sp>
      <p:sp>
        <p:nvSpPr>
          <p:cNvPr id="7" name="Slide Number Placeholder 6"/>
          <p:cNvSpPr>
            <a:spLocks noGrp="1"/>
          </p:cNvSpPr>
          <p:nvPr>
            <p:ph type="sldNum" sz="quarter" idx="5"/>
          </p:nvPr>
        </p:nvSpPr>
        <p:spPr/>
        <p:txBody>
          <a:bodyPr/>
          <a:lstStyle/>
          <a:p>
            <a:fld id="{53E1D0F5-CBB9-476F-834C-2232B1EFF560}" type="slidenum">
              <a:rPr lang="en-US" smtClean="0"/>
              <a:pPr/>
              <a:t>31</a:t>
            </a:fld>
            <a:endParaRPr lang="en-US"/>
          </a:p>
        </p:txBody>
      </p:sp>
    </p:spTree>
    <p:extLst>
      <p:ext uri="{BB962C8B-B14F-4D97-AF65-F5344CB8AC3E}">
        <p14:creationId xmlns:p14="http://schemas.microsoft.com/office/powerpoint/2010/main" val="1261174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Engineering stopped here</a:t>
            </a:r>
          </a:p>
        </p:txBody>
      </p:sp>
      <p:sp>
        <p:nvSpPr>
          <p:cNvPr id="4" name="Header Placeholder 3"/>
          <p:cNvSpPr>
            <a:spLocks noGrp="1"/>
          </p:cNvSpPr>
          <p:nvPr>
            <p:ph type="hdr" sz="quarter"/>
          </p:nvPr>
        </p:nvSpPr>
        <p:spPr/>
        <p:txBody>
          <a:bodyPr/>
          <a:lstStyle/>
          <a:p>
            <a:r>
              <a:rPr lang="en-US"/>
              <a:t>U08048</a:t>
            </a:r>
          </a:p>
        </p:txBody>
      </p:sp>
      <p:sp>
        <p:nvSpPr>
          <p:cNvPr id="5" name="Date Placeholder 4"/>
          <p:cNvSpPr>
            <a:spLocks noGrp="1"/>
          </p:cNvSpPr>
          <p:nvPr>
            <p:ph type="dt" idx="1"/>
          </p:nvPr>
        </p:nvSpPr>
        <p:spPr/>
        <p:txBody>
          <a:bodyPr/>
          <a:lstStyle/>
          <a:p>
            <a:r>
              <a:rPr lang="en-US"/>
              <a:t>Feb. 2015</a:t>
            </a:r>
          </a:p>
        </p:txBody>
      </p:sp>
      <p:sp>
        <p:nvSpPr>
          <p:cNvPr id="6" name="Footer Placeholder 5"/>
          <p:cNvSpPr>
            <a:spLocks noGrp="1"/>
          </p:cNvSpPr>
          <p:nvPr>
            <p:ph type="ftr" sz="quarter" idx="4"/>
          </p:nvPr>
        </p:nvSpPr>
        <p:spPr/>
        <p:txBody>
          <a:bodyPr/>
          <a:lstStyle/>
          <a:p>
            <a:r>
              <a:rPr lang="en-US"/>
              <a:t>Lecture 1</a:t>
            </a:r>
          </a:p>
        </p:txBody>
      </p:sp>
      <p:sp>
        <p:nvSpPr>
          <p:cNvPr id="7" name="Slide Number Placeholder 6"/>
          <p:cNvSpPr>
            <a:spLocks noGrp="1"/>
          </p:cNvSpPr>
          <p:nvPr>
            <p:ph type="sldNum" sz="quarter" idx="5"/>
          </p:nvPr>
        </p:nvSpPr>
        <p:spPr/>
        <p:txBody>
          <a:bodyPr/>
          <a:lstStyle/>
          <a:p>
            <a:fld id="{53E1D0F5-CBB9-476F-834C-2232B1EFF560}" type="slidenum">
              <a:rPr lang="en-US" smtClean="0"/>
              <a:pPr/>
              <a:t>39</a:t>
            </a:fld>
            <a:endParaRPr lang="en-US"/>
          </a:p>
        </p:txBody>
      </p:sp>
    </p:spTree>
    <p:extLst>
      <p:ext uri="{BB962C8B-B14F-4D97-AF65-F5344CB8AC3E}">
        <p14:creationId xmlns:p14="http://schemas.microsoft.com/office/powerpoint/2010/main" val="585161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794702F6-E78A-4D45-874B-9D48A2397A07}" type="slidenum">
              <a:rPr lang="zh-CN" altLang="en-US" smtClean="0"/>
              <a:pPr/>
              <a:t>43</a:t>
            </a:fld>
            <a:endParaRPr lang="en-US" altLang="zh-CN"/>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xfrm>
            <a:off x="914400" y="4343400"/>
            <a:ext cx="5029200" cy="4114800"/>
          </a:xfrm>
          <a:noFill/>
          <a:ln/>
        </p:spPr>
        <p:txBody>
          <a:bodyPr/>
          <a:lstStyle/>
          <a:p>
            <a:pPr eaLnBrk="1" hangingPunct="1"/>
            <a:endParaRPr lang="en-GB"/>
          </a:p>
        </p:txBody>
      </p:sp>
    </p:spTree>
    <p:extLst>
      <p:ext uri="{BB962C8B-B14F-4D97-AF65-F5344CB8AC3E}">
        <p14:creationId xmlns:p14="http://schemas.microsoft.com/office/powerpoint/2010/main" val="3211365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22183228-59B7-4E74-91C4-80F1B1348959}" type="slidenum">
              <a:rPr lang="zh-CN" altLang="en-US" smtClean="0"/>
              <a:pPr/>
              <a:t>45</a:t>
            </a:fld>
            <a:endParaRPr lang="en-US" altLang="zh-CN"/>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xfrm>
            <a:off x="914400" y="4343400"/>
            <a:ext cx="5029200" cy="4114800"/>
          </a:xfrm>
          <a:noFill/>
          <a:ln/>
        </p:spPr>
        <p:txBody>
          <a:bodyPr/>
          <a:lstStyle/>
          <a:p>
            <a:pPr eaLnBrk="1" hangingPunct="1"/>
            <a:r>
              <a:rPr lang="en-GB" dirty="0"/>
              <a:t>CS</a:t>
            </a:r>
          </a:p>
        </p:txBody>
      </p:sp>
    </p:spTree>
    <p:extLst>
      <p:ext uri="{BB962C8B-B14F-4D97-AF65-F5344CB8AC3E}">
        <p14:creationId xmlns:p14="http://schemas.microsoft.com/office/powerpoint/2010/main" val="23845993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4" descr="OB PPT banner white 150"/>
          <p:cNvPicPr>
            <a:picLocks noChangeAspect="1" noChangeArrowheads="1"/>
          </p:cNvPicPr>
          <p:nvPr/>
        </p:nvPicPr>
        <p:blipFill>
          <a:blip r:embed="rId2" cstate="print"/>
          <a:srcRect/>
          <a:stretch>
            <a:fillRect/>
          </a:stretch>
        </p:blipFill>
        <p:spPr bwMode="auto">
          <a:xfrm>
            <a:off x="311150" y="304800"/>
            <a:ext cx="8528050" cy="1107976"/>
          </a:xfrm>
          <a:prstGeom prst="rect">
            <a:avLst/>
          </a:prstGeom>
          <a:noFill/>
          <a:ln w="9525">
            <a:noFill/>
            <a:miter lim="800000"/>
            <a:headEnd/>
            <a:tailEnd/>
          </a:ln>
        </p:spPr>
      </p:pic>
      <p:sp>
        <p:nvSpPr>
          <p:cNvPr id="3" name="Subtitle 2"/>
          <p:cNvSpPr>
            <a:spLocks noGrp="1"/>
          </p:cNvSpPr>
          <p:nvPr>
            <p:ph type="subTitle" idx="1"/>
          </p:nvPr>
        </p:nvSpPr>
        <p:spPr>
          <a:xfrm>
            <a:off x="323529" y="1412777"/>
            <a:ext cx="8533134" cy="5107482"/>
          </a:xfrm>
        </p:spPr>
        <p:txBody>
          <a:bodyPr/>
          <a:lstStyle>
            <a:lvl1pPr marL="363538" indent="-363538" algn="l">
              <a:buFont typeface="Wingdings" charset="2"/>
              <a:buChar char="²"/>
              <a:defRPr sz="2800" b="0">
                <a:solidFill>
                  <a:schemeClr val="bg2"/>
                </a:solidFill>
              </a:defRPr>
            </a:lvl1pPr>
            <a:lvl2pPr marL="800100" indent="-342900" algn="l">
              <a:buFont typeface="Lucida Grande"/>
              <a:buChar char="-"/>
              <a:defRPr>
                <a:solidFill>
                  <a:srgbClr val="36424A"/>
                </a:solidFill>
              </a:defRPr>
            </a:lvl2pPr>
            <a:lvl3pPr marL="1257300" indent="-342900" algn="l">
              <a:buFont typeface="Arial"/>
              <a:buChar char="•"/>
              <a:defRPr>
                <a:solidFill>
                  <a:srgbClr val="36424A"/>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r>
              <a:rPr lang="en-US" dirty="0"/>
              <a:t>List 1</a:t>
            </a:r>
          </a:p>
          <a:p>
            <a:pPr lvl="2"/>
            <a:r>
              <a:rPr lang="en-US" dirty="0"/>
              <a:t>List 2</a:t>
            </a:r>
            <a:endParaRPr lang="en-GB" dirty="0"/>
          </a:p>
        </p:txBody>
      </p:sp>
      <p:sp>
        <p:nvSpPr>
          <p:cNvPr id="8" name="Title 1"/>
          <p:cNvSpPr>
            <a:spLocks noGrp="1"/>
          </p:cNvSpPr>
          <p:nvPr>
            <p:ph type="ctrTitle"/>
          </p:nvPr>
        </p:nvSpPr>
        <p:spPr>
          <a:xfrm>
            <a:off x="323528" y="312738"/>
            <a:ext cx="8487752" cy="1100038"/>
          </a:xfrm>
        </p:spPr>
        <p:txBody>
          <a:bodyPr>
            <a:normAutofit/>
          </a:bodyPr>
          <a:lstStyle>
            <a:lvl1pPr algn="l">
              <a:defRPr sz="3200">
                <a:solidFill>
                  <a:schemeClr val="bg1"/>
                </a:solidFill>
                <a:latin typeface="+mj-lt"/>
              </a:defRPr>
            </a:lvl1pPr>
          </a:lstStyle>
          <a:p>
            <a:r>
              <a:rPr lang="en-US" dirty="0"/>
              <a:t>Click to edit Master title style</a:t>
            </a:r>
            <a:endParaRPr lang="en-GB" dirty="0"/>
          </a:p>
        </p:txBody>
      </p:sp>
      <p:sp>
        <p:nvSpPr>
          <p:cNvPr id="5" name="Date Placeholder 2">
            <a:extLst>
              <a:ext uri="{FF2B5EF4-FFF2-40B4-BE49-F238E27FC236}">
                <a16:creationId xmlns:a16="http://schemas.microsoft.com/office/drawing/2014/main" id="{6738B68D-0EA0-6D49-86D5-EEAC4B2C45CF}"/>
              </a:ext>
            </a:extLst>
          </p:cNvPr>
          <p:cNvSpPr>
            <a:spLocks noGrp="1"/>
          </p:cNvSpPr>
          <p:nvPr>
            <p:ph type="dt" sz="half" idx="2"/>
          </p:nvPr>
        </p:nvSpPr>
        <p:spPr>
          <a:xfrm>
            <a:off x="395536" y="6520259"/>
            <a:ext cx="2133600" cy="365125"/>
          </a:xfrm>
          <a:prstGeom prst="rect">
            <a:avLst/>
          </a:prstGeom>
        </p:spPr>
        <p:txBody>
          <a:bodyPr vert="horz" lIns="91440" tIns="45720" rIns="91440" bIns="45720" rtlCol="0" anchor="ctr"/>
          <a:lstStyle>
            <a:lvl1pPr algn="l">
              <a:defRPr sz="1200">
                <a:solidFill>
                  <a:schemeClr val="tx2"/>
                </a:solidFill>
              </a:defRPr>
            </a:lvl1pPr>
          </a:lstStyle>
          <a:p>
            <a:r>
              <a:rPr lang="en-GB"/>
              <a:t>Oct. 2021</a:t>
            </a:r>
          </a:p>
        </p:txBody>
      </p:sp>
      <p:sp>
        <p:nvSpPr>
          <p:cNvPr id="6" name="Footer Placeholder 3">
            <a:extLst>
              <a:ext uri="{FF2B5EF4-FFF2-40B4-BE49-F238E27FC236}">
                <a16:creationId xmlns:a16="http://schemas.microsoft.com/office/drawing/2014/main" id="{837914D1-7496-F34B-9E19-C8F8D9E9E673}"/>
              </a:ext>
            </a:extLst>
          </p:cNvPr>
          <p:cNvSpPr>
            <a:spLocks noGrp="1"/>
          </p:cNvSpPr>
          <p:nvPr>
            <p:ph type="ftr" sz="quarter" idx="3"/>
          </p:nvPr>
        </p:nvSpPr>
        <p:spPr>
          <a:xfrm>
            <a:off x="2555776" y="6520259"/>
            <a:ext cx="4392488" cy="365125"/>
          </a:xfrm>
          <a:prstGeom prst="rect">
            <a:avLst/>
          </a:prstGeom>
        </p:spPr>
        <p:txBody>
          <a:bodyPr vert="horz" lIns="91440" tIns="45720" rIns="91440" bIns="45720" rtlCol="0" anchor="ctr"/>
          <a:lstStyle>
            <a:lvl1pPr algn="ctr">
              <a:defRPr sz="1200">
                <a:solidFill>
                  <a:schemeClr val="tx2"/>
                </a:solidFill>
              </a:defRPr>
            </a:lvl1pPr>
          </a:lstStyle>
          <a:p>
            <a:r>
              <a:rPr lang="fr-FR"/>
              <a:t>COMP6030: Lecture 4</a:t>
            </a:r>
            <a:endParaRPr lang="en-GB"/>
          </a:p>
        </p:txBody>
      </p:sp>
      <p:sp>
        <p:nvSpPr>
          <p:cNvPr id="7" name="Slide Number Placeholder 4">
            <a:extLst>
              <a:ext uri="{FF2B5EF4-FFF2-40B4-BE49-F238E27FC236}">
                <a16:creationId xmlns:a16="http://schemas.microsoft.com/office/drawing/2014/main" id="{0B71B3A0-39F2-644A-8F8B-349A0D114C61}"/>
              </a:ext>
            </a:extLst>
          </p:cNvPr>
          <p:cNvSpPr>
            <a:spLocks noGrp="1"/>
          </p:cNvSpPr>
          <p:nvPr>
            <p:ph type="sldNum" sz="quarter" idx="4"/>
          </p:nvPr>
        </p:nvSpPr>
        <p:spPr>
          <a:xfrm>
            <a:off x="7380312" y="6520259"/>
            <a:ext cx="1413520" cy="365125"/>
          </a:xfrm>
          <a:prstGeom prst="rect">
            <a:avLst/>
          </a:prstGeom>
        </p:spPr>
        <p:txBody>
          <a:bodyPr vert="horz" lIns="91440" tIns="45720" rIns="91440" bIns="45720" rtlCol="0" anchor="ctr"/>
          <a:lstStyle>
            <a:lvl1pPr algn="r">
              <a:defRPr sz="1200">
                <a:solidFill>
                  <a:schemeClr val="tx2"/>
                </a:solidFill>
              </a:defRPr>
            </a:lvl1pPr>
          </a:lstStyle>
          <a:p>
            <a:fld id="{D6255EFE-3ACE-DA4E-80CE-7588690A9A08}"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_Title Slide">
    <p:spTree>
      <p:nvGrpSpPr>
        <p:cNvPr id="1" name=""/>
        <p:cNvGrpSpPr/>
        <p:nvPr/>
      </p:nvGrpSpPr>
      <p:grpSpPr>
        <a:xfrm>
          <a:off x="0" y="0"/>
          <a:ext cx="0" cy="0"/>
          <a:chOff x="0" y="0"/>
          <a:chExt cx="0" cy="0"/>
        </a:xfrm>
      </p:grpSpPr>
      <p:pic>
        <p:nvPicPr>
          <p:cNvPr id="3" name="Picture 10" descr="OB PPT banner 150"/>
          <p:cNvPicPr>
            <a:picLocks noChangeAspect="1" noChangeArrowheads="1"/>
          </p:cNvPicPr>
          <p:nvPr/>
        </p:nvPicPr>
        <p:blipFill>
          <a:blip r:embed="rId2" cstate="print"/>
          <a:srcRect/>
          <a:stretch>
            <a:fillRect/>
          </a:stretch>
        </p:blipFill>
        <p:spPr bwMode="auto">
          <a:xfrm>
            <a:off x="304800" y="303213"/>
            <a:ext cx="8534400" cy="1539875"/>
          </a:xfrm>
          <a:prstGeom prst="rect">
            <a:avLst/>
          </a:prstGeom>
          <a:noFill/>
          <a:ln w="9525">
            <a:noFill/>
            <a:miter lim="800000"/>
            <a:headEnd/>
            <a:tailEnd/>
          </a:ln>
        </p:spPr>
      </p:pic>
      <p:sp>
        <p:nvSpPr>
          <p:cNvPr id="8" name="Title 1"/>
          <p:cNvSpPr>
            <a:spLocks noGrp="1"/>
          </p:cNvSpPr>
          <p:nvPr>
            <p:ph type="ctrTitle"/>
          </p:nvPr>
        </p:nvSpPr>
        <p:spPr>
          <a:xfrm>
            <a:off x="323528" y="312738"/>
            <a:ext cx="8487752" cy="1526948"/>
          </a:xfrm>
        </p:spPr>
        <p:txBody>
          <a:bodyPr>
            <a:normAutofit/>
          </a:bodyPr>
          <a:lstStyle>
            <a:lvl1pPr>
              <a:defRPr sz="3200">
                <a:solidFill>
                  <a:schemeClr val="bg1"/>
                </a:solidFill>
                <a:latin typeface="+mj-lt"/>
              </a:defRPr>
            </a:lvl1pPr>
          </a:lstStyle>
          <a:p>
            <a:r>
              <a:rPr lang="en-US"/>
              <a:t>Click to edit Master title style</a:t>
            </a:r>
            <a:endParaRPr lang="en-GB" dirty="0"/>
          </a:p>
        </p:txBody>
      </p:sp>
      <p:pic>
        <p:nvPicPr>
          <p:cNvPr id="4" name="Picture 3" descr="comp.jpg"/>
          <p:cNvPicPr>
            <a:picLocks noChangeAspect="1"/>
          </p:cNvPicPr>
          <p:nvPr/>
        </p:nvPicPr>
        <p:blipFill>
          <a:blip r:embed="rId3" cstate="print"/>
          <a:stretch>
            <a:fillRect/>
          </a:stretch>
        </p:blipFill>
        <p:spPr>
          <a:xfrm>
            <a:off x="323528" y="1849625"/>
            <a:ext cx="8532000" cy="476731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a:xfrm>
            <a:off x="395537" y="908720"/>
            <a:ext cx="8461126" cy="5544616"/>
          </a:xfrm>
        </p:spPr>
        <p:txBody>
          <a:bodyPr/>
          <a:lstStyle>
            <a:lvl1pPr marL="180975" indent="-180975">
              <a:spcBef>
                <a:spcPts val="1500"/>
              </a:spcBef>
              <a:buFont typeface="Wingdings" charset="2"/>
              <a:buChar char="v"/>
              <a:defRPr b="0"/>
            </a:lvl1pPr>
            <a:lvl2pPr marL="449263" indent="-177800">
              <a:spcBef>
                <a:spcPts val="300"/>
              </a:spcBef>
              <a:buFont typeface="Wingdings" charset="2"/>
              <a:buChar char="²"/>
              <a:defRPr sz="2000"/>
            </a:lvl2pPr>
            <a:lvl3pPr marL="715963" indent="-182563">
              <a:spcBef>
                <a:spcPts val="300"/>
              </a:spcBef>
              <a:buFont typeface="Courier New"/>
              <a:buChar char="o"/>
              <a:defRPr sz="2000"/>
            </a:lvl3pPr>
            <a:lvl4pPr marL="982663" indent="-177800">
              <a:spcBef>
                <a:spcPts val="300"/>
              </a:spcBef>
              <a:buFont typeface="Wingdings" charset="2"/>
              <a:buChar char="§"/>
              <a:defRPr sz="1800"/>
            </a:lvl4pPr>
            <a:lvl5pPr marL="1258888" indent="-180975">
              <a:spcBef>
                <a:spcPts val="300"/>
              </a:spcBef>
              <a:buFont typeface="Arial"/>
              <a:buChar cha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2">
            <a:extLst>
              <a:ext uri="{FF2B5EF4-FFF2-40B4-BE49-F238E27FC236}">
                <a16:creationId xmlns:a16="http://schemas.microsoft.com/office/drawing/2014/main" id="{6A5EE28A-1A69-A14C-9B58-1F594C31434A}"/>
              </a:ext>
            </a:extLst>
          </p:cNvPr>
          <p:cNvSpPr>
            <a:spLocks noGrp="1"/>
          </p:cNvSpPr>
          <p:nvPr>
            <p:ph type="dt" sz="half" idx="2"/>
          </p:nvPr>
        </p:nvSpPr>
        <p:spPr>
          <a:xfrm>
            <a:off x="395536" y="6520259"/>
            <a:ext cx="2133600" cy="365125"/>
          </a:xfrm>
          <a:prstGeom prst="rect">
            <a:avLst/>
          </a:prstGeom>
        </p:spPr>
        <p:txBody>
          <a:bodyPr vert="horz" lIns="91440" tIns="45720" rIns="91440" bIns="45720" rtlCol="0" anchor="ctr"/>
          <a:lstStyle>
            <a:lvl1pPr algn="l">
              <a:defRPr sz="1200">
                <a:solidFill>
                  <a:schemeClr val="tx2"/>
                </a:solidFill>
              </a:defRPr>
            </a:lvl1pPr>
          </a:lstStyle>
          <a:p>
            <a:r>
              <a:rPr lang="en-GB"/>
              <a:t>Oct. 2021</a:t>
            </a:r>
          </a:p>
        </p:txBody>
      </p:sp>
      <p:sp>
        <p:nvSpPr>
          <p:cNvPr id="5" name="Footer Placeholder 3">
            <a:extLst>
              <a:ext uri="{FF2B5EF4-FFF2-40B4-BE49-F238E27FC236}">
                <a16:creationId xmlns:a16="http://schemas.microsoft.com/office/drawing/2014/main" id="{2759524C-DD51-C04E-9F34-6A2D6060F488}"/>
              </a:ext>
            </a:extLst>
          </p:cNvPr>
          <p:cNvSpPr>
            <a:spLocks noGrp="1"/>
          </p:cNvSpPr>
          <p:nvPr>
            <p:ph type="ftr" sz="quarter" idx="3"/>
          </p:nvPr>
        </p:nvSpPr>
        <p:spPr>
          <a:xfrm>
            <a:off x="2555776" y="6520259"/>
            <a:ext cx="4392488" cy="365125"/>
          </a:xfrm>
          <a:prstGeom prst="rect">
            <a:avLst/>
          </a:prstGeom>
        </p:spPr>
        <p:txBody>
          <a:bodyPr vert="horz" lIns="91440" tIns="45720" rIns="91440" bIns="45720" rtlCol="0" anchor="ctr"/>
          <a:lstStyle>
            <a:lvl1pPr algn="ctr">
              <a:defRPr sz="1200">
                <a:solidFill>
                  <a:schemeClr val="tx2"/>
                </a:solidFill>
              </a:defRPr>
            </a:lvl1pPr>
          </a:lstStyle>
          <a:p>
            <a:r>
              <a:rPr lang="fr-FR"/>
              <a:t>COMP6030: Lecture 4</a:t>
            </a:r>
            <a:endParaRPr lang="en-GB"/>
          </a:p>
        </p:txBody>
      </p:sp>
      <p:sp>
        <p:nvSpPr>
          <p:cNvPr id="6" name="Slide Number Placeholder 4">
            <a:extLst>
              <a:ext uri="{FF2B5EF4-FFF2-40B4-BE49-F238E27FC236}">
                <a16:creationId xmlns:a16="http://schemas.microsoft.com/office/drawing/2014/main" id="{59EB9643-8AF1-C446-AB4F-A6C76F2D8C0F}"/>
              </a:ext>
            </a:extLst>
          </p:cNvPr>
          <p:cNvSpPr>
            <a:spLocks noGrp="1"/>
          </p:cNvSpPr>
          <p:nvPr>
            <p:ph type="sldNum" sz="quarter" idx="4"/>
          </p:nvPr>
        </p:nvSpPr>
        <p:spPr>
          <a:xfrm>
            <a:off x="7380312" y="6520259"/>
            <a:ext cx="1413520" cy="365125"/>
          </a:xfrm>
          <a:prstGeom prst="rect">
            <a:avLst/>
          </a:prstGeom>
        </p:spPr>
        <p:txBody>
          <a:bodyPr vert="horz" lIns="91440" tIns="45720" rIns="91440" bIns="45720" rtlCol="0" anchor="ctr"/>
          <a:lstStyle>
            <a:lvl1pPr algn="r">
              <a:defRPr sz="1200">
                <a:solidFill>
                  <a:schemeClr val="tx2"/>
                </a:solidFill>
              </a:defRPr>
            </a:lvl1pPr>
          </a:lstStyle>
          <a:p>
            <a:fld id="{D6255EFE-3ACE-DA4E-80CE-7588690A9A08}"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395537" y="908720"/>
            <a:ext cx="4270126" cy="5616624"/>
          </a:xfrm>
        </p:spPr>
        <p:txBody>
          <a:bodyPr>
            <a:normAutofit/>
          </a:bodyPr>
          <a:lstStyle>
            <a:lvl1pPr marL="0" indent="0">
              <a:buNone/>
              <a:defRPr sz="2400" b="1"/>
            </a:lvl1pPr>
            <a:lvl2pPr marL="271463" indent="-271463">
              <a:defRPr sz="2400"/>
            </a:lvl2pPr>
            <a:lvl3pPr marL="533400" indent="-261938">
              <a:defRPr sz="2000"/>
            </a:lvl3pPr>
            <a:lvl4pPr marL="804863" indent="-271463">
              <a:defRPr sz="2000"/>
            </a:lvl4pPr>
            <a:lvl5pPr marL="1077913" indent="-273050">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4753656" y="908720"/>
            <a:ext cx="4138824" cy="5616624"/>
          </a:xfrm>
        </p:spPr>
        <p:txBody>
          <a:bodyPr>
            <a:normAutofit/>
          </a:bodyPr>
          <a:lstStyle>
            <a:lvl1pPr marL="0" indent="0">
              <a:buNone/>
              <a:defRPr sz="2400" b="1"/>
            </a:lvl1pPr>
            <a:lvl2pPr marL="271463" indent="-271463">
              <a:defRPr sz="2400"/>
            </a:lvl2pPr>
            <a:lvl3pPr marL="533400" indent="-261938">
              <a:defRPr sz="2000"/>
            </a:lvl3pPr>
            <a:lvl4pPr marL="804863" indent="-271463">
              <a:defRPr sz="2000"/>
            </a:lvl4pPr>
            <a:lvl5pPr marL="1077913" indent="-273050">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2">
            <a:extLst>
              <a:ext uri="{FF2B5EF4-FFF2-40B4-BE49-F238E27FC236}">
                <a16:creationId xmlns:a16="http://schemas.microsoft.com/office/drawing/2014/main" id="{DDB95608-5775-E04D-8E0E-73C6F023D349}"/>
              </a:ext>
            </a:extLst>
          </p:cNvPr>
          <p:cNvSpPr>
            <a:spLocks noGrp="1"/>
          </p:cNvSpPr>
          <p:nvPr>
            <p:ph type="dt" sz="half" idx="10"/>
          </p:nvPr>
        </p:nvSpPr>
        <p:spPr>
          <a:xfrm>
            <a:off x="395536" y="6520259"/>
            <a:ext cx="2133600" cy="365125"/>
          </a:xfrm>
          <a:prstGeom prst="rect">
            <a:avLst/>
          </a:prstGeom>
        </p:spPr>
        <p:txBody>
          <a:bodyPr vert="horz" lIns="91440" tIns="45720" rIns="91440" bIns="45720" rtlCol="0" anchor="ctr"/>
          <a:lstStyle>
            <a:lvl1pPr algn="l">
              <a:defRPr sz="1200">
                <a:solidFill>
                  <a:schemeClr val="tx2"/>
                </a:solidFill>
              </a:defRPr>
            </a:lvl1pPr>
          </a:lstStyle>
          <a:p>
            <a:r>
              <a:rPr lang="en-GB"/>
              <a:t>Oct. 2021</a:t>
            </a:r>
            <a:endParaRPr lang="en-GB" dirty="0"/>
          </a:p>
        </p:txBody>
      </p:sp>
      <p:sp>
        <p:nvSpPr>
          <p:cNvPr id="6" name="Footer Placeholder 3">
            <a:extLst>
              <a:ext uri="{FF2B5EF4-FFF2-40B4-BE49-F238E27FC236}">
                <a16:creationId xmlns:a16="http://schemas.microsoft.com/office/drawing/2014/main" id="{0DC9D15B-3E7B-9B4F-A223-C4EDA975A949}"/>
              </a:ext>
            </a:extLst>
          </p:cNvPr>
          <p:cNvSpPr>
            <a:spLocks noGrp="1"/>
          </p:cNvSpPr>
          <p:nvPr>
            <p:ph type="ftr" sz="quarter" idx="3"/>
          </p:nvPr>
        </p:nvSpPr>
        <p:spPr>
          <a:xfrm>
            <a:off x="2555776" y="6520259"/>
            <a:ext cx="4392488" cy="365125"/>
          </a:xfrm>
          <a:prstGeom prst="rect">
            <a:avLst/>
          </a:prstGeom>
        </p:spPr>
        <p:txBody>
          <a:bodyPr vert="horz" lIns="91440" tIns="45720" rIns="91440" bIns="45720" rtlCol="0" anchor="ctr"/>
          <a:lstStyle>
            <a:lvl1pPr algn="ctr">
              <a:defRPr sz="1200">
                <a:solidFill>
                  <a:schemeClr val="tx2"/>
                </a:solidFill>
              </a:defRPr>
            </a:lvl1pPr>
          </a:lstStyle>
          <a:p>
            <a:r>
              <a:rPr lang="fr-FR"/>
              <a:t>COMP6030: Lecture 4</a:t>
            </a:r>
            <a:endParaRPr lang="en-GB"/>
          </a:p>
        </p:txBody>
      </p:sp>
      <p:sp>
        <p:nvSpPr>
          <p:cNvPr id="7" name="Slide Number Placeholder 4">
            <a:extLst>
              <a:ext uri="{FF2B5EF4-FFF2-40B4-BE49-F238E27FC236}">
                <a16:creationId xmlns:a16="http://schemas.microsoft.com/office/drawing/2014/main" id="{2BC2337D-8A75-464C-8E37-D314DA7ACAD1}"/>
              </a:ext>
            </a:extLst>
          </p:cNvPr>
          <p:cNvSpPr>
            <a:spLocks noGrp="1"/>
          </p:cNvSpPr>
          <p:nvPr>
            <p:ph type="sldNum" sz="quarter" idx="4"/>
          </p:nvPr>
        </p:nvSpPr>
        <p:spPr>
          <a:xfrm>
            <a:off x="7380312" y="6520259"/>
            <a:ext cx="1413520" cy="365125"/>
          </a:xfrm>
          <a:prstGeom prst="rect">
            <a:avLst/>
          </a:prstGeom>
        </p:spPr>
        <p:txBody>
          <a:bodyPr vert="horz" lIns="91440" tIns="45720" rIns="91440" bIns="45720" rtlCol="0" anchor="ctr"/>
          <a:lstStyle>
            <a:lvl1pPr algn="r">
              <a:defRPr sz="1200">
                <a:solidFill>
                  <a:schemeClr val="tx2"/>
                </a:solidFill>
              </a:defRPr>
            </a:lvl1pPr>
          </a:lstStyle>
          <a:p>
            <a:fld id="{D6255EFE-3ACE-DA4E-80CE-7588690A9A08}"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FDCDEBC3-2768-5E4F-9707-B4A15456934F}"/>
              </a:ext>
            </a:extLst>
          </p:cNvPr>
          <p:cNvSpPr>
            <a:spLocks noGrp="1"/>
          </p:cNvSpPr>
          <p:nvPr>
            <p:ph type="dt" sz="half" idx="2"/>
          </p:nvPr>
        </p:nvSpPr>
        <p:spPr>
          <a:xfrm>
            <a:off x="395536" y="6520259"/>
            <a:ext cx="2133600" cy="365125"/>
          </a:xfrm>
          <a:prstGeom prst="rect">
            <a:avLst/>
          </a:prstGeom>
        </p:spPr>
        <p:txBody>
          <a:bodyPr vert="horz" lIns="91440" tIns="45720" rIns="91440" bIns="45720" rtlCol="0" anchor="ctr"/>
          <a:lstStyle>
            <a:lvl1pPr algn="l">
              <a:defRPr sz="1200">
                <a:solidFill>
                  <a:schemeClr val="tx2"/>
                </a:solidFill>
              </a:defRPr>
            </a:lvl1pPr>
          </a:lstStyle>
          <a:p>
            <a:r>
              <a:rPr lang="en-GB"/>
              <a:t>Oct. 2021</a:t>
            </a:r>
          </a:p>
        </p:txBody>
      </p:sp>
      <p:sp>
        <p:nvSpPr>
          <p:cNvPr id="4" name="Footer Placeholder 3">
            <a:extLst>
              <a:ext uri="{FF2B5EF4-FFF2-40B4-BE49-F238E27FC236}">
                <a16:creationId xmlns:a16="http://schemas.microsoft.com/office/drawing/2014/main" id="{31F74B69-C15E-A64B-B21C-2A32391F6875}"/>
              </a:ext>
            </a:extLst>
          </p:cNvPr>
          <p:cNvSpPr>
            <a:spLocks noGrp="1"/>
          </p:cNvSpPr>
          <p:nvPr>
            <p:ph type="ftr" sz="quarter" idx="3"/>
          </p:nvPr>
        </p:nvSpPr>
        <p:spPr>
          <a:xfrm>
            <a:off x="2555776" y="6520259"/>
            <a:ext cx="4392488" cy="365125"/>
          </a:xfrm>
          <a:prstGeom prst="rect">
            <a:avLst/>
          </a:prstGeom>
        </p:spPr>
        <p:txBody>
          <a:bodyPr vert="horz" lIns="91440" tIns="45720" rIns="91440" bIns="45720" rtlCol="0" anchor="ctr"/>
          <a:lstStyle>
            <a:lvl1pPr algn="ctr">
              <a:defRPr sz="1200">
                <a:solidFill>
                  <a:schemeClr val="tx2"/>
                </a:solidFill>
              </a:defRPr>
            </a:lvl1pPr>
          </a:lstStyle>
          <a:p>
            <a:r>
              <a:rPr lang="fr-FR"/>
              <a:t>COMP6030: Lecture 4</a:t>
            </a:r>
            <a:endParaRPr lang="en-GB"/>
          </a:p>
        </p:txBody>
      </p:sp>
      <p:sp>
        <p:nvSpPr>
          <p:cNvPr id="5" name="Slide Number Placeholder 4">
            <a:extLst>
              <a:ext uri="{FF2B5EF4-FFF2-40B4-BE49-F238E27FC236}">
                <a16:creationId xmlns:a16="http://schemas.microsoft.com/office/drawing/2014/main" id="{D1E936FD-4913-6F49-A3CF-7BDF2308C722}"/>
              </a:ext>
            </a:extLst>
          </p:cNvPr>
          <p:cNvSpPr>
            <a:spLocks noGrp="1"/>
          </p:cNvSpPr>
          <p:nvPr>
            <p:ph type="sldNum" sz="quarter" idx="4"/>
          </p:nvPr>
        </p:nvSpPr>
        <p:spPr>
          <a:xfrm>
            <a:off x="7380312" y="6520259"/>
            <a:ext cx="1413520" cy="365125"/>
          </a:xfrm>
          <a:prstGeom prst="rect">
            <a:avLst/>
          </a:prstGeom>
        </p:spPr>
        <p:txBody>
          <a:bodyPr vert="horz" lIns="91440" tIns="45720" rIns="91440" bIns="45720" rtlCol="0" anchor="ctr"/>
          <a:lstStyle>
            <a:lvl1pPr algn="r">
              <a:defRPr sz="1200">
                <a:solidFill>
                  <a:schemeClr val="tx2"/>
                </a:solidFill>
              </a:defRPr>
            </a:lvl1pPr>
          </a:lstStyle>
          <a:p>
            <a:fld id="{D6255EFE-3ACE-DA4E-80CE-7588690A9A08}"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
            <a:extLst>
              <a:ext uri="{FF2B5EF4-FFF2-40B4-BE49-F238E27FC236}">
                <a16:creationId xmlns:a16="http://schemas.microsoft.com/office/drawing/2014/main" id="{18F44A8D-32B0-D844-9A01-758B6EDB6127}"/>
              </a:ext>
            </a:extLst>
          </p:cNvPr>
          <p:cNvSpPr>
            <a:spLocks noGrp="1"/>
          </p:cNvSpPr>
          <p:nvPr>
            <p:ph type="dt" sz="half" idx="2"/>
          </p:nvPr>
        </p:nvSpPr>
        <p:spPr>
          <a:xfrm>
            <a:off x="395536" y="6520259"/>
            <a:ext cx="2133600" cy="365125"/>
          </a:xfrm>
          <a:prstGeom prst="rect">
            <a:avLst/>
          </a:prstGeom>
        </p:spPr>
        <p:txBody>
          <a:bodyPr vert="horz" lIns="91440" tIns="45720" rIns="91440" bIns="45720" rtlCol="0" anchor="ctr"/>
          <a:lstStyle>
            <a:lvl1pPr algn="l">
              <a:defRPr sz="1200">
                <a:solidFill>
                  <a:schemeClr val="tx2"/>
                </a:solidFill>
              </a:defRPr>
            </a:lvl1pPr>
          </a:lstStyle>
          <a:p>
            <a:r>
              <a:rPr lang="en-GB"/>
              <a:t>Oct. 2021</a:t>
            </a:r>
          </a:p>
        </p:txBody>
      </p:sp>
      <p:sp>
        <p:nvSpPr>
          <p:cNvPr id="3" name="Footer Placeholder 3">
            <a:extLst>
              <a:ext uri="{FF2B5EF4-FFF2-40B4-BE49-F238E27FC236}">
                <a16:creationId xmlns:a16="http://schemas.microsoft.com/office/drawing/2014/main" id="{BDCC92A5-2A08-7B40-B537-6771AA45DF0F}"/>
              </a:ext>
            </a:extLst>
          </p:cNvPr>
          <p:cNvSpPr>
            <a:spLocks noGrp="1"/>
          </p:cNvSpPr>
          <p:nvPr>
            <p:ph type="ftr" sz="quarter" idx="3"/>
          </p:nvPr>
        </p:nvSpPr>
        <p:spPr>
          <a:xfrm>
            <a:off x="2555776" y="6520259"/>
            <a:ext cx="4392488" cy="365125"/>
          </a:xfrm>
          <a:prstGeom prst="rect">
            <a:avLst/>
          </a:prstGeom>
        </p:spPr>
        <p:txBody>
          <a:bodyPr vert="horz" lIns="91440" tIns="45720" rIns="91440" bIns="45720" rtlCol="0" anchor="ctr"/>
          <a:lstStyle>
            <a:lvl1pPr algn="ctr">
              <a:defRPr sz="1200">
                <a:solidFill>
                  <a:schemeClr val="tx2"/>
                </a:solidFill>
              </a:defRPr>
            </a:lvl1pPr>
          </a:lstStyle>
          <a:p>
            <a:r>
              <a:rPr lang="fr-FR"/>
              <a:t>COMP6030: Lecture 4</a:t>
            </a:r>
            <a:endParaRPr lang="en-GB"/>
          </a:p>
        </p:txBody>
      </p:sp>
      <p:sp>
        <p:nvSpPr>
          <p:cNvPr id="4" name="Slide Number Placeholder 4">
            <a:extLst>
              <a:ext uri="{FF2B5EF4-FFF2-40B4-BE49-F238E27FC236}">
                <a16:creationId xmlns:a16="http://schemas.microsoft.com/office/drawing/2014/main" id="{C7D05041-3C8D-6946-8048-2AC977CC768C}"/>
              </a:ext>
            </a:extLst>
          </p:cNvPr>
          <p:cNvSpPr>
            <a:spLocks noGrp="1"/>
          </p:cNvSpPr>
          <p:nvPr>
            <p:ph type="sldNum" sz="quarter" idx="4"/>
          </p:nvPr>
        </p:nvSpPr>
        <p:spPr>
          <a:xfrm>
            <a:off x="7380312" y="6520259"/>
            <a:ext cx="1413520" cy="365125"/>
          </a:xfrm>
          <a:prstGeom prst="rect">
            <a:avLst/>
          </a:prstGeom>
        </p:spPr>
        <p:txBody>
          <a:bodyPr vert="horz" lIns="91440" tIns="45720" rIns="91440" bIns="45720" rtlCol="0" anchor="ctr"/>
          <a:lstStyle>
            <a:lvl1pPr algn="r">
              <a:defRPr sz="1200">
                <a:solidFill>
                  <a:schemeClr val="tx2"/>
                </a:solidFill>
              </a:defRPr>
            </a:lvl1pPr>
          </a:lstStyle>
          <a:p>
            <a:fld id="{D6255EFE-3ACE-DA4E-80CE-7588690A9A08}"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EFAB9"/>
        </a:solidFill>
        <a:effectLst/>
      </p:bgPr>
    </p:bg>
    <p:spTree>
      <p:nvGrpSpPr>
        <p:cNvPr id="1" name=""/>
        <p:cNvGrpSpPr/>
        <p:nvPr/>
      </p:nvGrpSpPr>
      <p:grpSpPr>
        <a:xfrm>
          <a:off x="0" y="0"/>
          <a:ext cx="0" cy="0"/>
          <a:chOff x="0" y="0"/>
          <a:chExt cx="0" cy="0"/>
        </a:xfrm>
      </p:grpSpPr>
      <p:pic>
        <p:nvPicPr>
          <p:cNvPr id="1026" name="Picture 1030" descr="OB PPT logo white 150"/>
          <p:cNvPicPr>
            <a:picLocks noChangeAspect="1" noChangeArrowheads="1"/>
          </p:cNvPicPr>
          <p:nvPr/>
        </p:nvPicPr>
        <p:blipFill rotWithShape="1">
          <a:blip r:embed="rId8" cstate="print"/>
          <a:srcRect l="88034" b="70072"/>
          <a:stretch/>
        </p:blipFill>
        <p:spPr bwMode="auto">
          <a:xfrm>
            <a:off x="7812360" y="304800"/>
            <a:ext cx="1020490" cy="459904"/>
          </a:xfrm>
          <a:prstGeom prst="rect">
            <a:avLst/>
          </a:prstGeom>
          <a:noFill/>
          <a:ln w="9525">
            <a:noFill/>
            <a:miter lim="800000"/>
            <a:headEnd/>
            <a:tailEnd/>
          </a:ln>
        </p:spPr>
      </p:pic>
      <p:sp>
        <p:nvSpPr>
          <p:cNvPr id="2" name="Title Placeholder 1"/>
          <p:cNvSpPr>
            <a:spLocks noGrp="1"/>
          </p:cNvSpPr>
          <p:nvPr>
            <p:ph type="title"/>
          </p:nvPr>
        </p:nvSpPr>
        <p:spPr>
          <a:xfrm>
            <a:off x="395536" y="188641"/>
            <a:ext cx="8461127" cy="648072"/>
          </a:xfrm>
          <a:prstGeom prst="rect">
            <a:avLst/>
          </a:prstGeom>
        </p:spPr>
        <p:txBody>
          <a:bodyPr vert="horz" lIns="0" tIns="45720" rIns="91440" bIns="45720" rtlCol="0" anchor="ctr">
            <a:normAutofit/>
          </a:bodyPr>
          <a:lstStyle/>
          <a:p>
            <a:r>
              <a:rPr lang="en-US" dirty="0"/>
              <a:t>Click to edit Master title style</a:t>
            </a:r>
            <a:endParaRPr lang="en-GB" dirty="0"/>
          </a:p>
        </p:txBody>
      </p:sp>
      <p:sp>
        <p:nvSpPr>
          <p:cNvPr id="1028" name="Text Placeholder 2"/>
          <p:cNvSpPr>
            <a:spLocks noGrp="1"/>
          </p:cNvSpPr>
          <p:nvPr>
            <p:ph type="body" idx="1"/>
          </p:nvPr>
        </p:nvSpPr>
        <p:spPr bwMode="auto">
          <a:xfrm>
            <a:off x="395536" y="836712"/>
            <a:ext cx="8424936" cy="5688632"/>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2">
            <a:extLst>
              <a:ext uri="{FF2B5EF4-FFF2-40B4-BE49-F238E27FC236}">
                <a16:creationId xmlns:a16="http://schemas.microsoft.com/office/drawing/2014/main" id="{609572AF-078E-FD44-A4CB-0C4287BC0F22}"/>
              </a:ext>
            </a:extLst>
          </p:cNvPr>
          <p:cNvSpPr>
            <a:spLocks noGrp="1"/>
          </p:cNvSpPr>
          <p:nvPr>
            <p:ph type="dt" sz="half" idx="2"/>
          </p:nvPr>
        </p:nvSpPr>
        <p:spPr>
          <a:xfrm>
            <a:off x="395536" y="6520259"/>
            <a:ext cx="2133600" cy="365125"/>
          </a:xfrm>
          <a:prstGeom prst="rect">
            <a:avLst/>
          </a:prstGeom>
        </p:spPr>
        <p:txBody>
          <a:bodyPr vert="horz" lIns="91440" tIns="45720" rIns="91440" bIns="45720" rtlCol="0" anchor="ctr"/>
          <a:lstStyle>
            <a:lvl1pPr algn="l">
              <a:defRPr sz="1200">
                <a:solidFill>
                  <a:schemeClr val="tx2"/>
                </a:solidFill>
              </a:defRPr>
            </a:lvl1pPr>
          </a:lstStyle>
          <a:p>
            <a:r>
              <a:rPr lang="en-GB"/>
              <a:t>Oct. 2021</a:t>
            </a:r>
          </a:p>
        </p:txBody>
      </p:sp>
      <p:sp>
        <p:nvSpPr>
          <p:cNvPr id="6" name="Footer Placeholder 3">
            <a:extLst>
              <a:ext uri="{FF2B5EF4-FFF2-40B4-BE49-F238E27FC236}">
                <a16:creationId xmlns:a16="http://schemas.microsoft.com/office/drawing/2014/main" id="{84205C80-38B6-8844-BBB9-8615E3FDC177}"/>
              </a:ext>
            </a:extLst>
          </p:cNvPr>
          <p:cNvSpPr>
            <a:spLocks noGrp="1"/>
          </p:cNvSpPr>
          <p:nvPr>
            <p:ph type="ftr" sz="quarter" idx="3"/>
          </p:nvPr>
        </p:nvSpPr>
        <p:spPr>
          <a:xfrm>
            <a:off x="2555776" y="6520259"/>
            <a:ext cx="4392488" cy="365125"/>
          </a:xfrm>
          <a:prstGeom prst="rect">
            <a:avLst/>
          </a:prstGeom>
        </p:spPr>
        <p:txBody>
          <a:bodyPr vert="horz" lIns="91440" tIns="45720" rIns="91440" bIns="45720" rtlCol="0" anchor="ctr"/>
          <a:lstStyle>
            <a:lvl1pPr algn="ctr">
              <a:defRPr sz="1200">
                <a:solidFill>
                  <a:schemeClr val="tx2"/>
                </a:solidFill>
              </a:defRPr>
            </a:lvl1pPr>
          </a:lstStyle>
          <a:p>
            <a:r>
              <a:rPr lang="fr-FR"/>
              <a:t>COMP6030: Lecture 4</a:t>
            </a:r>
            <a:endParaRPr lang="en-GB"/>
          </a:p>
        </p:txBody>
      </p:sp>
      <p:sp>
        <p:nvSpPr>
          <p:cNvPr id="7" name="Slide Number Placeholder 4">
            <a:extLst>
              <a:ext uri="{FF2B5EF4-FFF2-40B4-BE49-F238E27FC236}">
                <a16:creationId xmlns:a16="http://schemas.microsoft.com/office/drawing/2014/main" id="{5EB023EB-A422-BD4A-9ED8-D979C1C44379}"/>
              </a:ext>
            </a:extLst>
          </p:cNvPr>
          <p:cNvSpPr>
            <a:spLocks noGrp="1"/>
          </p:cNvSpPr>
          <p:nvPr>
            <p:ph type="sldNum" sz="quarter" idx="4"/>
          </p:nvPr>
        </p:nvSpPr>
        <p:spPr>
          <a:xfrm>
            <a:off x="7380312" y="6520259"/>
            <a:ext cx="1413520" cy="365125"/>
          </a:xfrm>
          <a:prstGeom prst="rect">
            <a:avLst/>
          </a:prstGeom>
        </p:spPr>
        <p:txBody>
          <a:bodyPr vert="horz" lIns="91440" tIns="45720" rIns="91440" bIns="45720" rtlCol="0" anchor="ctr"/>
          <a:lstStyle>
            <a:lvl1pPr algn="r">
              <a:defRPr sz="1200">
                <a:solidFill>
                  <a:schemeClr val="tx2"/>
                </a:solidFill>
              </a:defRPr>
            </a:lvl1pPr>
          </a:lstStyle>
          <a:p>
            <a:fld id="{D6255EFE-3ACE-DA4E-80CE-7588690A9A08}"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p:txStyles>
    <p:titleStyle>
      <a:lvl1pPr algn="l" rtl="0" eaLnBrk="1" fontAlgn="base" hangingPunct="1">
        <a:spcBef>
          <a:spcPct val="0"/>
        </a:spcBef>
        <a:spcAft>
          <a:spcPct val="0"/>
        </a:spcAft>
        <a:defRPr sz="2800" b="1" kern="1200" cap="none">
          <a:solidFill>
            <a:schemeClr val="tx1"/>
          </a:solidFill>
          <a:latin typeface="Arial" pitchFamily="34" charset="0"/>
          <a:ea typeface="+mj-ea"/>
          <a:cs typeface="Arial" pitchFamily="34" charset="0"/>
        </a:defRPr>
      </a:lvl1pPr>
      <a:lvl2pPr algn="l" rtl="0" eaLnBrk="1" fontAlgn="base" hangingPunct="1">
        <a:spcBef>
          <a:spcPct val="0"/>
        </a:spcBef>
        <a:spcAft>
          <a:spcPct val="0"/>
        </a:spcAft>
        <a:defRPr sz="2000" b="1">
          <a:solidFill>
            <a:schemeClr val="tx1"/>
          </a:solidFill>
          <a:latin typeface="Arial" charset="0"/>
          <a:ea typeface="ＭＳ Ｐゴシック" pitchFamily="124" charset="-128"/>
        </a:defRPr>
      </a:lvl2pPr>
      <a:lvl3pPr algn="l" rtl="0" eaLnBrk="1" fontAlgn="base" hangingPunct="1">
        <a:spcBef>
          <a:spcPct val="0"/>
        </a:spcBef>
        <a:spcAft>
          <a:spcPct val="0"/>
        </a:spcAft>
        <a:defRPr sz="2000" b="1">
          <a:solidFill>
            <a:schemeClr val="tx1"/>
          </a:solidFill>
          <a:latin typeface="Arial" charset="0"/>
          <a:ea typeface="ＭＳ Ｐゴシック" pitchFamily="124" charset="-128"/>
        </a:defRPr>
      </a:lvl3pPr>
      <a:lvl4pPr algn="l" rtl="0" eaLnBrk="1" fontAlgn="base" hangingPunct="1">
        <a:spcBef>
          <a:spcPct val="0"/>
        </a:spcBef>
        <a:spcAft>
          <a:spcPct val="0"/>
        </a:spcAft>
        <a:defRPr sz="2000" b="1">
          <a:solidFill>
            <a:schemeClr val="tx1"/>
          </a:solidFill>
          <a:latin typeface="Arial" charset="0"/>
          <a:ea typeface="ＭＳ Ｐゴシック" pitchFamily="124" charset="-128"/>
        </a:defRPr>
      </a:lvl4pPr>
      <a:lvl5pPr algn="l" rtl="0" eaLnBrk="1" fontAlgn="base" hangingPunct="1">
        <a:spcBef>
          <a:spcPct val="0"/>
        </a:spcBef>
        <a:spcAft>
          <a:spcPct val="0"/>
        </a:spcAft>
        <a:defRPr sz="2000" b="1">
          <a:solidFill>
            <a:schemeClr val="tx1"/>
          </a:solidFill>
          <a:latin typeface="Arial" charset="0"/>
          <a:ea typeface="ＭＳ Ｐゴシック" pitchFamily="124" charset="-128"/>
        </a:defRPr>
      </a:lvl5pPr>
      <a:lvl6pPr marL="457200" algn="l" rtl="0" eaLnBrk="1" fontAlgn="base" hangingPunct="1">
        <a:spcBef>
          <a:spcPct val="0"/>
        </a:spcBef>
        <a:spcAft>
          <a:spcPct val="0"/>
        </a:spcAft>
        <a:defRPr sz="2000" b="1">
          <a:solidFill>
            <a:schemeClr val="tx1"/>
          </a:solidFill>
          <a:latin typeface="Arial" charset="0"/>
          <a:ea typeface="ＭＳ Ｐゴシック" pitchFamily="124" charset="-128"/>
        </a:defRPr>
      </a:lvl6pPr>
      <a:lvl7pPr marL="914400" algn="l" rtl="0" eaLnBrk="1" fontAlgn="base" hangingPunct="1">
        <a:spcBef>
          <a:spcPct val="0"/>
        </a:spcBef>
        <a:spcAft>
          <a:spcPct val="0"/>
        </a:spcAft>
        <a:defRPr sz="2000" b="1">
          <a:solidFill>
            <a:schemeClr val="tx1"/>
          </a:solidFill>
          <a:latin typeface="Arial" charset="0"/>
          <a:ea typeface="ＭＳ Ｐゴシック" pitchFamily="124" charset="-128"/>
        </a:defRPr>
      </a:lvl7pPr>
      <a:lvl8pPr marL="1371600" algn="l" rtl="0" eaLnBrk="1" fontAlgn="base" hangingPunct="1">
        <a:spcBef>
          <a:spcPct val="0"/>
        </a:spcBef>
        <a:spcAft>
          <a:spcPct val="0"/>
        </a:spcAft>
        <a:defRPr sz="2000" b="1">
          <a:solidFill>
            <a:schemeClr val="tx1"/>
          </a:solidFill>
          <a:latin typeface="Arial" charset="0"/>
          <a:ea typeface="ＭＳ Ｐゴシック" pitchFamily="124" charset="-128"/>
        </a:defRPr>
      </a:lvl8pPr>
      <a:lvl9pPr marL="1828800" algn="l" rtl="0" eaLnBrk="1" fontAlgn="base" hangingPunct="1">
        <a:spcBef>
          <a:spcPct val="0"/>
        </a:spcBef>
        <a:spcAft>
          <a:spcPct val="0"/>
        </a:spcAft>
        <a:defRPr sz="2000" b="1">
          <a:solidFill>
            <a:schemeClr val="tx1"/>
          </a:solidFill>
          <a:latin typeface="Arial" charset="0"/>
          <a:ea typeface="ＭＳ Ｐゴシック" pitchFamily="124" charset="-128"/>
        </a:defRPr>
      </a:lvl9pPr>
    </p:titleStyle>
    <p:bodyStyle>
      <a:lvl1pPr marL="363538" indent="-363538" algn="l" rtl="0" eaLnBrk="1" fontAlgn="base" hangingPunct="1">
        <a:spcBef>
          <a:spcPct val="20000"/>
        </a:spcBef>
        <a:spcAft>
          <a:spcPct val="0"/>
        </a:spcAft>
        <a:buFont typeface="Wingdings" charset="2"/>
        <a:buChar char="v"/>
        <a:defRPr sz="2400" kern="1200">
          <a:solidFill>
            <a:schemeClr val="bg2"/>
          </a:solidFill>
          <a:latin typeface="+mn-lt"/>
          <a:ea typeface="+mn-ea"/>
          <a:cs typeface="+mn-cs"/>
        </a:defRPr>
      </a:lvl1pPr>
      <a:lvl2pPr marL="714375" indent="-350838" algn="l" rtl="0" eaLnBrk="1" fontAlgn="base" hangingPunct="1">
        <a:spcBef>
          <a:spcPct val="20000"/>
        </a:spcBef>
        <a:spcAft>
          <a:spcPct val="0"/>
        </a:spcAft>
        <a:buFont typeface="Wingdings" charset="2"/>
        <a:buChar char="²"/>
        <a:defRPr sz="2400" kern="1200">
          <a:solidFill>
            <a:schemeClr val="bg2"/>
          </a:solidFill>
          <a:latin typeface="+mn-lt"/>
          <a:ea typeface="+mn-ea"/>
          <a:cs typeface="+mn-cs"/>
        </a:defRPr>
      </a:lvl2pPr>
      <a:lvl3pPr marL="1077913" indent="-363538" algn="l" rtl="0" eaLnBrk="1" fontAlgn="base" hangingPunct="1">
        <a:spcBef>
          <a:spcPct val="20000"/>
        </a:spcBef>
        <a:spcAft>
          <a:spcPct val="0"/>
        </a:spcAft>
        <a:buFont typeface="Courier New"/>
        <a:buChar char="o"/>
        <a:defRPr sz="2000" kern="1200">
          <a:solidFill>
            <a:schemeClr val="bg2"/>
          </a:solidFill>
          <a:latin typeface="+mn-lt"/>
          <a:ea typeface="+mn-ea"/>
          <a:cs typeface="+mn-cs"/>
        </a:defRPr>
      </a:lvl3pPr>
      <a:lvl4pPr marL="1439863" indent="-361950" algn="l" rtl="0" eaLnBrk="1" fontAlgn="base" hangingPunct="1">
        <a:spcBef>
          <a:spcPct val="20000"/>
        </a:spcBef>
        <a:spcAft>
          <a:spcPct val="0"/>
        </a:spcAft>
        <a:buFont typeface="Wingdings" pitchFamily="124" charset="2"/>
        <a:buChar char="§"/>
        <a:defRPr sz="2000" kern="1200">
          <a:solidFill>
            <a:schemeClr val="bg2"/>
          </a:solidFill>
          <a:latin typeface="+mn-lt"/>
          <a:ea typeface="+mn-ea"/>
          <a:cs typeface="+mn-cs"/>
        </a:defRPr>
      </a:lvl4pPr>
      <a:lvl5pPr marL="1792288" indent="-352425" algn="l" rtl="0" eaLnBrk="1" fontAlgn="base" hangingPunct="1">
        <a:spcBef>
          <a:spcPct val="20000"/>
        </a:spcBef>
        <a:spcAft>
          <a:spcPct val="0"/>
        </a:spcAft>
        <a:buFont typeface="Arial"/>
        <a:buChar char="•"/>
        <a:defRPr sz="2000" kern="1200">
          <a:solidFill>
            <a:schemeClr val="bg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527" y="312738"/>
            <a:ext cx="8565351" cy="1526948"/>
          </a:xfrm>
        </p:spPr>
        <p:txBody>
          <a:bodyPr>
            <a:normAutofit/>
          </a:bodyPr>
          <a:lstStyle/>
          <a:p>
            <a:pPr algn="ctr"/>
            <a:r>
              <a:rPr lang="en-US" dirty="0"/>
              <a:t>CHC6173 </a:t>
            </a:r>
            <a:br>
              <a:rPr lang="en-US" dirty="0"/>
            </a:br>
            <a:r>
              <a:rPr lang="en-US" sz="4000" dirty="0"/>
              <a:t>Software Engineering</a:t>
            </a:r>
            <a:endParaRPr lang="en-US" dirty="0"/>
          </a:p>
        </p:txBody>
      </p:sp>
      <p:sp>
        <p:nvSpPr>
          <p:cNvPr id="3" name="TextBox 2"/>
          <p:cNvSpPr txBox="1"/>
          <p:nvPr/>
        </p:nvSpPr>
        <p:spPr>
          <a:xfrm>
            <a:off x="647563" y="2350205"/>
            <a:ext cx="7848872" cy="1323439"/>
          </a:xfrm>
          <a:prstGeom prst="rect">
            <a:avLst/>
          </a:prstGeom>
          <a:noFill/>
        </p:spPr>
        <p:txBody>
          <a:bodyPr wrap="square" rtlCol="0">
            <a:spAutoFit/>
          </a:bodyPr>
          <a:lstStyle/>
          <a:p>
            <a:pPr algn="ctr"/>
            <a:r>
              <a:rPr lang="en-US" sz="3600" b="1" dirty="0">
                <a:solidFill>
                  <a:schemeClr val="bg1"/>
                </a:solidFill>
              </a:rPr>
              <a:t>Lecture 4</a:t>
            </a:r>
          </a:p>
          <a:p>
            <a:pPr algn="ctr"/>
            <a:r>
              <a:rPr lang="en-US" sz="4400" b="1" dirty="0">
                <a:solidFill>
                  <a:schemeClr val="bg1"/>
                </a:solidFill>
              </a:rPr>
              <a:t>Software Modelling</a:t>
            </a:r>
          </a:p>
        </p:txBody>
      </p:sp>
      <p:sp>
        <p:nvSpPr>
          <p:cNvPr id="4" name="TextBox 3">
            <a:extLst>
              <a:ext uri="{FF2B5EF4-FFF2-40B4-BE49-F238E27FC236}">
                <a16:creationId xmlns:a16="http://schemas.microsoft.com/office/drawing/2014/main" id="{7CAEC124-0801-4D4E-8B50-E8031FFF35AF}"/>
              </a:ext>
            </a:extLst>
          </p:cNvPr>
          <p:cNvSpPr txBox="1"/>
          <p:nvPr/>
        </p:nvSpPr>
        <p:spPr>
          <a:xfrm>
            <a:off x="255120" y="4184163"/>
            <a:ext cx="8633759" cy="2062103"/>
          </a:xfrm>
          <a:prstGeom prst="rect">
            <a:avLst/>
          </a:prstGeom>
          <a:noFill/>
        </p:spPr>
        <p:txBody>
          <a:bodyPr wrap="square" rtlCol="0">
            <a:spAutoFit/>
          </a:bodyPr>
          <a:lstStyle/>
          <a:p>
            <a:pPr algn="ctr"/>
            <a:r>
              <a:rPr lang="en-GB" sz="3200" dirty="0">
                <a:solidFill>
                  <a:schemeClr val="bg1"/>
                </a:solidFill>
              </a:rPr>
              <a:t>Hong Zhu</a:t>
            </a:r>
            <a:endParaRPr lang="en-GB" sz="3200" baseline="30000" dirty="0">
              <a:solidFill>
                <a:schemeClr val="bg1"/>
              </a:solidFill>
            </a:endParaRPr>
          </a:p>
          <a:p>
            <a:pPr algn="ctr"/>
            <a:r>
              <a:rPr lang="en-GB" sz="2400" dirty="0">
                <a:solidFill>
                  <a:srgbClr val="FFFFFF"/>
                </a:solidFill>
              </a:rPr>
              <a:t>School of Engineering, Computing and Mathematics </a:t>
            </a:r>
          </a:p>
          <a:p>
            <a:pPr algn="ctr"/>
            <a:r>
              <a:rPr lang="en-GB" sz="2400" dirty="0">
                <a:solidFill>
                  <a:srgbClr val="FFFFFF"/>
                </a:solidFill>
              </a:rPr>
              <a:t>Oxford Brookes University</a:t>
            </a:r>
          </a:p>
          <a:p>
            <a:pPr algn="ctr"/>
            <a:r>
              <a:rPr lang="en-GB" sz="2400" dirty="0">
                <a:solidFill>
                  <a:srgbClr val="FFFFFF"/>
                </a:solidFill>
              </a:rPr>
              <a:t>Oxford OX33 1HX, UK</a:t>
            </a:r>
          </a:p>
          <a:p>
            <a:pPr algn="ctr"/>
            <a:r>
              <a:rPr lang="en-GB" sz="2400" dirty="0">
                <a:solidFill>
                  <a:srgbClr val="FFFFFF"/>
                </a:solidFill>
              </a:rPr>
              <a:t>Email: </a:t>
            </a:r>
            <a:r>
              <a:rPr lang="en-GB" sz="2400" dirty="0" err="1">
                <a:solidFill>
                  <a:srgbClr val="FFFFFF"/>
                </a:solidFill>
              </a:rPr>
              <a:t>hzhu@brookes.ac.uk</a:t>
            </a:r>
            <a:endParaRPr lang="en-GB" sz="2400"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350168" y="1412776"/>
            <a:ext cx="8533134" cy="5112567"/>
          </a:xfrm>
        </p:spPr>
        <p:txBody>
          <a:bodyPr/>
          <a:lstStyle/>
          <a:p>
            <a:pPr marL="0" indent="0">
              <a:buNone/>
            </a:pPr>
            <a:r>
              <a:rPr lang="en-GB" sz="2400" b="1" dirty="0">
                <a:latin typeface="Arial" charset="0"/>
                <a:ea typeface="ＭＳ Ｐゴシック" charset="0"/>
              </a:rPr>
              <a:t>1: </a:t>
            </a:r>
            <a:r>
              <a:rPr lang="en-US" sz="2400" b="1" dirty="0">
                <a:latin typeface="Arial" charset="0"/>
                <a:ea typeface="ＭＳ Ｐゴシック" charset="0"/>
              </a:rPr>
              <a:t>Principles of Software Modeling</a:t>
            </a:r>
            <a:endParaRPr lang="en-GB" sz="2400" b="1" dirty="0">
              <a:latin typeface="Arial" charset="0"/>
              <a:ea typeface="ＭＳ Ｐゴシック" charset="0"/>
            </a:endParaRPr>
          </a:p>
          <a:p>
            <a:pPr marL="720725" indent="-347663">
              <a:lnSpc>
                <a:spcPct val="90000"/>
              </a:lnSpc>
            </a:pPr>
            <a:r>
              <a:rPr lang="en-GB" dirty="0"/>
              <a:t>Basics of software modelling</a:t>
            </a:r>
          </a:p>
          <a:p>
            <a:pPr marL="720725" indent="-347663">
              <a:lnSpc>
                <a:spcPct val="90000"/>
              </a:lnSpc>
            </a:pPr>
            <a:r>
              <a:rPr lang="en-GB" dirty="0"/>
              <a:t>Model-driven software development</a:t>
            </a:r>
            <a:endParaRPr lang="en-GB" dirty="0">
              <a:latin typeface="Arial" charset="0"/>
              <a:ea typeface="ＭＳ Ｐゴシック" charset="0"/>
            </a:endParaRPr>
          </a:p>
          <a:p>
            <a:pPr marL="0" indent="0">
              <a:buNone/>
            </a:pPr>
            <a:r>
              <a:rPr lang="en-GB" sz="2400" b="1" dirty="0">
                <a:latin typeface="Arial" charset="0"/>
                <a:ea typeface="ＭＳ Ｐゴシック" charset="0"/>
              </a:rPr>
              <a:t>2: Software Modelling in UML</a:t>
            </a:r>
          </a:p>
          <a:p>
            <a:pPr marL="762000" indent="-361950"/>
            <a:r>
              <a:rPr lang="en-US" sz="2400" dirty="0">
                <a:latin typeface="Arial" charset="0"/>
                <a:ea typeface="ＭＳ Ｐゴシック" charset="0"/>
              </a:rPr>
              <a:t>Functional Modelling</a:t>
            </a:r>
            <a:endParaRPr lang="en-GB" sz="2400" dirty="0">
              <a:latin typeface="Arial" charset="0"/>
              <a:ea typeface="ＭＳ Ｐゴシック" charset="0"/>
            </a:endParaRPr>
          </a:p>
          <a:p>
            <a:pPr marL="1122363" lvl="1" indent="-334963">
              <a:lnSpc>
                <a:spcPct val="90000"/>
              </a:lnSpc>
            </a:pPr>
            <a:r>
              <a:rPr lang="en-GB" sz="2000" dirty="0"/>
              <a:t>Use Cases and Scenarios</a:t>
            </a:r>
          </a:p>
          <a:p>
            <a:pPr marL="1122363" lvl="1" indent="-334963">
              <a:lnSpc>
                <a:spcPct val="90000"/>
              </a:lnSpc>
            </a:pPr>
            <a:r>
              <a:rPr lang="en-GB" sz="2000" dirty="0"/>
              <a:t>Activity Diagram</a:t>
            </a:r>
          </a:p>
          <a:p>
            <a:pPr marL="895350" indent="-495300"/>
            <a:r>
              <a:rPr lang="en-GB" sz="2400" dirty="0">
                <a:latin typeface="Arial" charset="0"/>
                <a:ea typeface="ＭＳ Ｐゴシック" charset="0"/>
              </a:rPr>
              <a:t>Structural Modelling</a:t>
            </a:r>
          </a:p>
          <a:p>
            <a:pPr marL="1122363" lvl="1" indent="-360363">
              <a:lnSpc>
                <a:spcPct val="90000"/>
              </a:lnSpc>
            </a:pPr>
            <a:r>
              <a:rPr lang="en-GB" sz="2000" dirty="0"/>
              <a:t>Class diagram</a:t>
            </a:r>
          </a:p>
          <a:p>
            <a:pPr marL="895350" indent="-495300">
              <a:lnSpc>
                <a:spcPct val="90000"/>
              </a:lnSpc>
            </a:pPr>
            <a:r>
              <a:rPr lang="en-GB" sz="2400" dirty="0"/>
              <a:t>Behavioural modelling</a:t>
            </a:r>
          </a:p>
          <a:p>
            <a:pPr marL="1122363" lvl="1" indent="-360363">
              <a:lnSpc>
                <a:spcPct val="90000"/>
              </a:lnSpc>
            </a:pPr>
            <a:r>
              <a:rPr lang="en-GB" sz="2000" dirty="0"/>
              <a:t>Sequence diagram</a:t>
            </a:r>
          </a:p>
          <a:p>
            <a:pPr marL="1122363" lvl="1" indent="-360363">
              <a:lnSpc>
                <a:spcPct val="90000"/>
              </a:lnSpc>
            </a:pPr>
            <a:r>
              <a:rPr lang="en-GB" sz="2000" dirty="0"/>
              <a:t>Behaviour state machine</a:t>
            </a:r>
          </a:p>
        </p:txBody>
      </p:sp>
      <p:sp>
        <p:nvSpPr>
          <p:cNvPr id="2" name="Title 1"/>
          <p:cNvSpPr>
            <a:spLocks noGrp="1"/>
          </p:cNvSpPr>
          <p:nvPr>
            <p:ph type="ctrTitle"/>
          </p:nvPr>
        </p:nvSpPr>
        <p:spPr/>
        <p:txBody>
          <a:bodyPr>
            <a:normAutofit/>
          </a:bodyPr>
          <a:lstStyle/>
          <a:p>
            <a:r>
              <a:rPr lang="en-US" sz="4000" dirty="0"/>
              <a:t>Learning Outcomes</a:t>
            </a:r>
            <a:endParaRPr lang="en-US" dirty="0"/>
          </a:p>
        </p:txBody>
      </p:sp>
      <p:sp>
        <p:nvSpPr>
          <p:cNvPr id="6" name="Slide Number Placeholder 5">
            <a:extLst>
              <a:ext uri="{FF2B5EF4-FFF2-40B4-BE49-F238E27FC236}">
                <a16:creationId xmlns:a16="http://schemas.microsoft.com/office/drawing/2014/main" id="{B6E57BCD-BC3D-2545-9803-10C7CE39713C}"/>
              </a:ext>
            </a:extLst>
          </p:cNvPr>
          <p:cNvSpPr>
            <a:spLocks noGrp="1"/>
          </p:cNvSpPr>
          <p:nvPr>
            <p:ph type="sldNum" sz="quarter" idx="4"/>
          </p:nvPr>
        </p:nvSpPr>
        <p:spPr/>
        <p:txBody>
          <a:bodyPr/>
          <a:lstStyle/>
          <a:p>
            <a:fld id="{D6255EFE-3ACE-DA4E-80CE-7588690A9A08}" type="slidenum">
              <a:rPr lang="en-GB" smtClean="0"/>
              <a:t>2</a:t>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Software Modelling</a:t>
            </a:r>
          </a:p>
        </p:txBody>
      </p:sp>
      <p:sp>
        <p:nvSpPr>
          <p:cNvPr id="3" name="Content Placeholder 2"/>
          <p:cNvSpPr>
            <a:spLocks noGrp="1"/>
          </p:cNvSpPr>
          <p:nvPr>
            <p:ph idx="1"/>
          </p:nvPr>
        </p:nvSpPr>
        <p:spPr/>
        <p:txBody>
          <a:bodyPr/>
          <a:lstStyle/>
          <a:p>
            <a:r>
              <a:rPr lang="en-GB" sz="2800" dirty="0"/>
              <a:t> What is a model</a:t>
            </a:r>
          </a:p>
          <a:p>
            <a:pPr marL="587375" lvl="1" indent="-315913"/>
            <a:r>
              <a:rPr lang="en-GB" sz="2400" dirty="0"/>
              <a:t> A model is a set of statements that describes a system at a high level of abstraction</a:t>
            </a:r>
          </a:p>
          <a:p>
            <a:pPr marL="319087" indent="-315913"/>
            <a:r>
              <a:rPr lang="en-GB" sz="2800" dirty="0"/>
              <a:t>What is a software model</a:t>
            </a:r>
          </a:p>
          <a:p>
            <a:pPr marL="587375" lvl="1" indent="-315913"/>
            <a:r>
              <a:rPr lang="en-GB" sz="2400" dirty="0"/>
              <a:t>A model of software system and its environment</a:t>
            </a:r>
          </a:p>
          <a:p>
            <a:r>
              <a:rPr lang="en-GB" sz="2800" dirty="0"/>
              <a:t>What is a modelling language</a:t>
            </a:r>
          </a:p>
          <a:p>
            <a:pPr lvl="1"/>
            <a:r>
              <a:rPr lang="en-GB" sz="2400" dirty="0"/>
              <a:t>A language in which a model is presented</a:t>
            </a:r>
          </a:p>
          <a:p>
            <a:pPr lvl="2"/>
            <a:r>
              <a:rPr lang="en-GB" sz="2400" dirty="0"/>
              <a:t> to build, describe, and analyse software models </a:t>
            </a:r>
          </a:p>
          <a:p>
            <a:pPr lvl="2"/>
            <a:r>
              <a:rPr lang="en-GB" sz="2400" dirty="0"/>
              <a:t> to support the development, operation, maintenance and evolution of software systems</a:t>
            </a:r>
          </a:p>
        </p:txBody>
      </p:sp>
      <p:sp>
        <p:nvSpPr>
          <p:cNvPr id="6" name="Slide Number Placeholder 5">
            <a:extLst>
              <a:ext uri="{FF2B5EF4-FFF2-40B4-BE49-F238E27FC236}">
                <a16:creationId xmlns:a16="http://schemas.microsoft.com/office/drawing/2014/main" id="{9EE3C868-97B3-8C4A-B2AD-A7F9576CC885}"/>
              </a:ext>
            </a:extLst>
          </p:cNvPr>
          <p:cNvSpPr>
            <a:spLocks noGrp="1"/>
          </p:cNvSpPr>
          <p:nvPr>
            <p:ph type="sldNum" sz="quarter" idx="4"/>
          </p:nvPr>
        </p:nvSpPr>
        <p:spPr/>
        <p:txBody>
          <a:bodyPr/>
          <a:lstStyle/>
          <a:p>
            <a:fld id="{D6255EFE-3ACE-DA4E-80CE-7588690A9A08}" type="slidenum">
              <a:rPr lang="en-GB" smtClean="0"/>
              <a:t>3</a:t>
            </a:fld>
            <a:endParaRPr lang="en-GB"/>
          </a:p>
        </p:txBody>
      </p:sp>
    </p:spTree>
    <p:extLst>
      <p:ext uri="{BB962C8B-B14F-4D97-AF65-F5344CB8AC3E}">
        <p14:creationId xmlns:p14="http://schemas.microsoft.com/office/powerpoint/2010/main" val="3713236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Software Modelling Languages</a:t>
            </a:r>
          </a:p>
        </p:txBody>
      </p:sp>
      <p:sp>
        <p:nvSpPr>
          <p:cNvPr id="3" name="Content Placeholder 2"/>
          <p:cNvSpPr>
            <a:spLocks noGrp="1"/>
          </p:cNvSpPr>
          <p:nvPr>
            <p:ph idx="1"/>
          </p:nvPr>
        </p:nvSpPr>
        <p:spPr>
          <a:xfrm>
            <a:off x="395536" y="908720"/>
            <a:ext cx="8568951" cy="5544616"/>
          </a:xfrm>
        </p:spPr>
        <p:txBody>
          <a:bodyPr/>
          <a:lstStyle/>
          <a:p>
            <a:pPr>
              <a:spcBef>
                <a:spcPts val="0"/>
              </a:spcBef>
            </a:pPr>
            <a:r>
              <a:rPr lang="en-GB" sz="2800" dirty="0"/>
              <a:t>In Jackson structural programming methodology (JSP) </a:t>
            </a:r>
          </a:p>
          <a:p>
            <a:pPr marL="627063" lvl="1" indent="-355600">
              <a:spcBef>
                <a:spcPts val="0"/>
              </a:spcBef>
            </a:pPr>
            <a:r>
              <a:rPr lang="en-GB" sz="2400" dirty="0"/>
              <a:t>Entity lifecycle diagram</a:t>
            </a:r>
          </a:p>
          <a:p>
            <a:pPr>
              <a:spcBef>
                <a:spcPts val="0"/>
              </a:spcBef>
            </a:pPr>
            <a:r>
              <a:rPr lang="en-GB" sz="2800" dirty="0"/>
              <a:t>In structured software development methodology</a:t>
            </a:r>
          </a:p>
          <a:p>
            <a:pPr marL="627063" lvl="1" indent="-355600">
              <a:spcBef>
                <a:spcPts val="0"/>
              </a:spcBef>
            </a:pPr>
            <a:r>
              <a:rPr lang="en-GB" sz="2400" dirty="0"/>
              <a:t>Control flow diagram</a:t>
            </a:r>
          </a:p>
          <a:p>
            <a:pPr marL="627063" lvl="1" indent="-355600">
              <a:spcBef>
                <a:spcPts val="0"/>
              </a:spcBef>
            </a:pPr>
            <a:r>
              <a:rPr lang="en-GB" sz="2400" dirty="0"/>
              <a:t>Entity relationship diagram (</a:t>
            </a:r>
            <a:r>
              <a:rPr lang="en-GB" sz="2400" i="1" dirty="0"/>
              <a:t>also used for modelling Relational Databases</a:t>
            </a:r>
            <a:r>
              <a:rPr lang="en-GB" sz="2400" dirty="0"/>
              <a:t>) </a:t>
            </a:r>
          </a:p>
          <a:p>
            <a:pPr marL="627063" lvl="1" indent="-355600">
              <a:spcBef>
                <a:spcPts val="0"/>
              </a:spcBef>
            </a:pPr>
            <a:r>
              <a:rPr lang="en-GB" sz="2400" dirty="0"/>
              <a:t>State transition diagram</a:t>
            </a:r>
          </a:p>
          <a:p>
            <a:pPr>
              <a:spcBef>
                <a:spcPts val="0"/>
              </a:spcBef>
            </a:pPr>
            <a:r>
              <a:rPr lang="en-GB" sz="2800" dirty="0"/>
              <a:t>In Object-oriented methodology</a:t>
            </a:r>
          </a:p>
          <a:p>
            <a:pPr marL="627063" lvl="1" indent="-355600">
              <a:spcBef>
                <a:spcPts val="0"/>
              </a:spcBef>
            </a:pPr>
            <a:r>
              <a:rPr lang="en-GB" sz="2400" dirty="0"/>
              <a:t> UML</a:t>
            </a:r>
          </a:p>
          <a:p>
            <a:pPr>
              <a:spcBef>
                <a:spcPts val="0"/>
              </a:spcBef>
            </a:pPr>
            <a:r>
              <a:rPr lang="en-GB" sz="2800" dirty="0"/>
              <a:t>In formal methods</a:t>
            </a:r>
          </a:p>
          <a:p>
            <a:pPr marL="627063" lvl="1" indent="-355600">
              <a:spcBef>
                <a:spcPts val="0"/>
              </a:spcBef>
            </a:pPr>
            <a:r>
              <a:rPr lang="en-GB" sz="2400" dirty="0"/>
              <a:t>State chart</a:t>
            </a:r>
          </a:p>
          <a:p>
            <a:pPr marL="627063" lvl="1" indent="-355600">
              <a:spcBef>
                <a:spcPts val="0"/>
              </a:spcBef>
            </a:pPr>
            <a:r>
              <a:rPr lang="en-GB" sz="2400" dirty="0"/>
              <a:t>Petri nets</a:t>
            </a:r>
          </a:p>
        </p:txBody>
      </p:sp>
      <p:sp>
        <p:nvSpPr>
          <p:cNvPr id="6" name="Slide Number Placeholder 5">
            <a:extLst>
              <a:ext uri="{FF2B5EF4-FFF2-40B4-BE49-F238E27FC236}">
                <a16:creationId xmlns:a16="http://schemas.microsoft.com/office/drawing/2014/main" id="{960BE8B8-5FC4-A84B-A500-3CA8B852A4D2}"/>
              </a:ext>
            </a:extLst>
          </p:cNvPr>
          <p:cNvSpPr>
            <a:spLocks noGrp="1"/>
          </p:cNvSpPr>
          <p:nvPr>
            <p:ph type="sldNum" sz="quarter" idx="4"/>
          </p:nvPr>
        </p:nvSpPr>
        <p:spPr/>
        <p:txBody>
          <a:bodyPr/>
          <a:lstStyle/>
          <a:p>
            <a:fld id="{D6255EFE-3ACE-DA4E-80CE-7588690A9A08}" type="slidenum">
              <a:rPr lang="en-GB" smtClean="0"/>
              <a:t>4</a:t>
            </a:fld>
            <a:endParaRPr lang="en-GB"/>
          </a:p>
        </p:txBody>
      </p:sp>
    </p:spTree>
    <p:extLst>
      <p:ext uri="{BB962C8B-B14F-4D97-AF65-F5344CB8AC3E}">
        <p14:creationId xmlns:p14="http://schemas.microsoft.com/office/powerpoint/2010/main" val="3344853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Aspects of Modelling Languages</a:t>
            </a:r>
          </a:p>
        </p:txBody>
      </p:sp>
      <p:sp>
        <p:nvSpPr>
          <p:cNvPr id="3" name="Content Placeholder 2"/>
          <p:cNvSpPr>
            <a:spLocks noGrp="1"/>
          </p:cNvSpPr>
          <p:nvPr>
            <p:ph idx="1"/>
          </p:nvPr>
        </p:nvSpPr>
        <p:spPr>
          <a:xfrm>
            <a:off x="395536" y="908720"/>
            <a:ext cx="8494727" cy="5544616"/>
          </a:xfrm>
        </p:spPr>
        <p:txBody>
          <a:bodyPr/>
          <a:lstStyle/>
          <a:p>
            <a:pPr marL="271463" indent="-271463">
              <a:lnSpc>
                <a:spcPct val="90000"/>
              </a:lnSpc>
            </a:pPr>
            <a:r>
              <a:rPr lang="en-GB" sz="2800" b="1" dirty="0"/>
              <a:t>Syntax</a:t>
            </a:r>
            <a:r>
              <a:rPr lang="en-GB" sz="2800" dirty="0"/>
              <a:t>: defines what is a valid model</a:t>
            </a:r>
          </a:p>
          <a:p>
            <a:pPr marL="668338" lvl="1" indent="-396875">
              <a:lnSpc>
                <a:spcPct val="90000"/>
              </a:lnSpc>
            </a:pPr>
            <a:r>
              <a:rPr lang="en-GB" sz="2400" dirty="0"/>
              <a:t>Abstract syntax: </a:t>
            </a:r>
          </a:p>
          <a:p>
            <a:pPr marL="895350" lvl="2" indent="-361950">
              <a:lnSpc>
                <a:spcPct val="90000"/>
              </a:lnSpc>
            </a:pPr>
            <a:r>
              <a:rPr lang="en-GB" sz="2400" dirty="0"/>
              <a:t>What are the valid elements to be included in a model</a:t>
            </a:r>
          </a:p>
          <a:p>
            <a:pPr marL="895350" lvl="2" indent="-361950">
              <a:lnSpc>
                <a:spcPct val="90000"/>
              </a:lnSpc>
            </a:pPr>
            <a:r>
              <a:rPr lang="en-GB" sz="2400" dirty="0"/>
              <a:t>How are the elements to be connected to each other</a:t>
            </a:r>
          </a:p>
          <a:p>
            <a:pPr marL="668338" lvl="1" indent="-396875">
              <a:lnSpc>
                <a:spcPct val="90000"/>
              </a:lnSpc>
            </a:pPr>
            <a:r>
              <a:rPr lang="en-GB" sz="2400" dirty="0"/>
              <a:t>Graphic notation: (concrete syntax) </a:t>
            </a:r>
          </a:p>
          <a:p>
            <a:pPr marL="895350" lvl="2" indent="-361950">
              <a:lnSpc>
                <a:spcPct val="90000"/>
              </a:lnSpc>
            </a:pPr>
            <a:r>
              <a:rPr lang="en-GB" sz="2400" dirty="0"/>
              <a:t>How to represent the elements and the connections in the model visually (i.e. the graphic notations) </a:t>
            </a:r>
          </a:p>
          <a:p>
            <a:pPr marL="271463" indent="-271463">
              <a:lnSpc>
                <a:spcPct val="90000"/>
              </a:lnSpc>
            </a:pPr>
            <a:r>
              <a:rPr lang="en-GB" sz="2800" b="1" dirty="0"/>
              <a:t>Semantics</a:t>
            </a:r>
            <a:r>
              <a:rPr lang="en-GB" sz="2800" dirty="0"/>
              <a:t>: defines the meanings of a valid model</a:t>
            </a:r>
          </a:p>
          <a:p>
            <a:pPr marL="668338" lvl="1" indent="-396875">
              <a:lnSpc>
                <a:spcPct val="90000"/>
              </a:lnSpc>
            </a:pPr>
            <a:r>
              <a:rPr lang="en-GB" sz="2400" dirty="0"/>
              <a:t>What do the elements in a model stand for?</a:t>
            </a:r>
          </a:p>
          <a:p>
            <a:pPr marL="668338" lvl="1" indent="-396875">
              <a:lnSpc>
                <a:spcPct val="90000"/>
              </a:lnSpc>
            </a:pPr>
            <a:r>
              <a:rPr lang="en-GB" sz="2400" dirty="0"/>
              <a:t>What do the connections between the elements stand for?</a:t>
            </a:r>
          </a:p>
          <a:p>
            <a:pPr marL="271463" indent="-271463">
              <a:lnSpc>
                <a:spcPct val="90000"/>
              </a:lnSpc>
            </a:pPr>
            <a:r>
              <a:rPr lang="en-GB" sz="2800" b="1" dirty="0"/>
              <a:t>Pragmatics</a:t>
            </a:r>
            <a:r>
              <a:rPr lang="en-GB" sz="2800" dirty="0"/>
              <a:t>: guides the uses of the models</a:t>
            </a:r>
          </a:p>
          <a:p>
            <a:pPr marL="668338" lvl="1" indent="-396875">
              <a:lnSpc>
                <a:spcPct val="90000"/>
              </a:lnSpc>
            </a:pPr>
            <a:r>
              <a:rPr lang="en-GB" sz="2400" dirty="0"/>
              <a:t>Heuristic rules on how to use the models to solve certain modelling problems </a:t>
            </a:r>
          </a:p>
        </p:txBody>
      </p:sp>
      <p:sp>
        <p:nvSpPr>
          <p:cNvPr id="6" name="Slide Number Placeholder 5">
            <a:extLst>
              <a:ext uri="{FF2B5EF4-FFF2-40B4-BE49-F238E27FC236}">
                <a16:creationId xmlns:a16="http://schemas.microsoft.com/office/drawing/2014/main" id="{C6A6BE7F-8C7C-9A4D-A625-0E18EF2EC08A}"/>
              </a:ext>
            </a:extLst>
          </p:cNvPr>
          <p:cNvSpPr>
            <a:spLocks noGrp="1"/>
          </p:cNvSpPr>
          <p:nvPr>
            <p:ph type="sldNum" sz="quarter" idx="4"/>
          </p:nvPr>
        </p:nvSpPr>
        <p:spPr/>
        <p:txBody>
          <a:bodyPr/>
          <a:lstStyle/>
          <a:p>
            <a:fld id="{D6255EFE-3ACE-DA4E-80CE-7588690A9A08}" type="slidenum">
              <a:rPr lang="en-GB" smtClean="0"/>
              <a:t>5</a:t>
            </a:fld>
            <a:endParaRPr lang="en-GB"/>
          </a:p>
        </p:txBody>
      </p:sp>
    </p:spTree>
    <p:extLst>
      <p:ext uri="{BB962C8B-B14F-4D97-AF65-F5344CB8AC3E}">
        <p14:creationId xmlns:p14="http://schemas.microsoft.com/office/powerpoint/2010/main" val="4030390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CAD4A-AE5E-4346-BEA1-CFC9B6717427}"/>
              </a:ext>
            </a:extLst>
          </p:cNvPr>
          <p:cNvSpPr>
            <a:spLocks noGrp="1"/>
          </p:cNvSpPr>
          <p:nvPr>
            <p:ph type="title"/>
          </p:nvPr>
        </p:nvSpPr>
        <p:spPr/>
        <p:txBody>
          <a:bodyPr>
            <a:normAutofit/>
          </a:bodyPr>
          <a:lstStyle/>
          <a:p>
            <a:r>
              <a:rPr lang="en-GB" sz="3600" dirty="0"/>
              <a:t>Model-Driven SW Development</a:t>
            </a:r>
          </a:p>
        </p:txBody>
      </p:sp>
      <p:sp>
        <p:nvSpPr>
          <p:cNvPr id="3" name="Content Placeholder 2">
            <a:extLst>
              <a:ext uri="{FF2B5EF4-FFF2-40B4-BE49-F238E27FC236}">
                <a16:creationId xmlns:a16="http://schemas.microsoft.com/office/drawing/2014/main" id="{295A90CE-A79B-6147-BDC8-4F2566CA3D19}"/>
              </a:ext>
            </a:extLst>
          </p:cNvPr>
          <p:cNvSpPr>
            <a:spLocks noGrp="1"/>
          </p:cNvSpPr>
          <p:nvPr>
            <p:ph idx="1"/>
          </p:nvPr>
        </p:nvSpPr>
        <p:spPr/>
        <p:txBody>
          <a:bodyPr/>
          <a:lstStyle/>
          <a:p>
            <a:pPr marL="493713" indent="-493713"/>
            <a:r>
              <a:rPr lang="en-GB" dirty="0"/>
              <a:t>SW models as the key artefacts in software development and evolution</a:t>
            </a:r>
          </a:p>
          <a:p>
            <a:pPr marL="762000" lvl="1" indent="-307975"/>
            <a:r>
              <a:rPr lang="en-GB" dirty="0"/>
              <a:t>Models can be easier to understand </a:t>
            </a:r>
            <a:r>
              <a:rPr lang="en-GB" dirty="0">
                <a:sym typeface="Wingdings" pitchFamily="2" charset="2"/>
              </a:rPr>
              <a:t> </a:t>
            </a:r>
          </a:p>
          <a:p>
            <a:pPr marL="762000" lvl="1" indent="-307975"/>
            <a:r>
              <a:rPr lang="en-GB" dirty="0"/>
              <a:t>Models can be less ambiguous </a:t>
            </a:r>
          </a:p>
          <a:p>
            <a:pPr marL="762000" lvl="1" indent="-307975"/>
            <a:r>
              <a:rPr lang="en-GB" dirty="0"/>
              <a:t>Models can be easier for computer to process</a:t>
            </a:r>
          </a:p>
          <a:p>
            <a:pPr marL="492125" indent="-479425"/>
            <a:r>
              <a:rPr lang="en-GB" dirty="0"/>
              <a:t>Construction of models as the main objectives in requirements elicitation and specification</a:t>
            </a:r>
          </a:p>
          <a:p>
            <a:pPr marL="762000" lvl="1" indent="-307975"/>
            <a:r>
              <a:rPr lang="en-GB" dirty="0"/>
              <a:t>Requirements are defined by a set of models</a:t>
            </a:r>
          </a:p>
          <a:p>
            <a:pPr marL="762000" lvl="1" indent="-307975"/>
            <a:r>
              <a:rPr lang="en-GB" dirty="0"/>
              <a:t>Consistency and completeness of requirements definition are checked by analysis of models with support of modelling tool</a:t>
            </a:r>
          </a:p>
          <a:p>
            <a:pPr marL="492125" indent="-479425"/>
            <a:r>
              <a:rPr lang="en-GB" dirty="0"/>
              <a:t>Design, implementation, testing etc. are considered as transformation and processing of models </a:t>
            </a:r>
          </a:p>
          <a:p>
            <a:pPr marL="762000" lvl="1" indent="-307975"/>
            <a:r>
              <a:rPr lang="en-GB" dirty="0"/>
              <a:t>Model transformation are supported by automated tools</a:t>
            </a:r>
          </a:p>
          <a:p>
            <a:pPr marL="762000" lvl="1" indent="-307975"/>
            <a:r>
              <a:rPr lang="en-GB" dirty="0"/>
              <a:t>Models can be made executable (e.g. as prototypes)</a:t>
            </a:r>
          </a:p>
        </p:txBody>
      </p:sp>
      <p:sp>
        <p:nvSpPr>
          <p:cNvPr id="4" name="TextBox 3">
            <a:extLst>
              <a:ext uri="{FF2B5EF4-FFF2-40B4-BE49-F238E27FC236}">
                <a16:creationId xmlns:a16="http://schemas.microsoft.com/office/drawing/2014/main" id="{23523418-882D-AD43-B950-8F16451E0A53}"/>
              </a:ext>
            </a:extLst>
          </p:cNvPr>
          <p:cNvSpPr txBox="1"/>
          <p:nvPr/>
        </p:nvSpPr>
        <p:spPr>
          <a:xfrm>
            <a:off x="5868144" y="1700808"/>
            <a:ext cx="1872209" cy="646331"/>
          </a:xfrm>
          <a:prstGeom prst="rect">
            <a:avLst/>
          </a:prstGeom>
          <a:noFill/>
        </p:spPr>
        <p:txBody>
          <a:bodyPr wrap="square" rtlCol="0">
            <a:spAutoFit/>
          </a:bodyPr>
          <a:lstStyle/>
          <a:p>
            <a:r>
              <a:rPr lang="en-GB" dirty="0">
                <a:solidFill>
                  <a:schemeClr val="accent5">
                    <a:lumMod val="75000"/>
                  </a:schemeClr>
                </a:solidFill>
              </a:rPr>
              <a:t>Supports communication</a:t>
            </a:r>
          </a:p>
        </p:txBody>
      </p:sp>
      <p:cxnSp>
        <p:nvCxnSpPr>
          <p:cNvPr id="6" name="Straight Arrow Connector 5">
            <a:extLst>
              <a:ext uri="{FF2B5EF4-FFF2-40B4-BE49-F238E27FC236}">
                <a16:creationId xmlns:a16="http://schemas.microsoft.com/office/drawing/2014/main" id="{1EC7A90B-A064-2045-BC38-803C752F8934}"/>
              </a:ext>
            </a:extLst>
          </p:cNvPr>
          <p:cNvCxnSpPr>
            <a:cxnSpLocks/>
            <a:endCxn id="4" idx="1"/>
          </p:cNvCxnSpPr>
          <p:nvPr/>
        </p:nvCxnSpPr>
        <p:spPr>
          <a:xfrm>
            <a:off x="5292080" y="1916832"/>
            <a:ext cx="576064" cy="107142"/>
          </a:xfrm>
          <a:prstGeom prst="straightConnector1">
            <a:avLst/>
          </a:prstGeom>
          <a:ln w="254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5BE00C0-89E9-554F-A7EE-B4F65ED9143A}"/>
              </a:ext>
            </a:extLst>
          </p:cNvPr>
          <p:cNvCxnSpPr>
            <a:cxnSpLocks/>
            <a:endCxn id="4" idx="1"/>
          </p:cNvCxnSpPr>
          <p:nvPr/>
        </p:nvCxnSpPr>
        <p:spPr>
          <a:xfrm flipV="1">
            <a:off x="5292080" y="2023974"/>
            <a:ext cx="576064" cy="216024"/>
          </a:xfrm>
          <a:prstGeom prst="straightConnector1">
            <a:avLst/>
          </a:prstGeom>
          <a:ln w="254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6957A2F2-1C5F-1646-80A8-583DB0E4DB53}"/>
              </a:ext>
            </a:extLst>
          </p:cNvPr>
          <p:cNvSpPr>
            <a:spLocks noGrp="1"/>
          </p:cNvSpPr>
          <p:nvPr>
            <p:ph type="sldNum" sz="quarter" idx="4"/>
          </p:nvPr>
        </p:nvSpPr>
        <p:spPr/>
        <p:txBody>
          <a:bodyPr/>
          <a:lstStyle/>
          <a:p>
            <a:fld id="{D6255EFE-3ACE-DA4E-80CE-7588690A9A08}" type="slidenum">
              <a:rPr lang="en-GB" smtClean="0"/>
              <a:t>6</a:t>
            </a:fld>
            <a:endParaRPr lang="en-GB"/>
          </a:p>
        </p:txBody>
      </p:sp>
    </p:spTree>
    <p:extLst>
      <p:ext uri="{BB962C8B-B14F-4D97-AF65-F5344CB8AC3E}">
        <p14:creationId xmlns:p14="http://schemas.microsoft.com/office/powerpoint/2010/main" val="4182762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4"/>
          <p:cNvSpPr>
            <a:spLocks noGrp="1"/>
          </p:cNvSpPr>
          <p:nvPr>
            <p:ph type="sldNum" sz="quarter" idx="4"/>
          </p:nvPr>
        </p:nvSpPr>
        <p:spPr bwMode="auto">
          <a:xfrm>
            <a:off x="8440613" y="6526609"/>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7</a:t>
            </a:fld>
            <a:endParaRPr lang="en-US" altLang="en-US">
              <a:solidFill>
                <a:schemeClr val="tx1"/>
              </a:solidFill>
            </a:endParaRPr>
          </a:p>
        </p:txBody>
      </p:sp>
      <p:sp>
        <p:nvSpPr>
          <p:cNvPr id="11269" name="Rectangle 2"/>
          <p:cNvSpPr>
            <a:spLocks noGrp="1" noChangeArrowheads="1"/>
          </p:cNvSpPr>
          <p:nvPr>
            <p:ph type="title"/>
          </p:nvPr>
        </p:nvSpPr>
        <p:spPr/>
        <p:txBody>
          <a:bodyPr>
            <a:normAutofit/>
          </a:bodyPr>
          <a:lstStyle/>
          <a:p>
            <a:r>
              <a:rPr lang="en-GB" sz="3600" dirty="0"/>
              <a:t>Holistic Approach to Modelling</a:t>
            </a:r>
            <a:endParaRPr lang="en-US" altLang="zh-CN" sz="3600" dirty="0">
              <a:ea typeface="SimSun" pitchFamily="2" charset="-122"/>
            </a:endParaRPr>
          </a:p>
        </p:txBody>
      </p:sp>
      <p:sp>
        <p:nvSpPr>
          <p:cNvPr id="11270" name="Rectangle 3"/>
          <p:cNvSpPr>
            <a:spLocks noGrp="1" noChangeArrowheads="1"/>
          </p:cNvSpPr>
          <p:nvPr>
            <p:ph type="body" idx="1"/>
          </p:nvPr>
        </p:nvSpPr>
        <p:spPr/>
        <p:txBody>
          <a:bodyPr/>
          <a:lstStyle/>
          <a:p>
            <a:pPr>
              <a:spcBef>
                <a:spcPts val="0"/>
              </a:spcBef>
            </a:pPr>
            <a:r>
              <a:rPr lang="en-GB" sz="3200" dirty="0"/>
              <a:t>Modelling SW on all aspects</a:t>
            </a:r>
          </a:p>
          <a:p>
            <a:pPr marL="587375" lvl="1" indent="-315913">
              <a:spcBef>
                <a:spcPts val="0"/>
              </a:spcBef>
            </a:pPr>
            <a:r>
              <a:rPr lang="en-GB" sz="2400" dirty="0"/>
              <a:t>Both the problem and the solution</a:t>
            </a:r>
          </a:p>
          <a:p>
            <a:pPr marL="587375" lvl="1" indent="-315913">
              <a:spcBef>
                <a:spcPts val="0"/>
              </a:spcBef>
            </a:pPr>
            <a:r>
              <a:rPr lang="en-GB" sz="2400" dirty="0"/>
              <a:t>Both internal and external views</a:t>
            </a:r>
          </a:p>
          <a:p>
            <a:pPr marL="587375" lvl="1" indent="-315913">
              <a:spcBef>
                <a:spcPts val="0"/>
              </a:spcBef>
            </a:pPr>
            <a:r>
              <a:rPr lang="en-GB" sz="2400" dirty="0"/>
              <a:t>Both static structure and dynamic behaviour views</a:t>
            </a:r>
          </a:p>
          <a:p>
            <a:pPr marL="587375" lvl="1" indent="-315913">
              <a:spcBef>
                <a:spcPts val="0"/>
              </a:spcBef>
            </a:pPr>
            <a:r>
              <a:rPr lang="en-GB" sz="2400" dirty="0"/>
              <a:t>Both individual and collective views </a:t>
            </a:r>
          </a:p>
          <a:p>
            <a:pPr marL="587375" lvl="1" indent="-315913">
              <a:spcBef>
                <a:spcPts val="0"/>
              </a:spcBef>
            </a:pPr>
            <a:r>
              <a:rPr lang="en-US" altLang="zh-CN" sz="2400" dirty="0">
                <a:ea typeface="SimSun" pitchFamily="2" charset="-122"/>
              </a:rPr>
              <a:t>Both the system itself and its context/environment </a:t>
            </a:r>
          </a:p>
          <a:p>
            <a:pPr marL="587375" lvl="1" indent="-315913">
              <a:spcBef>
                <a:spcPts val="0"/>
              </a:spcBef>
            </a:pPr>
            <a:r>
              <a:rPr lang="en-US" altLang="zh-CN" sz="2400" dirty="0">
                <a:ea typeface="SimSun" pitchFamily="2" charset="-122"/>
              </a:rPr>
              <a:t>Both the system-as-is and the system-to-be</a:t>
            </a:r>
          </a:p>
          <a:p>
            <a:pPr marL="587375" lvl="1" indent="-315913">
              <a:spcBef>
                <a:spcPts val="0"/>
              </a:spcBef>
            </a:pPr>
            <a:r>
              <a:rPr lang="en-GB" sz="2400" dirty="0">
                <a:ea typeface="SimSun" pitchFamily="2" charset="-122"/>
              </a:rPr>
              <a:t>At various levels of abstraction and details </a:t>
            </a:r>
          </a:p>
          <a:p>
            <a:pPr marL="319087" indent="-315913">
              <a:spcBef>
                <a:spcPts val="0"/>
              </a:spcBef>
            </a:pPr>
            <a:r>
              <a:rPr lang="en-GB" sz="2800" dirty="0">
                <a:ea typeface="SimSun" pitchFamily="2" charset="-122"/>
              </a:rPr>
              <a:t>Modelling SW in whole lifecycle</a:t>
            </a:r>
          </a:p>
          <a:p>
            <a:pPr marL="587375" lvl="1" indent="-315913">
              <a:spcBef>
                <a:spcPts val="0"/>
              </a:spcBef>
            </a:pPr>
            <a:r>
              <a:rPr lang="en-GB" sz="2400" dirty="0">
                <a:ea typeface="SimSun" pitchFamily="2" charset="-122"/>
              </a:rPr>
              <a:t>Requirements engineering</a:t>
            </a:r>
          </a:p>
          <a:p>
            <a:pPr marL="587375" lvl="1" indent="-315913">
              <a:spcBef>
                <a:spcPts val="0"/>
              </a:spcBef>
            </a:pPr>
            <a:r>
              <a:rPr lang="en-GB" sz="2400" dirty="0">
                <a:ea typeface="SimSun" pitchFamily="2" charset="-122"/>
              </a:rPr>
              <a:t>Design</a:t>
            </a:r>
          </a:p>
          <a:p>
            <a:pPr marL="587375" lvl="1" indent="-315913">
              <a:spcBef>
                <a:spcPts val="0"/>
              </a:spcBef>
            </a:pPr>
            <a:r>
              <a:rPr lang="en-GB" sz="2400" dirty="0">
                <a:ea typeface="SimSun" pitchFamily="2" charset="-122"/>
              </a:rPr>
              <a:t>Implementation</a:t>
            </a:r>
          </a:p>
          <a:p>
            <a:pPr marL="587375" lvl="1" indent="-315913">
              <a:spcBef>
                <a:spcPts val="0"/>
              </a:spcBef>
            </a:pPr>
            <a:r>
              <a:rPr lang="en-GB" sz="2400" dirty="0">
                <a:ea typeface="SimSun" pitchFamily="2" charset="-122"/>
              </a:rPr>
              <a:t>Integration and Testing</a:t>
            </a:r>
          </a:p>
          <a:p>
            <a:pPr marL="587375" lvl="1" indent="-315913">
              <a:spcBef>
                <a:spcPts val="0"/>
              </a:spcBef>
            </a:pPr>
            <a:r>
              <a:rPr lang="en-GB" sz="2400" dirty="0">
                <a:ea typeface="SimSun" pitchFamily="2" charset="-122"/>
              </a:rPr>
              <a:t>Maintenance and evolution</a:t>
            </a:r>
          </a:p>
        </p:txBody>
      </p:sp>
    </p:spTree>
    <p:extLst>
      <p:ext uri="{BB962C8B-B14F-4D97-AF65-F5344CB8AC3E}">
        <p14:creationId xmlns:p14="http://schemas.microsoft.com/office/powerpoint/2010/main" val="1671623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4"/>
          <p:cNvSpPr>
            <a:spLocks noGrp="1"/>
          </p:cNvSpPr>
          <p:nvPr>
            <p:ph type="sldNum" sz="quarter" idx="4"/>
          </p:nvPr>
        </p:nvSpPr>
        <p:spPr bwMode="auto">
          <a:xfrm>
            <a:off x="8421688" y="6526609"/>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8</a:t>
            </a:fld>
            <a:endParaRPr lang="en-US" altLang="en-US" dirty="0">
              <a:solidFill>
                <a:schemeClr val="tx1"/>
              </a:solidFill>
            </a:endParaRPr>
          </a:p>
        </p:txBody>
      </p:sp>
      <p:sp>
        <p:nvSpPr>
          <p:cNvPr id="12293" name="Rectangle 2"/>
          <p:cNvSpPr>
            <a:spLocks noGrp="1" noChangeArrowheads="1"/>
          </p:cNvSpPr>
          <p:nvPr>
            <p:ph type="title"/>
          </p:nvPr>
        </p:nvSpPr>
        <p:spPr>
          <a:solidFill>
            <a:srgbClr val="EEFAB9"/>
          </a:solidFill>
        </p:spPr>
        <p:txBody>
          <a:bodyPr>
            <a:normAutofit/>
          </a:bodyPr>
          <a:lstStyle/>
          <a:p>
            <a:r>
              <a:rPr lang="en-GB" sz="3600" dirty="0"/>
              <a:t>Multiple-Views Approach to Modelling </a:t>
            </a:r>
            <a:endParaRPr lang="en-US" altLang="zh-CN" sz="3600" dirty="0">
              <a:ea typeface="SimSun" pitchFamily="2" charset="-122"/>
            </a:endParaRPr>
          </a:p>
        </p:txBody>
      </p:sp>
      <p:sp>
        <p:nvSpPr>
          <p:cNvPr id="12294" name="Text Box 4"/>
          <p:cNvSpPr>
            <a:spLocks noGrp="1" noChangeArrowheads="1"/>
          </p:cNvSpPr>
          <p:nvPr>
            <p:ph type="body" idx="1"/>
          </p:nvPr>
        </p:nvSpPr>
        <p:spPr>
          <a:xfrm>
            <a:off x="490538" y="933450"/>
            <a:ext cx="8488362" cy="2855590"/>
          </a:xfrm>
          <a:noFill/>
        </p:spPr>
        <p:txBody>
          <a:bodyPr/>
          <a:lstStyle/>
          <a:p>
            <a:pPr marL="400050" indent="-400050"/>
            <a:r>
              <a:rPr lang="en-GB" dirty="0"/>
              <a:t>A complicated systems is best modelled by using a number of different models. </a:t>
            </a:r>
          </a:p>
          <a:p>
            <a:pPr marL="400050" indent="-400050"/>
            <a:r>
              <a:rPr lang="en-GB" dirty="0"/>
              <a:t>Each model represents one particular point of view to the system and focus on one particular aspect of the system. </a:t>
            </a:r>
          </a:p>
          <a:p>
            <a:pPr marL="400050" indent="-400050"/>
            <a:r>
              <a:rPr lang="en-GB" dirty="0"/>
              <a:t>These models can be on different levels of abstraction and provide different levels of details. </a:t>
            </a:r>
            <a:endParaRPr lang="en-US" altLang="zh-CN" dirty="0">
              <a:ea typeface="SimSun" pitchFamily="2" charset="-122"/>
            </a:endParaRPr>
          </a:p>
        </p:txBody>
      </p:sp>
      <p:sp>
        <p:nvSpPr>
          <p:cNvPr id="12295" name="Text Box 5"/>
          <p:cNvSpPr txBox="1">
            <a:spLocks noChangeArrowheads="1"/>
          </p:cNvSpPr>
          <p:nvPr/>
        </p:nvSpPr>
        <p:spPr bwMode="auto">
          <a:xfrm>
            <a:off x="525463" y="4094163"/>
            <a:ext cx="8350250" cy="1754326"/>
          </a:xfrm>
          <a:prstGeom prst="rect">
            <a:avLst/>
          </a:prstGeom>
          <a:noFill/>
          <a:ln w="28575" algn="ctr">
            <a:solidFill>
              <a:schemeClr val="accent2"/>
            </a:solidFill>
            <a:miter lim="800000"/>
            <a:headEnd/>
            <a:tailEnd/>
          </a:ln>
        </p:spPr>
        <p:txBody>
          <a:bodyPr>
            <a:spAutoFit/>
          </a:bodyPr>
          <a:lstStyle/>
          <a:p>
            <a:pPr algn="l">
              <a:lnSpc>
                <a:spcPct val="100000"/>
              </a:lnSpc>
              <a:spcBef>
                <a:spcPct val="50000"/>
              </a:spcBef>
            </a:pPr>
            <a:r>
              <a:rPr lang="en-GB" sz="2400" b="1" dirty="0">
                <a:solidFill>
                  <a:schemeClr val="accent5">
                    <a:lumMod val="75000"/>
                  </a:schemeClr>
                </a:solidFill>
              </a:rPr>
              <a:t>Consistency problem in multiple-view modelling:</a:t>
            </a:r>
          </a:p>
          <a:p>
            <a:pPr algn="l">
              <a:lnSpc>
                <a:spcPct val="100000"/>
              </a:lnSpc>
              <a:spcBef>
                <a:spcPct val="50000"/>
              </a:spcBef>
            </a:pPr>
            <a:r>
              <a:rPr lang="en-GB" sz="2400" dirty="0">
                <a:solidFill>
                  <a:schemeClr val="accent5">
                    <a:lumMod val="75000"/>
                  </a:schemeClr>
                </a:solidFill>
              </a:rPr>
              <a:t>Models of different views and at different levels of abstraction must be consistent so that consistent understanding of the system can be maintained. </a:t>
            </a:r>
            <a:endParaRPr lang="en-US" altLang="zh-CN" sz="2400" dirty="0">
              <a:solidFill>
                <a:schemeClr val="accent5">
                  <a:lumMod val="75000"/>
                </a:schemeClr>
              </a:solidFill>
            </a:endParaRPr>
          </a:p>
        </p:txBody>
      </p:sp>
    </p:spTree>
    <p:extLst>
      <p:ext uri="{BB962C8B-B14F-4D97-AF65-F5344CB8AC3E}">
        <p14:creationId xmlns:p14="http://schemas.microsoft.com/office/powerpoint/2010/main" val="405678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Slide Number Placeholder 4"/>
          <p:cNvSpPr>
            <a:spLocks noGrp="1"/>
          </p:cNvSpPr>
          <p:nvPr>
            <p:ph type="sldNum" sz="quarter" idx="4"/>
          </p:nvPr>
        </p:nvSpPr>
        <p:spPr bwMode="auto">
          <a:xfrm>
            <a:off x="8506179" y="6446541"/>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9</a:t>
            </a:fld>
            <a:endParaRPr lang="en-US" altLang="en-US">
              <a:solidFill>
                <a:schemeClr val="tx1"/>
              </a:solidFill>
            </a:endParaRPr>
          </a:p>
        </p:txBody>
      </p:sp>
      <p:sp>
        <p:nvSpPr>
          <p:cNvPr id="10245" name="Rectangle 2"/>
          <p:cNvSpPr>
            <a:spLocks noGrp="1" noChangeArrowheads="1"/>
          </p:cNvSpPr>
          <p:nvPr>
            <p:ph type="title"/>
          </p:nvPr>
        </p:nvSpPr>
        <p:spPr/>
        <p:txBody>
          <a:bodyPr>
            <a:normAutofit/>
          </a:bodyPr>
          <a:lstStyle/>
          <a:p>
            <a:r>
              <a:rPr lang="en-GB" sz="3600" dirty="0"/>
              <a:t>Types of SW Models (as in UML)</a:t>
            </a:r>
            <a:endParaRPr lang="en-US" altLang="zh-CN" sz="3600" dirty="0">
              <a:ea typeface="SimSun" pitchFamily="2" charset="-122"/>
            </a:endParaRPr>
          </a:p>
        </p:txBody>
      </p:sp>
      <p:sp>
        <p:nvSpPr>
          <p:cNvPr id="10246" name="Text Box 7"/>
          <p:cNvSpPr txBox="1">
            <a:spLocks noChangeArrowheads="1"/>
          </p:cNvSpPr>
          <p:nvPr/>
        </p:nvSpPr>
        <p:spPr bwMode="auto">
          <a:xfrm>
            <a:off x="173972" y="877540"/>
            <a:ext cx="2347912" cy="519112"/>
          </a:xfrm>
          <a:prstGeom prst="rect">
            <a:avLst/>
          </a:prstGeom>
          <a:noFill/>
          <a:ln w="28575" algn="ctr">
            <a:noFill/>
            <a:miter lim="800000"/>
            <a:headEnd/>
            <a:tailEnd/>
          </a:ln>
        </p:spPr>
        <p:txBody>
          <a:bodyPr wrap="square">
            <a:spAutoFit/>
          </a:bodyPr>
          <a:lstStyle/>
          <a:p>
            <a:pPr>
              <a:lnSpc>
                <a:spcPct val="100000"/>
              </a:lnSpc>
              <a:spcBef>
                <a:spcPct val="50000"/>
              </a:spcBef>
            </a:pPr>
            <a:r>
              <a:rPr lang="en-GB" sz="2800" dirty="0">
                <a:solidFill>
                  <a:schemeClr val="accent5">
                    <a:lumMod val="75000"/>
                  </a:schemeClr>
                </a:solidFill>
              </a:rPr>
              <a:t>External view</a:t>
            </a:r>
            <a:endParaRPr lang="en-US" altLang="zh-CN" sz="2800" dirty="0">
              <a:solidFill>
                <a:schemeClr val="accent5">
                  <a:lumMod val="75000"/>
                </a:schemeClr>
              </a:solidFill>
            </a:endParaRPr>
          </a:p>
        </p:txBody>
      </p:sp>
      <p:sp>
        <p:nvSpPr>
          <p:cNvPr id="10265" name="AutoShape 4"/>
          <p:cNvSpPr>
            <a:spLocks noChangeArrowheads="1"/>
          </p:cNvSpPr>
          <p:nvPr/>
        </p:nvSpPr>
        <p:spPr bwMode="auto">
          <a:xfrm>
            <a:off x="359139" y="1481409"/>
            <a:ext cx="2010429" cy="2896765"/>
          </a:xfrm>
          <a:prstGeom prst="roundRect">
            <a:avLst>
              <a:gd name="adj" fmla="val 8172"/>
            </a:avLst>
          </a:prstGeom>
          <a:noFill/>
          <a:ln w="28575">
            <a:solidFill>
              <a:schemeClr val="accent2"/>
            </a:solidFill>
            <a:round/>
            <a:headEnd/>
            <a:tailEnd/>
          </a:ln>
        </p:spPr>
        <p:txBody>
          <a:bodyPr/>
          <a:lstStyle/>
          <a:p>
            <a:pPr>
              <a:lnSpc>
                <a:spcPct val="100000"/>
              </a:lnSpc>
              <a:spcBef>
                <a:spcPct val="50000"/>
              </a:spcBef>
            </a:pPr>
            <a:r>
              <a:rPr lang="en-GB" sz="2400" b="1" dirty="0">
                <a:solidFill>
                  <a:schemeClr val="accent5">
                    <a:lumMod val="75000"/>
                  </a:schemeClr>
                </a:solidFill>
              </a:rPr>
              <a:t>Functional model</a:t>
            </a:r>
          </a:p>
          <a:p>
            <a:pPr>
              <a:lnSpc>
                <a:spcPct val="100000"/>
              </a:lnSpc>
              <a:spcBef>
                <a:spcPct val="50000"/>
              </a:spcBef>
            </a:pPr>
            <a:r>
              <a:rPr lang="en-GB" sz="2400" dirty="0">
                <a:solidFill>
                  <a:schemeClr val="accent5">
                    <a:lumMod val="75000"/>
                  </a:schemeClr>
                </a:solidFill>
              </a:rPr>
              <a:t>Use case diagram</a:t>
            </a:r>
          </a:p>
          <a:p>
            <a:pPr>
              <a:lnSpc>
                <a:spcPct val="100000"/>
              </a:lnSpc>
              <a:spcBef>
                <a:spcPct val="50000"/>
              </a:spcBef>
            </a:pPr>
            <a:r>
              <a:rPr lang="en-GB" sz="2400" dirty="0">
                <a:solidFill>
                  <a:schemeClr val="accent5">
                    <a:lumMod val="75000"/>
                  </a:schemeClr>
                </a:solidFill>
              </a:rPr>
              <a:t>Activity diagram</a:t>
            </a:r>
            <a:endParaRPr lang="en-US" altLang="zh-CN" sz="2400" dirty="0">
              <a:solidFill>
                <a:schemeClr val="accent5">
                  <a:lumMod val="75000"/>
                </a:schemeClr>
              </a:solidFill>
            </a:endParaRPr>
          </a:p>
        </p:txBody>
      </p:sp>
      <p:sp>
        <p:nvSpPr>
          <p:cNvPr id="10266" name="AutoShape 8"/>
          <p:cNvSpPr>
            <a:spLocks noChangeArrowheads="1"/>
          </p:cNvSpPr>
          <p:nvPr/>
        </p:nvSpPr>
        <p:spPr bwMode="auto">
          <a:xfrm>
            <a:off x="439167" y="2372476"/>
            <a:ext cx="1765674" cy="921610"/>
          </a:xfrm>
          <a:prstGeom prst="roundRect">
            <a:avLst>
              <a:gd name="adj" fmla="val 16667"/>
            </a:avLst>
          </a:prstGeom>
          <a:noFill/>
          <a:ln w="12700" algn="ctr">
            <a:solidFill>
              <a:schemeClr val="accent2"/>
            </a:solidFill>
            <a:round/>
            <a:headEnd/>
            <a:tailEnd/>
          </a:ln>
        </p:spPr>
        <p:txBody>
          <a:bodyPr wrap="square" anchor="ctr">
            <a:spAutoFit/>
          </a:bodyPr>
          <a:lstStyle/>
          <a:p>
            <a:endParaRPr lang="en-US"/>
          </a:p>
        </p:txBody>
      </p:sp>
      <p:sp>
        <p:nvSpPr>
          <p:cNvPr id="10267" name="AutoShape 9"/>
          <p:cNvSpPr>
            <a:spLocks noChangeArrowheads="1"/>
          </p:cNvSpPr>
          <p:nvPr/>
        </p:nvSpPr>
        <p:spPr bwMode="auto">
          <a:xfrm>
            <a:off x="445144" y="3328772"/>
            <a:ext cx="1765674" cy="923304"/>
          </a:xfrm>
          <a:prstGeom prst="roundRect">
            <a:avLst>
              <a:gd name="adj" fmla="val 16667"/>
            </a:avLst>
          </a:prstGeom>
          <a:noFill/>
          <a:ln w="12700" algn="ctr">
            <a:solidFill>
              <a:schemeClr val="accent2"/>
            </a:solidFill>
            <a:round/>
            <a:headEnd/>
            <a:tailEnd/>
          </a:ln>
        </p:spPr>
        <p:txBody>
          <a:bodyPr wrap="square" anchor="ctr">
            <a:spAutoFit/>
          </a:bodyPr>
          <a:lstStyle/>
          <a:p>
            <a:endParaRPr lang="en-US"/>
          </a:p>
        </p:txBody>
      </p:sp>
      <p:sp>
        <p:nvSpPr>
          <p:cNvPr id="10262" name="AutoShape 5"/>
          <p:cNvSpPr>
            <a:spLocks noChangeArrowheads="1"/>
          </p:cNvSpPr>
          <p:nvPr/>
        </p:nvSpPr>
        <p:spPr bwMode="auto">
          <a:xfrm>
            <a:off x="2698750" y="1669524"/>
            <a:ext cx="2043113" cy="4855820"/>
          </a:xfrm>
          <a:prstGeom prst="roundRect">
            <a:avLst>
              <a:gd name="adj" fmla="val 10102"/>
            </a:avLst>
          </a:prstGeom>
          <a:noFill/>
          <a:ln w="28575">
            <a:solidFill>
              <a:schemeClr val="accent2"/>
            </a:solidFill>
            <a:round/>
            <a:headEnd/>
            <a:tailEnd/>
          </a:ln>
        </p:spPr>
        <p:txBody>
          <a:bodyPr/>
          <a:lstStyle/>
          <a:p>
            <a:pPr>
              <a:lnSpc>
                <a:spcPct val="100000"/>
              </a:lnSpc>
              <a:spcBef>
                <a:spcPct val="50000"/>
              </a:spcBef>
            </a:pPr>
            <a:r>
              <a:rPr lang="en-GB" sz="2400" b="1" dirty="0">
                <a:solidFill>
                  <a:schemeClr val="accent5">
                    <a:lumMod val="75000"/>
                  </a:schemeClr>
                </a:solidFill>
              </a:rPr>
              <a:t>Structural model</a:t>
            </a:r>
          </a:p>
          <a:p>
            <a:pPr>
              <a:lnSpc>
                <a:spcPct val="100000"/>
              </a:lnSpc>
              <a:spcBef>
                <a:spcPct val="50000"/>
              </a:spcBef>
            </a:pPr>
            <a:r>
              <a:rPr lang="en-GB" sz="2400" dirty="0">
                <a:solidFill>
                  <a:schemeClr val="accent5">
                    <a:lumMod val="75000"/>
                  </a:schemeClr>
                </a:solidFill>
              </a:rPr>
              <a:t>Class Diagram</a:t>
            </a:r>
          </a:p>
          <a:p>
            <a:pPr>
              <a:lnSpc>
                <a:spcPct val="100000"/>
              </a:lnSpc>
              <a:spcBef>
                <a:spcPct val="50000"/>
              </a:spcBef>
            </a:pPr>
            <a:r>
              <a:rPr lang="en-GB" sz="2400" dirty="0">
                <a:solidFill>
                  <a:schemeClr val="accent5">
                    <a:lumMod val="75000"/>
                  </a:schemeClr>
                </a:solidFill>
              </a:rPr>
              <a:t>Object Diagram</a:t>
            </a:r>
          </a:p>
          <a:p>
            <a:pPr>
              <a:lnSpc>
                <a:spcPct val="100000"/>
              </a:lnSpc>
              <a:spcBef>
                <a:spcPct val="50000"/>
              </a:spcBef>
            </a:pPr>
            <a:r>
              <a:rPr lang="en-GB" altLang="zh-CN" sz="2400" dirty="0">
                <a:solidFill>
                  <a:schemeClr val="accent5">
                    <a:lumMod val="75000"/>
                  </a:schemeClr>
                </a:solidFill>
              </a:rPr>
              <a:t>Component diagram</a:t>
            </a:r>
          </a:p>
          <a:p>
            <a:pPr>
              <a:lnSpc>
                <a:spcPct val="100000"/>
              </a:lnSpc>
              <a:spcBef>
                <a:spcPct val="50000"/>
              </a:spcBef>
            </a:pPr>
            <a:r>
              <a:rPr lang="en-GB" altLang="zh-CN" sz="2400" dirty="0">
                <a:solidFill>
                  <a:schemeClr val="accent5">
                    <a:lumMod val="75000"/>
                  </a:schemeClr>
                </a:solidFill>
              </a:rPr>
              <a:t>Package diagram</a:t>
            </a:r>
            <a:endParaRPr lang="en-US" altLang="zh-CN" sz="2400" dirty="0">
              <a:solidFill>
                <a:schemeClr val="accent5">
                  <a:lumMod val="75000"/>
                </a:schemeClr>
              </a:solidFill>
            </a:endParaRPr>
          </a:p>
        </p:txBody>
      </p:sp>
      <p:sp>
        <p:nvSpPr>
          <p:cNvPr id="10263" name="AutoShape 10"/>
          <p:cNvSpPr>
            <a:spLocks noChangeArrowheads="1"/>
          </p:cNvSpPr>
          <p:nvPr/>
        </p:nvSpPr>
        <p:spPr bwMode="auto">
          <a:xfrm>
            <a:off x="2771775" y="2638273"/>
            <a:ext cx="1798638" cy="788988"/>
          </a:xfrm>
          <a:prstGeom prst="roundRect">
            <a:avLst>
              <a:gd name="adj" fmla="val 16667"/>
            </a:avLst>
          </a:prstGeom>
          <a:noFill/>
          <a:ln w="12700" algn="ctr">
            <a:solidFill>
              <a:schemeClr val="accent2"/>
            </a:solidFill>
            <a:round/>
            <a:headEnd/>
            <a:tailEnd/>
          </a:ln>
        </p:spPr>
        <p:txBody>
          <a:bodyPr wrap="square" anchor="ctr">
            <a:spAutoFit/>
          </a:bodyPr>
          <a:lstStyle/>
          <a:p>
            <a:endParaRPr lang="en-US"/>
          </a:p>
        </p:txBody>
      </p:sp>
      <p:sp>
        <p:nvSpPr>
          <p:cNvPr id="10264" name="AutoShape 11"/>
          <p:cNvSpPr>
            <a:spLocks noChangeArrowheads="1"/>
          </p:cNvSpPr>
          <p:nvPr/>
        </p:nvSpPr>
        <p:spPr bwMode="auto">
          <a:xfrm>
            <a:off x="2771775" y="3589186"/>
            <a:ext cx="1798638" cy="788988"/>
          </a:xfrm>
          <a:prstGeom prst="roundRect">
            <a:avLst>
              <a:gd name="adj" fmla="val 16667"/>
            </a:avLst>
          </a:prstGeom>
          <a:noFill/>
          <a:ln w="12700" algn="ctr">
            <a:solidFill>
              <a:schemeClr val="accent2"/>
            </a:solidFill>
            <a:round/>
            <a:headEnd/>
            <a:tailEnd/>
          </a:ln>
        </p:spPr>
        <p:txBody>
          <a:bodyPr wrap="square" anchor="ctr">
            <a:spAutoFit/>
          </a:bodyPr>
          <a:lstStyle/>
          <a:p>
            <a:endParaRPr lang="en-US"/>
          </a:p>
        </p:txBody>
      </p:sp>
      <p:sp>
        <p:nvSpPr>
          <p:cNvPr id="10258" name="AutoShape 6"/>
          <p:cNvSpPr>
            <a:spLocks noChangeArrowheads="1"/>
          </p:cNvSpPr>
          <p:nvPr/>
        </p:nvSpPr>
        <p:spPr bwMode="auto">
          <a:xfrm>
            <a:off x="4903788" y="1674287"/>
            <a:ext cx="2505075" cy="3867150"/>
          </a:xfrm>
          <a:prstGeom prst="roundRect">
            <a:avLst>
              <a:gd name="adj" fmla="val 8912"/>
            </a:avLst>
          </a:prstGeom>
          <a:noFill/>
          <a:ln w="28575">
            <a:solidFill>
              <a:schemeClr val="accent2"/>
            </a:solidFill>
            <a:round/>
            <a:headEnd/>
            <a:tailEnd/>
          </a:ln>
        </p:spPr>
        <p:txBody>
          <a:bodyPr/>
          <a:lstStyle/>
          <a:p>
            <a:pPr>
              <a:lnSpc>
                <a:spcPct val="100000"/>
              </a:lnSpc>
              <a:spcBef>
                <a:spcPct val="50000"/>
              </a:spcBef>
            </a:pPr>
            <a:r>
              <a:rPr lang="en-GB" sz="2400" b="1" dirty="0">
                <a:solidFill>
                  <a:schemeClr val="accent5">
                    <a:lumMod val="75000"/>
                  </a:schemeClr>
                </a:solidFill>
              </a:rPr>
              <a:t>Behavioural model</a:t>
            </a:r>
          </a:p>
          <a:p>
            <a:pPr>
              <a:lnSpc>
                <a:spcPct val="100000"/>
              </a:lnSpc>
              <a:spcBef>
                <a:spcPct val="50000"/>
              </a:spcBef>
            </a:pPr>
            <a:r>
              <a:rPr lang="en-GB" sz="2400" dirty="0">
                <a:solidFill>
                  <a:schemeClr val="accent5">
                    <a:lumMod val="75000"/>
                  </a:schemeClr>
                </a:solidFill>
              </a:rPr>
              <a:t>Sequence diagram</a:t>
            </a:r>
          </a:p>
          <a:p>
            <a:pPr>
              <a:lnSpc>
                <a:spcPct val="100000"/>
              </a:lnSpc>
              <a:spcBef>
                <a:spcPct val="50000"/>
              </a:spcBef>
            </a:pPr>
            <a:r>
              <a:rPr lang="en-GB" sz="2400" dirty="0">
                <a:solidFill>
                  <a:schemeClr val="accent5">
                    <a:lumMod val="75000"/>
                  </a:schemeClr>
                </a:solidFill>
              </a:rPr>
              <a:t>Communication diagram</a:t>
            </a:r>
          </a:p>
          <a:p>
            <a:pPr>
              <a:lnSpc>
                <a:spcPct val="100000"/>
              </a:lnSpc>
              <a:spcBef>
                <a:spcPct val="50000"/>
              </a:spcBef>
            </a:pPr>
            <a:r>
              <a:rPr lang="en-GB" sz="2400" dirty="0">
                <a:solidFill>
                  <a:schemeClr val="accent5">
                    <a:lumMod val="75000"/>
                  </a:schemeClr>
                </a:solidFill>
              </a:rPr>
              <a:t>Behavioural state machine</a:t>
            </a:r>
            <a:endParaRPr lang="en-US" altLang="zh-CN" sz="2400" dirty="0">
              <a:solidFill>
                <a:schemeClr val="accent5">
                  <a:lumMod val="75000"/>
                </a:schemeClr>
              </a:solidFill>
            </a:endParaRPr>
          </a:p>
        </p:txBody>
      </p:sp>
      <p:sp>
        <p:nvSpPr>
          <p:cNvPr id="10259" name="AutoShape 12"/>
          <p:cNvSpPr>
            <a:spLocks noChangeArrowheads="1"/>
          </p:cNvSpPr>
          <p:nvPr/>
        </p:nvSpPr>
        <p:spPr bwMode="auto">
          <a:xfrm>
            <a:off x="4951783" y="2660125"/>
            <a:ext cx="2332832" cy="863600"/>
          </a:xfrm>
          <a:prstGeom prst="roundRect">
            <a:avLst>
              <a:gd name="adj" fmla="val 16667"/>
            </a:avLst>
          </a:prstGeom>
          <a:noFill/>
          <a:ln w="12700" algn="ctr">
            <a:solidFill>
              <a:schemeClr val="accent2"/>
            </a:solidFill>
            <a:round/>
            <a:headEnd/>
            <a:tailEnd/>
          </a:ln>
        </p:spPr>
        <p:txBody>
          <a:bodyPr wrap="square" anchor="ctr">
            <a:spAutoFit/>
          </a:bodyPr>
          <a:lstStyle/>
          <a:p>
            <a:endParaRPr lang="en-US"/>
          </a:p>
        </p:txBody>
      </p:sp>
      <p:sp>
        <p:nvSpPr>
          <p:cNvPr id="10260" name="AutoShape 14"/>
          <p:cNvSpPr>
            <a:spLocks noChangeArrowheads="1"/>
          </p:cNvSpPr>
          <p:nvPr/>
        </p:nvSpPr>
        <p:spPr bwMode="auto">
          <a:xfrm>
            <a:off x="4962525" y="3612160"/>
            <a:ext cx="2322090" cy="863600"/>
          </a:xfrm>
          <a:prstGeom prst="roundRect">
            <a:avLst>
              <a:gd name="adj" fmla="val 16667"/>
            </a:avLst>
          </a:prstGeom>
          <a:noFill/>
          <a:ln w="12700" algn="ctr">
            <a:solidFill>
              <a:schemeClr val="accent2"/>
            </a:solidFill>
            <a:round/>
            <a:headEnd/>
            <a:tailEnd/>
          </a:ln>
        </p:spPr>
        <p:txBody>
          <a:bodyPr wrap="square" anchor="ctr">
            <a:spAutoFit/>
          </a:bodyPr>
          <a:lstStyle/>
          <a:p>
            <a:endParaRPr lang="en-US"/>
          </a:p>
        </p:txBody>
      </p:sp>
      <p:sp>
        <p:nvSpPr>
          <p:cNvPr id="10261" name="AutoShape 15"/>
          <p:cNvSpPr>
            <a:spLocks noChangeArrowheads="1"/>
          </p:cNvSpPr>
          <p:nvPr/>
        </p:nvSpPr>
        <p:spPr bwMode="auto">
          <a:xfrm>
            <a:off x="4977466" y="4509563"/>
            <a:ext cx="2280584" cy="863600"/>
          </a:xfrm>
          <a:prstGeom prst="roundRect">
            <a:avLst>
              <a:gd name="adj" fmla="val 16667"/>
            </a:avLst>
          </a:prstGeom>
          <a:noFill/>
          <a:ln w="12700" algn="ctr">
            <a:solidFill>
              <a:schemeClr val="accent2"/>
            </a:solidFill>
            <a:round/>
            <a:headEnd/>
            <a:tailEnd/>
          </a:ln>
        </p:spPr>
        <p:txBody>
          <a:bodyPr wrap="square" anchor="ctr">
            <a:spAutoFit/>
          </a:bodyPr>
          <a:lstStyle/>
          <a:p>
            <a:endParaRPr lang="en-US"/>
          </a:p>
        </p:txBody>
      </p:sp>
      <p:sp>
        <p:nvSpPr>
          <p:cNvPr id="10250" name="Text Box 19"/>
          <p:cNvSpPr txBox="1">
            <a:spLocks noChangeArrowheads="1"/>
          </p:cNvSpPr>
          <p:nvPr/>
        </p:nvSpPr>
        <p:spPr bwMode="auto">
          <a:xfrm>
            <a:off x="3025796" y="764704"/>
            <a:ext cx="4032250" cy="519112"/>
          </a:xfrm>
          <a:prstGeom prst="rect">
            <a:avLst/>
          </a:prstGeom>
          <a:noFill/>
          <a:ln w="28575" algn="ctr">
            <a:noFill/>
            <a:miter lim="800000"/>
            <a:headEnd/>
            <a:tailEnd/>
          </a:ln>
        </p:spPr>
        <p:txBody>
          <a:bodyPr>
            <a:spAutoFit/>
          </a:bodyPr>
          <a:lstStyle/>
          <a:p>
            <a:pPr algn="ctr">
              <a:lnSpc>
                <a:spcPct val="100000"/>
              </a:lnSpc>
              <a:spcBef>
                <a:spcPct val="50000"/>
              </a:spcBef>
            </a:pPr>
            <a:r>
              <a:rPr lang="en-GB" sz="2800" dirty="0">
                <a:solidFill>
                  <a:schemeClr val="accent5">
                    <a:lumMod val="75000"/>
                  </a:schemeClr>
                </a:solidFill>
              </a:rPr>
              <a:t>Internal view</a:t>
            </a:r>
            <a:endParaRPr lang="en-US" altLang="zh-CN" sz="2800" dirty="0">
              <a:solidFill>
                <a:schemeClr val="accent5">
                  <a:lumMod val="75000"/>
                </a:schemeClr>
              </a:solidFill>
            </a:endParaRPr>
          </a:p>
        </p:txBody>
      </p:sp>
      <p:sp>
        <p:nvSpPr>
          <p:cNvPr id="10251" name="Text Box 21"/>
          <p:cNvSpPr txBox="1">
            <a:spLocks noChangeArrowheads="1"/>
          </p:cNvSpPr>
          <p:nvPr/>
        </p:nvSpPr>
        <p:spPr bwMode="auto">
          <a:xfrm>
            <a:off x="2743200" y="1199624"/>
            <a:ext cx="1933575" cy="461665"/>
          </a:xfrm>
          <a:prstGeom prst="rect">
            <a:avLst/>
          </a:prstGeom>
          <a:noFill/>
          <a:ln w="28575" algn="ctr">
            <a:noFill/>
            <a:miter lim="800000"/>
            <a:headEnd/>
            <a:tailEnd/>
          </a:ln>
        </p:spPr>
        <p:txBody>
          <a:bodyPr>
            <a:spAutoFit/>
          </a:bodyPr>
          <a:lstStyle/>
          <a:p>
            <a:pPr>
              <a:lnSpc>
                <a:spcPct val="100000"/>
              </a:lnSpc>
              <a:spcBef>
                <a:spcPct val="50000"/>
              </a:spcBef>
            </a:pPr>
            <a:r>
              <a:rPr lang="en-GB" sz="2400" dirty="0">
                <a:solidFill>
                  <a:schemeClr val="accent5">
                    <a:lumMod val="75000"/>
                  </a:schemeClr>
                </a:solidFill>
              </a:rPr>
              <a:t>Static view</a:t>
            </a:r>
            <a:endParaRPr lang="en-US" altLang="zh-CN" sz="2400" dirty="0">
              <a:solidFill>
                <a:schemeClr val="accent5">
                  <a:lumMod val="75000"/>
                </a:schemeClr>
              </a:solidFill>
            </a:endParaRPr>
          </a:p>
        </p:txBody>
      </p:sp>
      <p:sp>
        <p:nvSpPr>
          <p:cNvPr id="10252" name="Text Box 22"/>
          <p:cNvSpPr txBox="1">
            <a:spLocks noChangeArrowheads="1"/>
          </p:cNvSpPr>
          <p:nvPr/>
        </p:nvSpPr>
        <p:spPr bwMode="auto">
          <a:xfrm>
            <a:off x="5011738" y="1194862"/>
            <a:ext cx="2157412" cy="461665"/>
          </a:xfrm>
          <a:prstGeom prst="rect">
            <a:avLst/>
          </a:prstGeom>
          <a:noFill/>
          <a:ln w="28575" algn="ctr">
            <a:noFill/>
            <a:miter lim="800000"/>
            <a:headEnd/>
            <a:tailEnd/>
          </a:ln>
        </p:spPr>
        <p:txBody>
          <a:bodyPr>
            <a:spAutoFit/>
          </a:bodyPr>
          <a:lstStyle/>
          <a:p>
            <a:pPr>
              <a:lnSpc>
                <a:spcPct val="100000"/>
              </a:lnSpc>
              <a:spcBef>
                <a:spcPct val="50000"/>
              </a:spcBef>
            </a:pPr>
            <a:r>
              <a:rPr lang="en-GB" sz="2400" dirty="0">
                <a:solidFill>
                  <a:schemeClr val="accent5">
                    <a:lumMod val="75000"/>
                  </a:schemeClr>
                </a:solidFill>
              </a:rPr>
              <a:t>Dynamic view</a:t>
            </a:r>
            <a:endParaRPr lang="en-US" altLang="zh-CN" sz="2400" dirty="0">
              <a:solidFill>
                <a:schemeClr val="accent5">
                  <a:lumMod val="75000"/>
                </a:schemeClr>
              </a:solidFill>
            </a:endParaRPr>
          </a:p>
        </p:txBody>
      </p:sp>
      <p:sp>
        <p:nvSpPr>
          <p:cNvPr id="10253" name="Text Box 23"/>
          <p:cNvSpPr txBox="1">
            <a:spLocks noChangeArrowheads="1"/>
          </p:cNvSpPr>
          <p:nvPr/>
        </p:nvSpPr>
        <p:spPr bwMode="auto">
          <a:xfrm>
            <a:off x="7435850" y="3423712"/>
            <a:ext cx="1708150" cy="720197"/>
          </a:xfrm>
          <a:prstGeom prst="rect">
            <a:avLst/>
          </a:prstGeom>
          <a:noFill/>
          <a:ln w="28575" algn="ctr">
            <a:noFill/>
            <a:miter lim="800000"/>
            <a:headEnd/>
            <a:tailEnd/>
          </a:ln>
        </p:spPr>
        <p:txBody>
          <a:bodyPr wrap="square">
            <a:spAutoFit/>
          </a:bodyPr>
          <a:lstStyle/>
          <a:p>
            <a:pPr>
              <a:lnSpc>
                <a:spcPct val="85000"/>
              </a:lnSpc>
            </a:pPr>
            <a:r>
              <a:rPr lang="en-GB" sz="2400" dirty="0">
                <a:solidFill>
                  <a:schemeClr val="accent5">
                    <a:lumMod val="75000"/>
                  </a:schemeClr>
                </a:solidFill>
              </a:rPr>
              <a:t>Interaction view </a:t>
            </a:r>
            <a:endParaRPr lang="en-US" altLang="zh-CN" sz="2400" dirty="0">
              <a:solidFill>
                <a:schemeClr val="accent5">
                  <a:lumMod val="75000"/>
                </a:schemeClr>
              </a:solidFill>
            </a:endParaRPr>
          </a:p>
        </p:txBody>
      </p:sp>
      <p:sp>
        <p:nvSpPr>
          <p:cNvPr id="10254" name="Text Box 24"/>
          <p:cNvSpPr txBox="1">
            <a:spLocks noChangeArrowheads="1"/>
          </p:cNvSpPr>
          <p:nvPr/>
        </p:nvSpPr>
        <p:spPr bwMode="auto">
          <a:xfrm>
            <a:off x="7491858" y="4577824"/>
            <a:ext cx="1544638" cy="720197"/>
          </a:xfrm>
          <a:prstGeom prst="rect">
            <a:avLst/>
          </a:prstGeom>
          <a:noFill/>
          <a:ln w="28575" algn="ctr">
            <a:noFill/>
            <a:miter lim="800000"/>
            <a:headEnd/>
            <a:tailEnd/>
          </a:ln>
        </p:spPr>
        <p:txBody>
          <a:bodyPr>
            <a:spAutoFit/>
          </a:bodyPr>
          <a:lstStyle/>
          <a:p>
            <a:pPr>
              <a:lnSpc>
                <a:spcPct val="85000"/>
              </a:lnSpc>
            </a:pPr>
            <a:r>
              <a:rPr lang="en-GB" sz="2400" dirty="0">
                <a:solidFill>
                  <a:schemeClr val="accent5">
                    <a:lumMod val="75000"/>
                  </a:schemeClr>
                </a:solidFill>
              </a:rPr>
              <a:t>Individual view </a:t>
            </a:r>
            <a:endParaRPr lang="en-US" altLang="zh-CN" sz="2400" dirty="0">
              <a:solidFill>
                <a:schemeClr val="accent5">
                  <a:lumMod val="75000"/>
                </a:schemeClr>
              </a:solidFill>
            </a:endParaRPr>
          </a:p>
        </p:txBody>
      </p:sp>
      <p:sp>
        <p:nvSpPr>
          <p:cNvPr id="10255" name="Line 25"/>
          <p:cNvSpPr>
            <a:spLocks noChangeShapeType="1"/>
          </p:cNvSpPr>
          <p:nvPr/>
        </p:nvSpPr>
        <p:spPr bwMode="auto">
          <a:xfrm flipH="1" flipV="1">
            <a:off x="6588224" y="3121158"/>
            <a:ext cx="862136" cy="334662"/>
          </a:xfrm>
          <a:prstGeom prst="line">
            <a:avLst/>
          </a:prstGeom>
          <a:noFill/>
          <a:ln w="28575">
            <a:solidFill>
              <a:schemeClr val="accent2"/>
            </a:solidFill>
            <a:round/>
            <a:headEnd/>
            <a:tailEnd type="triangle" w="med" len="med"/>
          </a:ln>
        </p:spPr>
        <p:txBody>
          <a:bodyPr wrap="square">
            <a:spAutoFit/>
          </a:bodyPr>
          <a:lstStyle/>
          <a:p>
            <a:endParaRPr lang="en-US"/>
          </a:p>
        </p:txBody>
      </p:sp>
      <p:sp>
        <p:nvSpPr>
          <p:cNvPr id="10256" name="Line 26"/>
          <p:cNvSpPr>
            <a:spLocks noChangeShapeType="1"/>
          </p:cNvSpPr>
          <p:nvPr/>
        </p:nvSpPr>
        <p:spPr bwMode="auto">
          <a:xfrm flipH="1">
            <a:off x="6966393" y="3959165"/>
            <a:ext cx="525464" cy="182098"/>
          </a:xfrm>
          <a:prstGeom prst="line">
            <a:avLst/>
          </a:prstGeom>
          <a:noFill/>
          <a:ln w="28575">
            <a:solidFill>
              <a:schemeClr val="accent2"/>
            </a:solidFill>
            <a:round/>
            <a:headEnd/>
            <a:tailEnd type="triangle" w="med" len="med"/>
          </a:ln>
        </p:spPr>
        <p:txBody>
          <a:bodyPr wrap="square">
            <a:spAutoFit/>
          </a:bodyPr>
          <a:lstStyle/>
          <a:p>
            <a:endParaRPr lang="en-US"/>
          </a:p>
        </p:txBody>
      </p:sp>
      <p:sp>
        <p:nvSpPr>
          <p:cNvPr id="10257" name="Line 27"/>
          <p:cNvSpPr>
            <a:spLocks noChangeShapeType="1"/>
          </p:cNvSpPr>
          <p:nvPr/>
        </p:nvSpPr>
        <p:spPr bwMode="auto">
          <a:xfrm flipH="1">
            <a:off x="7150100" y="4966762"/>
            <a:ext cx="525463" cy="0"/>
          </a:xfrm>
          <a:prstGeom prst="line">
            <a:avLst/>
          </a:prstGeom>
          <a:noFill/>
          <a:ln w="28575">
            <a:solidFill>
              <a:schemeClr val="accent2"/>
            </a:solidFill>
            <a:round/>
            <a:headEnd/>
            <a:tailEnd type="triangle" w="med" len="med"/>
          </a:ln>
        </p:spPr>
        <p:txBody>
          <a:bodyPr>
            <a:spAutoFit/>
          </a:bodyPr>
          <a:lstStyle/>
          <a:p>
            <a:endParaRPr lang="en-US"/>
          </a:p>
        </p:txBody>
      </p:sp>
      <p:sp>
        <p:nvSpPr>
          <p:cNvPr id="28" name="AutoShape 11">
            <a:extLst>
              <a:ext uri="{FF2B5EF4-FFF2-40B4-BE49-F238E27FC236}">
                <a16:creationId xmlns:a16="http://schemas.microsoft.com/office/drawing/2014/main" id="{2C40236E-E8D7-6440-9DE6-B000ADED52E2}"/>
              </a:ext>
            </a:extLst>
          </p:cNvPr>
          <p:cNvSpPr>
            <a:spLocks noChangeArrowheads="1"/>
          </p:cNvSpPr>
          <p:nvPr/>
        </p:nvSpPr>
        <p:spPr bwMode="auto">
          <a:xfrm>
            <a:off x="2771775" y="4509033"/>
            <a:ext cx="1798638" cy="788988"/>
          </a:xfrm>
          <a:prstGeom prst="roundRect">
            <a:avLst>
              <a:gd name="adj" fmla="val 16667"/>
            </a:avLst>
          </a:prstGeom>
          <a:noFill/>
          <a:ln w="12700" algn="ctr">
            <a:solidFill>
              <a:schemeClr val="accent2"/>
            </a:solidFill>
            <a:round/>
            <a:headEnd/>
            <a:tailEnd/>
          </a:ln>
        </p:spPr>
        <p:txBody>
          <a:bodyPr wrap="square" anchor="ctr">
            <a:spAutoFit/>
          </a:bodyPr>
          <a:lstStyle/>
          <a:p>
            <a:endParaRPr lang="en-US"/>
          </a:p>
        </p:txBody>
      </p:sp>
      <p:sp>
        <p:nvSpPr>
          <p:cNvPr id="29" name="AutoShape 11">
            <a:extLst>
              <a:ext uri="{FF2B5EF4-FFF2-40B4-BE49-F238E27FC236}">
                <a16:creationId xmlns:a16="http://schemas.microsoft.com/office/drawing/2014/main" id="{CCE86052-361F-7C47-8060-5E4E40DA28A4}"/>
              </a:ext>
            </a:extLst>
          </p:cNvPr>
          <p:cNvSpPr>
            <a:spLocks noChangeArrowheads="1"/>
          </p:cNvSpPr>
          <p:nvPr/>
        </p:nvSpPr>
        <p:spPr bwMode="auto">
          <a:xfrm>
            <a:off x="2776794" y="5428880"/>
            <a:ext cx="1798638" cy="788988"/>
          </a:xfrm>
          <a:prstGeom prst="roundRect">
            <a:avLst>
              <a:gd name="adj" fmla="val 16667"/>
            </a:avLst>
          </a:prstGeom>
          <a:noFill/>
          <a:ln w="12700" algn="ctr">
            <a:solidFill>
              <a:schemeClr val="accent2"/>
            </a:solidFill>
            <a:round/>
            <a:headEnd/>
            <a:tailEnd/>
          </a:ln>
        </p:spPr>
        <p:txBody>
          <a:bodyPr wrap="square" anchor="ctr">
            <a:spAutoFit/>
          </a:bodyPr>
          <a:lstStyle/>
          <a:p>
            <a:endParaRPr lang="en-US"/>
          </a:p>
        </p:txBody>
      </p:sp>
      <p:sp>
        <p:nvSpPr>
          <p:cNvPr id="30" name="Text Box 23">
            <a:extLst>
              <a:ext uri="{FF2B5EF4-FFF2-40B4-BE49-F238E27FC236}">
                <a16:creationId xmlns:a16="http://schemas.microsoft.com/office/drawing/2014/main" id="{8A0FE62C-D634-3846-AAA3-21C3987BB9CC}"/>
              </a:ext>
            </a:extLst>
          </p:cNvPr>
          <p:cNvSpPr txBox="1">
            <a:spLocks noChangeArrowheads="1"/>
          </p:cNvSpPr>
          <p:nvPr/>
        </p:nvSpPr>
        <p:spPr bwMode="auto">
          <a:xfrm>
            <a:off x="467659" y="4571853"/>
            <a:ext cx="1708150" cy="406265"/>
          </a:xfrm>
          <a:prstGeom prst="rect">
            <a:avLst/>
          </a:prstGeom>
          <a:noFill/>
          <a:ln w="28575" algn="ctr">
            <a:noFill/>
            <a:miter lim="800000"/>
            <a:headEnd/>
            <a:tailEnd/>
          </a:ln>
        </p:spPr>
        <p:txBody>
          <a:bodyPr wrap="square">
            <a:spAutoFit/>
          </a:bodyPr>
          <a:lstStyle/>
          <a:p>
            <a:pPr>
              <a:lnSpc>
                <a:spcPct val="85000"/>
              </a:lnSpc>
            </a:pPr>
            <a:r>
              <a:rPr lang="en-GB" sz="2400" dirty="0">
                <a:solidFill>
                  <a:schemeClr val="accent5">
                    <a:lumMod val="75000"/>
                  </a:schemeClr>
                </a:solidFill>
              </a:rPr>
              <a:t>Logic view </a:t>
            </a:r>
            <a:endParaRPr lang="en-US" altLang="zh-CN" sz="2400" dirty="0">
              <a:solidFill>
                <a:schemeClr val="accent5">
                  <a:lumMod val="75000"/>
                </a:schemeClr>
              </a:solidFill>
            </a:endParaRPr>
          </a:p>
        </p:txBody>
      </p:sp>
      <p:sp>
        <p:nvSpPr>
          <p:cNvPr id="31" name="Text Box 23">
            <a:extLst>
              <a:ext uri="{FF2B5EF4-FFF2-40B4-BE49-F238E27FC236}">
                <a16:creationId xmlns:a16="http://schemas.microsoft.com/office/drawing/2014/main" id="{C7FB9E19-C2DC-5440-AD27-17BCD5CBD951}"/>
              </a:ext>
            </a:extLst>
          </p:cNvPr>
          <p:cNvSpPr txBox="1">
            <a:spLocks noChangeArrowheads="1"/>
          </p:cNvSpPr>
          <p:nvPr/>
        </p:nvSpPr>
        <p:spPr bwMode="auto">
          <a:xfrm>
            <a:off x="173972" y="5071940"/>
            <a:ext cx="2304116" cy="1034129"/>
          </a:xfrm>
          <a:prstGeom prst="rect">
            <a:avLst/>
          </a:prstGeom>
          <a:noFill/>
          <a:ln w="28575" algn="ctr">
            <a:noFill/>
            <a:miter lim="800000"/>
            <a:headEnd/>
            <a:tailEnd/>
          </a:ln>
        </p:spPr>
        <p:txBody>
          <a:bodyPr wrap="square">
            <a:spAutoFit/>
          </a:bodyPr>
          <a:lstStyle/>
          <a:p>
            <a:pPr>
              <a:lnSpc>
                <a:spcPct val="85000"/>
              </a:lnSpc>
            </a:pPr>
            <a:r>
              <a:rPr lang="en-GB" sz="2400" dirty="0">
                <a:solidFill>
                  <a:schemeClr val="accent5">
                    <a:lumMod val="75000"/>
                  </a:schemeClr>
                </a:solidFill>
              </a:rPr>
              <a:t>Design &amp; implementation view </a:t>
            </a:r>
            <a:endParaRPr lang="en-US" altLang="zh-CN" sz="2400" dirty="0">
              <a:solidFill>
                <a:schemeClr val="accent5">
                  <a:lumMod val="75000"/>
                </a:schemeClr>
              </a:solidFill>
            </a:endParaRPr>
          </a:p>
        </p:txBody>
      </p:sp>
      <p:sp>
        <p:nvSpPr>
          <p:cNvPr id="32" name="Line 25">
            <a:extLst>
              <a:ext uri="{FF2B5EF4-FFF2-40B4-BE49-F238E27FC236}">
                <a16:creationId xmlns:a16="http://schemas.microsoft.com/office/drawing/2014/main" id="{693BC204-C65C-754B-A36C-69ACAE2984FA}"/>
              </a:ext>
            </a:extLst>
          </p:cNvPr>
          <p:cNvSpPr>
            <a:spLocks noChangeShapeType="1"/>
          </p:cNvSpPr>
          <p:nvPr/>
        </p:nvSpPr>
        <p:spPr bwMode="auto">
          <a:xfrm flipV="1">
            <a:off x="1963465" y="3070614"/>
            <a:ext cx="808309" cy="1558384"/>
          </a:xfrm>
          <a:prstGeom prst="line">
            <a:avLst/>
          </a:prstGeom>
          <a:noFill/>
          <a:ln w="28575">
            <a:solidFill>
              <a:schemeClr val="accent2"/>
            </a:solidFill>
            <a:round/>
            <a:headEnd/>
            <a:tailEnd type="triangle" w="med" len="med"/>
          </a:ln>
        </p:spPr>
        <p:txBody>
          <a:bodyPr wrap="square">
            <a:spAutoFit/>
          </a:bodyPr>
          <a:lstStyle/>
          <a:p>
            <a:endParaRPr lang="en-US"/>
          </a:p>
        </p:txBody>
      </p:sp>
      <p:sp>
        <p:nvSpPr>
          <p:cNvPr id="33" name="Line 25">
            <a:extLst>
              <a:ext uri="{FF2B5EF4-FFF2-40B4-BE49-F238E27FC236}">
                <a16:creationId xmlns:a16="http://schemas.microsoft.com/office/drawing/2014/main" id="{22847BE5-4DE1-6B46-94B5-FB9F069B2273}"/>
              </a:ext>
            </a:extLst>
          </p:cNvPr>
          <p:cNvSpPr>
            <a:spLocks noChangeShapeType="1"/>
          </p:cNvSpPr>
          <p:nvPr/>
        </p:nvSpPr>
        <p:spPr bwMode="auto">
          <a:xfrm flipV="1">
            <a:off x="2022203" y="4077612"/>
            <a:ext cx="808309" cy="558720"/>
          </a:xfrm>
          <a:prstGeom prst="line">
            <a:avLst/>
          </a:prstGeom>
          <a:noFill/>
          <a:ln w="28575">
            <a:solidFill>
              <a:schemeClr val="accent2"/>
            </a:solidFill>
            <a:round/>
            <a:headEnd/>
            <a:tailEnd type="triangle" w="med" len="med"/>
          </a:ln>
        </p:spPr>
        <p:txBody>
          <a:bodyPr wrap="square">
            <a:spAutoFit/>
          </a:bodyPr>
          <a:lstStyle/>
          <a:p>
            <a:endParaRPr lang="en-US"/>
          </a:p>
        </p:txBody>
      </p:sp>
      <p:sp>
        <p:nvSpPr>
          <p:cNvPr id="34" name="Line 25">
            <a:extLst>
              <a:ext uri="{FF2B5EF4-FFF2-40B4-BE49-F238E27FC236}">
                <a16:creationId xmlns:a16="http://schemas.microsoft.com/office/drawing/2014/main" id="{113564F1-3BF6-3341-8E19-41C6831F6FE3}"/>
              </a:ext>
            </a:extLst>
          </p:cNvPr>
          <p:cNvSpPr>
            <a:spLocks noChangeShapeType="1"/>
          </p:cNvSpPr>
          <p:nvPr/>
        </p:nvSpPr>
        <p:spPr bwMode="auto">
          <a:xfrm flipV="1">
            <a:off x="1735137" y="4902426"/>
            <a:ext cx="1095375" cy="286049"/>
          </a:xfrm>
          <a:prstGeom prst="line">
            <a:avLst/>
          </a:prstGeom>
          <a:noFill/>
          <a:ln w="28575">
            <a:solidFill>
              <a:schemeClr val="accent2"/>
            </a:solidFill>
            <a:round/>
            <a:headEnd/>
            <a:tailEnd type="triangle" w="med" len="med"/>
          </a:ln>
        </p:spPr>
        <p:txBody>
          <a:bodyPr wrap="square">
            <a:spAutoFit/>
          </a:bodyPr>
          <a:lstStyle/>
          <a:p>
            <a:endParaRPr lang="en-US"/>
          </a:p>
        </p:txBody>
      </p:sp>
      <p:sp>
        <p:nvSpPr>
          <p:cNvPr id="35" name="Line 25">
            <a:extLst>
              <a:ext uri="{FF2B5EF4-FFF2-40B4-BE49-F238E27FC236}">
                <a16:creationId xmlns:a16="http://schemas.microsoft.com/office/drawing/2014/main" id="{0670C543-D8CE-034B-9CF9-8561913194AE}"/>
              </a:ext>
            </a:extLst>
          </p:cNvPr>
          <p:cNvSpPr>
            <a:spLocks noChangeShapeType="1"/>
          </p:cNvSpPr>
          <p:nvPr/>
        </p:nvSpPr>
        <p:spPr bwMode="auto">
          <a:xfrm>
            <a:off x="1547665" y="5768449"/>
            <a:ext cx="1304692" cy="149399"/>
          </a:xfrm>
          <a:prstGeom prst="line">
            <a:avLst/>
          </a:prstGeom>
          <a:noFill/>
          <a:ln w="28575">
            <a:solidFill>
              <a:schemeClr val="accent2"/>
            </a:solidFill>
            <a:round/>
            <a:headEnd/>
            <a:tailEnd type="triangle" w="med" len="med"/>
          </a:ln>
        </p:spPr>
        <p:txBody>
          <a:bodyPr wrap="square">
            <a:spAutoFit/>
          </a:bodyPr>
          <a:lstStyle/>
          <a:p>
            <a:endParaRPr lang="en-US"/>
          </a:p>
        </p:txBody>
      </p:sp>
    </p:spTree>
    <p:extLst>
      <p:ext uri="{BB962C8B-B14F-4D97-AF65-F5344CB8AC3E}">
        <p14:creationId xmlns:p14="http://schemas.microsoft.com/office/powerpoint/2010/main" val="2324122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p:txBody>
          <a:bodyPr>
            <a:noAutofit/>
          </a:bodyPr>
          <a:lstStyle/>
          <a:p>
            <a:r>
              <a:rPr lang="en-GB" sz="3600" dirty="0"/>
              <a:t>Use Case and Scenarios Analysis</a:t>
            </a:r>
            <a:endParaRPr lang="en-US" altLang="zh-CN" sz="3600" dirty="0">
              <a:ea typeface="SimSun" pitchFamily="2" charset="-122"/>
            </a:endParaRPr>
          </a:p>
        </p:txBody>
      </p:sp>
      <p:sp>
        <p:nvSpPr>
          <p:cNvPr id="8198" name="Rectangle 3"/>
          <p:cNvSpPr>
            <a:spLocks noGrp="1" noChangeArrowheads="1"/>
          </p:cNvSpPr>
          <p:nvPr>
            <p:ph idx="1"/>
          </p:nvPr>
        </p:nvSpPr>
        <p:spPr/>
        <p:txBody>
          <a:bodyPr/>
          <a:lstStyle/>
          <a:p>
            <a:pPr marL="0" indent="0" algn="ctr">
              <a:buNone/>
            </a:pPr>
            <a:r>
              <a:rPr lang="en-GB" altLang="zh-CN" sz="3200" b="1" dirty="0">
                <a:ea typeface="SimSun" pitchFamily="2" charset="-122"/>
              </a:rPr>
              <a:t>The Purposes </a:t>
            </a:r>
          </a:p>
          <a:p>
            <a:r>
              <a:rPr lang="en-GB" altLang="zh-CN" sz="2800" dirty="0">
                <a:ea typeface="SimSun" pitchFamily="2" charset="-122"/>
              </a:rPr>
              <a:t>To identify </a:t>
            </a:r>
            <a:r>
              <a:rPr lang="en-GB" altLang="zh-CN" sz="2800" i="1" dirty="0">
                <a:ea typeface="SimSun" pitchFamily="2" charset="-122"/>
              </a:rPr>
              <a:t>all</a:t>
            </a:r>
            <a:r>
              <a:rPr lang="en-GB" altLang="zh-CN" sz="2800" dirty="0">
                <a:ea typeface="SimSun" pitchFamily="2" charset="-122"/>
              </a:rPr>
              <a:t> intended uses of the system-to-be</a:t>
            </a:r>
          </a:p>
          <a:p>
            <a:r>
              <a:rPr lang="en-GB" altLang="zh-CN" sz="2800" dirty="0">
                <a:ea typeface="SimSun" pitchFamily="2" charset="-122"/>
              </a:rPr>
              <a:t>To identify </a:t>
            </a:r>
            <a:r>
              <a:rPr lang="en-GB" altLang="zh-CN" sz="2800" i="1" dirty="0">
                <a:ea typeface="SimSun" pitchFamily="2" charset="-122"/>
              </a:rPr>
              <a:t>all</a:t>
            </a:r>
            <a:r>
              <a:rPr lang="en-GB" altLang="zh-CN" sz="2800" dirty="0">
                <a:ea typeface="SimSun" pitchFamily="2" charset="-122"/>
              </a:rPr>
              <a:t> situations/scenarios of interactions between the system and the users/environment in </a:t>
            </a:r>
            <a:r>
              <a:rPr lang="en-GB" altLang="zh-CN" sz="2800" i="1" dirty="0">
                <a:ea typeface="SimSun" pitchFamily="2" charset="-122"/>
              </a:rPr>
              <a:t>each</a:t>
            </a:r>
            <a:r>
              <a:rPr lang="en-GB" altLang="zh-CN" sz="2800" dirty="0">
                <a:ea typeface="SimSun" pitchFamily="2" charset="-122"/>
              </a:rPr>
              <a:t> use of the system-to-be</a:t>
            </a:r>
          </a:p>
          <a:p>
            <a:r>
              <a:rPr lang="en-GB" altLang="zh-CN" sz="2800" dirty="0">
                <a:ea typeface="SimSun" pitchFamily="2" charset="-122"/>
              </a:rPr>
              <a:t>To </a:t>
            </a:r>
            <a:r>
              <a:rPr lang="en-GB" altLang="zh-CN" sz="2800" i="1" dirty="0">
                <a:ea typeface="SimSun" pitchFamily="2" charset="-122"/>
              </a:rPr>
              <a:t>fully</a:t>
            </a:r>
            <a:r>
              <a:rPr lang="en-GB" altLang="zh-CN" sz="2800" dirty="0">
                <a:ea typeface="SimSun" pitchFamily="2" charset="-122"/>
              </a:rPr>
              <a:t> understand the interaction sequences, conditions and the information exchanged, etc. </a:t>
            </a:r>
          </a:p>
          <a:p>
            <a:r>
              <a:rPr lang="en-GB" altLang="zh-CN" sz="2800" dirty="0">
                <a:ea typeface="SimSun" pitchFamily="2" charset="-122"/>
              </a:rPr>
              <a:t>To specify the interactions in </a:t>
            </a:r>
            <a:r>
              <a:rPr lang="en-GB" altLang="zh-CN" sz="2800" i="1" dirty="0">
                <a:ea typeface="SimSun" pitchFamily="2" charset="-122"/>
              </a:rPr>
              <a:t>a structured way</a:t>
            </a:r>
            <a:r>
              <a:rPr lang="en-GB" altLang="zh-CN" sz="2800" dirty="0">
                <a:ea typeface="SimSun" pitchFamily="2" charset="-122"/>
              </a:rPr>
              <a:t> so that models can be constructed from the description. </a:t>
            </a:r>
            <a:endParaRPr lang="en-US" altLang="zh-CN" sz="2800" dirty="0">
              <a:ea typeface="SimSun" pitchFamily="2" charset="-122"/>
            </a:endParaRPr>
          </a:p>
        </p:txBody>
      </p:sp>
      <p:sp>
        <p:nvSpPr>
          <p:cNvPr id="4" name="Slide Number Placeholder 3">
            <a:extLst>
              <a:ext uri="{FF2B5EF4-FFF2-40B4-BE49-F238E27FC236}">
                <a16:creationId xmlns:a16="http://schemas.microsoft.com/office/drawing/2014/main" id="{779DD3D8-534B-6247-B58E-B58667EE4868}"/>
              </a:ext>
            </a:extLst>
          </p:cNvPr>
          <p:cNvSpPr>
            <a:spLocks noGrp="1"/>
          </p:cNvSpPr>
          <p:nvPr>
            <p:ph type="sldNum" sz="quarter" idx="4"/>
          </p:nvPr>
        </p:nvSpPr>
        <p:spPr/>
        <p:txBody>
          <a:bodyPr/>
          <a:lstStyle/>
          <a:p>
            <a:fld id="{D6255EFE-3ACE-DA4E-80CE-7588690A9A08}" type="slidenum">
              <a:rPr lang="en-GB" smtClean="0"/>
              <a:t>10</a:t>
            </a:fld>
            <a:endParaRPr lang="en-GB"/>
          </a:p>
        </p:txBody>
      </p:sp>
    </p:spTree>
    <p:extLst>
      <p:ext uri="{BB962C8B-B14F-4D97-AF65-F5344CB8AC3E}">
        <p14:creationId xmlns:p14="http://schemas.microsoft.com/office/powerpoint/2010/main" val="4006041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2"/>
          <p:cNvSpPr>
            <a:spLocks noGrp="1" noChangeArrowheads="1"/>
          </p:cNvSpPr>
          <p:nvPr>
            <p:ph type="title"/>
          </p:nvPr>
        </p:nvSpPr>
        <p:spPr>
          <a:xfrm>
            <a:off x="425450" y="107950"/>
            <a:ext cx="7791450" cy="604838"/>
          </a:xfrm>
        </p:spPr>
        <p:txBody>
          <a:bodyPr>
            <a:noAutofit/>
          </a:bodyPr>
          <a:lstStyle/>
          <a:p>
            <a:r>
              <a:rPr lang="en-US" altLang="en-US" sz="3600" dirty="0"/>
              <a:t>What Is A Use Case</a:t>
            </a:r>
          </a:p>
        </p:txBody>
      </p:sp>
      <p:sp>
        <p:nvSpPr>
          <p:cNvPr id="57347" name="Rectangle 3"/>
          <p:cNvSpPr>
            <a:spLocks noGrp="1" noChangeArrowheads="1"/>
          </p:cNvSpPr>
          <p:nvPr>
            <p:ph sz="half" idx="1"/>
          </p:nvPr>
        </p:nvSpPr>
        <p:spPr>
          <a:xfrm>
            <a:off x="368300" y="859064"/>
            <a:ext cx="8455025" cy="5424487"/>
          </a:xfrm>
        </p:spPr>
        <p:txBody>
          <a:bodyPr/>
          <a:lstStyle/>
          <a:p>
            <a:pPr>
              <a:lnSpc>
                <a:spcPct val="90000"/>
              </a:lnSpc>
            </a:pPr>
            <a:r>
              <a:rPr lang="en-US" altLang="en-US" dirty="0"/>
              <a:t>A use case is a particular type of uses of the system. </a:t>
            </a:r>
          </a:p>
          <a:p>
            <a:pPr>
              <a:lnSpc>
                <a:spcPct val="90000"/>
              </a:lnSpc>
            </a:pPr>
            <a:r>
              <a:rPr lang="en-US" altLang="en-US" dirty="0"/>
              <a:t>It invokes a set of functions provided by the system </a:t>
            </a:r>
            <a:r>
              <a:rPr lang="en-US" altLang="en-US"/>
              <a:t>in an </a:t>
            </a:r>
            <a:r>
              <a:rPr lang="en-US" altLang="en-US" dirty="0"/>
              <a:t>event flow.</a:t>
            </a:r>
          </a:p>
          <a:p>
            <a:pPr>
              <a:lnSpc>
                <a:spcPct val="90000"/>
              </a:lnSpc>
            </a:pPr>
            <a:r>
              <a:rPr lang="en-US" altLang="en-US" dirty="0"/>
              <a:t>A use case has the </a:t>
            </a:r>
          </a:p>
          <a:p>
            <a:pPr>
              <a:lnSpc>
                <a:spcPct val="90000"/>
              </a:lnSpc>
              <a:buFont typeface="Wingdings" pitchFamily="2" charset="2"/>
              <a:buNone/>
            </a:pPr>
            <a:r>
              <a:rPr lang="en-US" altLang="en-US" dirty="0"/>
              <a:t>following characteristics:</a:t>
            </a:r>
          </a:p>
          <a:p>
            <a:pPr lvl="1">
              <a:lnSpc>
                <a:spcPct val="90000"/>
              </a:lnSpc>
            </a:pPr>
            <a:r>
              <a:rPr lang="en-US" altLang="en-US" dirty="0"/>
              <a:t>A specific set of users of</a:t>
            </a:r>
          </a:p>
          <a:p>
            <a:pPr lvl="1">
              <a:lnSpc>
                <a:spcPct val="90000"/>
              </a:lnSpc>
              <a:buFont typeface="Wingdings" pitchFamily="2" charset="2"/>
              <a:buNone/>
            </a:pPr>
            <a:r>
              <a:rPr lang="en-US" altLang="en-US" dirty="0"/>
              <a:t>	 the system </a:t>
            </a:r>
          </a:p>
          <a:p>
            <a:pPr lvl="1">
              <a:lnSpc>
                <a:spcPct val="90000"/>
              </a:lnSpc>
            </a:pPr>
            <a:r>
              <a:rPr lang="en-US" altLang="en-US" dirty="0"/>
              <a:t>A specific purpose of </a:t>
            </a:r>
          </a:p>
          <a:p>
            <a:pPr lvl="1">
              <a:lnSpc>
                <a:spcPct val="90000"/>
              </a:lnSpc>
              <a:buFont typeface="Wingdings" pitchFamily="2" charset="2"/>
              <a:buNone/>
            </a:pPr>
            <a:r>
              <a:rPr lang="en-US" altLang="en-US" dirty="0"/>
              <a:t>	using the system</a:t>
            </a:r>
          </a:p>
          <a:p>
            <a:pPr lvl="1">
              <a:lnSpc>
                <a:spcPct val="90000"/>
              </a:lnSpc>
            </a:pPr>
            <a:r>
              <a:rPr lang="en-US" altLang="en-US" dirty="0"/>
              <a:t>A specific context of </a:t>
            </a:r>
          </a:p>
          <a:p>
            <a:pPr lvl="1">
              <a:lnSpc>
                <a:spcPct val="90000"/>
              </a:lnSpc>
              <a:buFont typeface="Wingdings" pitchFamily="2" charset="2"/>
              <a:buNone/>
            </a:pPr>
            <a:r>
              <a:rPr lang="en-US" altLang="en-US" dirty="0"/>
              <a:t>	the usage</a:t>
            </a:r>
          </a:p>
        </p:txBody>
      </p:sp>
      <p:sp>
        <p:nvSpPr>
          <p:cNvPr id="57355" name="Rectangle 11"/>
          <p:cNvSpPr>
            <a:spLocks noChangeArrowheads="1"/>
          </p:cNvSpPr>
          <p:nvPr/>
        </p:nvSpPr>
        <p:spPr bwMode="auto">
          <a:xfrm>
            <a:off x="4397931" y="1866345"/>
            <a:ext cx="4508500" cy="4524315"/>
          </a:xfrm>
          <a:prstGeom prst="rect">
            <a:avLst/>
          </a:prstGeom>
          <a:noFill/>
          <a:ln w="25400" algn="ctr">
            <a:solidFill>
              <a:schemeClr val="accent2"/>
            </a:solidFill>
            <a:miter lim="800000"/>
            <a:headEnd/>
            <a:tailEnd type="none" w="lg" len="lg"/>
          </a:ln>
        </p:spPr>
        <p:txBody>
          <a:bodyPr>
            <a:spAutoFit/>
          </a:bodyPr>
          <a:lstStyle/>
          <a:p>
            <a:pPr algn="l"/>
            <a:r>
              <a:rPr lang="en-GB" sz="2400" dirty="0">
                <a:solidFill>
                  <a:srgbClr val="000090"/>
                </a:solidFill>
              </a:rPr>
              <a:t>Use cases are “the typical interactions between the users of a system and the system itself, providing a narrative of how a system is used.” (</a:t>
            </a:r>
            <a:r>
              <a:rPr lang="en-GB" sz="2400" i="1" dirty="0">
                <a:solidFill>
                  <a:srgbClr val="000090"/>
                </a:solidFill>
              </a:rPr>
              <a:t>Martine Fowler</a:t>
            </a:r>
            <a:r>
              <a:rPr lang="en-GB" sz="2400" dirty="0">
                <a:solidFill>
                  <a:srgbClr val="000090"/>
                </a:solidFill>
              </a:rPr>
              <a:t>, 2004)</a:t>
            </a:r>
          </a:p>
          <a:p>
            <a:pPr algn="l"/>
            <a:r>
              <a:rPr lang="en-GB" sz="2400" dirty="0">
                <a:solidFill>
                  <a:srgbClr val="000090"/>
                </a:solidFill>
              </a:rPr>
              <a:t>“the specification of a sequence of actions, including variants, that a system (or other entities) can perform, interacting with actors of the system.” (</a:t>
            </a:r>
            <a:r>
              <a:rPr lang="en-GB" sz="2400" i="1" dirty="0">
                <a:solidFill>
                  <a:srgbClr val="000090"/>
                </a:solidFill>
              </a:rPr>
              <a:t>UML 2.0</a:t>
            </a:r>
            <a:r>
              <a:rPr lang="en-GB" sz="2400" dirty="0">
                <a:solidFill>
                  <a:srgbClr val="000090"/>
                </a:solidFill>
              </a:rPr>
              <a:t>, 2003)</a:t>
            </a:r>
          </a:p>
        </p:txBody>
      </p:sp>
      <p:sp>
        <p:nvSpPr>
          <p:cNvPr id="57356" name="AutoShape 12"/>
          <p:cNvSpPr>
            <a:spLocks noChangeArrowheads="1"/>
          </p:cNvSpPr>
          <p:nvPr/>
        </p:nvSpPr>
        <p:spPr bwMode="auto">
          <a:xfrm>
            <a:off x="611561" y="5484813"/>
            <a:ext cx="3258764" cy="863600"/>
          </a:xfrm>
          <a:prstGeom prst="wedgeRoundRectCallout">
            <a:avLst>
              <a:gd name="adj1" fmla="val 153456"/>
              <a:gd name="adj2" fmla="val -134825"/>
              <a:gd name="adj3" fmla="val 16667"/>
            </a:avLst>
          </a:prstGeom>
          <a:noFill/>
          <a:ln w="9525" algn="ctr">
            <a:solidFill>
              <a:srgbClr val="FF0000"/>
            </a:solidFill>
            <a:miter lim="800000"/>
            <a:headEnd/>
            <a:tailEnd/>
          </a:ln>
        </p:spPr>
        <p:txBody>
          <a:bodyPr/>
          <a:lstStyle/>
          <a:p>
            <a:pPr>
              <a:spcBef>
                <a:spcPct val="0"/>
              </a:spcBef>
            </a:pPr>
            <a:r>
              <a:rPr lang="en-GB" sz="2400">
                <a:solidFill>
                  <a:srgbClr val="000090"/>
                </a:solidFill>
              </a:rPr>
              <a:t>It may have different sequences of actions</a:t>
            </a:r>
            <a:endParaRPr lang="en-US" altLang="zh-CN" sz="2400">
              <a:solidFill>
                <a:srgbClr val="000090"/>
              </a:solidFill>
            </a:endParaRPr>
          </a:p>
        </p:txBody>
      </p:sp>
      <p:sp>
        <p:nvSpPr>
          <p:cNvPr id="4" name="Slide Number Placeholder 3">
            <a:extLst>
              <a:ext uri="{FF2B5EF4-FFF2-40B4-BE49-F238E27FC236}">
                <a16:creationId xmlns:a16="http://schemas.microsoft.com/office/drawing/2014/main" id="{3E7C8968-44DA-D74E-B275-E38F8A8D48BD}"/>
              </a:ext>
            </a:extLst>
          </p:cNvPr>
          <p:cNvSpPr>
            <a:spLocks noGrp="1"/>
          </p:cNvSpPr>
          <p:nvPr>
            <p:ph type="sldNum" sz="quarter" idx="4"/>
          </p:nvPr>
        </p:nvSpPr>
        <p:spPr/>
        <p:txBody>
          <a:bodyPr/>
          <a:lstStyle/>
          <a:p>
            <a:fld id="{D6255EFE-3ACE-DA4E-80CE-7588690A9A08}" type="slidenum">
              <a:rPr lang="en-GB" smtClean="0"/>
              <a:t>11</a:t>
            </a:fld>
            <a:endParaRPr lang="en-GB"/>
          </a:p>
        </p:txBody>
      </p:sp>
    </p:spTree>
    <p:extLst>
      <p:ext uri="{BB962C8B-B14F-4D97-AF65-F5344CB8AC3E}">
        <p14:creationId xmlns:p14="http://schemas.microsoft.com/office/powerpoint/2010/main" val="2749623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3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3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3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734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7347">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7347">
                                            <p:txEl>
                                              <p:pRg st="4" end="4"/>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7347">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347">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7347">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7347">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73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P spid="57355" grpId="0" animBg="1"/>
      <p:bldP spid="5735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7"/>
          <p:cNvSpPr>
            <a:spLocks noGrp="1"/>
          </p:cNvSpPr>
          <p:nvPr>
            <p:ph type="title"/>
          </p:nvPr>
        </p:nvSpPr>
        <p:spPr/>
        <p:txBody>
          <a:bodyPr>
            <a:normAutofit/>
          </a:bodyPr>
          <a:lstStyle/>
          <a:p>
            <a:r>
              <a:rPr lang="en-US" sz="3600" dirty="0"/>
              <a:t>Description of a Use Case</a:t>
            </a:r>
          </a:p>
        </p:txBody>
      </p:sp>
      <p:sp>
        <p:nvSpPr>
          <p:cNvPr id="10243" name="Content Placeholder 8"/>
          <p:cNvSpPr>
            <a:spLocks noGrp="1"/>
          </p:cNvSpPr>
          <p:nvPr>
            <p:ph idx="1"/>
          </p:nvPr>
        </p:nvSpPr>
        <p:spPr/>
        <p:txBody>
          <a:bodyPr/>
          <a:lstStyle/>
          <a:p>
            <a:pPr marL="360363" indent="-360363">
              <a:spcBef>
                <a:spcPct val="0"/>
              </a:spcBef>
            </a:pPr>
            <a:r>
              <a:rPr lang="en-US" altLang="en-US" sz="2400" dirty="0"/>
              <a:t>Unique name of the use case</a:t>
            </a:r>
          </a:p>
          <a:p>
            <a:pPr lvl="1">
              <a:spcBef>
                <a:spcPct val="0"/>
              </a:spcBef>
            </a:pPr>
            <a:r>
              <a:rPr lang="en-US" altLang="en-US" dirty="0"/>
              <a:t>T</a:t>
            </a:r>
            <a:r>
              <a:rPr lang="en-US" altLang="en-US" sz="2000" dirty="0"/>
              <a:t>he identifier of the use case</a:t>
            </a:r>
          </a:p>
          <a:p>
            <a:pPr marL="360363" indent="-360363">
              <a:spcBef>
                <a:spcPct val="0"/>
              </a:spcBef>
            </a:pPr>
            <a:r>
              <a:rPr lang="en-US" altLang="en-US" sz="2400" dirty="0"/>
              <a:t>Narrative description</a:t>
            </a:r>
          </a:p>
          <a:p>
            <a:pPr lvl="1">
              <a:spcBef>
                <a:spcPct val="0"/>
              </a:spcBef>
            </a:pPr>
            <a:r>
              <a:rPr lang="en-US" altLang="en-US" sz="2000" dirty="0"/>
              <a:t>Describes the use case in a short sentence</a:t>
            </a:r>
          </a:p>
          <a:p>
            <a:pPr marL="360363" indent="-360363">
              <a:spcBef>
                <a:spcPct val="0"/>
              </a:spcBef>
            </a:pPr>
            <a:r>
              <a:rPr lang="en-US" altLang="en-US" sz="2400" dirty="0"/>
              <a:t>Participating actors</a:t>
            </a:r>
          </a:p>
          <a:p>
            <a:pPr lvl="1">
              <a:spcBef>
                <a:spcPct val="0"/>
              </a:spcBef>
            </a:pPr>
            <a:r>
              <a:rPr lang="en-US" altLang="zh-CN" sz="2000" dirty="0">
                <a:ea typeface="SimSun" pitchFamily="2" charset="-122"/>
              </a:rPr>
              <a:t>Lists the stakeholders/actors involved in use case</a:t>
            </a:r>
            <a:endParaRPr lang="en-US" altLang="en-US" sz="2000" dirty="0"/>
          </a:p>
          <a:p>
            <a:pPr marL="400050" indent="-400050">
              <a:spcBef>
                <a:spcPct val="0"/>
              </a:spcBef>
            </a:pPr>
            <a:r>
              <a:rPr lang="en-US" altLang="en-US" sz="2400" dirty="0"/>
              <a:t>Entry conditions</a:t>
            </a:r>
          </a:p>
          <a:p>
            <a:pPr lvl="1">
              <a:spcBef>
                <a:spcPct val="0"/>
              </a:spcBef>
            </a:pPr>
            <a:r>
              <a:rPr lang="en-US" altLang="en-US" sz="2000" dirty="0"/>
              <a:t>Defines the state of the system and the actors before the use starts</a:t>
            </a:r>
          </a:p>
          <a:p>
            <a:pPr marL="360363" indent="-360363">
              <a:spcBef>
                <a:spcPct val="0"/>
              </a:spcBef>
            </a:pPr>
            <a:r>
              <a:rPr lang="en-US" altLang="en-US" sz="2400" dirty="0"/>
              <a:t>Exit conditions</a:t>
            </a:r>
          </a:p>
          <a:p>
            <a:pPr lvl="1">
              <a:spcBef>
                <a:spcPct val="0"/>
              </a:spcBef>
            </a:pPr>
            <a:r>
              <a:rPr lang="en-US" altLang="en-US" sz="2000" dirty="0"/>
              <a:t>Gives the state of the system and the actor when </a:t>
            </a:r>
            <a:r>
              <a:rPr lang="en-US" altLang="en-US" dirty="0"/>
              <a:t>the</a:t>
            </a:r>
            <a:r>
              <a:rPr lang="en-US" altLang="en-US" sz="2000" dirty="0"/>
              <a:t> use finishes </a:t>
            </a:r>
          </a:p>
          <a:p>
            <a:pPr marL="360363" indent="-360363">
              <a:spcBef>
                <a:spcPct val="0"/>
              </a:spcBef>
            </a:pPr>
            <a:r>
              <a:rPr lang="en-US" altLang="en-US" sz="2400" dirty="0"/>
              <a:t>Flow of events</a:t>
            </a:r>
          </a:p>
          <a:p>
            <a:pPr lvl="1">
              <a:spcBef>
                <a:spcPct val="0"/>
              </a:spcBef>
            </a:pPr>
            <a:r>
              <a:rPr lang="en-US" altLang="en-US" sz="2000" dirty="0"/>
              <a:t>Describes the interactions between the actors and the system: </a:t>
            </a:r>
          </a:p>
          <a:p>
            <a:pPr lvl="2">
              <a:spcBef>
                <a:spcPct val="0"/>
              </a:spcBef>
            </a:pPr>
            <a:r>
              <a:rPr lang="en-US" altLang="en-US" sz="1800" dirty="0"/>
              <a:t>A normal flow of events</a:t>
            </a:r>
          </a:p>
          <a:p>
            <a:pPr lvl="2">
              <a:spcBef>
                <a:spcPct val="0"/>
              </a:spcBef>
            </a:pPr>
            <a:r>
              <a:rPr lang="en-US" altLang="en-US" sz="1800" dirty="0"/>
              <a:t>Exceptional flows (or </a:t>
            </a:r>
            <a:r>
              <a:rPr lang="en-US" altLang="en-US" sz="1800" dirty="0" err="1"/>
              <a:t>subflows</a:t>
            </a:r>
            <a:r>
              <a:rPr lang="en-US" altLang="en-US" sz="1800" dirty="0"/>
              <a:t>) of events</a:t>
            </a:r>
          </a:p>
          <a:p>
            <a:pPr marL="400050" indent="-400050">
              <a:spcBef>
                <a:spcPct val="0"/>
              </a:spcBef>
            </a:pPr>
            <a:r>
              <a:rPr lang="en-US" altLang="en-US" sz="2400" dirty="0"/>
              <a:t>Special requirements</a:t>
            </a:r>
          </a:p>
          <a:p>
            <a:pPr lvl="1">
              <a:spcBef>
                <a:spcPct val="0"/>
              </a:spcBef>
            </a:pPr>
            <a:r>
              <a:rPr lang="en-US" altLang="en-US" dirty="0"/>
              <a:t>Lists the non-functional requirements associated to the use case</a:t>
            </a:r>
          </a:p>
        </p:txBody>
      </p:sp>
      <p:sp>
        <p:nvSpPr>
          <p:cNvPr id="4" name="Slide Number Placeholder 3">
            <a:extLst>
              <a:ext uri="{FF2B5EF4-FFF2-40B4-BE49-F238E27FC236}">
                <a16:creationId xmlns:a16="http://schemas.microsoft.com/office/drawing/2014/main" id="{4D6C6ADE-B1E8-A946-BF6A-AC8DAD0701AF}"/>
              </a:ext>
            </a:extLst>
          </p:cNvPr>
          <p:cNvSpPr>
            <a:spLocks noGrp="1"/>
          </p:cNvSpPr>
          <p:nvPr>
            <p:ph type="sldNum" sz="quarter" idx="4"/>
          </p:nvPr>
        </p:nvSpPr>
        <p:spPr/>
        <p:txBody>
          <a:bodyPr/>
          <a:lstStyle/>
          <a:p>
            <a:fld id="{D6255EFE-3ACE-DA4E-80CE-7588690A9A08}" type="slidenum">
              <a:rPr lang="en-GB" smtClean="0"/>
              <a:t>12</a:t>
            </a:fld>
            <a:endParaRPr lang="en-GB"/>
          </a:p>
        </p:txBody>
      </p:sp>
    </p:spTree>
    <p:extLst>
      <p:ext uri="{BB962C8B-B14F-4D97-AF65-F5344CB8AC3E}">
        <p14:creationId xmlns:p14="http://schemas.microsoft.com/office/powerpoint/2010/main" val="1211749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a:xfrm>
            <a:off x="295586" y="0"/>
            <a:ext cx="8648620" cy="648072"/>
          </a:xfrm>
          <a:solidFill>
            <a:srgbClr val="EEFAB9"/>
          </a:solidFill>
        </p:spPr>
        <p:txBody>
          <a:bodyPr>
            <a:normAutofit/>
          </a:bodyPr>
          <a:lstStyle/>
          <a:p>
            <a:r>
              <a:rPr lang="en-US" altLang="en-US" sz="3600" dirty="0"/>
              <a:t>Use Case Description: Example</a:t>
            </a:r>
          </a:p>
        </p:txBody>
      </p:sp>
      <p:sp>
        <p:nvSpPr>
          <p:cNvPr id="12294" name="Rectangle 3"/>
          <p:cNvSpPr>
            <a:spLocks noGrp="1" noChangeArrowheads="1"/>
          </p:cNvSpPr>
          <p:nvPr>
            <p:ph sz="half" idx="1"/>
          </p:nvPr>
        </p:nvSpPr>
        <p:spPr>
          <a:xfrm>
            <a:off x="350168" y="1016339"/>
            <a:ext cx="4071091" cy="5616624"/>
          </a:xfrm>
        </p:spPr>
        <p:txBody>
          <a:bodyPr>
            <a:noAutofit/>
          </a:bodyPr>
          <a:lstStyle/>
          <a:p>
            <a:pPr>
              <a:spcBef>
                <a:spcPts val="0"/>
              </a:spcBef>
              <a:buFont typeface="Wingdings" pitchFamily="2" charset="2"/>
              <a:buNone/>
            </a:pPr>
            <a:r>
              <a:rPr lang="en-US" altLang="en-US" sz="2000" i="1" dirty="0">
                <a:latin typeface="Helvetica"/>
                <a:cs typeface="Helvetica"/>
              </a:rPr>
              <a:t>Name:</a:t>
            </a:r>
            <a:r>
              <a:rPr lang="en-US" altLang="en-US" sz="2000" dirty="0">
                <a:latin typeface="Helvetica"/>
                <a:cs typeface="Helvetica"/>
              </a:rPr>
              <a:t> </a:t>
            </a:r>
          </a:p>
          <a:p>
            <a:pPr marL="361950" lvl="1" indent="-274638">
              <a:spcBef>
                <a:spcPts val="0"/>
              </a:spcBef>
              <a:tabLst>
                <a:tab pos="361950" algn="l"/>
              </a:tabLst>
            </a:pPr>
            <a:r>
              <a:rPr lang="en-US" altLang="en-US" sz="2000" b="0" dirty="0">
                <a:latin typeface="Helvetica"/>
                <a:cs typeface="Helvetica"/>
              </a:rPr>
              <a:t>Purchase ticket</a:t>
            </a:r>
          </a:p>
          <a:p>
            <a:pPr marL="0" lvl="1" indent="0">
              <a:spcBef>
                <a:spcPts val="0"/>
              </a:spcBef>
              <a:buNone/>
              <a:tabLst>
                <a:tab pos="361950" algn="l"/>
              </a:tabLst>
            </a:pPr>
            <a:r>
              <a:rPr lang="en-US" altLang="en-US" sz="2000" b="1" i="1" dirty="0">
                <a:latin typeface="Helvetica"/>
                <a:cs typeface="Helvetica"/>
              </a:rPr>
              <a:t>Description:</a:t>
            </a:r>
          </a:p>
          <a:p>
            <a:pPr marL="361950" lvl="1" indent="-274638">
              <a:spcBef>
                <a:spcPts val="0"/>
              </a:spcBef>
              <a:tabLst>
                <a:tab pos="361950" algn="l"/>
              </a:tabLst>
            </a:pPr>
            <a:r>
              <a:rPr lang="en-US" altLang="en-US" sz="2000" dirty="0">
                <a:latin typeface="Helvetica"/>
                <a:cs typeface="Helvetica"/>
              </a:rPr>
              <a:t>A passenger uses the ATM machine to </a:t>
            </a:r>
            <a:r>
              <a:rPr lang="en-US" altLang="en-US" sz="2000" b="0" dirty="0">
                <a:latin typeface="Helvetica"/>
                <a:cs typeface="Helvetica"/>
              </a:rPr>
              <a:t>buy an underground ticket </a:t>
            </a:r>
          </a:p>
          <a:p>
            <a:pPr marL="0" lvl="1" indent="0">
              <a:spcBef>
                <a:spcPts val="0"/>
              </a:spcBef>
              <a:buNone/>
              <a:tabLst>
                <a:tab pos="361950" algn="l"/>
              </a:tabLst>
            </a:pPr>
            <a:r>
              <a:rPr lang="en-US" altLang="en-US" sz="2000" b="1" i="1" dirty="0">
                <a:latin typeface="Helvetica"/>
                <a:cs typeface="Helvetica"/>
              </a:rPr>
              <a:t>Participating actor: </a:t>
            </a:r>
          </a:p>
          <a:p>
            <a:pPr marL="361950" lvl="1" indent="-274638">
              <a:spcBef>
                <a:spcPts val="0"/>
              </a:spcBef>
              <a:tabLst>
                <a:tab pos="361950" algn="l"/>
              </a:tabLst>
            </a:pPr>
            <a:r>
              <a:rPr lang="en-US" altLang="en-US" sz="2000" b="0" dirty="0">
                <a:latin typeface="Helvetica"/>
                <a:cs typeface="Helvetica"/>
              </a:rPr>
              <a:t>Passenger</a:t>
            </a:r>
          </a:p>
          <a:p>
            <a:pPr>
              <a:spcBef>
                <a:spcPts val="0"/>
              </a:spcBef>
              <a:buFont typeface="Wingdings" pitchFamily="2" charset="2"/>
              <a:buNone/>
            </a:pPr>
            <a:r>
              <a:rPr lang="en-US" altLang="en-US" sz="2000" i="1" dirty="0">
                <a:latin typeface="Helvetica"/>
                <a:cs typeface="Helvetica"/>
              </a:rPr>
              <a:t>Entry condition:</a:t>
            </a:r>
            <a:r>
              <a:rPr lang="en-US" altLang="en-US" sz="2000" dirty="0">
                <a:latin typeface="Helvetica"/>
                <a:cs typeface="Helvetica"/>
              </a:rPr>
              <a:t> </a:t>
            </a:r>
          </a:p>
          <a:p>
            <a:pPr marL="361950" lvl="1" indent="-274638">
              <a:spcBef>
                <a:spcPts val="0"/>
              </a:spcBef>
            </a:pPr>
            <a:r>
              <a:rPr lang="en-US" altLang="en-US" sz="2000" b="0" dirty="0">
                <a:latin typeface="Helvetica"/>
                <a:cs typeface="Helvetica"/>
              </a:rPr>
              <a:t>The machine has </a:t>
            </a:r>
            <a:r>
              <a:rPr lang="en-US" altLang="en-US" sz="2000" b="0" i="1" dirty="0">
                <a:latin typeface="Helvetica"/>
                <a:cs typeface="Helvetica"/>
              </a:rPr>
              <a:t>N</a:t>
            </a:r>
            <a:r>
              <a:rPr lang="en-US" altLang="en-US" sz="2000" b="0" dirty="0">
                <a:latin typeface="Helvetica"/>
                <a:cs typeface="Helvetica"/>
              </a:rPr>
              <a:t>&gt;0 ticket;  </a:t>
            </a:r>
          </a:p>
          <a:p>
            <a:pPr marL="361950" lvl="1" indent="-274638">
              <a:spcBef>
                <a:spcPts val="0"/>
              </a:spcBef>
            </a:pPr>
            <a:r>
              <a:rPr lang="en-US" altLang="en-US" sz="2000" b="0" dirty="0">
                <a:latin typeface="Helvetica"/>
                <a:cs typeface="Helvetica"/>
              </a:rPr>
              <a:t>The passenger has </a:t>
            </a:r>
            <a:r>
              <a:rPr lang="en-US" altLang="en-US" sz="2000" b="0" i="1" dirty="0">
                <a:latin typeface="Helvetica"/>
                <a:cs typeface="Helvetica"/>
              </a:rPr>
              <a:t>M</a:t>
            </a:r>
            <a:r>
              <a:rPr lang="en-US" altLang="en-US" sz="2000" b="0" dirty="0">
                <a:latin typeface="Helvetica"/>
                <a:cs typeface="Helvetica"/>
              </a:rPr>
              <a:t>&gt;0 amount of money</a:t>
            </a:r>
          </a:p>
          <a:p>
            <a:pPr marL="90487" indent="-274638">
              <a:spcBef>
                <a:spcPts val="0"/>
              </a:spcBef>
            </a:pPr>
            <a:r>
              <a:rPr lang="en-US" altLang="en-US" sz="2000" b="1" i="1" dirty="0">
                <a:latin typeface="Helvetica"/>
                <a:cs typeface="Helvetica"/>
              </a:rPr>
              <a:t>Exit condition:</a:t>
            </a:r>
          </a:p>
          <a:p>
            <a:pPr marL="361950" lvl="1" indent="-274638">
              <a:spcBef>
                <a:spcPts val="0"/>
              </a:spcBef>
            </a:pPr>
            <a:r>
              <a:rPr lang="en-US" altLang="en-US" sz="2000" b="0" dirty="0">
                <a:latin typeface="Helvetica"/>
                <a:cs typeface="Helvetica"/>
              </a:rPr>
              <a:t>The machine has </a:t>
            </a:r>
            <a:r>
              <a:rPr lang="en-US" altLang="en-US" sz="2000" b="0" i="1" dirty="0">
                <a:latin typeface="Helvetica"/>
                <a:cs typeface="Helvetica"/>
              </a:rPr>
              <a:t>N-</a:t>
            </a:r>
            <a:r>
              <a:rPr lang="en-US" altLang="en-US" sz="2000" b="0" dirty="0">
                <a:latin typeface="Helvetica"/>
                <a:cs typeface="Helvetica"/>
              </a:rPr>
              <a:t>1 ticket;</a:t>
            </a:r>
          </a:p>
          <a:p>
            <a:pPr marL="361950" lvl="1" indent="-274638">
              <a:spcBef>
                <a:spcPts val="0"/>
              </a:spcBef>
            </a:pPr>
            <a:r>
              <a:rPr lang="en-US" altLang="en-US" sz="2000" b="0" dirty="0">
                <a:latin typeface="Helvetica"/>
                <a:cs typeface="Helvetica"/>
              </a:rPr>
              <a:t>The passenger has the ticket;</a:t>
            </a:r>
          </a:p>
          <a:p>
            <a:pPr marL="361950" lvl="1" indent="-274638">
              <a:spcBef>
                <a:spcPts val="0"/>
              </a:spcBef>
            </a:pPr>
            <a:r>
              <a:rPr lang="en-GB" altLang="en-US" sz="2000" b="0" dirty="0">
                <a:latin typeface="Helvetica"/>
                <a:cs typeface="Helvetica"/>
              </a:rPr>
              <a:t>The machine holds the money </a:t>
            </a:r>
            <a:r>
              <a:rPr lang="en-GB" altLang="en-US" sz="2000" b="0" i="1" dirty="0">
                <a:latin typeface="Helvetica"/>
                <a:cs typeface="Helvetica"/>
              </a:rPr>
              <a:t>m</a:t>
            </a:r>
            <a:r>
              <a:rPr lang="en-GB" altLang="en-US" sz="2000" b="0" dirty="0">
                <a:latin typeface="Helvetica"/>
                <a:cs typeface="Helvetica"/>
              </a:rPr>
              <a:t> of the ticket’s price;</a:t>
            </a:r>
            <a:endParaRPr lang="en-US" altLang="en-US" sz="2000" dirty="0">
              <a:latin typeface="Helvetica"/>
              <a:cs typeface="Helvetica"/>
            </a:endParaRPr>
          </a:p>
          <a:p>
            <a:pPr marL="361950" lvl="1" indent="-274638">
              <a:spcBef>
                <a:spcPts val="0"/>
              </a:spcBef>
            </a:pPr>
            <a:r>
              <a:rPr lang="en-US" altLang="en-US" sz="2000" b="0" dirty="0">
                <a:latin typeface="Helvetica"/>
                <a:cs typeface="Helvetica"/>
              </a:rPr>
              <a:t>The passenger’s money is </a:t>
            </a:r>
            <a:r>
              <a:rPr lang="en-US" altLang="en-US" sz="2000" b="0" i="1" dirty="0">
                <a:latin typeface="Helvetica"/>
                <a:cs typeface="Helvetica"/>
              </a:rPr>
              <a:t>M-m</a:t>
            </a:r>
            <a:r>
              <a:rPr lang="en-US" altLang="en-US" sz="2000" b="0" dirty="0">
                <a:latin typeface="Helvetica"/>
                <a:cs typeface="Helvetica"/>
              </a:rPr>
              <a:t>; </a:t>
            </a:r>
            <a:endParaRPr lang="en-GB" altLang="en-US" sz="2000" b="0" dirty="0">
              <a:latin typeface="Helvetica"/>
              <a:cs typeface="Helvetica"/>
            </a:endParaRPr>
          </a:p>
        </p:txBody>
      </p:sp>
      <p:sp>
        <p:nvSpPr>
          <p:cNvPr id="60420" name="Rectangle 4"/>
          <p:cNvSpPr>
            <a:spLocks noGrp="1" noChangeArrowheads="1"/>
          </p:cNvSpPr>
          <p:nvPr>
            <p:ph sz="half" idx="2"/>
          </p:nvPr>
        </p:nvSpPr>
        <p:spPr>
          <a:xfrm>
            <a:off x="4608948" y="1016339"/>
            <a:ext cx="4283532" cy="5616624"/>
          </a:xfrm>
        </p:spPr>
        <p:txBody>
          <a:bodyPr>
            <a:noAutofit/>
          </a:bodyPr>
          <a:lstStyle/>
          <a:p>
            <a:pPr marL="273050" indent="-273050">
              <a:spcBef>
                <a:spcPts val="0"/>
              </a:spcBef>
              <a:buFont typeface="Wingdings" pitchFamily="2" charset="2"/>
              <a:buNone/>
              <a:defRPr/>
            </a:pPr>
            <a:r>
              <a:rPr lang="en-US" altLang="en-US" sz="2000" i="1" dirty="0">
                <a:latin typeface="Helvetica"/>
                <a:cs typeface="Helvetica"/>
              </a:rPr>
              <a:t>Event flow:</a:t>
            </a:r>
            <a:endParaRPr lang="en-US" altLang="en-US" sz="2000" dirty="0">
              <a:latin typeface="Helvetica"/>
              <a:cs typeface="Helvetica"/>
            </a:endParaRPr>
          </a:p>
          <a:p>
            <a:pPr marL="361950" indent="-361950">
              <a:spcBef>
                <a:spcPts val="0"/>
              </a:spcBef>
              <a:buFont typeface="Wingdings" pitchFamily="2" charset="2"/>
              <a:buNone/>
              <a:defRPr/>
            </a:pPr>
            <a:r>
              <a:rPr lang="en-US" altLang="en-US" sz="2000" b="0" dirty="0">
                <a:latin typeface="Helvetica"/>
                <a:cs typeface="Helvetica"/>
              </a:rPr>
              <a:t>1. The passenger selects the number of zones to be traveled</a:t>
            </a:r>
          </a:p>
          <a:p>
            <a:pPr marL="361950" indent="-361950">
              <a:spcBef>
                <a:spcPts val="0"/>
              </a:spcBef>
              <a:buFont typeface="Wingdings" pitchFamily="2" charset="2"/>
              <a:buNone/>
              <a:defRPr/>
            </a:pPr>
            <a:r>
              <a:rPr lang="en-US" altLang="en-US" sz="2000" b="0" dirty="0">
                <a:latin typeface="Helvetica"/>
                <a:cs typeface="Helvetica"/>
              </a:rPr>
              <a:t>2. The machine displays the amount </a:t>
            </a:r>
            <a:r>
              <a:rPr lang="en-US" altLang="en-US" sz="2000" b="0" i="1" dirty="0">
                <a:latin typeface="Helvetica"/>
                <a:cs typeface="Helvetica"/>
              </a:rPr>
              <a:t>m </a:t>
            </a:r>
            <a:r>
              <a:rPr lang="en-US" altLang="en-US" sz="2000" b="0" dirty="0">
                <a:latin typeface="Helvetica"/>
                <a:cs typeface="Helvetica"/>
              </a:rPr>
              <a:t>due</a:t>
            </a:r>
          </a:p>
          <a:p>
            <a:pPr marL="361950" indent="-361950">
              <a:spcBef>
                <a:spcPts val="0"/>
              </a:spcBef>
              <a:buFont typeface="Wingdings" pitchFamily="2" charset="2"/>
              <a:buNone/>
              <a:defRPr/>
            </a:pPr>
            <a:r>
              <a:rPr lang="en-US" altLang="en-US" sz="2000" b="0" dirty="0">
                <a:latin typeface="Helvetica"/>
                <a:cs typeface="Helvetica"/>
              </a:rPr>
              <a:t>3. The passenger inserts money of the amount </a:t>
            </a:r>
            <a:r>
              <a:rPr lang="en-US" altLang="en-US" sz="2000" b="0" i="1" dirty="0">
                <a:latin typeface="Helvetica"/>
                <a:cs typeface="Helvetica"/>
              </a:rPr>
              <a:t>m</a:t>
            </a:r>
            <a:r>
              <a:rPr lang="en-US" altLang="en-US" sz="2000" b="0" dirty="0">
                <a:latin typeface="Helvetica"/>
                <a:cs typeface="Helvetica"/>
              </a:rPr>
              <a:t>’ &gt;=</a:t>
            </a:r>
            <a:r>
              <a:rPr lang="en-US" altLang="en-US" sz="2000" b="0" i="1" dirty="0">
                <a:latin typeface="Helvetica"/>
                <a:cs typeface="Helvetica"/>
              </a:rPr>
              <a:t>m</a:t>
            </a:r>
          </a:p>
          <a:p>
            <a:pPr marL="361950" indent="-361950">
              <a:spcBef>
                <a:spcPts val="0"/>
              </a:spcBef>
              <a:buFont typeface="Wingdings" pitchFamily="2" charset="2"/>
              <a:buNone/>
              <a:defRPr/>
            </a:pPr>
            <a:r>
              <a:rPr lang="en-US" altLang="en-US" sz="2000" b="0" dirty="0">
                <a:latin typeface="Helvetica"/>
                <a:cs typeface="Helvetica"/>
              </a:rPr>
              <a:t>4. The machine returns change </a:t>
            </a:r>
            <a:r>
              <a:rPr lang="en-US" altLang="en-US" sz="2000" b="0" i="1" dirty="0">
                <a:latin typeface="Helvetica"/>
                <a:cs typeface="Helvetica"/>
              </a:rPr>
              <a:t>m’-m</a:t>
            </a:r>
          </a:p>
          <a:p>
            <a:pPr marL="361950" indent="-361950">
              <a:spcBef>
                <a:spcPts val="0"/>
              </a:spcBef>
              <a:buFont typeface="Wingdings" pitchFamily="2" charset="2"/>
              <a:buNone/>
              <a:defRPr/>
            </a:pPr>
            <a:r>
              <a:rPr lang="en-US" altLang="en-US" sz="2000" b="0" dirty="0">
                <a:latin typeface="Helvetica"/>
                <a:cs typeface="Helvetica"/>
              </a:rPr>
              <a:t>5. The machine issues ticket </a:t>
            </a:r>
          </a:p>
          <a:p>
            <a:pPr marL="273050" indent="-273050">
              <a:spcBef>
                <a:spcPts val="0"/>
              </a:spcBef>
              <a:buFont typeface="Wingdings" pitchFamily="2" charset="2"/>
              <a:buNone/>
              <a:defRPr/>
            </a:pPr>
            <a:r>
              <a:rPr lang="en-US" altLang="en-US" sz="2000" i="1" dirty="0">
                <a:latin typeface="Helvetica"/>
                <a:cs typeface="Helvetica"/>
              </a:rPr>
              <a:t>Exceptional flows</a:t>
            </a:r>
            <a:r>
              <a:rPr lang="en-US" altLang="en-US" sz="2000" dirty="0">
                <a:latin typeface="Helvetica"/>
                <a:cs typeface="Helvetica"/>
              </a:rPr>
              <a:t>:</a:t>
            </a:r>
          </a:p>
          <a:p>
            <a:pPr marL="536575" indent="-536575">
              <a:spcBef>
                <a:spcPts val="0"/>
              </a:spcBef>
              <a:buFont typeface="Wingdings" pitchFamily="2" charset="2"/>
              <a:buNone/>
              <a:defRPr/>
            </a:pPr>
            <a:r>
              <a:rPr lang="en-US" altLang="en-US" sz="2000" b="0" dirty="0">
                <a:latin typeface="Helvetica"/>
                <a:cs typeface="Helvetica"/>
              </a:rPr>
              <a:t>4.1 	The machine displays a message that it has no changes. </a:t>
            </a:r>
          </a:p>
          <a:p>
            <a:pPr marL="536575" indent="-536575">
              <a:spcBef>
                <a:spcPts val="0"/>
              </a:spcBef>
              <a:buFont typeface="Wingdings" pitchFamily="2" charset="2"/>
              <a:buNone/>
              <a:defRPr/>
            </a:pPr>
            <a:r>
              <a:rPr lang="en-US" altLang="en-US" sz="2000" b="0" dirty="0">
                <a:latin typeface="Helvetica"/>
                <a:cs typeface="Helvetica"/>
              </a:rPr>
              <a:t>5.1 	The machine displays a message that ticket is jam.</a:t>
            </a:r>
          </a:p>
          <a:p>
            <a:pPr marL="273050" indent="-273050">
              <a:spcBef>
                <a:spcPts val="0"/>
              </a:spcBef>
              <a:buFont typeface="Wingdings" pitchFamily="2" charset="2"/>
              <a:buNone/>
              <a:defRPr/>
            </a:pPr>
            <a:r>
              <a:rPr lang="en-US" altLang="en-US" sz="2000" i="1" dirty="0">
                <a:latin typeface="Helvetica"/>
                <a:cs typeface="Helvetica"/>
              </a:rPr>
              <a:t>Special requirements:</a:t>
            </a:r>
          </a:p>
          <a:p>
            <a:pPr marL="358775" indent="-358775">
              <a:spcBef>
                <a:spcPts val="0"/>
              </a:spcBef>
              <a:buFont typeface="+mj-lt"/>
              <a:buAutoNum type="alphaLcPeriod"/>
              <a:defRPr/>
            </a:pPr>
            <a:r>
              <a:rPr lang="en-US" altLang="en-US" sz="2000" b="0" dirty="0">
                <a:latin typeface="Helvetica"/>
                <a:cs typeface="Helvetica"/>
              </a:rPr>
              <a:t>Ticket must be delivered within 5 seconds </a:t>
            </a:r>
          </a:p>
        </p:txBody>
      </p:sp>
      <p:sp>
        <p:nvSpPr>
          <p:cNvPr id="2" name="TextBox 1"/>
          <p:cNvSpPr txBox="1"/>
          <p:nvPr/>
        </p:nvSpPr>
        <p:spPr>
          <a:xfrm>
            <a:off x="312109" y="538094"/>
            <a:ext cx="8545342" cy="523220"/>
          </a:xfrm>
          <a:prstGeom prst="rect">
            <a:avLst/>
          </a:prstGeom>
          <a:solidFill>
            <a:srgbClr val="EEFAB9"/>
          </a:solidFill>
        </p:spPr>
        <p:txBody>
          <a:bodyPr wrap="square" rtlCol="0">
            <a:spAutoFit/>
          </a:bodyPr>
          <a:lstStyle/>
          <a:p>
            <a:pPr algn="ctr"/>
            <a:r>
              <a:rPr lang="en-US" altLang="en-US" sz="2800" b="1" dirty="0">
                <a:solidFill>
                  <a:schemeClr val="accent5">
                    <a:lumMod val="75000"/>
                  </a:schemeClr>
                </a:solidFill>
              </a:rPr>
              <a:t>Purchase an Underground Ticket </a:t>
            </a:r>
            <a:endParaRPr lang="en-US" sz="2800" b="1" dirty="0">
              <a:solidFill>
                <a:schemeClr val="accent5">
                  <a:lumMod val="75000"/>
                </a:schemeClr>
              </a:solidFill>
            </a:endParaRPr>
          </a:p>
        </p:txBody>
      </p:sp>
      <p:sp>
        <p:nvSpPr>
          <p:cNvPr id="5" name="Slide Number Placeholder 4">
            <a:extLst>
              <a:ext uri="{FF2B5EF4-FFF2-40B4-BE49-F238E27FC236}">
                <a16:creationId xmlns:a16="http://schemas.microsoft.com/office/drawing/2014/main" id="{67E19859-C850-6247-9576-D5E470A7FBA5}"/>
              </a:ext>
            </a:extLst>
          </p:cNvPr>
          <p:cNvSpPr>
            <a:spLocks noGrp="1"/>
          </p:cNvSpPr>
          <p:nvPr>
            <p:ph type="sldNum" sz="quarter" idx="4"/>
          </p:nvPr>
        </p:nvSpPr>
        <p:spPr/>
        <p:txBody>
          <a:bodyPr/>
          <a:lstStyle/>
          <a:p>
            <a:fld id="{D6255EFE-3ACE-DA4E-80CE-7588690A9A08}" type="slidenum">
              <a:rPr lang="en-GB" smtClean="0"/>
              <a:t>13</a:t>
            </a:fld>
            <a:endParaRPr lang="en-GB"/>
          </a:p>
        </p:txBody>
      </p:sp>
    </p:spTree>
    <p:extLst>
      <p:ext uri="{BB962C8B-B14F-4D97-AF65-F5344CB8AC3E}">
        <p14:creationId xmlns:p14="http://schemas.microsoft.com/office/powerpoint/2010/main" val="1224922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6"/>
          <p:cNvSpPr>
            <a:spLocks noGrp="1" noChangeArrowheads="1"/>
          </p:cNvSpPr>
          <p:nvPr>
            <p:ph type="title"/>
          </p:nvPr>
        </p:nvSpPr>
        <p:spPr/>
        <p:txBody>
          <a:bodyPr>
            <a:noAutofit/>
          </a:bodyPr>
          <a:lstStyle/>
          <a:p>
            <a:r>
              <a:rPr lang="en-GB" sz="3600" dirty="0"/>
              <a:t>What Is A Scenario</a:t>
            </a:r>
            <a:endParaRPr lang="en-US" altLang="zh-CN" sz="3600" dirty="0">
              <a:ea typeface="SimSun" pitchFamily="2" charset="-122"/>
            </a:endParaRPr>
          </a:p>
        </p:txBody>
      </p:sp>
      <p:sp>
        <p:nvSpPr>
          <p:cNvPr id="20486" name="Rectangle 7"/>
          <p:cNvSpPr>
            <a:spLocks noGrp="1" noChangeArrowheads="1"/>
          </p:cNvSpPr>
          <p:nvPr>
            <p:ph idx="1"/>
          </p:nvPr>
        </p:nvSpPr>
        <p:spPr>
          <a:xfrm>
            <a:off x="373642" y="832079"/>
            <a:ext cx="8461126" cy="5671456"/>
          </a:xfrm>
        </p:spPr>
        <p:txBody>
          <a:bodyPr/>
          <a:lstStyle/>
          <a:p>
            <a:pPr marL="361950" indent="-361950">
              <a:spcBef>
                <a:spcPts val="0"/>
              </a:spcBef>
            </a:pPr>
            <a:r>
              <a:rPr lang="en-GB" sz="2400" dirty="0"/>
              <a:t>An </a:t>
            </a:r>
            <a:r>
              <a:rPr lang="en-GB" dirty="0"/>
              <a:t>e</a:t>
            </a:r>
            <a:r>
              <a:rPr lang="en-GB" sz="2400" dirty="0"/>
              <a:t>xample of events taken from real world experience </a:t>
            </a:r>
          </a:p>
          <a:p>
            <a:pPr marL="722313" lvl="1" indent="-360363">
              <a:spcBef>
                <a:spcPts val="0"/>
              </a:spcBef>
            </a:pPr>
            <a:r>
              <a:rPr lang="en-GB" sz="2200" dirty="0"/>
              <a:t>An outline with details of scenes or an imagined sequence of future events, which may include details of the system context (scenes)</a:t>
            </a:r>
          </a:p>
          <a:p>
            <a:pPr marL="722313" lvl="1" indent="-360363">
              <a:spcBef>
                <a:spcPts val="0"/>
              </a:spcBef>
            </a:pPr>
            <a:r>
              <a:rPr lang="en-GB" sz="2200" dirty="0"/>
              <a:t>Captured and represented as speech or text narratives and may be embellished with still or moving images to illustrate the context</a:t>
            </a:r>
          </a:p>
          <a:p>
            <a:pPr marL="361950" indent="-361950">
              <a:spcBef>
                <a:spcPts val="0"/>
              </a:spcBef>
            </a:pPr>
            <a:r>
              <a:rPr lang="en-GB" sz="2400" dirty="0"/>
              <a:t>A future vision of a designed system with sequences of behaviour and possibly contextual description</a:t>
            </a:r>
          </a:p>
          <a:p>
            <a:pPr marL="722313" lvl="1" indent="-360363">
              <a:spcBef>
                <a:spcPts val="0"/>
              </a:spcBef>
            </a:pPr>
            <a:r>
              <a:rPr lang="en-GB" sz="2200" dirty="0"/>
              <a:t>A scenario comes close to a design mock up. </a:t>
            </a:r>
          </a:p>
          <a:p>
            <a:pPr marL="722313" lvl="1" indent="-360363">
              <a:spcBef>
                <a:spcPts val="0"/>
              </a:spcBef>
            </a:pPr>
            <a:r>
              <a:rPr lang="en-GB" sz="2200" dirty="0"/>
              <a:t>Represented by anything from storyboard sketch to animated sequences in a concept demonstrator. </a:t>
            </a:r>
            <a:endParaRPr lang="en-US" altLang="zh-CN" sz="2200" dirty="0">
              <a:ea typeface="SimSun" pitchFamily="2" charset="-122"/>
            </a:endParaRPr>
          </a:p>
          <a:p>
            <a:pPr marL="361950" indent="-361950">
              <a:spcBef>
                <a:spcPts val="0"/>
              </a:spcBef>
            </a:pPr>
            <a:r>
              <a:rPr lang="en-GB" sz="2400" b="1" dirty="0"/>
              <a:t>A single thread (or pathway) through a system </a:t>
            </a:r>
          </a:p>
          <a:p>
            <a:pPr marL="722313" lvl="1" indent="-360363">
              <a:spcBef>
                <a:spcPts val="0"/>
              </a:spcBef>
            </a:pPr>
            <a:r>
              <a:rPr lang="en-GB" sz="2200" dirty="0"/>
              <a:t>Formatted text and illustrated pathway in a use case</a:t>
            </a:r>
          </a:p>
          <a:p>
            <a:pPr marL="722313" lvl="1" indent="-360363">
              <a:spcBef>
                <a:spcPts val="0"/>
              </a:spcBef>
            </a:pPr>
            <a:r>
              <a:rPr lang="en-GB" sz="2200" dirty="0"/>
              <a:t>A path in an activity diagram</a:t>
            </a:r>
          </a:p>
        </p:txBody>
      </p:sp>
      <p:sp>
        <p:nvSpPr>
          <p:cNvPr id="4" name="Slide Number Placeholder 3">
            <a:extLst>
              <a:ext uri="{FF2B5EF4-FFF2-40B4-BE49-F238E27FC236}">
                <a16:creationId xmlns:a16="http://schemas.microsoft.com/office/drawing/2014/main" id="{5CF37926-C51E-564F-A87C-AB4EBCC7C278}"/>
              </a:ext>
            </a:extLst>
          </p:cNvPr>
          <p:cNvSpPr>
            <a:spLocks noGrp="1"/>
          </p:cNvSpPr>
          <p:nvPr>
            <p:ph type="sldNum" sz="quarter" idx="4"/>
          </p:nvPr>
        </p:nvSpPr>
        <p:spPr/>
        <p:txBody>
          <a:bodyPr/>
          <a:lstStyle/>
          <a:p>
            <a:fld id="{D6255EFE-3ACE-DA4E-80CE-7588690A9A08}" type="slidenum">
              <a:rPr lang="en-GB" smtClean="0"/>
              <a:t>14</a:t>
            </a:fld>
            <a:endParaRPr lang="en-GB"/>
          </a:p>
        </p:txBody>
      </p:sp>
    </p:spTree>
    <p:extLst>
      <p:ext uri="{BB962C8B-B14F-4D97-AF65-F5344CB8AC3E}">
        <p14:creationId xmlns:p14="http://schemas.microsoft.com/office/powerpoint/2010/main" val="493332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p:spPr>
        <p:txBody>
          <a:bodyPr lIns="92396" tIns="45415" rIns="92396" bIns="45415">
            <a:normAutofit/>
          </a:bodyPr>
          <a:lstStyle/>
          <a:p>
            <a:r>
              <a:rPr lang="en-US" altLang="zh-CN" sz="3600">
                <a:ea typeface="SimSun" pitchFamily="2" charset="-122"/>
              </a:rPr>
              <a:t>Types of Scenarios</a:t>
            </a:r>
          </a:p>
        </p:txBody>
      </p:sp>
      <p:sp>
        <p:nvSpPr>
          <p:cNvPr id="21507" name="Rectangle 3"/>
          <p:cNvSpPr>
            <a:spLocks noGrp="1" noChangeArrowheads="1"/>
          </p:cNvSpPr>
          <p:nvPr>
            <p:ph sz="half" idx="1"/>
          </p:nvPr>
        </p:nvSpPr>
        <p:spPr>
          <a:xfrm>
            <a:off x="4756150" y="1020763"/>
            <a:ext cx="4173538" cy="4962525"/>
          </a:xfrm>
        </p:spPr>
        <p:txBody>
          <a:bodyPr lIns="92396" tIns="45415" rIns="92396" bIns="45415"/>
          <a:lstStyle/>
          <a:p>
            <a:pPr>
              <a:lnSpc>
                <a:spcPct val="90000"/>
              </a:lnSpc>
            </a:pPr>
            <a:r>
              <a:rPr lang="en-US" altLang="zh-CN" dirty="0">
                <a:ea typeface="SimSun" pitchFamily="2" charset="-122"/>
              </a:rPr>
              <a:t>As-is scenarios:</a:t>
            </a:r>
          </a:p>
          <a:p>
            <a:pPr marL="536575" lvl="1" indent="-361950">
              <a:lnSpc>
                <a:spcPct val="90000"/>
              </a:lnSpc>
            </a:pPr>
            <a:r>
              <a:rPr lang="en-US" altLang="zh-CN" dirty="0">
                <a:ea typeface="SimSun" pitchFamily="2" charset="-122"/>
              </a:rPr>
              <a:t>Used in describing a current situation, or system-as-is. </a:t>
            </a:r>
          </a:p>
          <a:p>
            <a:pPr>
              <a:lnSpc>
                <a:spcPct val="90000"/>
              </a:lnSpc>
            </a:pPr>
            <a:r>
              <a:rPr lang="en-US" altLang="zh-CN" dirty="0">
                <a:ea typeface="SimSun" pitchFamily="2" charset="-122"/>
              </a:rPr>
              <a:t>Visionary scenarios:</a:t>
            </a:r>
          </a:p>
          <a:p>
            <a:pPr marL="536575" lvl="1" indent="-361950">
              <a:lnSpc>
                <a:spcPct val="90000"/>
              </a:lnSpc>
            </a:pPr>
            <a:r>
              <a:rPr lang="en-US" altLang="zh-CN" dirty="0">
                <a:ea typeface="SimSun" pitchFamily="2" charset="-122"/>
              </a:rPr>
              <a:t>Used to describe a future system, i.e. the system-to-be. </a:t>
            </a:r>
          </a:p>
          <a:p>
            <a:pPr>
              <a:lnSpc>
                <a:spcPct val="90000"/>
              </a:lnSpc>
            </a:pPr>
            <a:r>
              <a:rPr lang="en-US" altLang="zh-CN" dirty="0">
                <a:ea typeface="SimSun" pitchFamily="2" charset="-122"/>
              </a:rPr>
              <a:t>Evaluation scenarios:</a:t>
            </a:r>
          </a:p>
          <a:p>
            <a:pPr marL="536575" lvl="1" indent="-361950">
              <a:lnSpc>
                <a:spcPct val="90000"/>
              </a:lnSpc>
            </a:pPr>
            <a:r>
              <a:rPr lang="en-US" altLang="zh-CN" dirty="0">
                <a:ea typeface="SimSun" pitchFamily="2" charset="-122"/>
              </a:rPr>
              <a:t>Used to check the system in evaluation as acceptance criteria.   </a:t>
            </a:r>
            <a:br>
              <a:rPr lang="en-US" altLang="zh-CN" dirty="0">
                <a:ea typeface="SimSun" pitchFamily="2" charset="-122"/>
              </a:rPr>
            </a:br>
            <a:endParaRPr lang="en-US" altLang="zh-CN" dirty="0">
              <a:ea typeface="SimSun" pitchFamily="2" charset="-122"/>
            </a:endParaRPr>
          </a:p>
        </p:txBody>
      </p:sp>
      <p:sp>
        <p:nvSpPr>
          <p:cNvPr id="10" name="Content Placeholder 9"/>
          <p:cNvSpPr>
            <a:spLocks noGrp="1"/>
          </p:cNvSpPr>
          <p:nvPr>
            <p:ph sz="half" idx="2"/>
          </p:nvPr>
        </p:nvSpPr>
        <p:spPr>
          <a:xfrm>
            <a:off x="384175" y="952500"/>
            <a:ext cx="4168775" cy="5162550"/>
          </a:xfrm>
        </p:spPr>
        <p:txBody>
          <a:bodyPr/>
          <a:lstStyle/>
          <a:p>
            <a:pPr>
              <a:defRPr/>
            </a:pPr>
            <a:r>
              <a:rPr lang="en-US" dirty="0"/>
              <a:t>Concrete scenarios </a:t>
            </a:r>
          </a:p>
          <a:p>
            <a:pPr marL="536575" lvl="1" indent="-361950">
              <a:defRPr/>
            </a:pPr>
            <a:r>
              <a:rPr lang="en-GB" dirty="0"/>
              <a:t>A sequence of events with every details of data</a:t>
            </a:r>
          </a:p>
          <a:p>
            <a:pPr marL="536575" lvl="1" indent="-361950">
              <a:defRPr/>
            </a:pPr>
            <a:r>
              <a:rPr lang="en-GB" dirty="0"/>
              <a:t>A specific operation of the system </a:t>
            </a:r>
            <a:endParaRPr lang="en-US" dirty="0"/>
          </a:p>
          <a:p>
            <a:pPr>
              <a:defRPr/>
            </a:pPr>
            <a:r>
              <a:rPr lang="en-US" dirty="0"/>
              <a:t>Generic scenarios</a:t>
            </a:r>
          </a:p>
          <a:p>
            <a:pPr marL="536575" lvl="1" indent="-361950">
              <a:defRPr/>
            </a:pPr>
            <a:r>
              <a:rPr lang="en-GB" dirty="0"/>
              <a:t>A sequence of events without detailed data</a:t>
            </a:r>
          </a:p>
          <a:p>
            <a:pPr marL="536575" lvl="1" indent="-361950">
              <a:defRPr/>
            </a:pPr>
            <a:r>
              <a:rPr lang="en-GB" dirty="0"/>
              <a:t>Representation of a set of particular instances of similar operations of the system</a:t>
            </a:r>
            <a:endParaRPr lang="en-US" altLang="zh-CN" dirty="0">
              <a:ea typeface="SimSun" pitchFamily="2" charset="-122"/>
            </a:endParaRPr>
          </a:p>
          <a:p>
            <a:pPr lvl="1">
              <a:defRPr/>
            </a:pPr>
            <a:endParaRPr lang="en-US" dirty="0"/>
          </a:p>
        </p:txBody>
      </p:sp>
      <p:cxnSp>
        <p:nvCxnSpPr>
          <p:cNvPr id="12" name="Straight Connector 11"/>
          <p:cNvCxnSpPr/>
          <p:nvPr/>
        </p:nvCxnSpPr>
        <p:spPr bwMode="auto">
          <a:xfrm flipH="1">
            <a:off x="4552950" y="1050925"/>
            <a:ext cx="9525" cy="4892675"/>
          </a:xfrm>
          <a:prstGeom prst="line">
            <a:avLst/>
          </a:prstGeom>
          <a:ln>
            <a:headEnd type="none" w="med" len="med"/>
            <a:tailEnd type="none" w="lg" len="lg"/>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0340B8BB-FA03-6040-9DB0-23EB78882E20}"/>
              </a:ext>
            </a:extLst>
          </p:cNvPr>
          <p:cNvSpPr>
            <a:spLocks noGrp="1"/>
          </p:cNvSpPr>
          <p:nvPr>
            <p:ph type="sldNum" sz="quarter" idx="4"/>
          </p:nvPr>
        </p:nvSpPr>
        <p:spPr/>
        <p:txBody>
          <a:bodyPr/>
          <a:lstStyle/>
          <a:p>
            <a:fld id="{D6255EFE-3ACE-DA4E-80CE-7588690A9A08}" type="slidenum">
              <a:rPr lang="en-GB" smtClean="0"/>
              <a:t>15</a:t>
            </a:fld>
            <a:endParaRPr lang="en-GB"/>
          </a:p>
        </p:txBody>
      </p:sp>
    </p:spTree>
    <p:extLst>
      <p:ext uri="{BB962C8B-B14F-4D97-AF65-F5344CB8AC3E}">
        <p14:creationId xmlns:p14="http://schemas.microsoft.com/office/powerpoint/2010/main" val="258487529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p:txBody>
          <a:bodyPr>
            <a:normAutofit/>
          </a:bodyPr>
          <a:lstStyle/>
          <a:p>
            <a:r>
              <a:rPr lang="en-GB" sz="3600" dirty="0"/>
              <a:t>Concrete Scenarios</a:t>
            </a:r>
            <a:endParaRPr lang="en-US" altLang="zh-CN" sz="3600" dirty="0">
              <a:ea typeface="SimSun" pitchFamily="2" charset="-122"/>
            </a:endParaRPr>
          </a:p>
        </p:txBody>
      </p:sp>
      <p:sp>
        <p:nvSpPr>
          <p:cNvPr id="17411" name="Rectangle 3"/>
          <p:cNvSpPr>
            <a:spLocks noGrp="1" noChangeArrowheads="1"/>
          </p:cNvSpPr>
          <p:nvPr>
            <p:ph idx="1"/>
          </p:nvPr>
        </p:nvSpPr>
        <p:spPr>
          <a:xfrm>
            <a:off x="384828" y="903389"/>
            <a:ext cx="8258175" cy="1314854"/>
          </a:xfrm>
        </p:spPr>
        <p:txBody>
          <a:bodyPr/>
          <a:lstStyle/>
          <a:p>
            <a:pPr marL="312738" indent="-312738">
              <a:spcBef>
                <a:spcPts val="0"/>
              </a:spcBef>
            </a:pPr>
            <a:r>
              <a:rPr lang="en-GB" dirty="0"/>
              <a:t>A sequence of events with every details of data</a:t>
            </a:r>
          </a:p>
          <a:p>
            <a:pPr marL="312738" indent="-312738">
              <a:spcBef>
                <a:spcPts val="0"/>
              </a:spcBef>
            </a:pPr>
            <a:r>
              <a:rPr lang="en-GB" dirty="0"/>
              <a:t>A specific operation of the system </a:t>
            </a:r>
          </a:p>
          <a:p>
            <a:pPr marL="312738" indent="-312738">
              <a:spcBef>
                <a:spcPts val="0"/>
              </a:spcBef>
            </a:pPr>
            <a:r>
              <a:rPr lang="en-GB" altLang="zh-CN" dirty="0">
                <a:ea typeface="SimSun" pitchFamily="2" charset="-122"/>
              </a:rPr>
              <a:t>Example: </a:t>
            </a:r>
            <a:endParaRPr lang="en-US" altLang="zh-CN" dirty="0">
              <a:ea typeface="SimSun" pitchFamily="2" charset="-122"/>
            </a:endParaRPr>
          </a:p>
        </p:txBody>
      </p:sp>
      <p:sp>
        <p:nvSpPr>
          <p:cNvPr id="22535" name="Text Box 4"/>
          <p:cNvSpPr txBox="1">
            <a:spLocks noChangeArrowheads="1"/>
          </p:cNvSpPr>
          <p:nvPr/>
        </p:nvSpPr>
        <p:spPr bwMode="auto">
          <a:xfrm>
            <a:off x="1948565" y="2204864"/>
            <a:ext cx="5545994" cy="3785652"/>
          </a:xfrm>
          <a:prstGeom prst="rect">
            <a:avLst/>
          </a:prstGeom>
          <a:noFill/>
          <a:ln>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marL="449263" indent="-449263" algn="l">
              <a:spcBef>
                <a:spcPct val="0"/>
              </a:spcBef>
            </a:pPr>
            <a:r>
              <a:rPr lang="en-GB" sz="2400" b="1" dirty="0">
                <a:solidFill>
                  <a:srgbClr val="000066"/>
                </a:solidFill>
              </a:rPr>
              <a:t>Online shopping</a:t>
            </a:r>
          </a:p>
          <a:p>
            <a:pPr marL="449263" indent="-449263" algn="l">
              <a:spcBef>
                <a:spcPct val="0"/>
              </a:spcBef>
              <a:buFontTx/>
              <a:buAutoNum type="arabicPeriod"/>
            </a:pPr>
            <a:r>
              <a:rPr lang="en-GB" sz="2400" dirty="0">
                <a:solidFill>
                  <a:srgbClr val="000066"/>
                </a:solidFill>
              </a:rPr>
              <a:t>Go to </a:t>
            </a:r>
            <a:r>
              <a:rPr lang="en-GB" sz="2400" i="1" dirty="0">
                <a:solidFill>
                  <a:srgbClr val="000066"/>
                </a:solidFill>
              </a:rPr>
              <a:t>Amazone.com</a:t>
            </a:r>
            <a:r>
              <a:rPr lang="en-GB" sz="2400" dirty="0">
                <a:solidFill>
                  <a:srgbClr val="000066"/>
                </a:solidFill>
              </a:rPr>
              <a:t> Website</a:t>
            </a:r>
          </a:p>
          <a:p>
            <a:pPr marL="449263" indent="-449263" algn="l">
              <a:spcBef>
                <a:spcPct val="0"/>
              </a:spcBef>
              <a:buFontTx/>
              <a:buAutoNum type="arabicPeriod"/>
            </a:pPr>
            <a:r>
              <a:rPr lang="en-GB" sz="2400" dirty="0">
                <a:solidFill>
                  <a:srgbClr val="000066"/>
                </a:solidFill>
              </a:rPr>
              <a:t>Browse </a:t>
            </a:r>
            <a:r>
              <a:rPr lang="en-GB" sz="2400" i="1" dirty="0">
                <a:solidFill>
                  <a:srgbClr val="000066"/>
                </a:solidFill>
              </a:rPr>
              <a:t>Computer Books</a:t>
            </a:r>
            <a:r>
              <a:rPr lang="en-GB" sz="2400" dirty="0">
                <a:solidFill>
                  <a:srgbClr val="000066"/>
                </a:solidFill>
              </a:rPr>
              <a:t> catalogue</a:t>
            </a:r>
          </a:p>
          <a:p>
            <a:pPr marL="449263" indent="-449263" algn="l">
              <a:spcBef>
                <a:spcPct val="0"/>
              </a:spcBef>
              <a:buFontTx/>
              <a:buAutoNum type="arabicPeriod"/>
            </a:pPr>
            <a:r>
              <a:rPr lang="en-GB" sz="2400" dirty="0">
                <a:solidFill>
                  <a:srgbClr val="000066"/>
                </a:solidFill>
              </a:rPr>
              <a:t>Choose </a:t>
            </a:r>
            <a:r>
              <a:rPr lang="en-GB" sz="2400" i="1" dirty="0">
                <a:solidFill>
                  <a:srgbClr val="000066"/>
                </a:solidFill>
              </a:rPr>
              <a:t>UML Distilled (3</a:t>
            </a:r>
            <a:r>
              <a:rPr lang="en-GB" sz="2400" i="1" baseline="30000" dirty="0">
                <a:solidFill>
                  <a:srgbClr val="000066"/>
                </a:solidFill>
              </a:rPr>
              <a:t>rd</a:t>
            </a:r>
            <a:r>
              <a:rPr lang="en-GB" sz="2400" i="1" dirty="0">
                <a:solidFill>
                  <a:srgbClr val="000066"/>
                </a:solidFill>
              </a:rPr>
              <a:t> </a:t>
            </a:r>
            <a:r>
              <a:rPr lang="en-GB" sz="2400" i="1" dirty="0" err="1">
                <a:solidFill>
                  <a:srgbClr val="000066"/>
                </a:solidFill>
              </a:rPr>
              <a:t>edt</a:t>
            </a:r>
            <a:r>
              <a:rPr lang="en-GB" sz="2400" i="1" dirty="0">
                <a:solidFill>
                  <a:srgbClr val="000066"/>
                </a:solidFill>
              </a:rPr>
              <a:t>.)</a:t>
            </a:r>
          </a:p>
          <a:p>
            <a:pPr marL="449263" indent="-449263" algn="l">
              <a:spcBef>
                <a:spcPct val="0"/>
              </a:spcBef>
              <a:buFontTx/>
              <a:buAutoNum type="arabicPeriod"/>
            </a:pPr>
            <a:r>
              <a:rPr lang="en-GB" sz="2400" dirty="0">
                <a:solidFill>
                  <a:srgbClr val="000066"/>
                </a:solidFill>
              </a:rPr>
              <a:t>Specify</a:t>
            </a:r>
            <a:r>
              <a:rPr lang="en-GB" sz="2400" i="1" dirty="0">
                <a:solidFill>
                  <a:srgbClr val="000066"/>
                </a:solidFill>
              </a:rPr>
              <a:t> </a:t>
            </a:r>
            <a:r>
              <a:rPr lang="en-GB" sz="2400" dirty="0">
                <a:solidFill>
                  <a:srgbClr val="000066"/>
                </a:solidFill>
              </a:rPr>
              <a:t>quantity of</a:t>
            </a:r>
            <a:r>
              <a:rPr lang="en-GB" sz="2400" i="1" dirty="0">
                <a:solidFill>
                  <a:srgbClr val="000066"/>
                </a:solidFill>
              </a:rPr>
              <a:t> 2</a:t>
            </a:r>
          </a:p>
          <a:p>
            <a:pPr marL="449263" indent="-449263" algn="l">
              <a:spcBef>
                <a:spcPct val="0"/>
              </a:spcBef>
              <a:buFontTx/>
              <a:buAutoNum type="arabicPeriod"/>
            </a:pPr>
            <a:r>
              <a:rPr lang="en-GB" sz="2400" dirty="0">
                <a:solidFill>
                  <a:srgbClr val="000066"/>
                </a:solidFill>
              </a:rPr>
              <a:t>Give delivery address of</a:t>
            </a:r>
            <a:r>
              <a:rPr lang="en-GB" sz="2400" i="1" dirty="0">
                <a:solidFill>
                  <a:srgbClr val="000066"/>
                </a:solidFill>
              </a:rPr>
              <a:t> Dept of Computing, OBU</a:t>
            </a:r>
          </a:p>
          <a:p>
            <a:pPr marL="449263" indent="-449263" algn="l">
              <a:spcBef>
                <a:spcPct val="0"/>
              </a:spcBef>
              <a:buFontTx/>
              <a:buAutoNum type="arabicPeriod"/>
            </a:pPr>
            <a:r>
              <a:rPr lang="en-GB" sz="2400" dirty="0">
                <a:solidFill>
                  <a:srgbClr val="000066"/>
                </a:solidFill>
              </a:rPr>
              <a:t>Give credit card number</a:t>
            </a:r>
            <a:r>
              <a:rPr lang="en-GB" sz="2400" i="1" dirty="0">
                <a:solidFill>
                  <a:srgbClr val="000066"/>
                </a:solidFill>
              </a:rPr>
              <a:t> 1234 5678 9012 3456, </a:t>
            </a:r>
            <a:r>
              <a:rPr lang="en-GB" sz="2400" dirty="0">
                <a:solidFill>
                  <a:srgbClr val="000066"/>
                </a:solidFill>
              </a:rPr>
              <a:t>and name</a:t>
            </a:r>
            <a:r>
              <a:rPr lang="en-GB" sz="2400" i="1" dirty="0">
                <a:solidFill>
                  <a:srgbClr val="000066"/>
                </a:solidFill>
              </a:rPr>
              <a:t> H Zhu,</a:t>
            </a:r>
          </a:p>
          <a:p>
            <a:pPr marL="449263" indent="-449263" algn="l">
              <a:spcBef>
                <a:spcPct val="0"/>
              </a:spcBef>
              <a:buFontTx/>
              <a:buAutoNum type="arabicPeriod"/>
            </a:pPr>
            <a:r>
              <a:rPr lang="en-GB" sz="2400" dirty="0">
                <a:solidFill>
                  <a:srgbClr val="000066"/>
                </a:solidFill>
              </a:rPr>
              <a:t>Submit order</a:t>
            </a:r>
            <a:endParaRPr lang="en-US" altLang="zh-CN" sz="2400" dirty="0">
              <a:solidFill>
                <a:schemeClr val="bg1"/>
              </a:solidFill>
            </a:endParaRPr>
          </a:p>
        </p:txBody>
      </p:sp>
      <p:grpSp>
        <p:nvGrpSpPr>
          <p:cNvPr id="2" name="Group 22"/>
          <p:cNvGrpSpPr>
            <a:grpSpLocks/>
          </p:cNvGrpSpPr>
          <p:nvPr/>
        </p:nvGrpSpPr>
        <p:grpSpPr bwMode="auto">
          <a:xfrm>
            <a:off x="5219790" y="2950645"/>
            <a:ext cx="3609975" cy="2309814"/>
            <a:chOff x="3326" y="1399"/>
            <a:chExt cx="2274" cy="1455"/>
          </a:xfrm>
        </p:grpSpPr>
        <p:sp>
          <p:nvSpPr>
            <p:cNvPr id="22546" name="Rectangle 6"/>
            <p:cNvSpPr>
              <a:spLocks noChangeArrowheads="1"/>
            </p:cNvSpPr>
            <p:nvPr/>
          </p:nvSpPr>
          <p:spPr bwMode="auto">
            <a:xfrm>
              <a:off x="4823" y="2069"/>
              <a:ext cx="777" cy="574"/>
            </a:xfrm>
            <a:prstGeom prst="rect">
              <a:avLst/>
            </a:prstGeom>
            <a:solidFill>
              <a:schemeClr val="tx1">
                <a:lumMod val="40000"/>
                <a:lumOff val="60000"/>
              </a:schemeClr>
            </a:solidFill>
            <a:ln>
              <a:noFill/>
              <a:headEnd/>
              <a:tailEnd/>
            </a:ln>
          </p:spPr>
          <p:style>
            <a:lnRef idx="2">
              <a:schemeClr val="accent5"/>
            </a:lnRef>
            <a:fillRef idx="1">
              <a:schemeClr val="lt1"/>
            </a:fillRef>
            <a:effectRef idx="0">
              <a:schemeClr val="accent5"/>
            </a:effectRef>
            <a:fontRef idx="minor">
              <a:schemeClr val="dk1"/>
            </a:fontRef>
          </p:style>
          <p:txBody>
            <a:bodyPr wrap="none" anchor="ctr"/>
            <a:lstStyle/>
            <a:p>
              <a:pPr algn="ctr">
                <a:spcBef>
                  <a:spcPct val="0"/>
                </a:spcBef>
              </a:pPr>
              <a:r>
                <a:rPr lang="en-GB" altLang="zh-CN" b="1" dirty="0">
                  <a:solidFill>
                    <a:srgbClr val="0000FF"/>
                  </a:solidFill>
                </a:rPr>
                <a:t>Concrete </a:t>
              </a:r>
            </a:p>
            <a:p>
              <a:pPr algn="ctr">
                <a:spcBef>
                  <a:spcPct val="0"/>
                </a:spcBef>
              </a:pPr>
              <a:r>
                <a:rPr lang="en-GB" altLang="zh-CN" b="1" dirty="0">
                  <a:solidFill>
                    <a:srgbClr val="0000FF"/>
                  </a:solidFill>
                </a:rPr>
                <a:t>data</a:t>
              </a:r>
              <a:endParaRPr lang="en-US" altLang="zh-CN" b="1" dirty="0">
                <a:solidFill>
                  <a:srgbClr val="0000FF"/>
                </a:solidFill>
              </a:endParaRPr>
            </a:p>
          </p:txBody>
        </p:sp>
        <p:sp>
          <p:nvSpPr>
            <p:cNvPr id="22547" name="Line 7"/>
            <p:cNvSpPr>
              <a:spLocks noChangeShapeType="1"/>
            </p:cNvSpPr>
            <p:nvPr/>
          </p:nvSpPr>
          <p:spPr bwMode="auto">
            <a:xfrm flipH="1" flipV="1">
              <a:off x="3326" y="1399"/>
              <a:ext cx="1497" cy="670"/>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sp>
          <p:nvSpPr>
            <p:cNvPr id="22548" name="Line 8"/>
            <p:cNvSpPr>
              <a:spLocks noChangeShapeType="1"/>
            </p:cNvSpPr>
            <p:nvPr/>
          </p:nvSpPr>
          <p:spPr bwMode="auto">
            <a:xfrm flipH="1" flipV="1">
              <a:off x="3416" y="1858"/>
              <a:ext cx="1407" cy="301"/>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sp>
          <p:nvSpPr>
            <p:cNvPr id="22549" name="Line 9"/>
            <p:cNvSpPr>
              <a:spLocks noChangeShapeType="1"/>
            </p:cNvSpPr>
            <p:nvPr/>
          </p:nvSpPr>
          <p:spPr bwMode="auto">
            <a:xfrm flipH="1" flipV="1">
              <a:off x="3416" y="2010"/>
              <a:ext cx="1407" cy="221"/>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sp>
          <p:nvSpPr>
            <p:cNvPr id="22550" name="Line 10"/>
            <p:cNvSpPr>
              <a:spLocks noChangeShapeType="1"/>
            </p:cNvSpPr>
            <p:nvPr/>
          </p:nvSpPr>
          <p:spPr bwMode="auto">
            <a:xfrm flipH="1" flipV="1">
              <a:off x="4369" y="2276"/>
              <a:ext cx="454" cy="35"/>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sp>
          <p:nvSpPr>
            <p:cNvPr id="22551" name="Line 11"/>
            <p:cNvSpPr>
              <a:spLocks noChangeShapeType="1"/>
            </p:cNvSpPr>
            <p:nvPr/>
          </p:nvSpPr>
          <p:spPr bwMode="auto">
            <a:xfrm flipH="1">
              <a:off x="4507" y="2479"/>
              <a:ext cx="316" cy="99"/>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sp>
          <p:nvSpPr>
            <p:cNvPr id="22552" name="Line 12"/>
            <p:cNvSpPr>
              <a:spLocks noChangeShapeType="1"/>
            </p:cNvSpPr>
            <p:nvPr/>
          </p:nvSpPr>
          <p:spPr bwMode="auto">
            <a:xfrm flipH="1">
              <a:off x="4097" y="2591"/>
              <a:ext cx="726" cy="263"/>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grpSp>
      <p:grpSp>
        <p:nvGrpSpPr>
          <p:cNvPr id="3" name="Group 23"/>
          <p:cNvGrpSpPr>
            <a:grpSpLocks/>
          </p:cNvGrpSpPr>
          <p:nvPr/>
        </p:nvGrpSpPr>
        <p:grpSpPr bwMode="auto">
          <a:xfrm>
            <a:off x="289384" y="2900619"/>
            <a:ext cx="2184400" cy="2735263"/>
            <a:chOff x="189" y="1843"/>
            <a:chExt cx="1376" cy="1723"/>
          </a:xfrm>
        </p:grpSpPr>
        <p:sp>
          <p:nvSpPr>
            <p:cNvPr id="22538" name="Text Box 14"/>
            <p:cNvSpPr txBox="1">
              <a:spLocks noChangeArrowheads="1"/>
            </p:cNvSpPr>
            <p:nvPr/>
          </p:nvSpPr>
          <p:spPr bwMode="auto">
            <a:xfrm>
              <a:off x="189" y="2154"/>
              <a:ext cx="752" cy="407"/>
            </a:xfrm>
            <a:prstGeom prst="rect">
              <a:avLst/>
            </a:prstGeom>
            <a:solidFill>
              <a:schemeClr val="tx1">
                <a:lumMod val="40000"/>
                <a:lumOff val="60000"/>
              </a:schemeClr>
            </a:solidFill>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en-GB" altLang="zh-CN" b="1" dirty="0">
                  <a:solidFill>
                    <a:srgbClr val="0000FF"/>
                  </a:solidFill>
                </a:rPr>
                <a:t>Concrete actions</a:t>
              </a:r>
              <a:endParaRPr lang="en-US" altLang="zh-CN" b="1" dirty="0">
                <a:solidFill>
                  <a:srgbClr val="0000FF"/>
                </a:solidFill>
              </a:endParaRPr>
            </a:p>
          </p:txBody>
        </p:sp>
        <p:sp>
          <p:nvSpPr>
            <p:cNvPr id="22539" name="Line 15"/>
            <p:cNvSpPr>
              <a:spLocks noChangeShapeType="1"/>
            </p:cNvSpPr>
            <p:nvPr/>
          </p:nvSpPr>
          <p:spPr bwMode="auto">
            <a:xfrm flipV="1">
              <a:off x="941" y="1843"/>
              <a:ext cx="614" cy="285"/>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sp>
          <p:nvSpPr>
            <p:cNvPr id="22540" name="Line 16"/>
            <p:cNvSpPr>
              <a:spLocks noChangeShapeType="1"/>
            </p:cNvSpPr>
            <p:nvPr/>
          </p:nvSpPr>
          <p:spPr bwMode="auto">
            <a:xfrm flipV="1">
              <a:off x="941" y="2024"/>
              <a:ext cx="624" cy="168"/>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sp>
          <p:nvSpPr>
            <p:cNvPr id="22541" name="Line 17"/>
            <p:cNvSpPr>
              <a:spLocks noChangeShapeType="1"/>
            </p:cNvSpPr>
            <p:nvPr/>
          </p:nvSpPr>
          <p:spPr bwMode="auto">
            <a:xfrm flipV="1">
              <a:off x="941" y="2234"/>
              <a:ext cx="614" cy="32"/>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sp>
          <p:nvSpPr>
            <p:cNvPr id="22542" name="Line 18"/>
            <p:cNvSpPr>
              <a:spLocks noChangeShapeType="1"/>
            </p:cNvSpPr>
            <p:nvPr/>
          </p:nvSpPr>
          <p:spPr bwMode="auto">
            <a:xfrm>
              <a:off x="951" y="2355"/>
              <a:ext cx="614" cy="106"/>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sp>
          <p:nvSpPr>
            <p:cNvPr id="22543" name="Line 19"/>
            <p:cNvSpPr>
              <a:spLocks noChangeShapeType="1"/>
            </p:cNvSpPr>
            <p:nvPr/>
          </p:nvSpPr>
          <p:spPr bwMode="auto">
            <a:xfrm>
              <a:off x="951" y="2461"/>
              <a:ext cx="614" cy="227"/>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sp>
          <p:nvSpPr>
            <p:cNvPr id="22544" name="Line 20"/>
            <p:cNvSpPr>
              <a:spLocks noChangeShapeType="1"/>
            </p:cNvSpPr>
            <p:nvPr/>
          </p:nvSpPr>
          <p:spPr bwMode="auto">
            <a:xfrm>
              <a:off x="941" y="2550"/>
              <a:ext cx="614" cy="517"/>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sp>
          <p:nvSpPr>
            <p:cNvPr id="22545" name="Line 21"/>
            <p:cNvSpPr>
              <a:spLocks noChangeShapeType="1"/>
            </p:cNvSpPr>
            <p:nvPr/>
          </p:nvSpPr>
          <p:spPr bwMode="auto">
            <a:xfrm>
              <a:off x="813" y="2561"/>
              <a:ext cx="752" cy="1005"/>
            </a:xfrm>
            <a:prstGeom prst="line">
              <a:avLst/>
            </a:prstGeom>
            <a:ln>
              <a:solidFill>
                <a:srgbClr val="FF0000"/>
              </a:solidFill>
              <a:headEnd/>
              <a:tailEnd type="triangle" w="med" len="med"/>
            </a:ln>
          </p:spPr>
          <p:style>
            <a:lnRef idx="2">
              <a:schemeClr val="accent5"/>
            </a:lnRef>
            <a:fillRef idx="1">
              <a:schemeClr val="lt1"/>
            </a:fillRef>
            <a:effectRef idx="0">
              <a:schemeClr val="accent5"/>
            </a:effectRef>
            <a:fontRef idx="minor">
              <a:schemeClr val="dk1"/>
            </a:fontRef>
          </p:style>
          <p:txBody>
            <a:bodyPr/>
            <a:lstStyle/>
            <a:p>
              <a:endParaRPr lang="en-US">
                <a:solidFill>
                  <a:srgbClr val="0000FF"/>
                </a:solidFill>
              </a:endParaRPr>
            </a:p>
          </p:txBody>
        </p:sp>
      </p:grpSp>
      <p:sp>
        <p:nvSpPr>
          <p:cNvPr id="6" name="Slide Number Placeholder 5">
            <a:extLst>
              <a:ext uri="{FF2B5EF4-FFF2-40B4-BE49-F238E27FC236}">
                <a16:creationId xmlns:a16="http://schemas.microsoft.com/office/drawing/2014/main" id="{EEF61D23-A1C3-CF4C-A0D6-2EF2D425203D}"/>
              </a:ext>
            </a:extLst>
          </p:cNvPr>
          <p:cNvSpPr>
            <a:spLocks noGrp="1"/>
          </p:cNvSpPr>
          <p:nvPr>
            <p:ph type="sldNum" sz="quarter" idx="4"/>
          </p:nvPr>
        </p:nvSpPr>
        <p:spPr/>
        <p:txBody>
          <a:bodyPr/>
          <a:lstStyle/>
          <a:p>
            <a:fld id="{D6255EFE-3ACE-DA4E-80CE-7588690A9A08}" type="slidenum">
              <a:rPr lang="en-GB" smtClean="0"/>
              <a:t>16</a:t>
            </a:fld>
            <a:endParaRPr lang="en-GB"/>
          </a:p>
        </p:txBody>
      </p:sp>
    </p:spTree>
    <p:extLst>
      <p:ext uri="{BB962C8B-B14F-4D97-AF65-F5344CB8AC3E}">
        <p14:creationId xmlns:p14="http://schemas.microsoft.com/office/powerpoint/2010/main" val="521978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17411">
                                            <p:txEl>
                                              <p:pRg st="0" end="0"/>
                                            </p:txEl>
                                          </p:spTgt>
                                        </p:tgtEl>
                                        <p:attrNameLst>
                                          <p:attrName>style.visibility</p:attrName>
                                        </p:attrNameLst>
                                      </p:cBhvr>
                                      <p:to>
                                        <p:strVal val="visible"/>
                                      </p:to>
                                    </p:set>
                                    <p:animEffect transition="in" filter="checkerboard(across)">
                                      <p:cBhvr>
                                        <p:cTn id="19" dur="500"/>
                                        <p:tgtEl>
                                          <p:spTgt spid="17411">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17411">
                                            <p:txEl>
                                              <p:pRg st="1" end="1"/>
                                            </p:txEl>
                                          </p:spTgt>
                                        </p:tgtEl>
                                        <p:attrNameLst>
                                          <p:attrName>style.visibility</p:attrName>
                                        </p:attrNameLst>
                                      </p:cBhvr>
                                      <p:to>
                                        <p:strVal val="visible"/>
                                      </p:to>
                                    </p:set>
                                    <p:animEffect transition="in" filter="checkerboard(across)">
                                      <p:cBhvr>
                                        <p:cTn id="24" dur="500"/>
                                        <p:tgtEl>
                                          <p:spTgt spid="17411">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17411">
                                            <p:txEl>
                                              <p:pRg st="2" end="2"/>
                                            </p:txEl>
                                          </p:spTgt>
                                        </p:tgtEl>
                                        <p:attrNameLst>
                                          <p:attrName>style.visibility</p:attrName>
                                        </p:attrNameLst>
                                      </p:cBhvr>
                                      <p:to>
                                        <p:strVal val="visible"/>
                                      </p:to>
                                    </p:set>
                                    <p:animEffect transition="in" filter="checkerboard(across)">
                                      <p:cBhvr>
                                        <p:cTn id="29" dur="500"/>
                                        <p:tgtEl>
                                          <p:spTgt spid="17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normAutofit/>
          </a:bodyPr>
          <a:lstStyle/>
          <a:p>
            <a:r>
              <a:rPr lang="en-GB" sz="3600" dirty="0"/>
              <a:t>Generic Scenarios</a:t>
            </a:r>
            <a:endParaRPr lang="en-US" altLang="zh-CN" sz="3600" dirty="0">
              <a:ea typeface="SimSun" pitchFamily="2" charset="-122"/>
            </a:endParaRPr>
          </a:p>
        </p:txBody>
      </p:sp>
      <p:sp>
        <p:nvSpPr>
          <p:cNvPr id="16387" name="Rectangle 3"/>
          <p:cNvSpPr>
            <a:spLocks noGrp="1" noChangeArrowheads="1"/>
          </p:cNvSpPr>
          <p:nvPr>
            <p:ph idx="1"/>
          </p:nvPr>
        </p:nvSpPr>
        <p:spPr>
          <a:xfrm>
            <a:off x="438699" y="993278"/>
            <a:ext cx="8461127" cy="4500614"/>
          </a:xfrm>
          <a:noFill/>
          <a:ln>
            <a:noFill/>
          </a:ln>
        </p:spPr>
        <p:txBody>
          <a:bodyPr/>
          <a:lstStyle/>
          <a:p>
            <a:pPr marL="609600" indent="-609600"/>
            <a:r>
              <a:rPr lang="en-GB" sz="2800" dirty="0"/>
              <a:t>A sequence of events without detailed data</a:t>
            </a:r>
          </a:p>
          <a:p>
            <a:pPr marL="609600" indent="-609600"/>
            <a:r>
              <a:rPr lang="en-GB" sz="2800" dirty="0"/>
              <a:t>Representation of a set of particular instances of similar operations of the system</a:t>
            </a:r>
          </a:p>
          <a:p>
            <a:pPr marL="609600" indent="-609600"/>
            <a:r>
              <a:rPr lang="en-GB" altLang="zh-CN" sz="2800" dirty="0">
                <a:ea typeface="SimSun" pitchFamily="2" charset="-122"/>
              </a:rPr>
              <a:t>Example: </a:t>
            </a:r>
            <a:endParaRPr lang="en-US" altLang="zh-CN" sz="2800" dirty="0">
              <a:ea typeface="SimSun" pitchFamily="2" charset="-122"/>
            </a:endParaRPr>
          </a:p>
        </p:txBody>
      </p:sp>
      <p:sp>
        <p:nvSpPr>
          <p:cNvPr id="23559" name="Text Box 4"/>
          <p:cNvSpPr txBox="1">
            <a:spLocks noChangeArrowheads="1"/>
          </p:cNvSpPr>
          <p:nvPr/>
        </p:nvSpPr>
        <p:spPr bwMode="auto">
          <a:xfrm>
            <a:off x="3067199" y="3212976"/>
            <a:ext cx="3489325" cy="3022600"/>
          </a:xfrm>
          <a:prstGeom prst="rect">
            <a:avLst/>
          </a:prstGeom>
          <a:solidFill>
            <a:schemeClr val="tx1">
              <a:lumMod val="40000"/>
              <a:lumOff val="60000"/>
            </a:schemeClr>
          </a:solidFill>
          <a:ln w="9525" algn="ctr">
            <a:solidFill>
              <a:schemeClr val="tx1"/>
            </a:solidFill>
            <a:miter lim="800000"/>
            <a:headEnd/>
            <a:tailEnd/>
          </a:ln>
        </p:spPr>
        <p:txBody>
          <a:bodyPr>
            <a:spAutoFit/>
          </a:bodyPr>
          <a:lstStyle/>
          <a:p>
            <a:pPr marL="266700" indent="-266700" algn="l">
              <a:spcBef>
                <a:spcPct val="0"/>
              </a:spcBef>
            </a:pPr>
            <a:r>
              <a:rPr lang="en-GB" b="1" dirty="0">
                <a:solidFill>
                  <a:srgbClr val="000066"/>
                </a:solidFill>
              </a:rPr>
              <a:t>Online shopping</a:t>
            </a:r>
          </a:p>
          <a:p>
            <a:pPr marL="266700" indent="-266700" algn="l">
              <a:spcBef>
                <a:spcPct val="0"/>
              </a:spcBef>
              <a:buFontTx/>
              <a:buAutoNum type="arabicPeriod"/>
            </a:pPr>
            <a:r>
              <a:rPr lang="en-GB" dirty="0">
                <a:solidFill>
                  <a:srgbClr val="000066"/>
                </a:solidFill>
              </a:rPr>
              <a:t> </a:t>
            </a:r>
            <a:r>
              <a:rPr lang="en-GB" sz="2400" dirty="0">
                <a:solidFill>
                  <a:srgbClr val="000066"/>
                </a:solidFill>
              </a:rPr>
              <a:t>Go to </a:t>
            </a:r>
            <a:r>
              <a:rPr lang="en-GB" sz="2400" i="1" dirty="0">
                <a:solidFill>
                  <a:srgbClr val="000066"/>
                </a:solidFill>
              </a:rPr>
              <a:t>Website</a:t>
            </a:r>
          </a:p>
          <a:p>
            <a:pPr marL="266700" indent="-266700" algn="l">
              <a:spcBef>
                <a:spcPct val="0"/>
              </a:spcBef>
              <a:buFontTx/>
              <a:buAutoNum type="arabicPeriod"/>
            </a:pPr>
            <a:r>
              <a:rPr lang="en-GB" sz="2400" dirty="0">
                <a:solidFill>
                  <a:srgbClr val="000066"/>
                </a:solidFill>
              </a:rPr>
              <a:t> Browse </a:t>
            </a:r>
            <a:r>
              <a:rPr lang="en-GB" sz="2400" i="1" dirty="0">
                <a:solidFill>
                  <a:srgbClr val="000066"/>
                </a:solidFill>
              </a:rPr>
              <a:t>catalogue</a:t>
            </a:r>
          </a:p>
          <a:p>
            <a:pPr marL="266700" indent="-266700" algn="l">
              <a:spcBef>
                <a:spcPct val="0"/>
              </a:spcBef>
              <a:buFontTx/>
              <a:buAutoNum type="arabicPeriod"/>
            </a:pPr>
            <a:r>
              <a:rPr lang="en-GB" sz="2400" dirty="0">
                <a:solidFill>
                  <a:srgbClr val="000066"/>
                </a:solidFill>
              </a:rPr>
              <a:t> Choose </a:t>
            </a:r>
            <a:r>
              <a:rPr lang="en-GB" sz="2400" i="1" dirty="0">
                <a:solidFill>
                  <a:srgbClr val="000066"/>
                </a:solidFill>
              </a:rPr>
              <a:t>product</a:t>
            </a:r>
          </a:p>
          <a:p>
            <a:pPr marL="266700" indent="-266700" algn="l">
              <a:spcBef>
                <a:spcPct val="0"/>
              </a:spcBef>
              <a:buFontTx/>
              <a:buAutoNum type="arabicPeriod"/>
            </a:pPr>
            <a:r>
              <a:rPr lang="en-GB" sz="2400" dirty="0">
                <a:solidFill>
                  <a:srgbClr val="000066"/>
                </a:solidFill>
              </a:rPr>
              <a:t> Specify</a:t>
            </a:r>
            <a:r>
              <a:rPr lang="en-GB" sz="2400" i="1" dirty="0">
                <a:solidFill>
                  <a:srgbClr val="000066"/>
                </a:solidFill>
              </a:rPr>
              <a:t> quantity</a:t>
            </a:r>
          </a:p>
          <a:p>
            <a:pPr marL="266700" indent="-266700" algn="l">
              <a:spcBef>
                <a:spcPct val="0"/>
              </a:spcBef>
              <a:buFontTx/>
              <a:buAutoNum type="arabicPeriod"/>
            </a:pPr>
            <a:r>
              <a:rPr lang="en-GB" sz="2400" dirty="0">
                <a:solidFill>
                  <a:srgbClr val="000066"/>
                </a:solidFill>
              </a:rPr>
              <a:t> Give </a:t>
            </a:r>
            <a:r>
              <a:rPr lang="en-GB" sz="2400" i="1" dirty="0">
                <a:solidFill>
                  <a:srgbClr val="000066"/>
                </a:solidFill>
              </a:rPr>
              <a:t>delivery address</a:t>
            </a:r>
          </a:p>
          <a:p>
            <a:pPr marL="266700" indent="-266700" algn="l">
              <a:spcBef>
                <a:spcPct val="0"/>
              </a:spcBef>
              <a:buFontTx/>
              <a:buAutoNum type="arabicPeriod"/>
            </a:pPr>
            <a:r>
              <a:rPr lang="en-GB" sz="2400" dirty="0">
                <a:solidFill>
                  <a:srgbClr val="000066"/>
                </a:solidFill>
              </a:rPr>
              <a:t> Give </a:t>
            </a:r>
            <a:r>
              <a:rPr lang="en-GB" sz="2400" i="1" dirty="0">
                <a:solidFill>
                  <a:srgbClr val="000066"/>
                </a:solidFill>
              </a:rPr>
              <a:t>credit card detail</a:t>
            </a:r>
          </a:p>
          <a:p>
            <a:pPr marL="266700" indent="-266700" algn="l">
              <a:spcBef>
                <a:spcPct val="0"/>
              </a:spcBef>
              <a:buFontTx/>
              <a:buAutoNum type="arabicPeriod"/>
            </a:pPr>
            <a:r>
              <a:rPr lang="en-GB" sz="2400" dirty="0">
                <a:solidFill>
                  <a:srgbClr val="000066"/>
                </a:solidFill>
              </a:rPr>
              <a:t> Submit order</a:t>
            </a:r>
            <a:endParaRPr lang="en-US" altLang="zh-CN" sz="2400" dirty="0">
              <a:solidFill>
                <a:schemeClr val="bg1"/>
              </a:solidFill>
            </a:endParaRPr>
          </a:p>
        </p:txBody>
      </p:sp>
      <p:grpSp>
        <p:nvGrpSpPr>
          <p:cNvPr id="2" name="Group 21"/>
          <p:cNvGrpSpPr>
            <a:grpSpLocks/>
          </p:cNvGrpSpPr>
          <p:nvPr/>
        </p:nvGrpSpPr>
        <p:grpSpPr bwMode="auto">
          <a:xfrm>
            <a:off x="5424638" y="3713171"/>
            <a:ext cx="3275014" cy="1743075"/>
            <a:chOff x="1667" y="1459"/>
            <a:chExt cx="2063" cy="1098"/>
          </a:xfrm>
        </p:grpSpPr>
        <p:sp>
          <p:nvSpPr>
            <p:cNvPr id="23570" name="Rectangle 6"/>
            <p:cNvSpPr>
              <a:spLocks noChangeArrowheads="1"/>
            </p:cNvSpPr>
            <p:nvPr/>
          </p:nvSpPr>
          <p:spPr bwMode="auto">
            <a:xfrm>
              <a:off x="2959" y="1533"/>
              <a:ext cx="771" cy="564"/>
            </a:xfrm>
            <a:prstGeom prst="rect">
              <a:avLst/>
            </a:prstGeom>
            <a:solidFill>
              <a:schemeClr val="tx1">
                <a:lumMod val="40000"/>
                <a:lumOff val="60000"/>
              </a:schemeClr>
            </a:solidFill>
            <a:ln w="9525" algn="ctr">
              <a:noFill/>
              <a:miter lim="800000"/>
              <a:headEnd/>
              <a:tailEnd/>
            </a:ln>
          </p:spPr>
          <p:txBody>
            <a:bodyPr wrap="none" anchor="ctr"/>
            <a:lstStyle/>
            <a:p>
              <a:pPr algn="ctr">
                <a:spcBef>
                  <a:spcPct val="0"/>
                </a:spcBef>
              </a:pPr>
              <a:r>
                <a:rPr lang="en-GB" altLang="zh-CN" b="1" dirty="0">
                  <a:solidFill>
                    <a:srgbClr val="0000FF"/>
                  </a:solidFill>
                </a:rPr>
                <a:t>No </a:t>
              </a:r>
            </a:p>
            <a:p>
              <a:pPr algn="ctr">
                <a:spcBef>
                  <a:spcPct val="0"/>
                </a:spcBef>
              </a:pPr>
              <a:r>
                <a:rPr lang="en-GB" altLang="zh-CN" b="1" dirty="0">
                  <a:solidFill>
                    <a:srgbClr val="0000FF"/>
                  </a:solidFill>
                </a:rPr>
                <a:t>specific </a:t>
              </a:r>
            </a:p>
            <a:p>
              <a:pPr algn="ctr">
                <a:spcBef>
                  <a:spcPct val="0"/>
                </a:spcBef>
              </a:pPr>
              <a:r>
                <a:rPr lang="en-GB" altLang="zh-CN" b="1" dirty="0">
                  <a:solidFill>
                    <a:srgbClr val="0000FF"/>
                  </a:solidFill>
                </a:rPr>
                <a:t>data</a:t>
              </a:r>
              <a:endParaRPr lang="en-US" altLang="zh-CN" b="1" dirty="0">
                <a:solidFill>
                  <a:srgbClr val="0000FF"/>
                </a:solidFill>
              </a:endParaRPr>
            </a:p>
          </p:txBody>
        </p:sp>
        <p:sp>
          <p:nvSpPr>
            <p:cNvPr id="23571" name="Line 7"/>
            <p:cNvSpPr>
              <a:spLocks noChangeShapeType="1"/>
            </p:cNvSpPr>
            <p:nvPr/>
          </p:nvSpPr>
          <p:spPr bwMode="auto">
            <a:xfrm flipH="1" flipV="1">
              <a:off x="1667" y="1459"/>
              <a:ext cx="1292" cy="195"/>
            </a:xfrm>
            <a:prstGeom prst="line">
              <a:avLst/>
            </a:prstGeom>
            <a:noFill/>
            <a:ln w="9525">
              <a:solidFill>
                <a:srgbClr val="FF0000"/>
              </a:solidFill>
              <a:round/>
              <a:headEnd/>
              <a:tailEnd type="triangle" w="med" len="med"/>
            </a:ln>
          </p:spPr>
          <p:txBody>
            <a:bodyPr/>
            <a:lstStyle/>
            <a:p>
              <a:endParaRPr lang="en-US">
                <a:solidFill>
                  <a:srgbClr val="0000FF"/>
                </a:solidFill>
              </a:endParaRPr>
            </a:p>
          </p:txBody>
        </p:sp>
        <p:sp>
          <p:nvSpPr>
            <p:cNvPr id="23572" name="Line 8"/>
            <p:cNvSpPr>
              <a:spLocks noChangeShapeType="1"/>
            </p:cNvSpPr>
            <p:nvPr/>
          </p:nvSpPr>
          <p:spPr bwMode="auto">
            <a:xfrm flipH="1" flipV="1">
              <a:off x="2099" y="1684"/>
              <a:ext cx="860" cy="48"/>
            </a:xfrm>
            <a:prstGeom prst="line">
              <a:avLst/>
            </a:prstGeom>
            <a:noFill/>
            <a:ln w="9525">
              <a:solidFill>
                <a:srgbClr val="FF0000"/>
              </a:solidFill>
              <a:round/>
              <a:headEnd/>
              <a:tailEnd type="triangle" w="med" len="med"/>
            </a:ln>
          </p:spPr>
          <p:txBody>
            <a:bodyPr/>
            <a:lstStyle/>
            <a:p>
              <a:endParaRPr lang="en-US">
                <a:solidFill>
                  <a:srgbClr val="0000FF"/>
                </a:solidFill>
              </a:endParaRPr>
            </a:p>
          </p:txBody>
        </p:sp>
        <p:sp>
          <p:nvSpPr>
            <p:cNvPr id="23573" name="Line 9"/>
            <p:cNvSpPr>
              <a:spLocks noChangeShapeType="1"/>
            </p:cNvSpPr>
            <p:nvPr/>
          </p:nvSpPr>
          <p:spPr bwMode="auto">
            <a:xfrm flipH="1">
              <a:off x="1837" y="1833"/>
              <a:ext cx="1122" cy="55"/>
            </a:xfrm>
            <a:prstGeom prst="line">
              <a:avLst/>
            </a:prstGeom>
            <a:noFill/>
            <a:ln w="9525">
              <a:solidFill>
                <a:srgbClr val="FF0000"/>
              </a:solidFill>
              <a:round/>
              <a:headEnd/>
              <a:tailEnd type="triangle" w="med" len="med"/>
            </a:ln>
          </p:spPr>
          <p:txBody>
            <a:bodyPr/>
            <a:lstStyle/>
            <a:p>
              <a:endParaRPr lang="en-US">
                <a:solidFill>
                  <a:srgbClr val="0000FF"/>
                </a:solidFill>
              </a:endParaRPr>
            </a:p>
          </p:txBody>
        </p:sp>
        <p:sp>
          <p:nvSpPr>
            <p:cNvPr id="23574" name="Line 10"/>
            <p:cNvSpPr>
              <a:spLocks noChangeShapeType="1"/>
            </p:cNvSpPr>
            <p:nvPr/>
          </p:nvSpPr>
          <p:spPr bwMode="auto">
            <a:xfrm flipH="1">
              <a:off x="1817" y="1918"/>
              <a:ext cx="1142" cy="242"/>
            </a:xfrm>
            <a:prstGeom prst="line">
              <a:avLst/>
            </a:prstGeom>
            <a:noFill/>
            <a:ln w="9525">
              <a:solidFill>
                <a:srgbClr val="FF0000"/>
              </a:solidFill>
              <a:round/>
              <a:headEnd/>
              <a:tailEnd type="triangle" w="med" len="med"/>
            </a:ln>
          </p:spPr>
          <p:txBody>
            <a:bodyPr/>
            <a:lstStyle/>
            <a:p>
              <a:endParaRPr lang="en-US">
                <a:solidFill>
                  <a:srgbClr val="0000FF"/>
                </a:solidFill>
              </a:endParaRPr>
            </a:p>
          </p:txBody>
        </p:sp>
        <p:sp>
          <p:nvSpPr>
            <p:cNvPr id="23575" name="Line 11"/>
            <p:cNvSpPr>
              <a:spLocks noChangeShapeType="1"/>
            </p:cNvSpPr>
            <p:nvPr/>
          </p:nvSpPr>
          <p:spPr bwMode="auto">
            <a:xfrm flipH="1">
              <a:off x="2244" y="2007"/>
              <a:ext cx="685" cy="316"/>
            </a:xfrm>
            <a:prstGeom prst="line">
              <a:avLst/>
            </a:prstGeom>
            <a:noFill/>
            <a:ln w="9525">
              <a:solidFill>
                <a:srgbClr val="FF0000"/>
              </a:solidFill>
              <a:round/>
              <a:headEnd/>
              <a:tailEnd type="triangle" w="med" len="med"/>
            </a:ln>
          </p:spPr>
          <p:txBody>
            <a:bodyPr/>
            <a:lstStyle/>
            <a:p>
              <a:endParaRPr lang="en-US">
                <a:solidFill>
                  <a:srgbClr val="0000FF"/>
                </a:solidFill>
              </a:endParaRPr>
            </a:p>
          </p:txBody>
        </p:sp>
        <p:sp>
          <p:nvSpPr>
            <p:cNvPr id="23576" name="Line 12"/>
            <p:cNvSpPr>
              <a:spLocks noChangeShapeType="1"/>
            </p:cNvSpPr>
            <p:nvPr/>
          </p:nvSpPr>
          <p:spPr bwMode="auto">
            <a:xfrm flipH="1">
              <a:off x="2274" y="2106"/>
              <a:ext cx="685" cy="451"/>
            </a:xfrm>
            <a:prstGeom prst="line">
              <a:avLst/>
            </a:prstGeom>
            <a:noFill/>
            <a:ln w="9525">
              <a:solidFill>
                <a:srgbClr val="FF0000"/>
              </a:solidFill>
              <a:round/>
              <a:headEnd/>
              <a:tailEnd type="triangle" w="med" len="med"/>
            </a:ln>
          </p:spPr>
          <p:txBody>
            <a:bodyPr/>
            <a:lstStyle/>
            <a:p>
              <a:endParaRPr lang="en-US">
                <a:solidFill>
                  <a:srgbClr val="0000FF"/>
                </a:solidFill>
              </a:endParaRPr>
            </a:p>
          </p:txBody>
        </p:sp>
      </p:grpSp>
      <p:grpSp>
        <p:nvGrpSpPr>
          <p:cNvPr id="3" name="Group 22"/>
          <p:cNvGrpSpPr>
            <a:grpSpLocks/>
          </p:cNvGrpSpPr>
          <p:nvPr/>
        </p:nvGrpSpPr>
        <p:grpSpPr bwMode="auto">
          <a:xfrm>
            <a:off x="1081236" y="3744921"/>
            <a:ext cx="2481263" cy="2046288"/>
            <a:chOff x="-952" y="1479"/>
            <a:chExt cx="1563" cy="1289"/>
          </a:xfrm>
        </p:grpSpPr>
        <p:sp>
          <p:nvSpPr>
            <p:cNvPr id="23562" name="Text Box 13"/>
            <p:cNvSpPr txBox="1">
              <a:spLocks noChangeArrowheads="1"/>
            </p:cNvSpPr>
            <p:nvPr/>
          </p:nvSpPr>
          <p:spPr bwMode="auto">
            <a:xfrm>
              <a:off x="-952" y="1571"/>
              <a:ext cx="771" cy="407"/>
            </a:xfrm>
            <a:prstGeom prst="rect">
              <a:avLst/>
            </a:prstGeom>
            <a:solidFill>
              <a:schemeClr val="tx1">
                <a:lumMod val="40000"/>
                <a:lumOff val="60000"/>
              </a:schemeClr>
            </a:solidFill>
            <a:ln w="9525" algn="ctr">
              <a:noFill/>
              <a:miter lim="800000"/>
              <a:headEnd/>
              <a:tailEnd/>
            </a:ln>
          </p:spPr>
          <p:txBody>
            <a:bodyPr wrap="square">
              <a:spAutoFit/>
            </a:bodyPr>
            <a:lstStyle/>
            <a:p>
              <a:pPr algn="ctr"/>
              <a:r>
                <a:rPr lang="en-GB" altLang="zh-CN" b="1" dirty="0">
                  <a:solidFill>
                    <a:srgbClr val="0000FF"/>
                  </a:solidFill>
                </a:rPr>
                <a:t>Concrete actions</a:t>
              </a:r>
              <a:endParaRPr lang="en-US" altLang="zh-CN" b="1" dirty="0">
                <a:solidFill>
                  <a:srgbClr val="0000FF"/>
                </a:solidFill>
              </a:endParaRPr>
            </a:p>
          </p:txBody>
        </p:sp>
        <p:sp>
          <p:nvSpPr>
            <p:cNvPr id="23563" name="Line 14"/>
            <p:cNvSpPr>
              <a:spLocks noChangeShapeType="1"/>
            </p:cNvSpPr>
            <p:nvPr/>
          </p:nvSpPr>
          <p:spPr bwMode="auto">
            <a:xfrm flipV="1">
              <a:off x="-181" y="1479"/>
              <a:ext cx="741" cy="125"/>
            </a:xfrm>
            <a:prstGeom prst="line">
              <a:avLst/>
            </a:prstGeom>
            <a:noFill/>
            <a:ln w="9525">
              <a:solidFill>
                <a:srgbClr val="FF0000"/>
              </a:solidFill>
              <a:round/>
              <a:headEnd/>
              <a:tailEnd type="triangle" w="med" len="med"/>
            </a:ln>
          </p:spPr>
          <p:txBody>
            <a:bodyPr/>
            <a:lstStyle/>
            <a:p>
              <a:endParaRPr lang="en-US"/>
            </a:p>
          </p:txBody>
        </p:sp>
        <p:sp>
          <p:nvSpPr>
            <p:cNvPr id="23564" name="Line 15"/>
            <p:cNvSpPr>
              <a:spLocks noChangeShapeType="1"/>
            </p:cNvSpPr>
            <p:nvPr/>
          </p:nvSpPr>
          <p:spPr bwMode="auto">
            <a:xfrm flipV="1">
              <a:off x="-181" y="1679"/>
              <a:ext cx="771" cy="0"/>
            </a:xfrm>
            <a:prstGeom prst="line">
              <a:avLst/>
            </a:prstGeom>
            <a:noFill/>
            <a:ln w="9525">
              <a:solidFill>
                <a:srgbClr val="FF0000"/>
              </a:solidFill>
              <a:round/>
              <a:headEnd/>
              <a:tailEnd type="triangle" w="med" len="med"/>
            </a:ln>
          </p:spPr>
          <p:txBody>
            <a:bodyPr/>
            <a:lstStyle/>
            <a:p>
              <a:endParaRPr lang="en-US"/>
            </a:p>
          </p:txBody>
        </p:sp>
        <p:sp>
          <p:nvSpPr>
            <p:cNvPr id="23565" name="Line 16"/>
            <p:cNvSpPr>
              <a:spLocks noChangeShapeType="1"/>
            </p:cNvSpPr>
            <p:nvPr/>
          </p:nvSpPr>
          <p:spPr bwMode="auto">
            <a:xfrm>
              <a:off x="-181" y="1732"/>
              <a:ext cx="741" cy="156"/>
            </a:xfrm>
            <a:prstGeom prst="line">
              <a:avLst/>
            </a:prstGeom>
            <a:noFill/>
            <a:ln w="9525">
              <a:solidFill>
                <a:srgbClr val="FF0000"/>
              </a:solidFill>
              <a:round/>
              <a:headEnd/>
              <a:tailEnd type="triangle" w="med" len="med"/>
            </a:ln>
          </p:spPr>
          <p:txBody>
            <a:bodyPr/>
            <a:lstStyle/>
            <a:p>
              <a:endParaRPr lang="en-US"/>
            </a:p>
          </p:txBody>
        </p:sp>
        <p:sp>
          <p:nvSpPr>
            <p:cNvPr id="23566" name="Line 17"/>
            <p:cNvSpPr>
              <a:spLocks noChangeShapeType="1"/>
            </p:cNvSpPr>
            <p:nvPr/>
          </p:nvSpPr>
          <p:spPr bwMode="auto">
            <a:xfrm>
              <a:off x="-181" y="1808"/>
              <a:ext cx="741" cy="298"/>
            </a:xfrm>
            <a:prstGeom prst="line">
              <a:avLst/>
            </a:prstGeom>
            <a:noFill/>
            <a:ln w="9525">
              <a:solidFill>
                <a:srgbClr val="FF0000"/>
              </a:solidFill>
              <a:round/>
              <a:headEnd/>
              <a:tailEnd type="triangle" w="med" len="med"/>
            </a:ln>
          </p:spPr>
          <p:txBody>
            <a:bodyPr/>
            <a:lstStyle/>
            <a:p>
              <a:endParaRPr lang="en-US"/>
            </a:p>
          </p:txBody>
        </p:sp>
        <p:sp>
          <p:nvSpPr>
            <p:cNvPr id="23567" name="Line 18"/>
            <p:cNvSpPr>
              <a:spLocks noChangeShapeType="1"/>
            </p:cNvSpPr>
            <p:nvPr/>
          </p:nvSpPr>
          <p:spPr bwMode="auto">
            <a:xfrm>
              <a:off x="-181" y="1879"/>
              <a:ext cx="771" cy="444"/>
            </a:xfrm>
            <a:prstGeom prst="line">
              <a:avLst/>
            </a:prstGeom>
            <a:noFill/>
            <a:ln w="9525">
              <a:solidFill>
                <a:srgbClr val="FF0000"/>
              </a:solidFill>
              <a:round/>
              <a:headEnd/>
              <a:tailEnd type="triangle" w="med" len="med"/>
            </a:ln>
          </p:spPr>
          <p:txBody>
            <a:bodyPr/>
            <a:lstStyle/>
            <a:p>
              <a:endParaRPr lang="en-US"/>
            </a:p>
          </p:txBody>
        </p:sp>
        <p:sp>
          <p:nvSpPr>
            <p:cNvPr id="23568" name="Line 19"/>
            <p:cNvSpPr>
              <a:spLocks noChangeShapeType="1"/>
            </p:cNvSpPr>
            <p:nvPr/>
          </p:nvSpPr>
          <p:spPr bwMode="auto">
            <a:xfrm>
              <a:off x="-220" y="1978"/>
              <a:ext cx="831" cy="590"/>
            </a:xfrm>
            <a:prstGeom prst="line">
              <a:avLst/>
            </a:prstGeom>
            <a:noFill/>
            <a:ln w="9525">
              <a:solidFill>
                <a:srgbClr val="FF0000"/>
              </a:solidFill>
              <a:round/>
              <a:headEnd/>
              <a:tailEnd type="triangle" w="med" len="med"/>
            </a:ln>
          </p:spPr>
          <p:txBody>
            <a:bodyPr/>
            <a:lstStyle/>
            <a:p>
              <a:endParaRPr lang="en-US"/>
            </a:p>
          </p:txBody>
        </p:sp>
        <p:sp>
          <p:nvSpPr>
            <p:cNvPr id="23569" name="Line 20"/>
            <p:cNvSpPr>
              <a:spLocks noChangeShapeType="1"/>
            </p:cNvSpPr>
            <p:nvPr/>
          </p:nvSpPr>
          <p:spPr bwMode="auto">
            <a:xfrm>
              <a:off x="-324" y="1978"/>
              <a:ext cx="845" cy="790"/>
            </a:xfrm>
            <a:prstGeom prst="line">
              <a:avLst/>
            </a:prstGeom>
            <a:noFill/>
            <a:ln w="9525">
              <a:solidFill>
                <a:srgbClr val="FF0000"/>
              </a:solidFill>
              <a:round/>
              <a:headEnd/>
              <a:tailEnd type="triangle" w="med" len="med"/>
            </a:ln>
          </p:spPr>
          <p:txBody>
            <a:bodyPr/>
            <a:lstStyle/>
            <a:p>
              <a:endParaRPr lang="en-US"/>
            </a:p>
          </p:txBody>
        </p:sp>
      </p:grpSp>
      <p:sp>
        <p:nvSpPr>
          <p:cNvPr id="6" name="Slide Number Placeholder 5">
            <a:extLst>
              <a:ext uri="{FF2B5EF4-FFF2-40B4-BE49-F238E27FC236}">
                <a16:creationId xmlns:a16="http://schemas.microsoft.com/office/drawing/2014/main" id="{C0E0D68B-031B-6D49-852B-8EF73CB1B6F6}"/>
              </a:ext>
            </a:extLst>
          </p:cNvPr>
          <p:cNvSpPr>
            <a:spLocks noGrp="1"/>
          </p:cNvSpPr>
          <p:nvPr>
            <p:ph type="sldNum" sz="quarter" idx="4"/>
          </p:nvPr>
        </p:nvSpPr>
        <p:spPr/>
        <p:txBody>
          <a:bodyPr/>
          <a:lstStyle/>
          <a:p>
            <a:fld id="{D6255EFE-3ACE-DA4E-80CE-7588690A9A08}" type="slidenum">
              <a:rPr lang="en-GB" smtClean="0"/>
              <a:t>17</a:t>
            </a:fld>
            <a:endParaRPr lang="en-GB"/>
          </a:p>
        </p:txBody>
      </p:sp>
    </p:spTree>
    <p:extLst>
      <p:ext uri="{BB962C8B-B14F-4D97-AF65-F5344CB8AC3E}">
        <p14:creationId xmlns:p14="http://schemas.microsoft.com/office/powerpoint/2010/main" val="2794516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6387">
                                            <p:bg/>
                                          </p:spTgt>
                                        </p:tgtEl>
                                        <p:attrNameLst>
                                          <p:attrName>style.visibility</p:attrName>
                                        </p:attrNameLst>
                                      </p:cBhvr>
                                      <p:to>
                                        <p:strVal val="visible"/>
                                      </p:to>
                                    </p:set>
                                    <p:animEffect transition="in" filter="box(in)">
                                      <p:cBhvr>
                                        <p:cTn id="17" dur="500"/>
                                        <p:tgtEl>
                                          <p:spTgt spid="16387">
                                            <p:bg/>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6387">
                                            <p:txEl>
                                              <p:pRg st="0" end="0"/>
                                            </p:txEl>
                                          </p:spTgt>
                                        </p:tgtEl>
                                        <p:attrNameLst>
                                          <p:attrName>style.visibility</p:attrName>
                                        </p:attrNameLst>
                                      </p:cBhvr>
                                      <p:to>
                                        <p:strVal val="visible"/>
                                      </p:to>
                                    </p:set>
                                    <p:animEffect transition="in" filter="box(in)">
                                      <p:cBhvr>
                                        <p:cTn id="22" dur="500"/>
                                        <p:tgtEl>
                                          <p:spTgt spid="1638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6387">
                                            <p:txEl>
                                              <p:pRg st="1" end="1"/>
                                            </p:txEl>
                                          </p:spTgt>
                                        </p:tgtEl>
                                        <p:attrNameLst>
                                          <p:attrName>style.visibility</p:attrName>
                                        </p:attrNameLst>
                                      </p:cBhvr>
                                      <p:to>
                                        <p:strVal val="visible"/>
                                      </p:to>
                                    </p:set>
                                    <p:animEffect transition="in" filter="box(in)">
                                      <p:cBhvr>
                                        <p:cTn id="27" dur="500"/>
                                        <p:tgtEl>
                                          <p:spTgt spid="1638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6387">
                                            <p:txEl>
                                              <p:pRg st="2" end="2"/>
                                            </p:txEl>
                                          </p:spTgt>
                                        </p:tgtEl>
                                        <p:attrNameLst>
                                          <p:attrName>style.visibility</p:attrName>
                                        </p:attrNameLst>
                                      </p:cBhvr>
                                      <p:to>
                                        <p:strVal val="visible"/>
                                      </p:to>
                                    </p:set>
                                    <p:animEffect transition="in" filter="box(in)">
                                      <p:cBhvr>
                                        <p:cTn id="32" dur="500"/>
                                        <p:tgtEl>
                                          <p:spTgt spid="163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Rectangle 2"/>
          <p:cNvSpPr>
            <a:spLocks noGrp="1" noChangeArrowheads="1"/>
          </p:cNvSpPr>
          <p:nvPr>
            <p:ph type="title"/>
          </p:nvPr>
        </p:nvSpPr>
        <p:spPr/>
        <p:txBody>
          <a:bodyPr>
            <a:normAutofit/>
          </a:bodyPr>
          <a:lstStyle/>
          <a:p>
            <a:r>
              <a:rPr lang="en-GB" sz="3600" dirty="0"/>
              <a:t>Format of Scenario Descriptions</a:t>
            </a:r>
            <a:endParaRPr lang="en-US" altLang="zh-CN" sz="3600" dirty="0">
              <a:ea typeface="SimSun" pitchFamily="2" charset="-122"/>
            </a:endParaRPr>
          </a:p>
        </p:txBody>
      </p:sp>
      <p:graphicFrame>
        <p:nvGraphicFramePr>
          <p:cNvPr id="18462" name="Group 30"/>
          <p:cNvGraphicFramePr>
            <a:graphicFrameLocks noGrp="1"/>
          </p:cNvGraphicFramePr>
          <p:nvPr>
            <p:ph idx="1"/>
            <p:extLst>
              <p:ext uri="{D42A27DB-BD31-4B8C-83A1-F6EECF244321}">
                <p14:modId xmlns:p14="http://schemas.microsoft.com/office/powerpoint/2010/main" val="2600831582"/>
              </p:ext>
            </p:extLst>
          </p:nvPr>
        </p:nvGraphicFramePr>
        <p:xfrm>
          <a:off x="384340" y="1169081"/>
          <a:ext cx="8461375" cy="5120640"/>
        </p:xfrm>
        <a:graphic>
          <a:graphicData uri="http://schemas.openxmlformats.org/drawingml/2006/table">
            <a:tbl>
              <a:tblPr/>
              <a:tblGrid>
                <a:gridCol w="3512925">
                  <a:extLst>
                    <a:ext uri="{9D8B030D-6E8A-4147-A177-3AD203B41FA5}">
                      <a16:colId xmlns:a16="http://schemas.microsoft.com/office/drawing/2014/main" val="20000"/>
                    </a:ext>
                  </a:extLst>
                </a:gridCol>
                <a:gridCol w="4948450">
                  <a:extLst>
                    <a:ext uri="{9D8B030D-6E8A-4147-A177-3AD203B41FA5}">
                      <a16:colId xmlns:a16="http://schemas.microsoft.com/office/drawing/2014/main" val="20001"/>
                    </a:ext>
                  </a:extLst>
                </a:gridCol>
              </a:tblGrid>
              <a:tr h="431800">
                <a:tc gridSpan="2">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r>
                        <a:rPr kumimoji="0" lang="en-GB" sz="2400" b="0" i="0" u="none" strike="noStrike" cap="none" normalizeH="0" baseline="0" dirty="0">
                          <a:ln>
                            <a:noFill/>
                          </a:ln>
                          <a:solidFill>
                            <a:srgbClr val="000066"/>
                          </a:solidFill>
                          <a:effectLst/>
                          <a:latin typeface="Times New Roman" pitchFamily="18" charset="0"/>
                        </a:rPr>
                        <a:t>System/Application: </a:t>
                      </a:r>
                      <a:r>
                        <a:rPr kumimoji="0" lang="en-GB" sz="2400" b="0" i="0" u="none" strike="noStrike" cap="none" normalizeH="0" baseline="0" dirty="0">
                          <a:ln>
                            <a:noFill/>
                          </a:ln>
                          <a:solidFill>
                            <a:srgbClr val="0000FF"/>
                          </a:solidFill>
                          <a:effectLst/>
                          <a:latin typeface="Times New Roman" pitchFamily="18" charset="0"/>
                        </a:rPr>
                        <a:t>Clinic Management Information System</a:t>
                      </a: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31800">
                <a:tc gridSpan="2">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r>
                        <a:rPr kumimoji="0" lang="en-GB" sz="2400" b="0" i="0" u="none" strike="noStrike" cap="none" normalizeH="0" baseline="0" dirty="0">
                          <a:ln>
                            <a:noFill/>
                          </a:ln>
                          <a:solidFill>
                            <a:srgbClr val="000066"/>
                          </a:solidFill>
                          <a:effectLst/>
                          <a:latin typeface="Times New Roman" pitchFamily="18" charset="0"/>
                        </a:rPr>
                        <a:t>Use Case: </a:t>
                      </a:r>
                      <a:r>
                        <a:rPr lang="en-GB" sz="2400" dirty="0">
                          <a:solidFill>
                            <a:srgbClr val="0000FF"/>
                          </a:solidFill>
                        </a:rPr>
                        <a:t>Make appointment at a clinic</a:t>
                      </a:r>
                      <a:endParaRPr kumimoji="0" lang="en-GB" sz="2400" b="0" i="0" u="none" strike="noStrike" cap="none" normalizeH="0" baseline="0" dirty="0">
                        <a:ln>
                          <a:noFill/>
                        </a:ln>
                        <a:solidFill>
                          <a:srgbClr val="000066"/>
                        </a:solidFill>
                        <a:effectLst/>
                        <a:latin typeface="Times New Roman" pitchFamily="18" charset="0"/>
                      </a:endParaRP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hMerge="1">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endParaRPr kumimoji="0" lang="en-GB" sz="2000" b="0" i="0" u="none" strike="noStrike" cap="none" normalizeH="0" baseline="0" dirty="0">
                        <a:ln>
                          <a:noFill/>
                        </a:ln>
                        <a:solidFill>
                          <a:srgbClr val="000066"/>
                        </a:solidFill>
                        <a:effectLst/>
                        <a:latin typeface="Times New Roman" pitchFamily="18" charset="0"/>
                      </a:endParaRPr>
                    </a:p>
                  </a:txBody>
                  <a:tcPr marL="91064" marR="9106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gridSpan="2">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r>
                        <a:rPr kumimoji="0" lang="en-GB" sz="2400" b="0" i="0" u="none" strike="noStrike" cap="none" normalizeH="0" baseline="0" dirty="0">
                          <a:ln>
                            <a:noFill/>
                          </a:ln>
                          <a:solidFill>
                            <a:srgbClr val="000066"/>
                          </a:solidFill>
                          <a:effectLst/>
                          <a:latin typeface="Times New Roman" pitchFamily="18" charset="0"/>
                        </a:rPr>
                        <a:t>Scenario: </a:t>
                      </a:r>
                      <a:r>
                        <a:rPr lang="en-GB" sz="2400" dirty="0">
                          <a:solidFill>
                            <a:srgbClr val="0000FF"/>
                          </a:solidFill>
                        </a:rPr>
                        <a:t>Successfully booked an appointment</a:t>
                      </a:r>
                      <a:endParaRPr lang="en-US" altLang="zh-CN" sz="2400" dirty="0">
                        <a:solidFill>
                          <a:srgbClr val="0000FF"/>
                        </a:solidFill>
                      </a:endParaRP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hMerge="1">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defRPr/>
                      </a:pPr>
                      <a:endParaRPr lang="en-US" altLang="zh-CN" sz="2000" dirty="0">
                        <a:solidFill>
                          <a:srgbClr val="0000FF"/>
                        </a:solidFill>
                      </a:endParaRPr>
                    </a:p>
                  </a:txBody>
                  <a:tcPr marL="91064" marR="9106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rgbClr r="0" g="0" b="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r>
                        <a:rPr kumimoji="0" lang="en-GB" sz="2400" b="0" i="0" u="none" strike="noStrike" cap="none" normalizeH="0" baseline="0" dirty="0">
                          <a:ln>
                            <a:noFill/>
                          </a:ln>
                          <a:solidFill>
                            <a:srgbClr val="000066"/>
                          </a:solidFill>
                          <a:effectLst/>
                          <a:latin typeface="Times New Roman" pitchFamily="18" charset="0"/>
                        </a:rPr>
                        <a:t>Actor: </a:t>
                      </a:r>
                      <a:r>
                        <a:rPr kumimoji="0" lang="en-GB" sz="2400" b="0" i="0" u="none" strike="noStrike" cap="none" normalizeH="0" baseline="0" dirty="0">
                          <a:ln>
                            <a:noFill/>
                          </a:ln>
                          <a:solidFill>
                            <a:srgbClr val="0000FF"/>
                          </a:solidFill>
                          <a:effectLst/>
                          <a:latin typeface="Times New Roman" pitchFamily="18" charset="0"/>
                        </a:rPr>
                        <a:t>Patient</a:t>
                      </a: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r>
                        <a:rPr kumimoji="0" lang="en-GB" sz="2400" b="0" i="0" u="none" strike="noStrike" cap="none" normalizeH="0" baseline="0" dirty="0">
                          <a:ln>
                            <a:noFill/>
                          </a:ln>
                          <a:solidFill>
                            <a:srgbClr val="000066"/>
                          </a:solidFill>
                          <a:effectLst/>
                          <a:latin typeface="Times New Roman" pitchFamily="18" charset="0"/>
                        </a:rPr>
                        <a:t>System</a:t>
                      </a: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6763">
                <a:tc>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r>
                        <a:rPr kumimoji="0" lang="en-US" altLang="zh-CN" sz="2400" b="0" i="0" u="none" strike="noStrike" cap="none" normalizeH="0" baseline="0">
                          <a:ln>
                            <a:noFill/>
                          </a:ln>
                          <a:solidFill>
                            <a:srgbClr val="0000FF"/>
                          </a:solidFill>
                          <a:effectLst/>
                          <a:latin typeface="Times New Roman" pitchFamily="18" charset="0"/>
                          <a:ea typeface="SimSun" pitchFamily="2" charset="-122"/>
                          <a:cs typeface="Times New Roman" pitchFamily="18" charset="0"/>
                        </a:rPr>
                        <a:t>1) Enters their own name and their preferred doctor’s</a:t>
                      </a:r>
                      <a:r>
                        <a:rPr kumimoji="0" lang="en-GB" sz="2400" b="0" i="0" u="none" strike="noStrike" cap="none" normalizeH="0" baseline="0">
                          <a:ln>
                            <a:noFill/>
                          </a:ln>
                          <a:solidFill>
                            <a:srgbClr val="0000FF"/>
                          </a:solidFill>
                          <a:effectLst/>
                          <a:latin typeface="Times New Roman" pitchFamily="18" charset="0"/>
                          <a:ea typeface="SimSun" pitchFamily="2" charset="-122"/>
                          <a:cs typeface="Times New Roman" pitchFamily="18" charset="0"/>
                        </a:rPr>
                        <a:t> name</a:t>
                      </a: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1019175" rtl="0" eaLnBrk="0" fontAlgn="base" latinLnBrk="0" hangingPunct="0">
                        <a:lnSpc>
                          <a:spcPct val="100000"/>
                        </a:lnSpc>
                        <a:spcBef>
                          <a:spcPct val="0"/>
                        </a:spcBef>
                        <a:spcAft>
                          <a:spcPct val="0"/>
                        </a:spcAft>
                        <a:buClrTx/>
                        <a:buSzPct val="80000"/>
                        <a:buFontTx/>
                        <a:buNone/>
                        <a:tabLst/>
                      </a:pPr>
                      <a:r>
                        <a:rPr kumimoji="0" lang="en-US" altLang="zh-CN" sz="2400" b="0" i="0" u="none" strike="noStrike" cap="none" normalizeH="0" baseline="0">
                          <a:ln>
                            <a:noFill/>
                          </a:ln>
                          <a:solidFill>
                            <a:srgbClr val="0000FF"/>
                          </a:solidFill>
                          <a:effectLst/>
                          <a:latin typeface="Times New Roman" pitchFamily="18" charset="0"/>
                          <a:ea typeface="SimSun" pitchFamily="2" charset="-122"/>
                          <a:cs typeface="Times New Roman" pitchFamily="18" charset="0"/>
                        </a:rPr>
                        <a:t>2) After confirming this is a registered patient, displays days the doctor is in the clinic</a:t>
                      </a:r>
                      <a:endParaRPr kumimoji="0" lang="en-GB" sz="2400" b="0" i="0" u="none" strike="noStrike" cap="none" normalizeH="0" baseline="0">
                        <a:ln>
                          <a:noFill/>
                        </a:ln>
                        <a:solidFill>
                          <a:srgbClr val="0000FF"/>
                        </a:solidFill>
                        <a:effectLst/>
                        <a:latin typeface="Times New Roman" pitchFamily="18" charset="0"/>
                        <a:ea typeface="SimSun" pitchFamily="2" charset="-122"/>
                        <a:cs typeface="Times New Roman" pitchFamily="18" charset="0"/>
                      </a:endParaRP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5913">
                <a:tc>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r>
                        <a:rPr kumimoji="0" lang="en-GB" sz="2400" b="0" i="0" u="none" strike="noStrike" cap="none" normalizeH="0" baseline="0">
                          <a:ln>
                            <a:noFill/>
                          </a:ln>
                          <a:solidFill>
                            <a:srgbClr val="0000FF"/>
                          </a:solidFill>
                          <a:effectLst/>
                          <a:latin typeface="Times New Roman" pitchFamily="18" charset="0"/>
                        </a:rPr>
                        <a:t>3) Selects date</a:t>
                      </a: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r>
                        <a:rPr kumimoji="0" lang="en-GB" sz="2400" b="0" i="0" u="none" strike="noStrike" cap="none" normalizeH="0" baseline="0">
                          <a:ln>
                            <a:noFill/>
                          </a:ln>
                          <a:solidFill>
                            <a:srgbClr val="0000FF"/>
                          </a:solidFill>
                          <a:effectLst/>
                          <a:latin typeface="Times New Roman" pitchFamily="18" charset="0"/>
                        </a:rPr>
                        <a:t>4) Displays available appointment</a:t>
                      </a: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2288">
                <a:tc>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r>
                        <a:rPr kumimoji="0" lang="en-GB" sz="2400" b="0" i="0" u="none" strike="noStrike" cap="none" normalizeH="0" baseline="0">
                          <a:ln>
                            <a:noFill/>
                          </a:ln>
                          <a:solidFill>
                            <a:srgbClr val="0000FF"/>
                          </a:solidFill>
                          <a:effectLst/>
                          <a:latin typeface="Times New Roman" pitchFamily="18" charset="0"/>
                        </a:rPr>
                        <a:t>5) Selects preferred time</a:t>
                      </a: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r>
                        <a:rPr kumimoji="0" lang="en-GB" sz="2400" b="0" i="0" u="none" strike="noStrike" cap="none" normalizeH="0" baseline="0" dirty="0">
                          <a:ln>
                            <a:noFill/>
                          </a:ln>
                          <a:solidFill>
                            <a:srgbClr val="0000FF"/>
                          </a:solidFill>
                          <a:effectLst/>
                          <a:latin typeface="Times New Roman" pitchFamily="18" charset="0"/>
                        </a:rPr>
                        <a:t>6) Confirms appointment and displays information about parking </a:t>
                      </a:r>
                      <a:r>
                        <a:rPr kumimoji="0" lang="en-GB" sz="2400" b="0" i="0" u="none" strike="noStrike" cap="none" normalizeH="0" baseline="0" dirty="0" err="1">
                          <a:ln>
                            <a:noFill/>
                          </a:ln>
                          <a:solidFill>
                            <a:srgbClr val="0000FF"/>
                          </a:solidFill>
                          <a:effectLst/>
                          <a:latin typeface="Times New Roman" pitchFamily="18" charset="0"/>
                        </a:rPr>
                        <a:t>etc</a:t>
                      </a:r>
                      <a:endParaRPr kumimoji="0" lang="en-GB" sz="2400" b="0" i="0" u="none" strike="noStrike" cap="none" normalizeH="0" baseline="0" dirty="0">
                        <a:ln>
                          <a:noFill/>
                        </a:ln>
                        <a:solidFill>
                          <a:srgbClr val="0000FF"/>
                        </a:solidFill>
                        <a:effectLst/>
                        <a:latin typeface="Times New Roman" pitchFamily="18" charset="0"/>
                      </a:endParaRP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22300">
                <a:tc>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r>
                        <a:rPr kumimoji="0" lang="en-GB" sz="2400" b="0" i="0" u="none" strike="noStrike" cap="none" normalizeH="0" baseline="0" dirty="0">
                          <a:ln>
                            <a:noFill/>
                          </a:ln>
                          <a:solidFill>
                            <a:srgbClr val="0000FF"/>
                          </a:solidFill>
                          <a:effectLst/>
                          <a:latin typeface="Times New Roman" pitchFamily="18" charset="0"/>
                        </a:rPr>
                        <a:t>7) Confirms acceptance of appointment</a:t>
                      </a: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1019175" rtl="0" eaLnBrk="0" fontAlgn="base" latinLnBrk="0" hangingPunct="0">
                        <a:lnSpc>
                          <a:spcPct val="100000"/>
                        </a:lnSpc>
                        <a:spcBef>
                          <a:spcPct val="20000"/>
                        </a:spcBef>
                        <a:spcAft>
                          <a:spcPct val="0"/>
                        </a:spcAft>
                        <a:buClrTx/>
                        <a:buSzPct val="80000"/>
                        <a:buFont typeface="Wingdings" pitchFamily="2" charset="2"/>
                        <a:buNone/>
                        <a:tabLst/>
                      </a:pPr>
                      <a:endParaRPr kumimoji="0" lang="en-GB" sz="2400" b="0" i="0" u="none" strike="noStrike" cap="none" normalizeH="0" baseline="0" dirty="0">
                        <a:ln>
                          <a:noFill/>
                        </a:ln>
                        <a:solidFill>
                          <a:srgbClr val="000066"/>
                        </a:solidFill>
                        <a:effectLst/>
                        <a:latin typeface="Times New Roman" pitchFamily="18" charset="0"/>
                      </a:endParaRPr>
                    </a:p>
                  </a:txBody>
                  <a:tcPr marL="91064" marR="91064"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4" name="Slide Number Placeholder 3">
            <a:extLst>
              <a:ext uri="{FF2B5EF4-FFF2-40B4-BE49-F238E27FC236}">
                <a16:creationId xmlns:a16="http://schemas.microsoft.com/office/drawing/2014/main" id="{B8215D9E-FC6F-D846-8965-7C95C7B35ED6}"/>
              </a:ext>
            </a:extLst>
          </p:cNvPr>
          <p:cNvSpPr>
            <a:spLocks noGrp="1"/>
          </p:cNvSpPr>
          <p:nvPr>
            <p:ph type="sldNum" sz="quarter" idx="4"/>
          </p:nvPr>
        </p:nvSpPr>
        <p:spPr/>
        <p:txBody>
          <a:bodyPr/>
          <a:lstStyle/>
          <a:p>
            <a:fld id="{D6255EFE-3ACE-DA4E-80CE-7588690A9A08}" type="slidenum">
              <a:rPr lang="en-GB" smtClean="0"/>
              <a:t>18</a:t>
            </a:fld>
            <a:endParaRPr lang="en-GB"/>
          </a:p>
        </p:txBody>
      </p:sp>
    </p:spTree>
    <p:extLst>
      <p:ext uri="{BB962C8B-B14F-4D97-AF65-F5344CB8AC3E}">
        <p14:creationId xmlns:p14="http://schemas.microsoft.com/office/powerpoint/2010/main" val="2523671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3"/>
          <p:cNvSpPr>
            <a:spLocks noGrp="1" noChangeArrowheads="1"/>
          </p:cNvSpPr>
          <p:nvPr>
            <p:ph type="title"/>
          </p:nvPr>
        </p:nvSpPr>
        <p:spPr/>
        <p:txBody>
          <a:bodyPr>
            <a:normAutofit/>
          </a:bodyPr>
          <a:lstStyle/>
          <a:p>
            <a:r>
              <a:rPr lang="en-AU" sz="3600" dirty="0"/>
              <a:t>UML Use Case Models </a:t>
            </a:r>
          </a:p>
        </p:txBody>
      </p:sp>
      <p:sp>
        <p:nvSpPr>
          <p:cNvPr id="28678" name="Rectangle 4"/>
          <p:cNvSpPr>
            <a:spLocks noGrp="1" noChangeArrowheads="1"/>
          </p:cNvSpPr>
          <p:nvPr>
            <p:ph sz="half" idx="1"/>
          </p:nvPr>
        </p:nvSpPr>
        <p:spPr>
          <a:xfrm>
            <a:off x="377825" y="927100"/>
            <a:ext cx="8555433" cy="1941463"/>
          </a:xfrm>
        </p:spPr>
        <p:txBody>
          <a:bodyPr>
            <a:normAutofit/>
          </a:bodyPr>
          <a:lstStyle/>
          <a:p>
            <a:pPr marL="457200" indent="-457200">
              <a:buFont typeface="Wingdings" charset="2"/>
              <a:buChar char="v"/>
            </a:pPr>
            <a:r>
              <a:rPr lang="en-AU" sz="2600" b="0" dirty="0"/>
              <a:t>Contains actors, use cases and relationships between them</a:t>
            </a:r>
          </a:p>
          <a:p>
            <a:pPr marL="457200" indent="-457200">
              <a:buFont typeface="Wingdings" charset="2"/>
              <a:buChar char="v"/>
            </a:pPr>
            <a:r>
              <a:rPr lang="en-AU" sz="2600" b="0" dirty="0"/>
              <a:t>Describes the functional operations (or the requirements) of a software system through use cases</a:t>
            </a:r>
          </a:p>
        </p:txBody>
      </p:sp>
      <p:pic>
        <p:nvPicPr>
          <p:cNvPr id="28679" name="Picture 10"/>
          <p:cNvPicPr>
            <a:picLocks noChangeAspect="1" noChangeArrowheads="1"/>
          </p:cNvPicPr>
          <p:nvPr/>
        </p:nvPicPr>
        <p:blipFill>
          <a:blip r:embed="rId3" cstate="print"/>
          <a:srcRect l="5566" t="5208" r="2899" b="4201"/>
          <a:stretch>
            <a:fillRect/>
          </a:stretch>
        </p:blipFill>
        <p:spPr bwMode="auto">
          <a:xfrm>
            <a:off x="264533" y="2870627"/>
            <a:ext cx="8503434" cy="3589113"/>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F01B196A-FF8B-7545-989E-87345886C0E1}"/>
              </a:ext>
            </a:extLst>
          </p:cNvPr>
          <p:cNvSpPr>
            <a:spLocks noGrp="1"/>
          </p:cNvSpPr>
          <p:nvPr>
            <p:ph type="sldNum" sz="quarter" idx="4"/>
          </p:nvPr>
        </p:nvSpPr>
        <p:spPr/>
        <p:txBody>
          <a:bodyPr/>
          <a:lstStyle/>
          <a:p>
            <a:fld id="{D6255EFE-3ACE-DA4E-80CE-7588690A9A08}" type="slidenum">
              <a:rPr lang="en-GB" smtClean="0"/>
              <a:t>19</a:t>
            </a:fld>
            <a:endParaRPr lang="en-GB"/>
          </a:p>
        </p:txBody>
      </p:sp>
    </p:spTree>
    <p:extLst>
      <p:ext uri="{BB962C8B-B14F-4D97-AF65-F5344CB8AC3E}">
        <p14:creationId xmlns:p14="http://schemas.microsoft.com/office/powerpoint/2010/main" val="1263497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ChangeArrowheads="1"/>
          </p:cNvSpPr>
          <p:nvPr>
            <p:ph type="title"/>
          </p:nvPr>
        </p:nvSpPr>
        <p:spPr>
          <a:xfrm>
            <a:off x="395536" y="188641"/>
            <a:ext cx="8461127" cy="737062"/>
          </a:xfrm>
          <a:solidFill>
            <a:srgbClr val="EEFAB9"/>
          </a:solidFill>
        </p:spPr>
        <p:txBody>
          <a:bodyPr>
            <a:normAutofit/>
          </a:bodyPr>
          <a:lstStyle/>
          <a:p>
            <a:r>
              <a:rPr lang="en-US" altLang="en-US" sz="3600" dirty="0"/>
              <a:t>UML Use Case Diagram Notation </a:t>
            </a:r>
          </a:p>
        </p:txBody>
      </p:sp>
      <p:sp>
        <p:nvSpPr>
          <p:cNvPr id="30726" name="Rectangle 3"/>
          <p:cNvSpPr>
            <a:spLocks noGrp="1" noChangeArrowheads="1"/>
          </p:cNvSpPr>
          <p:nvPr>
            <p:ph idx="1"/>
          </p:nvPr>
        </p:nvSpPr>
        <p:spPr>
          <a:xfrm>
            <a:off x="2824485" y="844149"/>
            <a:ext cx="6032177" cy="5785162"/>
          </a:xfrm>
        </p:spPr>
        <p:txBody>
          <a:bodyPr>
            <a:noAutofit/>
          </a:bodyPr>
          <a:lstStyle/>
          <a:p>
            <a:pPr marL="355600" indent="-355600">
              <a:lnSpc>
                <a:spcPct val="90000"/>
              </a:lnSpc>
              <a:spcBef>
                <a:spcPts val="900"/>
              </a:spcBef>
            </a:pPr>
            <a:r>
              <a:rPr lang="en-US" altLang="en-US" b="1" i="1" dirty="0"/>
              <a:t>Actors</a:t>
            </a:r>
            <a:r>
              <a:rPr lang="en-US" altLang="en-US" b="0" dirty="0"/>
              <a:t> represent roles, that is, a type of user of the system and the environment</a:t>
            </a:r>
          </a:p>
          <a:p>
            <a:pPr marL="355600" indent="-355600">
              <a:lnSpc>
                <a:spcPct val="90000"/>
              </a:lnSpc>
              <a:spcBef>
                <a:spcPts val="900"/>
              </a:spcBef>
            </a:pPr>
            <a:r>
              <a:rPr lang="en-US" altLang="en-US" b="1" i="1" dirty="0"/>
              <a:t>Use cases</a:t>
            </a:r>
            <a:r>
              <a:rPr lang="en-US" altLang="en-US" b="1" dirty="0"/>
              <a:t> </a:t>
            </a:r>
            <a:r>
              <a:rPr lang="en-US" altLang="en-US" b="0" dirty="0"/>
              <a:t>represent a sequence of interactions for a type of usage </a:t>
            </a:r>
          </a:p>
          <a:p>
            <a:pPr marL="355600" indent="-355600">
              <a:lnSpc>
                <a:spcPct val="90000"/>
              </a:lnSpc>
              <a:spcBef>
                <a:spcPts val="900"/>
              </a:spcBef>
            </a:pPr>
            <a:r>
              <a:rPr lang="en-GB" altLang="en-US" b="1" i="1" dirty="0"/>
              <a:t>Use</a:t>
            </a:r>
            <a:r>
              <a:rPr lang="en-US" altLang="en-US" b="1" i="1" dirty="0"/>
              <a:t>s</a:t>
            </a:r>
            <a:r>
              <a:rPr lang="en-US" altLang="en-US" b="0" dirty="0"/>
              <a:t> relations represent that the actor uses the system in this use case, i.e. there are the interactions between the actors and the system in the use case</a:t>
            </a:r>
          </a:p>
          <a:p>
            <a:pPr marL="355600" indent="-355600">
              <a:lnSpc>
                <a:spcPct val="90000"/>
              </a:lnSpc>
              <a:spcBef>
                <a:spcPts val="900"/>
              </a:spcBef>
            </a:pPr>
            <a:r>
              <a:rPr lang="en-GB" altLang="en-US" b="1" i="1" dirty="0"/>
              <a:t>Include and Extend Relationships</a:t>
            </a:r>
            <a:r>
              <a:rPr lang="en-GB" altLang="en-US" b="0" dirty="0"/>
              <a:t> between use cases represent how use cases are interrelated with each other</a:t>
            </a:r>
            <a:endParaRPr lang="en-US" altLang="en-US" b="0" dirty="0"/>
          </a:p>
          <a:p>
            <a:pPr marL="355600" indent="-355600">
              <a:lnSpc>
                <a:spcPct val="90000"/>
              </a:lnSpc>
              <a:spcBef>
                <a:spcPts val="900"/>
              </a:spcBef>
            </a:pPr>
            <a:r>
              <a:rPr lang="en-US" altLang="en-US" b="1" i="1" dirty="0"/>
              <a:t>Scope box</a:t>
            </a:r>
            <a:r>
              <a:rPr lang="en-US" altLang="en-US" b="1" dirty="0"/>
              <a:t> </a:t>
            </a:r>
            <a:r>
              <a:rPr lang="en-US" altLang="en-US" b="0" dirty="0"/>
              <a:t>defines the scope of the system by indicating that a subset of use cases (included in the box) are to be implemented</a:t>
            </a:r>
          </a:p>
        </p:txBody>
      </p:sp>
      <p:grpSp>
        <p:nvGrpSpPr>
          <p:cNvPr id="30727" name="Group 4"/>
          <p:cNvGrpSpPr>
            <a:grpSpLocks/>
          </p:cNvGrpSpPr>
          <p:nvPr/>
        </p:nvGrpSpPr>
        <p:grpSpPr bwMode="auto">
          <a:xfrm>
            <a:off x="806108" y="833831"/>
            <a:ext cx="1246504" cy="990741"/>
            <a:chOff x="517" y="1105"/>
            <a:chExt cx="1262" cy="1146"/>
          </a:xfrm>
        </p:grpSpPr>
        <p:grpSp>
          <p:nvGrpSpPr>
            <p:cNvPr id="30737" name="Group 5"/>
            <p:cNvGrpSpPr>
              <a:grpSpLocks/>
            </p:cNvGrpSpPr>
            <p:nvPr/>
          </p:nvGrpSpPr>
          <p:grpSpPr bwMode="auto">
            <a:xfrm>
              <a:off x="825" y="1105"/>
              <a:ext cx="445" cy="783"/>
              <a:chOff x="659" y="1833"/>
              <a:chExt cx="299" cy="526"/>
            </a:xfrm>
          </p:grpSpPr>
          <p:sp>
            <p:nvSpPr>
              <p:cNvPr id="30739" name="Freeform 6"/>
              <p:cNvSpPr>
                <a:spLocks/>
              </p:cNvSpPr>
              <p:nvPr/>
            </p:nvSpPr>
            <p:spPr bwMode="auto">
              <a:xfrm>
                <a:off x="659" y="1941"/>
                <a:ext cx="143" cy="418"/>
              </a:xfrm>
              <a:custGeom>
                <a:avLst/>
                <a:gdLst>
                  <a:gd name="T0" fmla="*/ 143 w 143"/>
                  <a:gd name="T1" fmla="*/ 0 h 418"/>
                  <a:gd name="T2" fmla="*/ 143 w 143"/>
                  <a:gd name="T3" fmla="*/ 263 h 418"/>
                  <a:gd name="T4" fmla="*/ 0 w 143"/>
                  <a:gd name="T5" fmla="*/ 418 h 418"/>
                  <a:gd name="T6" fmla="*/ 0 60000 65536"/>
                  <a:gd name="T7" fmla="*/ 0 60000 65536"/>
                  <a:gd name="T8" fmla="*/ 0 60000 65536"/>
                  <a:gd name="T9" fmla="*/ 0 w 143"/>
                  <a:gd name="T10" fmla="*/ 0 h 418"/>
                  <a:gd name="T11" fmla="*/ 143 w 143"/>
                  <a:gd name="T12" fmla="*/ 418 h 418"/>
                </a:gdLst>
                <a:ahLst/>
                <a:cxnLst>
                  <a:cxn ang="T6">
                    <a:pos x="T0" y="T1"/>
                  </a:cxn>
                  <a:cxn ang="T7">
                    <a:pos x="T2" y="T3"/>
                  </a:cxn>
                  <a:cxn ang="T8">
                    <a:pos x="T4" y="T5"/>
                  </a:cxn>
                </a:cxnLst>
                <a:rect l="T9" t="T10" r="T11" b="T12"/>
                <a:pathLst>
                  <a:path w="143" h="418">
                    <a:moveTo>
                      <a:pt x="143" y="0"/>
                    </a:moveTo>
                    <a:lnTo>
                      <a:pt x="143" y="263"/>
                    </a:lnTo>
                    <a:lnTo>
                      <a:pt x="0" y="418"/>
                    </a:lnTo>
                  </a:path>
                </a:pathLst>
              </a:custGeom>
              <a:noFill/>
              <a:ln w="19050">
                <a:solidFill>
                  <a:srgbClr val="000000"/>
                </a:solidFill>
                <a:prstDash val="solid"/>
                <a:round/>
                <a:headEnd/>
                <a:tailEnd/>
              </a:ln>
            </p:spPr>
            <p:txBody>
              <a:bodyPr/>
              <a:lstStyle/>
              <a:p>
                <a:endParaRPr lang="en-US"/>
              </a:p>
            </p:txBody>
          </p:sp>
          <p:sp>
            <p:nvSpPr>
              <p:cNvPr id="30740" name="Line 7"/>
              <p:cNvSpPr>
                <a:spLocks noChangeShapeType="1"/>
              </p:cNvSpPr>
              <p:nvPr/>
            </p:nvSpPr>
            <p:spPr bwMode="auto">
              <a:xfrm>
                <a:off x="802" y="2204"/>
                <a:ext cx="156" cy="155"/>
              </a:xfrm>
              <a:prstGeom prst="line">
                <a:avLst/>
              </a:prstGeom>
              <a:noFill/>
              <a:ln w="19050">
                <a:solidFill>
                  <a:srgbClr val="000000"/>
                </a:solidFill>
                <a:round/>
                <a:headEnd/>
                <a:tailEnd/>
              </a:ln>
            </p:spPr>
            <p:txBody>
              <a:bodyPr/>
              <a:lstStyle/>
              <a:p>
                <a:endParaRPr lang="en-US"/>
              </a:p>
            </p:txBody>
          </p:sp>
          <p:sp>
            <p:nvSpPr>
              <p:cNvPr id="30741" name="Line 8"/>
              <p:cNvSpPr>
                <a:spLocks noChangeShapeType="1"/>
              </p:cNvSpPr>
              <p:nvPr/>
            </p:nvSpPr>
            <p:spPr bwMode="auto">
              <a:xfrm>
                <a:off x="659" y="2060"/>
                <a:ext cx="299" cy="1"/>
              </a:xfrm>
              <a:prstGeom prst="line">
                <a:avLst/>
              </a:prstGeom>
              <a:noFill/>
              <a:ln w="19050">
                <a:solidFill>
                  <a:srgbClr val="000000"/>
                </a:solidFill>
                <a:round/>
                <a:headEnd/>
                <a:tailEnd/>
              </a:ln>
            </p:spPr>
            <p:txBody>
              <a:bodyPr/>
              <a:lstStyle/>
              <a:p>
                <a:endParaRPr lang="en-US"/>
              </a:p>
            </p:txBody>
          </p:sp>
          <p:sp>
            <p:nvSpPr>
              <p:cNvPr id="30742" name="Oval 9"/>
              <p:cNvSpPr>
                <a:spLocks noChangeArrowheads="1"/>
              </p:cNvSpPr>
              <p:nvPr/>
            </p:nvSpPr>
            <p:spPr bwMode="auto">
              <a:xfrm>
                <a:off x="731" y="1833"/>
                <a:ext cx="155" cy="156"/>
              </a:xfrm>
              <a:prstGeom prst="ellipse">
                <a:avLst/>
              </a:prstGeom>
              <a:solidFill>
                <a:srgbClr val="FFFFFF"/>
              </a:solidFill>
              <a:ln w="19050">
                <a:solidFill>
                  <a:srgbClr val="000000"/>
                </a:solidFill>
                <a:round/>
                <a:headEnd/>
                <a:tailEnd/>
              </a:ln>
            </p:spPr>
            <p:txBody>
              <a:bodyPr/>
              <a:lstStyle/>
              <a:p>
                <a:endParaRPr lang="en-US"/>
              </a:p>
            </p:txBody>
          </p:sp>
        </p:grpSp>
        <p:sp>
          <p:nvSpPr>
            <p:cNvPr id="30738" name="Rectangle 10"/>
            <p:cNvSpPr>
              <a:spLocks noChangeArrowheads="1"/>
            </p:cNvSpPr>
            <p:nvPr/>
          </p:nvSpPr>
          <p:spPr bwMode="auto">
            <a:xfrm>
              <a:off x="517" y="1931"/>
              <a:ext cx="1262" cy="320"/>
            </a:xfrm>
            <a:prstGeom prst="rect">
              <a:avLst/>
            </a:prstGeom>
            <a:noFill/>
            <a:ln w="9525">
              <a:noFill/>
              <a:miter lim="800000"/>
              <a:headEnd/>
              <a:tailEnd/>
            </a:ln>
          </p:spPr>
          <p:txBody>
            <a:bodyPr wrap="none" lIns="0" tIns="0" rIns="0" bIns="0">
              <a:spAutoFit/>
            </a:bodyPr>
            <a:lstStyle/>
            <a:p>
              <a:pPr algn="l">
                <a:spcBef>
                  <a:spcPct val="0"/>
                </a:spcBef>
              </a:pPr>
              <a:r>
                <a:rPr lang="en-US" altLang="en-US" sz="1800" b="1" dirty="0" err="1">
                  <a:solidFill>
                    <a:srgbClr val="000000"/>
                  </a:solidFill>
                  <a:latin typeface="Courier New" pitchFamily="49" charset="0"/>
                </a:rPr>
                <a:t>actorName</a:t>
              </a:r>
              <a:endParaRPr lang="en-US" altLang="en-US" sz="1800" dirty="0">
                <a:latin typeface="Helvetica" charset="0"/>
              </a:endParaRPr>
            </a:p>
          </p:txBody>
        </p:sp>
      </p:grpSp>
      <p:grpSp>
        <p:nvGrpSpPr>
          <p:cNvPr id="30728" name="Group 17"/>
          <p:cNvGrpSpPr>
            <a:grpSpLocks/>
          </p:cNvGrpSpPr>
          <p:nvPr/>
        </p:nvGrpSpPr>
        <p:grpSpPr bwMode="auto">
          <a:xfrm>
            <a:off x="639000" y="2024831"/>
            <a:ext cx="1619250" cy="712787"/>
            <a:chOff x="336" y="2440"/>
            <a:chExt cx="1014" cy="557"/>
          </a:xfrm>
        </p:grpSpPr>
        <p:sp>
          <p:nvSpPr>
            <p:cNvPr id="30735" name="Oval 12"/>
            <p:cNvSpPr>
              <a:spLocks noChangeArrowheads="1"/>
            </p:cNvSpPr>
            <p:nvPr/>
          </p:nvSpPr>
          <p:spPr bwMode="auto">
            <a:xfrm>
              <a:off x="336" y="2440"/>
              <a:ext cx="1014" cy="557"/>
            </a:xfrm>
            <a:prstGeom prst="ellipse">
              <a:avLst/>
            </a:prstGeom>
            <a:noFill/>
            <a:ln w="19050">
              <a:solidFill>
                <a:srgbClr val="000000"/>
              </a:solidFill>
              <a:round/>
              <a:headEnd/>
              <a:tailEnd/>
            </a:ln>
          </p:spPr>
          <p:txBody>
            <a:bodyPr/>
            <a:lstStyle/>
            <a:p>
              <a:endParaRPr lang="en-US"/>
            </a:p>
          </p:txBody>
        </p:sp>
        <p:sp>
          <p:nvSpPr>
            <p:cNvPr id="30736" name="Rectangle 13"/>
            <p:cNvSpPr>
              <a:spLocks noChangeArrowheads="1"/>
            </p:cNvSpPr>
            <p:nvPr/>
          </p:nvSpPr>
          <p:spPr bwMode="auto">
            <a:xfrm>
              <a:off x="508" y="2511"/>
              <a:ext cx="688" cy="433"/>
            </a:xfrm>
            <a:prstGeom prst="rect">
              <a:avLst/>
            </a:prstGeom>
            <a:noFill/>
            <a:ln w="9525">
              <a:noFill/>
              <a:miter lim="800000"/>
              <a:headEnd/>
              <a:tailEnd/>
            </a:ln>
          </p:spPr>
          <p:txBody>
            <a:bodyPr lIns="0" tIns="0" rIns="0" bIns="0">
              <a:spAutoFit/>
            </a:bodyPr>
            <a:lstStyle/>
            <a:p>
              <a:pPr algn="ctr">
                <a:spcBef>
                  <a:spcPct val="0"/>
                </a:spcBef>
              </a:pPr>
              <a:r>
                <a:rPr lang="en-US" altLang="en-US" sz="1800" b="1" dirty="0" err="1">
                  <a:solidFill>
                    <a:srgbClr val="000000"/>
                  </a:solidFill>
                  <a:latin typeface="Courier New" pitchFamily="49" charset="0"/>
                </a:rPr>
                <a:t>useCase</a:t>
              </a:r>
              <a:r>
                <a:rPr lang="en-US" altLang="en-US" sz="1800" b="1" dirty="0">
                  <a:solidFill>
                    <a:srgbClr val="000000"/>
                  </a:solidFill>
                  <a:latin typeface="Courier New" pitchFamily="49" charset="0"/>
                </a:rPr>
                <a:t> Name</a:t>
              </a:r>
              <a:endParaRPr lang="en-US" altLang="en-US" sz="1800" dirty="0">
                <a:latin typeface="Helvetica" charset="0"/>
              </a:endParaRPr>
            </a:p>
          </p:txBody>
        </p:sp>
      </p:grpSp>
      <p:sp>
        <p:nvSpPr>
          <p:cNvPr id="30729" name="Line 14"/>
          <p:cNvSpPr>
            <a:spLocks noChangeShapeType="1"/>
          </p:cNvSpPr>
          <p:nvPr/>
        </p:nvSpPr>
        <p:spPr bwMode="auto">
          <a:xfrm flipH="1">
            <a:off x="833438" y="3120470"/>
            <a:ext cx="1258887" cy="4763"/>
          </a:xfrm>
          <a:prstGeom prst="line">
            <a:avLst/>
          </a:prstGeom>
          <a:noFill/>
          <a:ln w="19050">
            <a:solidFill>
              <a:srgbClr val="000000"/>
            </a:solidFill>
            <a:round/>
            <a:headEnd/>
            <a:tailEnd/>
          </a:ln>
        </p:spPr>
        <p:txBody>
          <a:bodyPr/>
          <a:lstStyle/>
          <a:p>
            <a:endParaRPr lang="en-US"/>
          </a:p>
        </p:txBody>
      </p:sp>
      <p:sp>
        <p:nvSpPr>
          <p:cNvPr id="30730" name="Line 22"/>
          <p:cNvSpPr>
            <a:spLocks noChangeShapeType="1"/>
          </p:cNvSpPr>
          <p:nvPr/>
        </p:nvSpPr>
        <p:spPr bwMode="auto">
          <a:xfrm>
            <a:off x="661988" y="4038600"/>
            <a:ext cx="1657350" cy="0"/>
          </a:xfrm>
          <a:prstGeom prst="line">
            <a:avLst/>
          </a:prstGeom>
          <a:noFill/>
          <a:ln w="12700">
            <a:solidFill>
              <a:schemeClr val="bg2"/>
            </a:solidFill>
            <a:round/>
            <a:headEnd/>
            <a:tailEnd type="arrow" w="lg" len="lg"/>
          </a:ln>
        </p:spPr>
        <p:txBody>
          <a:bodyPr>
            <a:spAutoFit/>
          </a:bodyPr>
          <a:lstStyle/>
          <a:p>
            <a:endParaRPr lang="en-US"/>
          </a:p>
        </p:txBody>
      </p:sp>
      <p:sp>
        <p:nvSpPr>
          <p:cNvPr id="30731" name="Text Box 23"/>
          <p:cNvSpPr txBox="1">
            <a:spLocks noChangeArrowheads="1"/>
          </p:cNvSpPr>
          <p:nvPr/>
        </p:nvSpPr>
        <p:spPr bwMode="auto">
          <a:xfrm>
            <a:off x="544513" y="3552548"/>
            <a:ext cx="1819275" cy="400110"/>
          </a:xfrm>
          <a:prstGeom prst="rect">
            <a:avLst/>
          </a:prstGeom>
          <a:noFill/>
          <a:ln w="12700" algn="ctr">
            <a:noFill/>
            <a:miter lim="800000"/>
            <a:headEnd/>
            <a:tailEnd type="none" w="lg" len="lg"/>
          </a:ln>
        </p:spPr>
        <p:txBody>
          <a:bodyPr>
            <a:spAutoFit/>
          </a:bodyPr>
          <a:lstStyle/>
          <a:p>
            <a:r>
              <a:rPr lang="en-GB" altLang="zh-CN" sz="2000" dirty="0">
                <a:solidFill>
                  <a:schemeClr val="bg2"/>
                </a:solidFill>
              </a:rPr>
              <a:t>&lt;&lt;extend&gt;&gt;</a:t>
            </a:r>
            <a:endParaRPr lang="en-US" altLang="zh-CN" sz="2000" dirty="0">
              <a:solidFill>
                <a:schemeClr val="bg2"/>
              </a:solidFill>
            </a:endParaRPr>
          </a:p>
        </p:txBody>
      </p:sp>
      <p:sp>
        <p:nvSpPr>
          <p:cNvPr id="30732" name="Rectangle 24"/>
          <p:cNvSpPr>
            <a:spLocks noChangeArrowheads="1"/>
          </p:cNvSpPr>
          <p:nvPr/>
        </p:nvSpPr>
        <p:spPr bwMode="auto">
          <a:xfrm>
            <a:off x="526659" y="5077428"/>
            <a:ext cx="1925608" cy="997896"/>
          </a:xfrm>
          <a:prstGeom prst="rect">
            <a:avLst/>
          </a:prstGeom>
          <a:noFill/>
          <a:ln w="12700" algn="ctr">
            <a:solidFill>
              <a:srgbClr val="36424A"/>
            </a:solidFill>
            <a:miter lim="800000"/>
            <a:headEnd/>
            <a:tailEnd type="none" w="lg" len="lg"/>
          </a:ln>
        </p:spPr>
        <p:txBody>
          <a:bodyPr wrap="square" anchor="ctr">
            <a:spAutoFit/>
          </a:bodyPr>
          <a:lstStyle/>
          <a:p>
            <a:endParaRPr lang="en-US"/>
          </a:p>
        </p:txBody>
      </p:sp>
      <p:sp>
        <p:nvSpPr>
          <p:cNvPr id="30733" name="Text Box 28"/>
          <p:cNvSpPr txBox="1">
            <a:spLocks noChangeArrowheads="1"/>
          </p:cNvSpPr>
          <p:nvPr/>
        </p:nvSpPr>
        <p:spPr bwMode="auto">
          <a:xfrm>
            <a:off x="642938" y="4164013"/>
            <a:ext cx="1819275" cy="400110"/>
          </a:xfrm>
          <a:prstGeom prst="rect">
            <a:avLst/>
          </a:prstGeom>
          <a:noFill/>
          <a:ln w="12700" algn="ctr">
            <a:noFill/>
            <a:miter lim="800000"/>
            <a:headEnd/>
            <a:tailEnd type="none" w="lg" len="lg"/>
          </a:ln>
        </p:spPr>
        <p:txBody>
          <a:bodyPr>
            <a:spAutoFit/>
          </a:bodyPr>
          <a:lstStyle/>
          <a:p>
            <a:r>
              <a:rPr lang="en-GB" altLang="zh-CN" sz="2000" dirty="0">
                <a:solidFill>
                  <a:srgbClr val="36424A"/>
                </a:solidFill>
              </a:rPr>
              <a:t>&lt;&lt;include&gt;&gt;</a:t>
            </a:r>
            <a:endParaRPr lang="en-US" altLang="zh-CN" sz="2000" dirty="0">
              <a:solidFill>
                <a:srgbClr val="36424A"/>
              </a:solidFill>
            </a:endParaRPr>
          </a:p>
        </p:txBody>
      </p:sp>
      <p:sp>
        <p:nvSpPr>
          <p:cNvPr id="30734" name="Line 29"/>
          <p:cNvSpPr>
            <a:spLocks noChangeShapeType="1"/>
          </p:cNvSpPr>
          <p:nvPr/>
        </p:nvSpPr>
        <p:spPr bwMode="auto">
          <a:xfrm>
            <a:off x="684377" y="4602604"/>
            <a:ext cx="1657350" cy="0"/>
          </a:xfrm>
          <a:prstGeom prst="line">
            <a:avLst/>
          </a:prstGeom>
          <a:noFill/>
          <a:ln w="12700">
            <a:solidFill>
              <a:srgbClr val="36424A"/>
            </a:solidFill>
            <a:round/>
            <a:headEnd/>
            <a:tailEnd type="arrow" w="lg" len="lg"/>
          </a:ln>
        </p:spPr>
        <p:txBody>
          <a:bodyPr>
            <a:spAutoFit/>
          </a:bodyPr>
          <a:lstStyle/>
          <a:p>
            <a:endParaRPr lang="en-US"/>
          </a:p>
        </p:txBody>
      </p:sp>
      <p:cxnSp>
        <p:nvCxnSpPr>
          <p:cNvPr id="3" name="Straight Arrow Connector 2"/>
          <p:cNvCxnSpPr/>
          <p:nvPr/>
        </p:nvCxnSpPr>
        <p:spPr>
          <a:xfrm flipH="1">
            <a:off x="1823645" y="1063845"/>
            <a:ext cx="1063791" cy="162833"/>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2138440" y="1834590"/>
            <a:ext cx="748997" cy="28224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2095019" y="2551058"/>
            <a:ext cx="759852" cy="477643"/>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flipV="1">
            <a:off x="2312120" y="3897146"/>
            <a:ext cx="608312" cy="76411"/>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30733" idx="3"/>
          </p:cNvCxnSpPr>
          <p:nvPr/>
        </p:nvCxnSpPr>
        <p:spPr>
          <a:xfrm flipH="1">
            <a:off x="2462213" y="4136391"/>
            <a:ext cx="512494" cy="22767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H="1">
            <a:off x="2128015" y="5135102"/>
            <a:ext cx="748997" cy="28224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6FBD52B8-40F1-B542-8835-1C933608D1CB}"/>
              </a:ext>
            </a:extLst>
          </p:cNvPr>
          <p:cNvSpPr>
            <a:spLocks noGrp="1"/>
          </p:cNvSpPr>
          <p:nvPr>
            <p:ph type="sldNum" sz="quarter" idx="4"/>
          </p:nvPr>
        </p:nvSpPr>
        <p:spPr/>
        <p:txBody>
          <a:bodyPr/>
          <a:lstStyle/>
          <a:p>
            <a:fld id="{D6255EFE-3ACE-DA4E-80CE-7588690A9A08}" type="slidenum">
              <a:rPr lang="en-GB" smtClean="0"/>
              <a:t>20</a:t>
            </a:fld>
            <a:endParaRPr lang="en-GB"/>
          </a:p>
        </p:txBody>
      </p:sp>
    </p:spTree>
    <p:extLst>
      <p:ext uri="{BB962C8B-B14F-4D97-AF65-F5344CB8AC3E}">
        <p14:creationId xmlns:p14="http://schemas.microsoft.com/office/powerpoint/2010/main" val="3535637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ChangeArrowheads="1"/>
          </p:cNvSpPr>
          <p:nvPr>
            <p:ph type="title"/>
          </p:nvPr>
        </p:nvSpPr>
        <p:spPr>
          <a:xfrm>
            <a:off x="395536" y="127514"/>
            <a:ext cx="8461127" cy="880198"/>
          </a:xfrm>
        </p:spPr>
        <p:txBody>
          <a:bodyPr>
            <a:normAutofit/>
          </a:bodyPr>
          <a:lstStyle/>
          <a:p>
            <a:r>
              <a:rPr lang="en-GB" sz="3600" dirty="0">
                <a:latin typeface="Helvetica"/>
                <a:cs typeface="Helvetica"/>
              </a:rPr>
              <a:t>UML Activity Diagrams</a:t>
            </a:r>
            <a:endParaRPr lang="en-US" altLang="zh-CN" sz="3600" dirty="0">
              <a:latin typeface="Helvetica"/>
              <a:ea typeface="SimSun" pitchFamily="2" charset="-122"/>
              <a:cs typeface="Helvetica"/>
            </a:endParaRPr>
          </a:p>
        </p:txBody>
      </p:sp>
      <p:sp>
        <p:nvSpPr>
          <p:cNvPr id="31750" name="AutoShape 6"/>
          <p:cNvSpPr>
            <a:spLocks noChangeArrowheads="1"/>
          </p:cNvSpPr>
          <p:nvPr/>
        </p:nvSpPr>
        <p:spPr bwMode="auto">
          <a:xfrm>
            <a:off x="379700" y="990436"/>
            <a:ext cx="1584037" cy="538162"/>
          </a:xfrm>
          <a:prstGeom prst="roundRect">
            <a:avLst>
              <a:gd name="adj" fmla="val 29282"/>
            </a:avLst>
          </a:prstGeom>
          <a:solidFill>
            <a:srgbClr val="FFFFCC"/>
          </a:solidFill>
          <a:ln w="9525" algn="ctr">
            <a:solidFill>
              <a:srgbClr val="36424A"/>
            </a:solidFill>
            <a:round/>
            <a:headEnd/>
            <a:tailEnd/>
          </a:ln>
        </p:spPr>
        <p:txBody>
          <a:bodyPr wrap="none" anchor="ctr"/>
          <a:lstStyle/>
          <a:p>
            <a:pPr>
              <a:spcBef>
                <a:spcPct val="0"/>
              </a:spcBef>
            </a:pPr>
            <a:r>
              <a:rPr lang="en-GB" sz="2000" dirty="0" err="1">
                <a:solidFill>
                  <a:srgbClr val="36424A"/>
                </a:solidFill>
              </a:rPr>
              <a:t>actionName</a:t>
            </a:r>
            <a:endParaRPr lang="en-US" altLang="zh-CN" sz="2000" dirty="0">
              <a:solidFill>
                <a:srgbClr val="36424A"/>
              </a:solidFill>
            </a:endParaRPr>
          </a:p>
        </p:txBody>
      </p:sp>
      <p:sp>
        <p:nvSpPr>
          <p:cNvPr id="31751" name="Rectangle 7"/>
          <p:cNvSpPr>
            <a:spLocks noChangeArrowheads="1"/>
          </p:cNvSpPr>
          <p:nvPr/>
        </p:nvSpPr>
        <p:spPr bwMode="auto">
          <a:xfrm>
            <a:off x="388895" y="1703061"/>
            <a:ext cx="1584037" cy="479425"/>
          </a:xfrm>
          <a:prstGeom prst="rect">
            <a:avLst/>
          </a:prstGeom>
          <a:solidFill>
            <a:srgbClr val="FFFFCC"/>
          </a:solidFill>
          <a:ln w="9525" algn="ctr">
            <a:solidFill>
              <a:srgbClr val="36424A"/>
            </a:solidFill>
            <a:miter lim="800000"/>
            <a:headEnd/>
            <a:tailEnd/>
          </a:ln>
        </p:spPr>
        <p:txBody>
          <a:bodyPr wrap="none" anchor="ctr"/>
          <a:lstStyle/>
          <a:p>
            <a:pPr>
              <a:spcBef>
                <a:spcPct val="0"/>
              </a:spcBef>
            </a:pPr>
            <a:r>
              <a:rPr lang="en-GB" sz="2000" dirty="0" err="1">
                <a:solidFill>
                  <a:srgbClr val="36424A"/>
                </a:solidFill>
              </a:rPr>
              <a:t>objectName</a:t>
            </a:r>
            <a:endParaRPr lang="en-US" altLang="zh-CN" sz="2000" dirty="0">
              <a:solidFill>
                <a:srgbClr val="36424A"/>
              </a:solidFill>
            </a:endParaRPr>
          </a:p>
        </p:txBody>
      </p:sp>
      <p:sp>
        <p:nvSpPr>
          <p:cNvPr id="31752" name="Oval 10"/>
          <p:cNvSpPr>
            <a:spLocks noChangeArrowheads="1"/>
          </p:cNvSpPr>
          <p:nvPr/>
        </p:nvSpPr>
        <p:spPr bwMode="auto">
          <a:xfrm>
            <a:off x="650254" y="2338037"/>
            <a:ext cx="433387" cy="433388"/>
          </a:xfrm>
          <a:prstGeom prst="ellipse">
            <a:avLst/>
          </a:prstGeom>
          <a:solidFill>
            <a:schemeClr val="bg2"/>
          </a:solidFill>
          <a:ln w="9525" algn="ctr">
            <a:solidFill>
              <a:schemeClr val="tx1"/>
            </a:solidFill>
            <a:round/>
            <a:headEnd/>
            <a:tailEnd/>
          </a:ln>
        </p:spPr>
        <p:txBody>
          <a:bodyPr wrap="none" anchor="ctr"/>
          <a:lstStyle/>
          <a:p>
            <a:endParaRPr lang="en-US">
              <a:solidFill>
                <a:srgbClr val="36424A"/>
              </a:solidFill>
            </a:endParaRPr>
          </a:p>
        </p:txBody>
      </p:sp>
      <p:grpSp>
        <p:nvGrpSpPr>
          <p:cNvPr id="31753" name="Group 13"/>
          <p:cNvGrpSpPr>
            <a:grpSpLocks/>
          </p:cNvGrpSpPr>
          <p:nvPr/>
        </p:nvGrpSpPr>
        <p:grpSpPr bwMode="auto">
          <a:xfrm>
            <a:off x="649288" y="2925763"/>
            <a:ext cx="433387" cy="431800"/>
            <a:chOff x="793" y="3294"/>
            <a:chExt cx="273" cy="272"/>
          </a:xfrm>
        </p:grpSpPr>
        <p:sp>
          <p:nvSpPr>
            <p:cNvPr id="31791" name="Oval 11"/>
            <p:cNvSpPr>
              <a:spLocks noChangeArrowheads="1"/>
            </p:cNvSpPr>
            <p:nvPr/>
          </p:nvSpPr>
          <p:spPr bwMode="auto">
            <a:xfrm>
              <a:off x="793" y="3294"/>
              <a:ext cx="273" cy="272"/>
            </a:xfrm>
            <a:prstGeom prst="ellipse">
              <a:avLst/>
            </a:prstGeom>
            <a:noFill/>
            <a:ln w="28575" algn="ctr">
              <a:solidFill>
                <a:srgbClr val="36424A"/>
              </a:solidFill>
              <a:round/>
              <a:headEnd/>
              <a:tailEnd/>
            </a:ln>
          </p:spPr>
          <p:txBody>
            <a:bodyPr wrap="none" anchor="ctr"/>
            <a:lstStyle/>
            <a:p>
              <a:endParaRPr lang="en-US">
                <a:solidFill>
                  <a:srgbClr val="36424A"/>
                </a:solidFill>
              </a:endParaRPr>
            </a:p>
          </p:txBody>
        </p:sp>
        <p:sp>
          <p:nvSpPr>
            <p:cNvPr id="31792" name="Oval 12"/>
            <p:cNvSpPr>
              <a:spLocks noChangeArrowheads="1"/>
            </p:cNvSpPr>
            <p:nvPr/>
          </p:nvSpPr>
          <p:spPr bwMode="auto">
            <a:xfrm>
              <a:off x="839" y="3339"/>
              <a:ext cx="182" cy="181"/>
            </a:xfrm>
            <a:prstGeom prst="ellipse">
              <a:avLst/>
            </a:prstGeom>
            <a:solidFill>
              <a:srgbClr val="36424A"/>
            </a:solidFill>
            <a:ln w="9525" algn="ctr">
              <a:solidFill>
                <a:srgbClr val="36424A"/>
              </a:solidFill>
              <a:round/>
              <a:headEnd/>
              <a:tailEnd/>
            </a:ln>
          </p:spPr>
          <p:txBody>
            <a:bodyPr wrap="none" anchor="ctr"/>
            <a:lstStyle/>
            <a:p>
              <a:endParaRPr lang="en-US">
                <a:solidFill>
                  <a:srgbClr val="36424A"/>
                </a:solidFill>
              </a:endParaRPr>
            </a:p>
          </p:txBody>
        </p:sp>
      </p:grpSp>
      <p:sp>
        <p:nvSpPr>
          <p:cNvPr id="31754" name="AutoShape 15"/>
          <p:cNvSpPr>
            <a:spLocks noChangeArrowheads="1"/>
          </p:cNvSpPr>
          <p:nvPr/>
        </p:nvSpPr>
        <p:spPr bwMode="auto">
          <a:xfrm>
            <a:off x="652463" y="3465513"/>
            <a:ext cx="431800" cy="431800"/>
          </a:xfrm>
          <a:prstGeom prst="flowChartSummingJunction">
            <a:avLst/>
          </a:prstGeom>
          <a:noFill/>
          <a:ln w="28575">
            <a:solidFill>
              <a:srgbClr val="36424A"/>
            </a:solidFill>
            <a:round/>
            <a:headEnd/>
            <a:tailEnd/>
          </a:ln>
        </p:spPr>
        <p:txBody>
          <a:bodyPr wrap="none" anchor="ctr"/>
          <a:lstStyle/>
          <a:p>
            <a:endParaRPr lang="en-US">
              <a:solidFill>
                <a:srgbClr val="36424A"/>
              </a:solidFill>
            </a:endParaRPr>
          </a:p>
        </p:txBody>
      </p:sp>
      <p:grpSp>
        <p:nvGrpSpPr>
          <p:cNvPr id="31755" name="Group 20"/>
          <p:cNvGrpSpPr>
            <a:grpSpLocks/>
          </p:cNvGrpSpPr>
          <p:nvPr/>
        </p:nvGrpSpPr>
        <p:grpSpPr bwMode="auto">
          <a:xfrm>
            <a:off x="422275" y="4032250"/>
            <a:ext cx="847725" cy="825500"/>
            <a:chOff x="2064" y="2387"/>
            <a:chExt cx="680" cy="618"/>
          </a:xfrm>
        </p:grpSpPr>
        <p:sp>
          <p:nvSpPr>
            <p:cNvPr id="31787" name="AutoShape 16"/>
            <p:cNvSpPr>
              <a:spLocks noChangeArrowheads="1"/>
            </p:cNvSpPr>
            <p:nvPr/>
          </p:nvSpPr>
          <p:spPr bwMode="auto">
            <a:xfrm>
              <a:off x="2245" y="2659"/>
              <a:ext cx="317" cy="318"/>
            </a:xfrm>
            <a:prstGeom prst="diamond">
              <a:avLst/>
            </a:prstGeom>
            <a:noFill/>
            <a:ln w="19050" algn="ctr">
              <a:solidFill>
                <a:srgbClr val="36424A"/>
              </a:solidFill>
              <a:miter lim="800000"/>
              <a:headEnd/>
              <a:tailEnd/>
            </a:ln>
          </p:spPr>
          <p:txBody>
            <a:bodyPr wrap="none" anchor="ctr"/>
            <a:lstStyle/>
            <a:p>
              <a:endParaRPr lang="en-US">
                <a:solidFill>
                  <a:srgbClr val="36424A"/>
                </a:solidFill>
              </a:endParaRPr>
            </a:p>
          </p:txBody>
        </p:sp>
        <p:sp>
          <p:nvSpPr>
            <p:cNvPr id="31788" name="Line 17"/>
            <p:cNvSpPr>
              <a:spLocks noChangeShapeType="1"/>
            </p:cNvSpPr>
            <p:nvPr/>
          </p:nvSpPr>
          <p:spPr bwMode="auto">
            <a:xfrm>
              <a:off x="2404" y="2387"/>
              <a:ext cx="0" cy="272"/>
            </a:xfrm>
            <a:prstGeom prst="line">
              <a:avLst/>
            </a:prstGeom>
            <a:noFill/>
            <a:ln w="19050">
              <a:solidFill>
                <a:srgbClr val="36424A"/>
              </a:solidFill>
              <a:round/>
              <a:headEnd/>
              <a:tailEnd type="triangle" w="lg" len="lg"/>
            </a:ln>
          </p:spPr>
          <p:txBody>
            <a:bodyPr/>
            <a:lstStyle/>
            <a:p>
              <a:endParaRPr lang="en-US">
                <a:solidFill>
                  <a:srgbClr val="36424A"/>
                </a:solidFill>
              </a:endParaRPr>
            </a:p>
          </p:txBody>
        </p:sp>
        <p:sp>
          <p:nvSpPr>
            <p:cNvPr id="31789" name="Freeform 18"/>
            <p:cNvSpPr>
              <a:spLocks/>
            </p:cNvSpPr>
            <p:nvPr/>
          </p:nvSpPr>
          <p:spPr bwMode="auto">
            <a:xfrm>
              <a:off x="2562" y="2824"/>
              <a:ext cx="182" cy="181"/>
            </a:xfrm>
            <a:custGeom>
              <a:avLst/>
              <a:gdLst>
                <a:gd name="T0" fmla="*/ 0 w 182"/>
                <a:gd name="T1" fmla="*/ 0 h 181"/>
                <a:gd name="T2" fmla="*/ 182 w 182"/>
                <a:gd name="T3" fmla="*/ 0 h 181"/>
                <a:gd name="T4" fmla="*/ 182 w 182"/>
                <a:gd name="T5" fmla="*/ 181 h 181"/>
                <a:gd name="T6" fmla="*/ 0 60000 65536"/>
                <a:gd name="T7" fmla="*/ 0 60000 65536"/>
                <a:gd name="T8" fmla="*/ 0 60000 65536"/>
                <a:gd name="T9" fmla="*/ 0 w 182"/>
                <a:gd name="T10" fmla="*/ 0 h 181"/>
                <a:gd name="T11" fmla="*/ 182 w 182"/>
                <a:gd name="T12" fmla="*/ 181 h 181"/>
              </a:gdLst>
              <a:ahLst/>
              <a:cxnLst>
                <a:cxn ang="T6">
                  <a:pos x="T0" y="T1"/>
                </a:cxn>
                <a:cxn ang="T7">
                  <a:pos x="T2" y="T3"/>
                </a:cxn>
                <a:cxn ang="T8">
                  <a:pos x="T4" y="T5"/>
                </a:cxn>
              </a:cxnLst>
              <a:rect l="T9" t="T10" r="T11" b="T12"/>
              <a:pathLst>
                <a:path w="182" h="181">
                  <a:moveTo>
                    <a:pt x="0" y="0"/>
                  </a:moveTo>
                  <a:lnTo>
                    <a:pt x="182" y="0"/>
                  </a:lnTo>
                  <a:lnTo>
                    <a:pt x="182" y="181"/>
                  </a:lnTo>
                </a:path>
              </a:pathLst>
            </a:custGeom>
            <a:noFill/>
            <a:ln w="19050" cap="flat" cmpd="sng">
              <a:solidFill>
                <a:srgbClr val="36424A"/>
              </a:solidFill>
              <a:prstDash val="solid"/>
              <a:round/>
              <a:headEnd type="none" w="med" len="med"/>
              <a:tailEnd type="triangle" w="lg" len="lg"/>
            </a:ln>
          </p:spPr>
          <p:txBody>
            <a:bodyPr/>
            <a:lstStyle/>
            <a:p>
              <a:endParaRPr lang="en-US">
                <a:solidFill>
                  <a:srgbClr val="36424A"/>
                </a:solidFill>
              </a:endParaRPr>
            </a:p>
          </p:txBody>
        </p:sp>
        <p:sp>
          <p:nvSpPr>
            <p:cNvPr id="31790" name="Freeform 19"/>
            <p:cNvSpPr>
              <a:spLocks/>
            </p:cNvSpPr>
            <p:nvPr/>
          </p:nvSpPr>
          <p:spPr bwMode="auto">
            <a:xfrm flipH="1">
              <a:off x="2064" y="2816"/>
              <a:ext cx="182" cy="181"/>
            </a:xfrm>
            <a:custGeom>
              <a:avLst/>
              <a:gdLst>
                <a:gd name="T0" fmla="*/ 0 w 182"/>
                <a:gd name="T1" fmla="*/ 0 h 181"/>
                <a:gd name="T2" fmla="*/ 182 w 182"/>
                <a:gd name="T3" fmla="*/ 0 h 181"/>
                <a:gd name="T4" fmla="*/ 182 w 182"/>
                <a:gd name="T5" fmla="*/ 181 h 181"/>
                <a:gd name="T6" fmla="*/ 0 60000 65536"/>
                <a:gd name="T7" fmla="*/ 0 60000 65536"/>
                <a:gd name="T8" fmla="*/ 0 60000 65536"/>
                <a:gd name="T9" fmla="*/ 0 w 182"/>
                <a:gd name="T10" fmla="*/ 0 h 181"/>
                <a:gd name="T11" fmla="*/ 182 w 182"/>
                <a:gd name="T12" fmla="*/ 181 h 181"/>
              </a:gdLst>
              <a:ahLst/>
              <a:cxnLst>
                <a:cxn ang="T6">
                  <a:pos x="T0" y="T1"/>
                </a:cxn>
                <a:cxn ang="T7">
                  <a:pos x="T2" y="T3"/>
                </a:cxn>
                <a:cxn ang="T8">
                  <a:pos x="T4" y="T5"/>
                </a:cxn>
              </a:cxnLst>
              <a:rect l="T9" t="T10" r="T11" b="T12"/>
              <a:pathLst>
                <a:path w="182" h="181">
                  <a:moveTo>
                    <a:pt x="0" y="0"/>
                  </a:moveTo>
                  <a:lnTo>
                    <a:pt x="182" y="0"/>
                  </a:lnTo>
                  <a:lnTo>
                    <a:pt x="182" y="181"/>
                  </a:lnTo>
                </a:path>
              </a:pathLst>
            </a:custGeom>
            <a:noFill/>
            <a:ln w="19050" cap="flat" cmpd="sng">
              <a:solidFill>
                <a:srgbClr val="36424A"/>
              </a:solidFill>
              <a:prstDash val="solid"/>
              <a:round/>
              <a:headEnd type="none" w="med" len="med"/>
              <a:tailEnd type="triangle" w="lg" len="lg"/>
            </a:ln>
          </p:spPr>
          <p:txBody>
            <a:bodyPr/>
            <a:lstStyle/>
            <a:p>
              <a:endParaRPr lang="en-US">
                <a:solidFill>
                  <a:srgbClr val="36424A"/>
                </a:solidFill>
              </a:endParaRPr>
            </a:p>
          </p:txBody>
        </p:sp>
      </p:grpSp>
      <p:grpSp>
        <p:nvGrpSpPr>
          <p:cNvPr id="31756" name="Group 26"/>
          <p:cNvGrpSpPr>
            <a:grpSpLocks/>
          </p:cNvGrpSpPr>
          <p:nvPr/>
        </p:nvGrpSpPr>
        <p:grpSpPr bwMode="auto">
          <a:xfrm>
            <a:off x="442913" y="5089525"/>
            <a:ext cx="858837" cy="835025"/>
            <a:chOff x="2653" y="1524"/>
            <a:chExt cx="679" cy="595"/>
          </a:xfrm>
        </p:grpSpPr>
        <p:sp>
          <p:nvSpPr>
            <p:cNvPr id="31783" name="AutoShape 22"/>
            <p:cNvSpPr>
              <a:spLocks noChangeArrowheads="1"/>
            </p:cNvSpPr>
            <p:nvPr/>
          </p:nvSpPr>
          <p:spPr bwMode="auto">
            <a:xfrm>
              <a:off x="2834" y="1543"/>
              <a:ext cx="317" cy="318"/>
            </a:xfrm>
            <a:prstGeom prst="diamond">
              <a:avLst/>
            </a:prstGeom>
            <a:noFill/>
            <a:ln w="19050" algn="ctr">
              <a:solidFill>
                <a:srgbClr val="36424A"/>
              </a:solidFill>
              <a:miter lim="800000"/>
              <a:headEnd/>
              <a:tailEnd/>
            </a:ln>
          </p:spPr>
          <p:txBody>
            <a:bodyPr wrap="none" anchor="ctr"/>
            <a:lstStyle/>
            <a:p>
              <a:endParaRPr lang="en-US">
                <a:solidFill>
                  <a:srgbClr val="36424A"/>
                </a:solidFill>
              </a:endParaRPr>
            </a:p>
          </p:txBody>
        </p:sp>
        <p:sp>
          <p:nvSpPr>
            <p:cNvPr id="31784" name="Line 23"/>
            <p:cNvSpPr>
              <a:spLocks noChangeShapeType="1"/>
            </p:cNvSpPr>
            <p:nvPr/>
          </p:nvSpPr>
          <p:spPr bwMode="auto">
            <a:xfrm>
              <a:off x="2993" y="1847"/>
              <a:ext cx="0" cy="272"/>
            </a:xfrm>
            <a:prstGeom prst="line">
              <a:avLst/>
            </a:prstGeom>
            <a:noFill/>
            <a:ln w="19050">
              <a:solidFill>
                <a:srgbClr val="36424A"/>
              </a:solidFill>
              <a:round/>
              <a:headEnd/>
              <a:tailEnd type="triangle" w="lg" len="lg"/>
            </a:ln>
          </p:spPr>
          <p:txBody>
            <a:bodyPr/>
            <a:lstStyle/>
            <a:p>
              <a:endParaRPr lang="en-US">
                <a:solidFill>
                  <a:srgbClr val="36424A"/>
                </a:solidFill>
              </a:endParaRPr>
            </a:p>
          </p:txBody>
        </p:sp>
        <p:sp>
          <p:nvSpPr>
            <p:cNvPr id="31785" name="Freeform 24"/>
            <p:cNvSpPr>
              <a:spLocks/>
            </p:cNvSpPr>
            <p:nvPr/>
          </p:nvSpPr>
          <p:spPr bwMode="auto">
            <a:xfrm rot="5400000">
              <a:off x="3151" y="1532"/>
              <a:ext cx="182" cy="181"/>
            </a:xfrm>
            <a:custGeom>
              <a:avLst/>
              <a:gdLst>
                <a:gd name="T0" fmla="*/ 0 w 182"/>
                <a:gd name="T1" fmla="*/ 0 h 181"/>
                <a:gd name="T2" fmla="*/ 182 w 182"/>
                <a:gd name="T3" fmla="*/ 0 h 181"/>
                <a:gd name="T4" fmla="*/ 182 w 182"/>
                <a:gd name="T5" fmla="*/ 181 h 181"/>
                <a:gd name="T6" fmla="*/ 0 60000 65536"/>
                <a:gd name="T7" fmla="*/ 0 60000 65536"/>
                <a:gd name="T8" fmla="*/ 0 60000 65536"/>
                <a:gd name="T9" fmla="*/ 0 w 182"/>
                <a:gd name="T10" fmla="*/ 0 h 181"/>
                <a:gd name="T11" fmla="*/ 182 w 182"/>
                <a:gd name="T12" fmla="*/ 181 h 181"/>
              </a:gdLst>
              <a:ahLst/>
              <a:cxnLst>
                <a:cxn ang="T6">
                  <a:pos x="T0" y="T1"/>
                </a:cxn>
                <a:cxn ang="T7">
                  <a:pos x="T2" y="T3"/>
                </a:cxn>
                <a:cxn ang="T8">
                  <a:pos x="T4" y="T5"/>
                </a:cxn>
              </a:cxnLst>
              <a:rect l="T9" t="T10" r="T11" b="T12"/>
              <a:pathLst>
                <a:path w="182" h="181">
                  <a:moveTo>
                    <a:pt x="0" y="0"/>
                  </a:moveTo>
                  <a:lnTo>
                    <a:pt x="182" y="0"/>
                  </a:lnTo>
                  <a:lnTo>
                    <a:pt x="182" y="181"/>
                  </a:lnTo>
                </a:path>
              </a:pathLst>
            </a:custGeom>
            <a:noFill/>
            <a:ln w="19050" cap="flat" cmpd="sng">
              <a:solidFill>
                <a:srgbClr val="36424A"/>
              </a:solidFill>
              <a:prstDash val="solid"/>
              <a:round/>
              <a:headEnd type="none" w="med" len="med"/>
              <a:tailEnd type="triangle" w="lg" len="lg"/>
            </a:ln>
          </p:spPr>
          <p:txBody>
            <a:bodyPr/>
            <a:lstStyle/>
            <a:p>
              <a:endParaRPr lang="en-US">
                <a:solidFill>
                  <a:srgbClr val="36424A"/>
                </a:solidFill>
              </a:endParaRPr>
            </a:p>
          </p:txBody>
        </p:sp>
        <p:sp>
          <p:nvSpPr>
            <p:cNvPr id="31786" name="Freeform 25"/>
            <p:cNvSpPr>
              <a:spLocks/>
            </p:cNvSpPr>
            <p:nvPr/>
          </p:nvSpPr>
          <p:spPr bwMode="auto">
            <a:xfrm rot="16200000" flipH="1">
              <a:off x="2653" y="1524"/>
              <a:ext cx="182" cy="181"/>
            </a:xfrm>
            <a:custGeom>
              <a:avLst/>
              <a:gdLst>
                <a:gd name="T0" fmla="*/ 0 w 182"/>
                <a:gd name="T1" fmla="*/ 0 h 181"/>
                <a:gd name="T2" fmla="*/ 182 w 182"/>
                <a:gd name="T3" fmla="*/ 0 h 181"/>
                <a:gd name="T4" fmla="*/ 182 w 182"/>
                <a:gd name="T5" fmla="*/ 181 h 181"/>
                <a:gd name="T6" fmla="*/ 0 60000 65536"/>
                <a:gd name="T7" fmla="*/ 0 60000 65536"/>
                <a:gd name="T8" fmla="*/ 0 60000 65536"/>
                <a:gd name="T9" fmla="*/ 0 w 182"/>
                <a:gd name="T10" fmla="*/ 0 h 181"/>
                <a:gd name="T11" fmla="*/ 182 w 182"/>
                <a:gd name="T12" fmla="*/ 181 h 181"/>
              </a:gdLst>
              <a:ahLst/>
              <a:cxnLst>
                <a:cxn ang="T6">
                  <a:pos x="T0" y="T1"/>
                </a:cxn>
                <a:cxn ang="T7">
                  <a:pos x="T2" y="T3"/>
                </a:cxn>
                <a:cxn ang="T8">
                  <a:pos x="T4" y="T5"/>
                </a:cxn>
              </a:cxnLst>
              <a:rect l="T9" t="T10" r="T11" b="T12"/>
              <a:pathLst>
                <a:path w="182" h="181">
                  <a:moveTo>
                    <a:pt x="0" y="0"/>
                  </a:moveTo>
                  <a:lnTo>
                    <a:pt x="182" y="0"/>
                  </a:lnTo>
                  <a:lnTo>
                    <a:pt x="182" y="181"/>
                  </a:lnTo>
                </a:path>
              </a:pathLst>
            </a:custGeom>
            <a:noFill/>
            <a:ln w="19050" cap="flat" cmpd="sng">
              <a:solidFill>
                <a:srgbClr val="36424A"/>
              </a:solidFill>
              <a:prstDash val="solid"/>
              <a:round/>
              <a:headEnd type="none" w="med" len="med"/>
              <a:tailEnd type="triangle" w="lg" len="lg"/>
            </a:ln>
          </p:spPr>
          <p:txBody>
            <a:bodyPr/>
            <a:lstStyle/>
            <a:p>
              <a:endParaRPr lang="en-US">
                <a:solidFill>
                  <a:srgbClr val="36424A"/>
                </a:solidFill>
              </a:endParaRPr>
            </a:p>
          </p:txBody>
        </p:sp>
      </p:grpSp>
      <p:grpSp>
        <p:nvGrpSpPr>
          <p:cNvPr id="31757" name="Group 31"/>
          <p:cNvGrpSpPr>
            <a:grpSpLocks/>
          </p:cNvGrpSpPr>
          <p:nvPr/>
        </p:nvGrpSpPr>
        <p:grpSpPr bwMode="auto">
          <a:xfrm>
            <a:off x="3625548" y="6022461"/>
            <a:ext cx="646112" cy="708025"/>
            <a:chOff x="3571" y="1889"/>
            <a:chExt cx="407" cy="446"/>
          </a:xfrm>
        </p:grpSpPr>
        <p:sp>
          <p:nvSpPr>
            <p:cNvPr id="31779" name="Line 27"/>
            <p:cNvSpPr>
              <a:spLocks noChangeShapeType="1"/>
            </p:cNvSpPr>
            <p:nvPr/>
          </p:nvSpPr>
          <p:spPr bwMode="auto">
            <a:xfrm flipV="1">
              <a:off x="3579" y="2127"/>
              <a:ext cx="399" cy="0"/>
            </a:xfrm>
            <a:prstGeom prst="line">
              <a:avLst/>
            </a:prstGeom>
            <a:noFill/>
            <a:ln w="76200">
              <a:solidFill>
                <a:srgbClr val="36424A"/>
              </a:solidFill>
              <a:round/>
              <a:headEnd/>
              <a:tailEnd type="none" w="lg" len="lg"/>
            </a:ln>
          </p:spPr>
          <p:txBody>
            <a:bodyPr/>
            <a:lstStyle/>
            <a:p>
              <a:endParaRPr lang="en-US">
                <a:solidFill>
                  <a:srgbClr val="36424A"/>
                </a:solidFill>
              </a:endParaRPr>
            </a:p>
          </p:txBody>
        </p:sp>
        <p:sp>
          <p:nvSpPr>
            <p:cNvPr id="31780" name="Line 28"/>
            <p:cNvSpPr>
              <a:spLocks noChangeShapeType="1"/>
            </p:cNvSpPr>
            <p:nvPr/>
          </p:nvSpPr>
          <p:spPr bwMode="auto">
            <a:xfrm>
              <a:off x="3771" y="1889"/>
              <a:ext cx="0" cy="208"/>
            </a:xfrm>
            <a:prstGeom prst="line">
              <a:avLst/>
            </a:prstGeom>
            <a:noFill/>
            <a:ln w="9525">
              <a:solidFill>
                <a:srgbClr val="36424A"/>
              </a:solidFill>
              <a:round/>
              <a:headEnd/>
              <a:tailEnd type="triangle" w="lg" len="lg"/>
            </a:ln>
          </p:spPr>
          <p:txBody>
            <a:bodyPr/>
            <a:lstStyle/>
            <a:p>
              <a:endParaRPr lang="en-US">
                <a:solidFill>
                  <a:srgbClr val="36424A"/>
                </a:solidFill>
              </a:endParaRPr>
            </a:p>
          </p:txBody>
        </p:sp>
        <p:sp>
          <p:nvSpPr>
            <p:cNvPr id="31781" name="Line 29"/>
            <p:cNvSpPr>
              <a:spLocks noChangeShapeType="1"/>
            </p:cNvSpPr>
            <p:nvPr/>
          </p:nvSpPr>
          <p:spPr bwMode="auto">
            <a:xfrm flipH="1">
              <a:off x="3571" y="2150"/>
              <a:ext cx="138" cy="185"/>
            </a:xfrm>
            <a:prstGeom prst="line">
              <a:avLst/>
            </a:prstGeom>
            <a:noFill/>
            <a:ln w="9525">
              <a:solidFill>
                <a:srgbClr val="36424A"/>
              </a:solidFill>
              <a:round/>
              <a:headEnd/>
              <a:tailEnd type="triangle" w="lg" len="lg"/>
            </a:ln>
          </p:spPr>
          <p:txBody>
            <a:bodyPr/>
            <a:lstStyle/>
            <a:p>
              <a:endParaRPr lang="en-US">
                <a:solidFill>
                  <a:srgbClr val="36424A"/>
                </a:solidFill>
              </a:endParaRPr>
            </a:p>
          </p:txBody>
        </p:sp>
        <p:sp>
          <p:nvSpPr>
            <p:cNvPr id="31782" name="Line 30"/>
            <p:cNvSpPr>
              <a:spLocks noChangeShapeType="1"/>
            </p:cNvSpPr>
            <p:nvPr/>
          </p:nvSpPr>
          <p:spPr bwMode="auto">
            <a:xfrm>
              <a:off x="3848" y="2150"/>
              <a:ext cx="123" cy="185"/>
            </a:xfrm>
            <a:prstGeom prst="line">
              <a:avLst/>
            </a:prstGeom>
            <a:noFill/>
            <a:ln w="9525">
              <a:solidFill>
                <a:srgbClr val="36424A"/>
              </a:solidFill>
              <a:round/>
              <a:headEnd/>
              <a:tailEnd type="triangle" w="lg" len="lg"/>
            </a:ln>
          </p:spPr>
          <p:txBody>
            <a:bodyPr/>
            <a:lstStyle/>
            <a:p>
              <a:endParaRPr lang="en-US">
                <a:solidFill>
                  <a:srgbClr val="36424A"/>
                </a:solidFill>
              </a:endParaRPr>
            </a:p>
          </p:txBody>
        </p:sp>
      </p:grpSp>
      <p:grpSp>
        <p:nvGrpSpPr>
          <p:cNvPr id="31758" name="Group 37"/>
          <p:cNvGrpSpPr>
            <a:grpSpLocks/>
          </p:cNvGrpSpPr>
          <p:nvPr/>
        </p:nvGrpSpPr>
        <p:grpSpPr bwMode="auto">
          <a:xfrm>
            <a:off x="5578122" y="6052450"/>
            <a:ext cx="633412" cy="711200"/>
            <a:chOff x="4391" y="1631"/>
            <a:chExt cx="399" cy="448"/>
          </a:xfrm>
        </p:grpSpPr>
        <p:sp>
          <p:nvSpPr>
            <p:cNvPr id="31775" name="Line 33"/>
            <p:cNvSpPr>
              <a:spLocks noChangeShapeType="1"/>
            </p:cNvSpPr>
            <p:nvPr/>
          </p:nvSpPr>
          <p:spPr bwMode="auto">
            <a:xfrm flipV="1">
              <a:off x="4391" y="1848"/>
              <a:ext cx="399" cy="0"/>
            </a:xfrm>
            <a:prstGeom prst="line">
              <a:avLst/>
            </a:prstGeom>
            <a:noFill/>
            <a:ln w="76200">
              <a:solidFill>
                <a:srgbClr val="36424A"/>
              </a:solidFill>
              <a:round/>
              <a:headEnd/>
              <a:tailEnd type="none" w="lg" len="lg"/>
            </a:ln>
          </p:spPr>
          <p:txBody>
            <a:bodyPr/>
            <a:lstStyle/>
            <a:p>
              <a:endParaRPr lang="en-US">
                <a:solidFill>
                  <a:srgbClr val="36424A"/>
                </a:solidFill>
              </a:endParaRPr>
            </a:p>
          </p:txBody>
        </p:sp>
        <p:sp>
          <p:nvSpPr>
            <p:cNvPr id="31776" name="Line 34"/>
            <p:cNvSpPr>
              <a:spLocks noChangeShapeType="1"/>
            </p:cNvSpPr>
            <p:nvPr/>
          </p:nvSpPr>
          <p:spPr bwMode="auto">
            <a:xfrm>
              <a:off x="4599" y="1871"/>
              <a:ext cx="0" cy="208"/>
            </a:xfrm>
            <a:prstGeom prst="line">
              <a:avLst/>
            </a:prstGeom>
            <a:noFill/>
            <a:ln w="9525">
              <a:solidFill>
                <a:srgbClr val="36424A"/>
              </a:solidFill>
              <a:round/>
              <a:headEnd/>
              <a:tailEnd type="triangle" w="lg" len="lg"/>
            </a:ln>
          </p:spPr>
          <p:txBody>
            <a:bodyPr/>
            <a:lstStyle/>
            <a:p>
              <a:endParaRPr lang="en-US">
                <a:solidFill>
                  <a:srgbClr val="36424A"/>
                </a:solidFill>
              </a:endParaRPr>
            </a:p>
          </p:txBody>
        </p:sp>
        <p:sp>
          <p:nvSpPr>
            <p:cNvPr id="31777" name="Line 35"/>
            <p:cNvSpPr>
              <a:spLocks noChangeShapeType="1"/>
            </p:cNvSpPr>
            <p:nvPr/>
          </p:nvSpPr>
          <p:spPr bwMode="auto">
            <a:xfrm flipH="1">
              <a:off x="4637" y="1632"/>
              <a:ext cx="138" cy="185"/>
            </a:xfrm>
            <a:prstGeom prst="line">
              <a:avLst/>
            </a:prstGeom>
            <a:noFill/>
            <a:ln w="9525">
              <a:solidFill>
                <a:srgbClr val="36424A"/>
              </a:solidFill>
              <a:round/>
              <a:headEnd/>
              <a:tailEnd type="triangle" w="lg" len="lg"/>
            </a:ln>
          </p:spPr>
          <p:txBody>
            <a:bodyPr/>
            <a:lstStyle/>
            <a:p>
              <a:endParaRPr lang="en-US">
                <a:solidFill>
                  <a:srgbClr val="36424A"/>
                </a:solidFill>
              </a:endParaRPr>
            </a:p>
          </p:txBody>
        </p:sp>
        <p:sp>
          <p:nvSpPr>
            <p:cNvPr id="31778" name="Line 36"/>
            <p:cNvSpPr>
              <a:spLocks noChangeShapeType="1"/>
            </p:cNvSpPr>
            <p:nvPr/>
          </p:nvSpPr>
          <p:spPr bwMode="auto">
            <a:xfrm>
              <a:off x="4422" y="1631"/>
              <a:ext cx="123" cy="185"/>
            </a:xfrm>
            <a:prstGeom prst="line">
              <a:avLst/>
            </a:prstGeom>
            <a:noFill/>
            <a:ln w="9525">
              <a:solidFill>
                <a:srgbClr val="36424A"/>
              </a:solidFill>
              <a:round/>
              <a:headEnd/>
              <a:tailEnd type="triangle" w="lg" len="lg"/>
            </a:ln>
          </p:spPr>
          <p:txBody>
            <a:bodyPr/>
            <a:lstStyle/>
            <a:p>
              <a:endParaRPr lang="en-US">
                <a:solidFill>
                  <a:srgbClr val="36424A"/>
                </a:solidFill>
              </a:endParaRPr>
            </a:p>
          </p:txBody>
        </p:sp>
      </p:grpSp>
      <p:sp>
        <p:nvSpPr>
          <p:cNvPr id="31759" name="Rectangle 38"/>
          <p:cNvSpPr>
            <a:spLocks noChangeArrowheads="1"/>
          </p:cNvSpPr>
          <p:nvPr/>
        </p:nvSpPr>
        <p:spPr bwMode="auto">
          <a:xfrm>
            <a:off x="3421244" y="3975659"/>
            <a:ext cx="942475" cy="1938338"/>
          </a:xfrm>
          <a:prstGeom prst="rect">
            <a:avLst/>
          </a:prstGeom>
          <a:noFill/>
          <a:ln w="25400" algn="ctr">
            <a:solidFill>
              <a:schemeClr val="tx2"/>
            </a:solidFill>
            <a:miter lim="800000"/>
            <a:headEnd/>
            <a:tailEnd type="none" w="lg" len="lg"/>
          </a:ln>
        </p:spPr>
        <p:txBody>
          <a:bodyPr wrap="none" anchor="ctr"/>
          <a:lstStyle/>
          <a:p>
            <a:endParaRPr lang="en-US" dirty="0">
              <a:solidFill>
                <a:srgbClr val="36424A"/>
              </a:solidFill>
            </a:endParaRPr>
          </a:p>
        </p:txBody>
      </p:sp>
      <p:sp>
        <p:nvSpPr>
          <p:cNvPr id="31760" name="Text Box 39"/>
          <p:cNvSpPr txBox="1">
            <a:spLocks noChangeArrowheads="1"/>
          </p:cNvSpPr>
          <p:nvPr/>
        </p:nvSpPr>
        <p:spPr bwMode="auto">
          <a:xfrm>
            <a:off x="2060575" y="1071563"/>
            <a:ext cx="5119688" cy="396875"/>
          </a:xfrm>
          <a:prstGeom prst="rect">
            <a:avLst/>
          </a:prstGeom>
          <a:noFill/>
          <a:ln w="9525" algn="ctr">
            <a:noFill/>
            <a:miter lim="800000"/>
            <a:headEnd/>
            <a:tailEnd type="none" w="lg" len="lg"/>
          </a:ln>
        </p:spPr>
        <p:txBody>
          <a:bodyPr>
            <a:spAutoFit/>
          </a:bodyPr>
          <a:lstStyle/>
          <a:p>
            <a:pPr algn="l"/>
            <a:r>
              <a:rPr lang="en-GB" sz="2000" dirty="0">
                <a:solidFill>
                  <a:srgbClr val="36424A"/>
                </a:solidFill>
              </a:rPr>
              <a:t>Action node: an action</a:t>
            </a:r>
            <a:endParaRPr lang="en-US" altLang="zh-CN" sz="2000" dirty="0">
              <a:solidFill>
                <a:srgbClr val="36424A"/>
              </a:solidFill>
            </a:endParaRPr>
          </a:p>
        </p:txBody>
      </p:sp>
      <p:sp>
        <p:nvSpPr>
          <p:cNvPr id="31761" name="Text Box 45"/>
          <p:cNvSpPr txBox="1">
            <a:spLocks noChangeArrowheads="1"/>
          </p:cNvSpPr>
          <p:nvPr/>
        </p:nvSpPr>
        <p:spPr bwMode="auto">
          <a:xfrm>
            <a:off x="2061863" y="1701800"/>
            <a:ext cx="4292600" cy="396875"/>
          </a:xfrm>
          <a:prstGeom prst="rect">
            <a:avLst/>
          </a:prstGeom>
          <a:noFill/>
          <a:ln w="9525" algn="ctr">
            <a:noFill/>
            <a:miter lim="800000"/>
            <a:headEnd/>
            <a:tailEnd type="none" w="lg" len="lg"/>
          </a:ln>
        </p:spPr>
        <p:txBody>
          <a:bodyPr>
            <a:spAutoFit/>
          </a:bodyPr>
          <a:lstStyle/>
          <a:p>
            <a:pPr algn="l"/>
            <a:r>
              <a:rPr lang="en-GB" sz="2000" dirty="0">
                <a:solidFill>
                  <a:srgbClr val="36424A"/>
                </a:solidFill>
              </a:rPr>
              <a:t>Object node: represent an object</a:t>
            </a:r>
            <a:endParaRPr lang="en-US" altLang="zh-CN" sz="2000" dirty="0">
              <a:solidFill>
                <a:srgbClr val="36424A"/>
              </a:solidFill>
            </a:endParaRPr>
          </a:p>
        </p:txBody>
      </p:sp>
      <p:sp>
        <p:nvSpPr>
          <p:cNvPr id="31762" name="Text Box 46"/>
          <p:cNvSpPr txBox="1">
            <a:spLocks noChangeArrowheads="1"/>
          </p:cNvSpPr>
          <p:nvPr/>
        </p:nvSpPr>
        <p:spPr bwMode="auto">
          <a:xfrm>
            <a:off x="1252538" y="2360613"/>
            <a:ext cx="5997575" cy="396875"/>
          </a:xfrm>
          <a:prstGeom prst="rect">
            <a:avLst/>
          </a:prstGeom>
          <a:noFill/>
          <a:ln w="9525" algn="ctr">
            <a:noFill/>
            <a:miter lim="800000"/>
            <a:headEnd/>
            <a:tailEnd type="none" w="lg" len="lg"/>
          </a:ln>
        </p:spPr>
        <p:txBody>
          <a:bodyPr>
            <a:spAutoFit/>
          </a:bodyPr>
          <a:lstStyle/>
          <a:p>
            <a:pPr algn="l"/>
            <a:r>
              <a:rPr lang="en-GB" sz="2000" dirty="0">
                <a:solidFill>
                  <a:srgbClr val="36424A"/>
                </a:solidFill>
              </a:rPr>
              <a:t>Initial node: beginning of a sequence of activities</a:t>
            </a:r>
            <a:endParaRPr lang="en-US" altLang="zh-CN" sz="2000" dirty="0">
              <a:solidFill>
                <a:srgbClr val="36424A"/>
              </a:solidFill>
            </a:endParaRPr>
          </a:p>
        </p:txBody>
      </p:sp>
      <p:sp>
        <p:nvSpPr>
          <p:cNvPr id="31763" name="Text Box 47"/>
          <p:cNvSpPr txBox="1">
            <a:spLocks noChangeArrowheads="1"/>
          </p:cNvSpPr>
          <p:nvPr/>
        </p:nvSpPr>
        <p:spPr bwMode="auto">
          <a:xfrm>
            <a:off x="1249363" y="2905125"/>
            <a:ext cx="7691437" cy="396875"/>
          </a:xfrm>
          <a:prstGeom prst="rect">
            <a:avLst/>
          </a:prstGeom>
          <a:noFill/>
          <a:ln w="9525" algn="ctr">
            <a:noFill/>
            <a:miter lim="800000"/>
            <a:headEnd/>
            <a:tailEnd type="none" w="lg" len="lg"/>
          </a:ln>
        </p:spPr>
        <p:txBody>
          <a:bodyPr>
            <a:spAutoFit/>
          </a:bodyPr>
          <a:lstStyle/>
          <a:p>
            <a:pPr algn="l"/>
            <a:r>
              <a:rPr lang="en-GB" sz="2000" dirty="0">
                <a:solidFill>
                  <a:srgbClr val="36424A"/>
                </a:solidFill>
              </a:rPr>
              <a:t>Final node: stop all control flows and object flows</a:t>
            </a:r>
            <a:endParaRPr lang="en-US" altLang="zh-CN" sz="2000" dirty="0">
              <a:solidFill>
                <a:srgbClr val="36424A"/>
              </a:solidFill>
            </a:endParaRPr>
          </a:p>
        </p:txBody>
      </p:sp>
      <p:sp>
        <p:nvSpPr>
          <p:cNvPr id="31764" name="Text Box 48"/>
          <p:cNvSpPr txBox="1">
            <a:spLocks noChangeArrowheads="1"/>
          </p:cNvSpPr>
          <p:nvPr/>
        </p:nvSpPr>
        <p:spPr bwMode="auto">
          <a:xfrm>
            <a:off x="1240868" y="3419989"/>
            <a:ext cx="6888162" cy="396875"/>
          </a:xfrm>
          <a:prstGeom prst="rect">
            <a:avLst/>
          </a:prstGeom>
          <a:noFill/>
          <a:ln w="9525" algn="ctr">
            <a:noFill/>
            <a:miter lim="800000"/>
            <a:headEnd/>
            <a:tailEnd type="none" w="lg" len="lg"/>
          </a:ln>
        </p:spPr>
        <p:txBody>
          <a:bodyPr>
            <a:spAutoFit/>
          </a:bodyPr>
          <a:lstStyle/>
          <a:p>
            <a:pPr algn="l"/>
            <a:r>
              <a:rPr lang="en-GB" sz="2000" dirty="0">
                <a:solidFill>
                  <a:srgbClr val="36424A"/>
                </a:solidFill>
              </a:rPr>
              <a:t>Stop node: terminates a specific control flow or object flow</a:t>
            </a:r>
            <a:endParaRPr lang="en-US" altLang="zh-CN" sz="2000" dirty="0">
              <a:solidFill>
                <a:srgbClr val="36424A"/>
              </a:solidFill>
            </a:endParaRPr>
          </a:p>
        </p:txBody>
      </p:sp>
      <p:sp>
        <p:nvSpPr>
          <p:cNvPr id="31765" name="Text Box 49"/>
          <p:cNvSpPr txBox="1">
            <a:spLocks noChangeArrowheads="1"/>
          </p:cNvSpPr>
          <p:nvPr/>
        </p:nvSpPr>
        <p:spPr bwMode="auto">
          <a:xfrm>
            <a:off x="1406525" y="4371975"/>
            <a:ext cx="1730375" cy="396875"/>
          </a:xfrm>
          <a:prstGeom prst="rect">
            <a:avLst/>
          </a:prstGeom>
          <a:noFill/>
          <a:ln w="9525" algn="ctr">
            <a:noFill/>
            <a:miter lim="800000"/>
            <a:headEnd/>
            <a:tailEnd type="none" w="lg" len="lg"/>
          </a:ln>
        </p:spPr>
        <p:txBody>
          <a:bodyPr>
            <a:spAutoFit/>
          </a:bodyPr>
          <a:lstStyle/>
          <a:p>
            <a:pPr algn="l"/>
            <a:r>
              <a:rPr lang="en-GB" sz="2000">
                <a:solidFill>
                  <a:srgbClr val="36424A"/>
                </a:solidFill>
              </a:rPr>
              <a:t>Decision node</a:t>
            </a:r>
            <a:endParaRPr lang="en-US" altLang="zh-CN" sz="2000">
              <a:solidFill>
                <a:srgbClr val="36424A"/>
              </a:solidFill>
            </a:endParaRPr>
          </a:p>
        </p:txBody>
      </p:sp>
      <p:sp>
        <p:nvSpPr>
          <p:cNvPr id="31766" name="Text Box 50"/>
          <p:cNvSpPr txBox="1">
            <a:spLocks noChangeArrowheads="1"/>
          </p:cNvSpPr>
          <p:nvPr/>
        </p:nvSpPr>
        <p:spPr bwMode="auto">
          <a:xfrm>
            <a:off x="1431883" y="5308858"/>
            <a:ext cx="1438275" cy="396875"/>
          </a:xfrm>
          <a:prstGeom prst="rect">
            <a:avLst/>
          </a:prstGeom>
          <a:noFill/>
          <a:ln w="9525" algn="ctr">
            <a:noFill/>
            <a:miter lim="800000"/>
            <a:headEnd/>
            <a:tailEnd type="none" w="lg" len="lg"/>
          </a:ln>
        </p:spPr>
        <p:txBody>
          <a:bodyPr>
            <a:spAutoFit/>
          </a:bodyPr>
          <a:lstStyle/>
          <a:p>
            <a:pPr algn="l"/>
            <a:r>
              <a:rPr lang="en-GB" sz="2000" dirty="0">
                <a:solidFill>
                  <a:srgbClr val="36424A"/>
                </a:solidFill>
              </a:rPr>
              <a:t>Merge node</a:t>
            </a:r>
            <a:endParaRPr lang="en-US" altLang="zh-CN" sz="2000" dirty="0">
              <a:solidFill>
                <a:srgbClr val="36424A"/>
              </a:solidFill>
            </a:endParaRPr>
          </a:p>
        </p:txBody>
      </p:sp>
      <p:sp>
        <p:nvSpPr>
          <p:cNvPr id="31769" name="Text Box 53"/>
          <p:cNvSpPr txBox="1">
            <a:spLocks noChangeArrowheads="1"/>
          </p:cNvSpPr>
          <p:nvPr/>
        </p:nvSpPr>
        <p:spPr bwMode="auto">
          <a:xfrm>
            <a:off x="4504863" y="3978577"/>
            <a:ext cx="2170112" cy="1920875"/>
          </a:xfrm>
          <a:prstGeom prst="rect">
            <a:avLst/>
          </a:prstGeom>
          <a:noFill/>
          <a:ln w="9525" algn="ctr">
            <a:noFill/>
            <a:miter lim="800000"/>
            <a:headEnd/>
            <a:tailEnd type="none" w="lg" len="lg"/>
          </a:ln>
        </p:spPr>
        <p:txBody>
          <a:bodyPr>
            <a:spAutoFit/>
          </a:bodyPr>
          <a:lstStyle/>
          <a:p>
            <a:pPr algn="l"/>
            <a:r>
              <a:rPr lang="en-GB" sz="2000" dirty="0">
                <a:solidFill>
                  <a:srgbClr val="36424A"/>
                </a:solidFill>
              </a:rPr>
              <a:t>Swim lane: break up an activity diagram into parts to assign the activities to the actors</a:t>
            </a:r>
            <a:endParaRPr lang="en-US" altLang="zh-CN" sz="2000" dirty="0">
              <a:solidFill>
                <a:srgbClr val="36424A"/>
              </a:solidFill>
            </a:endParaRPr>
          </a:p>
        </p:txBody>
      </p:sp>
      <p:grpSp>
        <p:nvGrpSpPr>
          <p:cNvPr id="31770" name="Group 56"/>
          <p:cNvGrpSpPr>
            <a:grpSpLocks/>
          </p:cNvGrpSpPr>
          <p:nvPr/>
        </p:nvGrpSpPr>
        <p:grpSpPr bwMode="auto">
          <a:xfrm>
            <a:off x="6232143" y="1034234"/>
            <a:ext cx="2387982" cy="1015117"/>
            <a:chOff x="4548" y="608"/>
            <a:chExt cx="952" cy="755"/>
          </a:xfrm>
        </p:grpSpPr>
        <p:sp>
          <p:nvSpPr>
            <p:cNvPr id="31771" name="Line 8"/>
            <p:cNvSpPr>
              <a:spLocks noChangeShapeType="1"/>
            </p:cNvSpPr>
            <p:nvPr/>
          </p:nvSpPr>
          <p:spPr bwMode="auto">
            <a:xfrm>
              <a:off x="4614" y="608"/>
              <a:ext cx="783" cy="0"/>
            </a:xfrm>
            <a:prstGeom prst="line">
              <a:avLst/>
            </a:prstGeom>
            <a:noFill/>
            <a:ln w="9525">
              <a:solidFill>
                <a:srgbClr val="36424A"/>
              </a:solidFill>
              <a:round/>
              <a:headEnd/>
              <a:tailEnd type="triangle" w="lg" len="lg"/>
            </a:ln>
          </p:spPr>
          <p:txBody>
            <a:bodyPr/>
            <a:lstStyle/>
            <a:p>
              <a:endParaRPr lang="en-US">
                <a:solidFill>
                  <a:srgbClr val="36424A"/>
                </a:solidFill>
              </a:endParaRPr>
            </a:p>
          </p:txBody>
        </p:sp>
        <p:sp>
          <p:nvSpPr>
            <p:cNvPr id="31772" name="Line 9"/>
            <p:cNvSpPr>
              <a:spLocks noChangeShapeType="1"/>
            </p:cNvSpPr>
            <p:nvPr/>
          </p:nvSpPr>
          <p:spPr bwMode="auto">
            <a:xfrm>
              <a:off x="4622" y="1088"/>
              <a:ext cx="775" cy="0"/>
            </a:xfrm>
            <a:prstGeom prst="line">
              <a:avLst/>
            </a:prstGeom>
            <a:noFill/>
            <a:ln w="9525">
              <a:solidFill>
                <a:srgbClr val="36424A"/>
              </a:solidFill>
              <a:prstDash val="dash"/>
              <a:round/>
              <a:headEnd/>
              <a:tailEnd type="triangle" w="lg" len="lg"/>
            </a:ln>
          </p:spPr>
          <p:txBody>
            <a:bodyPr/>
            <a:lstStyle/>
            <a:p>
              <a:endParaRPr lang="en-US">
                <a:solidFill>
                  <a:srgbClr val="36424A"/>
                </a:solidFill>
              </a:endParaRPr>
            </a:p>
          </p:txBody>
        </p:sp>
        <p:sp>
          <p:nvSpPr>
            <p:cNvPr id="31773" name="Text Box 54"/>
            <p:cNvSpPr txBox="1">
              <a:spLocks noChangeArrowheads="1"/>
            </p:cNvSpPr>
            <p:nvPr/>
          </p:nvSpPr>
          <p:spPr bwMode="auto">
            <a:xfrm>
              <a:off x="4548" y="667"/>
              <a:ext cx="952" cy="250"/>
            </a:xfrm>
            <a:prstGeom prst="rect">
              <a:avLst/>
            </a:prstGeom>
            <a:noFill/>
            <a:ln w="9525" algn="ctr">
              <a:noFill/>
              <a:miter lim="800000"/>
              <a:headEnd/>
              <a:tailEnd type="none" w="lg" len="lg"/>
            </a:ln>
          </p:spPr>
          <p:txBody>
            <a:bodyPr>
              <a:spAutoFit/>
            </a:bodyPr>
            <a:lstStyle/>
            <a:p>
              <a:pPr algn="l"/>
              <a:r>
                <a:rPr lang="en-GB" sz="2000" dirty="0">
                  <a:solidFill>
                    <a:srgbClr val="36424A"/>
                  </a:solidFill>
                </a:rPr>
                <a:t>Control flow</a:t>
              </a:r>
              <a:endParaRPr lang="en-US" altLang="zh-CN" sz="2000" dirty="0">
                <a:solidFill>
                  <a:srgbClr val="36424A"/>
                </a:solidFill>
              </a:endParaRPr>
            </a:p>
          </p:txBody>
        </p:sp>
        <p:sp>
          <p:nvSpPr>
            <p:cNvPr id="31774" name="Text Box 55"/>
            <p:cNvSpPr txBox="1">
              <a:spLocks noChangeArrowheads="1"/>
            </p:cNvSpPr>
            <p:nvPr/>
          </p:nvSpPr>
          <p:spPr bwMode="auto">
            <a:xfrm>
              <a:off x="4586" y="1113"/>
              <a:ext cx="875" cy="250"/>
            </a:xfrm>
            <a:prstGeom prst="rect">
              <a:avLst/>
            </a:prstGeom>
            <a:noFill/>
            <a:ln w="9525" algn="ctr">
              <a:noFill/>
              <a:miter lim="800000"/>
              <a:headEnd/>
              <a:tailEnd type="none" w="lg" len="lg"/>
            </a:ln>
          </p:spPr>
          <p:txBody>
            <a:bodyPr>
              <a:spAutoFit/>
            </a:bodyPr>
            <a:lstStyle/>
            <a:p>
              <a:pPr algn="l"/>
              <a:r>
                <a:rPr lang="en-GB" sz="2000" dirty="0">
                  <a:solidFill>
                    <a:srgbClr val="36424A"/>
                  </a:solidFill>
                </a:rPr>
                <a:t>Object flow</a:t>
              </a:r>
              <a:endParaRPr lang="en-US" altLang="zh-CN" sz="2000" dirty="0">
                <a:solidFill>
                  <a:srgbClr val="36424A"/>
                </a:solidFill>
              </a:endParaRPr>
            </a:p>
          </p:txBody>
        </p:sp>
      </p:grpSp>
      <p:grpSp>
        <p:nvGrpSpPr>
          <p:cNvPr id="2" name="Group 1"/>
          <p:cNvGrpSpPr/>
          <p:nvPr/>
        </p:nvGrpSpPr>
        <p:grpSpPr>
          <a:xfrm>
            <a:off x="471628" y="6066306"/>
            <a:ext cx="766634" cy="708025"/>
            <a:chOff x="471628" y="6066306"/>
            <a:chExt cx="766634" cy="708025"/>
          </a:xfrm>
        </p:grpSpPr>
        <p:grpSp>
          <p:nvGrpSpPr>
            <p:cNvPr id="47" name="Group 31"/>
            <p:cNvGrpSpPr>
              <a:grpSpLocks/>
            </p:cNvGrpSpPr>
            <p:nvPr/>
          </p:nvGrpSpPr>
          <p:grpSpPr bwMode="auto">
            <a:xfrm>
              <a:off x="543152" y="6066306"/>
              <a:ext cx="646112" cy="708025"/>
              <a:chOff x="3571" y="1889"/>
              <a:chExt cx="407" cy="446"/>
            </a:xfrm>
          </p:grpSpPr>
          <p:sp>
            <p:nvSpPr>
              <p:cNvPr id="48" name="Line 27"/>
              <p:cNvSpPr>
                <a:spLocks noChangeShapeType="1"/>
              </p:cNvSpPr>
              <p:nvPr/>
            </p:nvSpPr>
            <p:spPr bwMode="auto">
              <a:xfrm flipV="1">
                <a:off x="3579" y="2127"/>
                <a:ext cx="399" cy="0"/>
              </a:xfrm>
              <a:prstGeom prst="line">
                <a:avLst/>
              </a:prstGeom>
              <a:noFill/>
              <a:ln w="76200">
                <a:solidFill>
                  <a:srgbClr val="36424A"/>
                </a:solidFill>
                <a:round/>
                <a:headEnd/>
                <a:tailEnd type="none" w="lg" len="lg"/>
              </a:ln>
            </p:spPr>
            <p:txBody>
              <a:bodyPr/>
              <a:lstStyle/>
              <a:p>
                <a:endParaRPr lang="en-US">
                  <a:solidFill>
                    <a:srgbClr val="36424A"/>
                  </a:solidFill>
                </a:endParaRPr>
              </a:p>
            </p:txBody>
          </p:sp>
          <p:sp>
            <p:nvSpPr>
              <p:cNvPr id="49" name="Line 28"/>
              <p:cNvSpPr>
                <a:spLocks noChangeShapeType="1"/>
              </p:cNvSpPr>
              <p:nvPr/>
            </p:nvSpPr>
            <p:spPr bwMode="auto">
              <a:xfrm>
                <a:off x="3771" y="1889"/>
                <a:ext cx="0" cy="208"/>
              </a:xfrm>
              <a:prstGeom prst="line">
                <a:avLst/>
              </a:prstGeom>
              <a:noFill/>
              <a:ln w="9525">
                <a:solidFill>
                  <a:srgbClr val="36424A"/>
                </a:solidFill>
                <a:round/>
                <a:headEnd/>
                <a:tailEnd type="triangle" w="lg" len="lg"/>
              </a:ln>
            </p:spPr>
            <p:txBody>
              <a:bodyPr/>
              <a:lstStyle/>
              <a:p>
                <a:endParaRPr lang="en-US">
                  <a:solidFill>
                    <a:srgbClr val="36424A"/>
                  </a:solidFill>
                </a:endParaRPr>
              </a:p>
            </p:txBody>
          </p:sp>
          <p:sp>
            <p:nvSpPr>
              <p:cNvPr id="50" name="Line 29"/>
              <p:cNvSpPr>
                <a:spLocks noChangeShapeType="1"/>
              </p:cNvSpPr>
              <p:nvPr/>
            </p:nvSpPr>
            <p:spPr bwMode="auto">
              <a:xfrm flipH="1">
                <a:off x="3571" y="2150"/>
                <a:ext cx="138" cy="185"/>
              </a:xfrm>
              <a:prstGeom prst="line">
                <a:avLst/>
              </a:prstGeom>
              <a:noFill/>
              <a:ln w="9525">
                <a:solidFill>
                  <a:srgbClr val="36424A"/>
                </a:solidFill>
                <a:round/>
                <a:headEnd/>
                <a:tailEnd type="triangle" w="lg" len="lg"/>
              </a:ln>
            </p:spPr>
            <p:txBody>
              <a:bodyPr/>
              <a:lstStyle/>
              <a:p>
                <a:endParaRPr lang="en-US">
                  <a:solidFill>
                    <a:srgbClr val="36424A"/>
                  </a:solidFill>
                </a:endParaRPr>
              </a:p>
            </p:txBody>
          </p:sp>
          <p:sp>
            <p:nvSpPr>
              <p:cNvPr id="51" name="Line 30"/>
              <p:cNvSpPr>
                <a:spLocks noChangeShapeType="1"/>
              </p:cNvSpPr>
              <p:nvPr/>
            </p:nvSpPr>
            <p:spPr bwMode="auto">
              <a:xfrm>
                <a:off x="3848" y="2150"/>
                <a:ext cx="123" cy="185"/>
              </a:xfrm>
              <a:prstGeom prst="line">
                <a:avLst/>
              </a:prstGeom>
              <a:noFill/>
              <a:ln w="9525">
                <a:solidFill>
                  <a:srgbClr val="36424A"/>
                </a:solidFill>
                <a:round/>
                <a:headEnd/>
                <a:tailEnd type="triangle" w="lg" len="lg"/>
              </a:ln>
            </p:spPr>
            <p:txBody>
              <a:bodyPr/>
              <a:lstStyle/>
              <a:p>
                <a:endParaRPr lang="en-US">
                  <a:solidFill>
                    <a:srgbClr val="36424A"/>
                  </a:solidFill>
                </a:endParaRPr>
              </a:p>
            </p:txBody>
          </p:sp>
        </p:grpSp>
        <p:sp>
          <p:nvSpPr>
            <p:cNvPr id="52" name="Line 36"/>
            <p:cNvSpPr>
              <a:spLocks noChangeShapeType="1"/>
            </p:cNvSpPr>
            <p:nvPr/>
          </p:nvSpPr>
          <p:spPr bwMode="auto">
            <a:xfrm>
              <a:off x="471628" y="6074582"/>
              <a:ext cx="195262" cy="293688"/>
            </a:xfrm>
            <a:prstGeom prst="line">
              <a:avLst/>
            </a:prstGeom>
            <a:noFill/>
            <a:ln w="9525">
              <a:solidFill>
                <a:srgbClr val="36424A"/>
              </a:solidFill>
              <a:round/>
              <a:headEnd/>
              <a:tailEnd type="triangle" w="lg" len="lg"/>
            </a:ln>
          </p:spPr>
          <p:txBody>
            <a:bodyPr/>
            <a:lstStyle/>
            <a:p>
              <a:endParaRPr lang="en-US">
                <a:solidFill>
                  <a:srgbClr val="36424A"/>
                </a:solidFill>
              </a:endParaRPr>
            </a:p>
          </p:txBody>
        </p:sp>
        <p:sp>
          <p:nvSpPr>
            <p:cNvPr id="53" name="Line 35"/>
            <p:cNvSpPr>
              <a:spLocks noChangeShapeType="1"/>
            </p:cNvSpPr>
            <p:nvPr/>
          </p:nvSpPr>
          <p:spPr bwMode="auto">
            <a:xfrm flipH="1">
              <a:off x="1019187" y="6087027"/>
              <a:ext cx="219075" cy="293688"/>
            </a:xfrm>
            <a:prstGeom prst="line">
              <a:avLst/>
            </a:prstGeom>
            <a:noFill/>
            <a:ln w="9525">
              <a:solidFill>
                <a:srgbClr val="36424A"/>
              </a:solidFill>
              <a:round/>
              <a:headEnd/>
              <a:tailEnd type="triangle" w="lg" len="lg"/>
            </a:ln>
          </p:spPr>
          <p:txBody>
            <a:bodyPr/>
            <a:lstStyle/>
            <a:p>
              <a:endParaRPr lang="en-US">
                <a:solidFill>
                  <a:srgbClr val="36424A"/>
                </a:solidFill>
              </a:endParaRPr>
            </a:p>
          </p:txBody>
        </p:sp>
      </p:grpSp>
      <p:sp>
        <p:nvSpPr>
          <p:cNvPr id="55" name="Text Box 50"/>
          <p:cNvSpPr txBox="1">
            <a:spLocks noChangeArrowheads="1"/>
          </p:cNvSpPr>
          <p:nvPr/>
        </p:nvSpPr>
        <p:spPr bwMode="auto">
          <a:xfrm>
            <a:off x="1486588" y="6199436"/>
            <a:ext cx="1878469" cy="400110"/>
          </a:xfrm>
          <a:prstGeom prst="rect">
            <a:avLst/>
          </a:prstGeom>
          <a:noFill/>
          <a:ln w="9525" algn="ctr">
            <a:noFill/>
            <a:miter lim="800000"/>
            <a:headEnd/>
            <a:tailEnd type="none" w="lg" len="lg"/>
          </a:ln>
        </p:spPr>
        <p:txBody>
          <a:bodyPr wrap="square">
            <a:spAutoFit/>
          </a:bodyPr>
          <a:lstStyle/>
          <a:p>
            <a:pPr algn="l"/>
            <a:r>
              <a:rPr lang="en-GB" altLang="zh-CN" sz="2000" dirty="0">
                <a:solidFill>
                  <a:srgbClr val="36424A"/>
                </a:solidFill>
              </a:rPr>
              <a:t>Synchronisation</a:t>
            </a:r>
            <a:endParaRPr lang="en-US" altLang="zh-CN" sz="2000" dirty="0">
              <a:solidFill>
                <a:srgbClr val="36424A"/>
              </a:solidFill>
            </a:endParaRPr>
          </a:p>
        </p:txBody>
      </p:sp>
      <p:sp>
        <p:nvSpPr>
          <p:cNvPr id="56" name="Text Box 50"/>
          <p:cNvSpPr txBox="1">
            <a:spLocks noChangeArrowheads="1"/>
          </p:cNvSpPr>
          <p:nvPr/>
        </p:nvSpPr>
        <p:spPr bwMode="auto">
          <a:xfrm>
            <a:off x="4428729" y="6210714"/>
            <a:ext cx="716552" cy="400110"/>
          </a:xfrm>
          <a:prstGeom prst="rect">
            <a:avLst/>
          </a:prstGeom>
          <a:noFill/>
          <a:ln w="9525" algn="ctr">
            <a:noFill/>
            <a:miter lim="800000"/>
            <a:headEnd/>
            <a:tailEnd type="none" w="lg" len="lg"/>
          </a:ln>
        </p:spPr>
        <p:txBody>
          <a:bodyPr wrap="square">
            <a:spAutoFit/>
          </a:bodyPr>
          <a:lstStyle/>
          <a:p>
            <a:pPr algn="l"/>
            <a:r>
              <a:rPr lang="en-GB" altLang="zh-CN" sz="2000" dirty="0">
                <a:solidFill>
                  <a:srgbClr val="36424A"/>
                </a:solidFill>
              </a:rPr>
              <a:t>Fork</a:t>
            </a:r>
            <a:endParaRPr lang="en-US" altLang="zh-CN" sz="2000" dirty="0">
              <a:solidFill>
                <a:srgbClr val="36424A"/>
              </a:solidFill>
            </a:endParaRPr>
          </a:p>
        </p:txBody>
      </p:sp>
      <p:sp>
        <p:nvSpPr>
          <p:cNvPr id="57" name="Text Box 50"/>
          <p:cNvSpPr txBox="1">
            <a:spLocks noChangeArrowheads="1"/>
          </p:cNvSpPr>
          <p:nvPr/>
        </p:nvSpPr>
        <p:spPr bwMode="auto">
          <a:xfrm>
            <a:off x="6372208" y="6221991"/>
            <a:ext cx="716552" cy="400110"/>
          </a:xfrm>
          <a:prstGeom prst="rect">
            <a:avLst/>
          </a:prstGeom>
          <a:noFill/>
          <a:ln w="9525" algn="ctr">
            <a:noFill/>
            <a:miter lim="800000"/>
            <a:headEnd/>
            <a:tailEnd type="none" w="lg" len="lg"/>
          </a:ln>
        </p:spPr>
        <p:txBody>
          <a:bodyPr wrap="square">
            <a:spAutoFit/>
          </a:bodyPr>
          <a:lstStyle/>
          <a:p>
            <a:pPr algn="l"/>
            <a:r>
              <a:rPr lang="en-GB" altLang="zh-CN" sz="2000" dirty="0">
                <a:solidFill>
                  <a:srgbClr val="36424A"/>
                </a:solidFill>
              </a:rPr>
              <a:t>Join</a:t>
            </a:r>
            <a:endParaRPr lang="en-US" altLang="zh-CN" sz="2000" dirty="0">
              <a:solidFill>
                <a:srgbClr val="36424A"/>
              </a:solidFill>
            </a:endParaRPr>
          </a:p>
        </p:txBody>
      </p:sp>
      <p:sp>
        <p:nvSpPr>
          <p:cNvPr id="5" name="Slide Number Placeholder 4">
            <a:extLst>
              <a:ext uri="{FF2B5EF4-FFF2-40B4-BE49-F238E27FC236}">
                <a16:creationId xmlns:a16="http://schemas.microsoft.com/office/drawing/2014/main" id="{40507214-B4A2-9349-97F6-9297563BF34A}"/>
              </a:ext>
            </a:extLst>
          </p:cNvPr>
          <p:cNvSpPr>
            <a:spLocks noGrp="1"/>
          </p:cNvSpPr>
          <p:nvPr>
            <p:ph type="sldNum" sz="quarter" idx="4"/>
          </p:nvPr>
        </p:nvSpPr>
        <p:spPr/>
        <p:txBody>
          <a:bodyPr/>
          <a:lstStyle/>
          <a:p>
            <a:fld id="{D6255EFE-3ACE-DA4E-80CE-7588690A9A08}" type="slidenum">
              <a:rPr lang="en-GB" smtClean="0"/>
              <a:t>21</a:t>
            </a:fld>
            <a:endParaRPr lang="en-GB"/>
          </a:p>
        </p:txBody>
      </p:sp>
    </p:spTree>
    <p:extLst>
      <p:ext uri="{BB962C8B-B14F-4D97-AF65-F5344CB8AC3E}">
        <p14:creationId xmlns:p14="http://schemas.microsoft.com/office/powerpoint/2010/main" val="2710955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a:solidFill>
            <a:srgbClr val="EEFAB9"/>
          </a:solidFill>
        </p:spPr>
        <p:txBody>
          <a:bodyPr>
            <a:normAutofit/>
          </a:bodyPr>
          <a:lstStyle/>
          <a:p>
            <a:r>
              <a:rPr lang="en-GB" sz="3600" dirty="0"/>
              <a:t>Concepts of Activity Diagrams</a:t>
            </a:r>
            <a:endParaRPr lang="en-US" altLang="zh-CN" sz="3600" dirty="0">
              <a:ea typeface="SimSun" pitchFamily="2" charset="-122"/>
            </a:endParaRPr>
          </a:p>
        </p:txBody>
      </p:sp>
      <p:sp>
        <p:nvSpPr>
          <p:cNvPr id="32774" name="Rectangle 3"/>
          <p:cNvSpPr>
            <a:spLocks noGrp="1" noChangeArrowheads="1"/>
          </p:cNvSpPr>
          <p:nvPr>
            <p:ph idx="1"/>
          </p:nvPr>
        </p:nvSpPr>
        <p:spPr/>
        <p:txBody>
          <a:bodyPr/>
          <a:lstStyle/>
          <a:p>
            <a:pPr marL="361950" indent="-361950"/>
            <a:r>
              <a:rPr lang="en-GB" sz="3200" dirty="0"/>
              <a:t>Action</a:t>
            </a:r>
          </a:p>
          <a:p>
            <a:pPr marL="722313" lvl="1" indent="-360363"/>
            <a:r>
              <a:rPr lang="en-GB" sz="2800" dirty="0"/>
              <a:t>Performed for some specific business reason</a:t>
            </a:r>
          </a:p>
          <a:p>
            <a:pPr marL="722313" lvl="1" indent="-360363"/>
            <a:r>
              <a:rPr lang="en-GB" sz="2800" dirty="0"/>
              <a:t>Can be manual or computerised</a:t>
            </a:r>
          </a:p>
          <a:p>
            <a:pPr marL="722313" lvl="1" indent="-360363"/>
            <a:r>
              <a:rPr lang="en-GB" sz="2800" dirty="0"/>
              <a:t>Named by a verb with a noun, e.g.</a:t>
            </a:r>
          </a:p>
          <a:p>
            <a:pPr marL="1073150" lvl="2" indent="-350838"/>
            <a:r>
              <a:rPr lang="en-GB" sz="2800" dirty="0"/>
              <a:t>Make payment arrangement</a:t>
            </a:r>
          </a:p>
          <a:p>
            <a:pPr marL="1073150" lvl="2" indent="-350838"/>
            <a:r>
              <a:rPr lang="en-GB" sz="2800" dirty="0"/>
              <a:t>Book an air ticket </a:t>
            </a:r>
          </a:p>
          <a:p>
            <a:pPr marL="1073150" lvl="2" indent="-350838"/>
            <a:r>
              <a:rPr lang="en-GB" sz="2800" dirty="0"/>
              <a:t>Enter delivery address</a:t>
            </a:r>
          </a:p>
          <a:p>
            <a:pPr marL="454025" indent="-360363"/>
            <a:r>
              <a:rPr lang="en-GB" sz="3200" dirty="0">
                <a:solidFill>
                  <a:srgbClr val="000066"/>
                </a:solidFill>
              </a:rPr>
              <a:t>Special actions</a:t>
            </a:r>
          </a:p>
          <a:p>
            <a:pPr marL="722313" lvl="1" indent="-360363"/>
            <a:r>
              <a:rPr lang="en-GB" sz="2400" dirty="0">
                <a:solidFill>
                  <a:srgbClr val="000066"/>
                </a:solidFill>
              </a:rPr>
              <a:t>Initial, Final, Stop, Fork, Merge, Synchronisation</a:t>
            </a:r>
          </a:p>
        </p:txBody>
      </p:sp>
      <p:sp>
        <p:nvSpPr>
          <p:cNvPr id="4" name="Slide Number Placeholder 3">
            <a:extLst>
              <a:ext uri="{FF2B5EF4-FFF2-40B4-BE49-F238E27FC236}">
                <a16:creationId xmlns:a16="http://schemas.microsoft.com/office/drawing/2014/main" id="{5A922A00-BFB6-F148-A474-009704A42132}"/>
              </a:ext>
            </a:extLst>
          </p:cNvPr>
          <p:cNvSpPr>
            <a:spLocks noGrp="1"/>
          </p:cNvSpPr>
          <p:nvPr>
            <p:ph type="sldNum" sz="quarter" idx="4"/>
          </p:nvPr>
        </p:nvSpPr>
        <p:spPr/>
        <p:txBody>
          <a:bodyPr/>
          <a:lstStyle/>
          <a:p>
            <a:fld id="{D6255EFE-3ACE-DA4E-80CE-7588690A9A08}" type="slidenum">
              <a:rPr lang="en-GB" smtClean="0"/>
              <a:t>22</a:t>
            </a:fld>
            <a:endParaRPr lang="en-GB"/>
          </a:p>
        </p:txBody>
      </p:sp>
    </p:spTree>
    <p:extLst>
      <p:ext uri="{BB962C8B-B14F-4D97-AF65-F5344CB8AC3E}">
        <p14:creationId xmlns:p14="http://schemas.microsoft.com/office/powerpoint/2010/main" val="4805099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p:txBody>
          <a:bodyPr>
            <a:normAutofit/>
          </a:bodyPr>
          <a:lstStyle/>
          <a:p>
            <a:r>
              <a:rPr lang="en-GB" sz="3600" dirty="0"/>
              <a:t>Control Flow and Object Flow</a:t>
            </a:r>
            <a:endParaRPr lang="en-US" altLang="zh-CN" sz="3600" dirty="0">
              <a:ea typeface="SimSun" pitchFamily="2" charset="-122"/>
            </a:endParaRPr>
          </a:p>
        </p:txBody>
      </p:sp>
      <p:sp>
        <p:nvSpPr>
          <p:cNvPr id="33798" name="Rectangle 3"/>
          <p:cNvSpPr>
            <a:spLocks noGrp="1" noChangeArrowheads="1"/>
          </p:cNvSpPr>
          <p:nvPr>
            <p:ph idx="1"/>
          </p:nvPr>
        </p:nvSpPr>
        <p:spPr/>
        <p:txBody>
          <a:bodyPr/>
          <a:lstStyle/>
          <a:p>
            <a:pPr marL="361950" indent="-361950">
              <a:lnSpc>
                <a:spcPct val="90000"/>
              </a:lnSpc>
            </a:pPr>
            <a:r>
              <a:rPr lang="en-GB" sz="2800" dirty="0"/>
              <a:t>Control flow</a:t>
            </a:r>
          </a:p>
          <a:p>
            <a:pPr marL="722313" lvl="1" indent="-360363">
              <a:lnSpc>
                <a:spcPct val="90000"/>
              </a:lnSpc>
            </a:pPr>
            <a:r>
              <a:rPr lang="en-GB" sz="2400" dirty="0"/>
              <a:t>Model the path of execution through a business process</a:t>
            </a:r>
          </a:p>
          <a:p>
            <a:pPr marL="722313" lvl="1" indent="-360363">
              <a:lnSpc>
                <a:spcPct val="90000"/>
              </a:lnSpc>
            </a:pPr>
            <a:r>
              <a:rPr lang="en-GB" sz="2400" dirty="0"/>
              <a:t>Can only be attached to action/activity nodes</a:t>
            </a:r>
          </a:p>
          <a:p>
            <a:pPr marL="361950" indent="-361950">
              <a:lnSpc>
                <a:spcPct val="90000"/>
              </a:lnSpc>
            </a:pPr>
            <a:r>
              <a:rPr lang="en-GB" sz="2800" dirty="0"/>
              <a:t>Object flow</a:t>
            </a:r>
          </a:p>
          <a:p>
            <a:pPr marL="722313" lvl="1" indent="-360363">
              <a:lnSpc>
                <a:spcPct val="90000"/>
              </a:lnSpc>
            </a:pPr>
            <a:r>
              <a:rPr lang="en-GB" sz="2400" dirty="0"/>
              <a:t>Model flow of object through a business process</a:t>
            </a:r>
          </a:p>
          <a:p>
            <a:pPr marL="722313" lvl="1" indent="-360363">
              <a:lnSpc>
                <a:spcPct val="90000"/>
              </a:lnSpc>
            </a:pPr>
            <a:r>
              <a:rPr lang="en-GB" sz="2400" dirty="0"/>
              <a:t>Show the objects that flow into and out of the actions or activities (i.e. passed between activities)</a:t>
            </a:r>
          </a:p>
          <a:p>
            <a:pPr marL="722313" lvl="1" indent="-360363">
              <a:lnSpc>
                <a:spcPct val="90000"/>
              </a:lnSpc>
            </a:pPr>
            <a:r>
              <a:rPr lang="en-GB" sz="2400" dirty="0"/>
              <a:t>Similar to dataflow in dataflow diagrams</a:t>
            </a:r>
          </a:p>
          <a:p>
            <a:pPr marL="722313" lvl="1" indent="-360363">
              <a:lnSpc>
                <a:spcPct val="90000"/>
              </a:lnSpc>
            </a:pPr>
            <a:r>
              <a:rPr lang="en-GB" sz="2400" dirty="0"/>
              <a:t>Attached to one action/activity node and an object node</a:t>
            </a:r>
            <a:endParaRPr lang="en-US" altLang="zh-CN" sz="2400" dirty="0">
              <a:ea typeface="SimSun" pitchFamily="2" charset="-122"/>
            </a:endParaRPr>
          </a:p>
        </p:txBody>
      </p:sp>
      <p:sp>
        <p:nvSpPr>
          <p:cNvPr id="4" name="Slide Number Placeholder 3">
            <a:extLst>
              <a:ext uri="{FF2B5EF4-FFF2-40B4-BE49-F238E27FC236}">
                <a16:creationId xmlns:a16="http://schemas.microsoft.com/office/drawing/2014/main" id="{A71D9381-A74E-CD45-B31C-A566AC9B31A7}"/>
              </a:ext>
            </a:extLst>
          </p:cNvPr>
          <p:cNvSpPr>
            <a:spLocks noGrp="1"/>
          </p:cNvSpPr>
          <p:nvPr>
            <p:ph type="sldNum" sz="quarter" idx="4"/>
          </p:nvPr>
        </p:nvSpPr>
        <p:spPr/>
        <p:txBody>
          <a:bodyPr/>
          <a:lstStyle/>
          <a:p>
            <a:fld id="{D6255EFE-3ACE-DA4E-80CE-7588690A9A08}" type="slidenum">
              <a:rPr lang="en-GB" smtClean="0"/>
              <a:t>23</a:t>
            </a:fld>
            <a:endParaRPr lang="en-GB"/>
          </a:p>
        </p:txBody>
      </p:sp>
    </p:spTree>
    <p:extLst>
      <p:ext uri="{BB962C8B-B14F-4D97-AF65-F5344CB8AC3E}">
        <p14:creationId xmlns:p14="http://schemas.microsoft.com/office/powerpoint/2010/main" val="550677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ChangeArrowheads="1"/>
          </p:cNvSpPr>
          <p:nvPr>
            <p:ph type="title"/>
          </p:nvPr>
        </p:nvSpPr>
        <p:spPr>
          <a:xfrm>
            <a:off x="317482" y="188641"/>
            <a:ext cx="8681462" cy="648072"/>
          </a:xfrm>
          <a:solidFill>
            <a:srgbClr val="EEFAB9"/>
          </a:solidFill>
        </p:spPr>
        <p:txBody>
          <a:bodyPr>
            <a:noAutofit/>
          </a:bodyPr>
          <a:lstStyle/>
          <a:p>
            <a:r>
              <a:rPr lang="en-GB" sz="3200" dirty="0"/>
              <a:t>Example: Make an Appointment</a:t>
            </a:r>
            <a:endParaRPr lang="en-US" altLang="zh-CN" sz="3200" dirty="0">
              <a:ea typeface="SimSun" pitchFamily="2" charset="-122"/>
            </a:endParaRPr>
          </a:p>
        </p:txBody>
      </p:sp>
      <p:sp>
        <p:nvSpPr>
          <p:cNvPr id="34822" name="AutoShape 4"/>
          <p:cNvSpPr>
            <a:spLocks noChangeArrowheads="1"/>
          </p:cNvSpPr>
          <p:nvPr/>
        </p:nvSpPr>
        <p:spPr bwMode="auto">
          <a:xfrm>
            <a:off x="3406641" y="1816577"/>
            <a:ext cx="1783030" cy="408623"/>
          </a:xfrm>
          <a:prstGeom prst="roundRect">
            <a:avLst>
              <a:gd name="adj" fmla="val 16667"/>
            </a:avLst>
          </a:prstGeom>
          <a:noFill/>
          <a:ln w="9525" algn="ctr">
            <a:solidFill>
              <a:srgbClr val="36424A"/>
            </a:solidFill>
            <a:round/>
            <a:headEnd/>
            <a:tailEnd/>
          </a:ln>
        </p:spPr>
        <p:txBody>
          <a:bodyPr wrap="none" anchor="ctr">
            <a:spAutoFit/>
          </a:bodyPr>
          <a:lstStyle/>
          <a:p>
            <a:pPr algn="ctr"/>
            <a:r>
              <a:rPr lang="en-GB" dirty="0">
                <a:solidFill>
                  <a:srgbClr val="36424A"/>
                </a:solidFill>
              </a:rPr>
              <a:t>Get patient info</a:t>
            </a:r>
            <a:endParaRPr lang="en-US" altLang="zh-CN" dirty="0">
              <a:solidFill>
                <a:srgbClr val="36424A"/>
              </a:solidFill>
            </a:endParaRPr>
          </a:p>
        </p:txBody>
      </p:sp>
      <p:sp>
        <p:nvSpPr>
          <p:cNvPr id="34823" name="AutoShape 6"/>
          <p:cNvSpPr>
            <a:spLocks noChangeArrowheads="1"/>
          </p:cNvSpPr>
          <p:nvPr/>
        </p:nvSpPr>
        <p:spPr bwMode="auto">
          <a:xfrm>
            <a:off x="4016375" y="2663825"/>
            <a:ext cx="395288" cy="423863"/>
          </a:xfrm>
          <a:prstGeom prst="diamond">
            <a:avLst/>
          </a:prstGeom>
          <a:noFill/>
          <a:ln w="19050" algn="ctr">
            <a:solidFill>
              <a:srgbClr val="36424A"/>
            </a:solidFill>
            <a:miter lim="800000"/>
            <a:headEnd/>
            <a:tailEnd/>
          </a:ln>
        </p:spPr>
        <p:txBody>
          <a:bodyPr wrap="none" anchor="ctr"/>
          <a:lstStyle/>
          <a:p>
            <a:endParaRPr lang="en-US"/>
          </a:p>
        </p:txBody>
      </p:sp>
      <p:sp>
        <p:nvSpPr>
          <p:cNvPr id="34824" name="Line 7"/>
          <p:cNvSpPr>
            <a:spLocks noChangeShapeType="1"/>
          </p:cNvSpPr>
          <p:nvPr/>
        </p:nvSpPr>
        <p:spPr bwMode="auto">
          <a:xfrm>
            <a:off x="4203700" y="2225200"/>
            <a:ext cx="11113" cy="438625"/>
          </a:xfrm>
          <a:prstGeom prst="line">
            <a:avLst/>
          </a:prstGeom>
          <a:noFill/>
          <a:ln w="19050">
            <a:solidFill>
              <a:srgbClr val="36424A"/>
            </a:solidFill>
            <a:round/>
            <a:headEnd/>
            <a:tailEnd type="triangle" w="lg" len="lg"/>
          </a:ln>
        </p:spPr>
        <p:txBody>
          <a:bodyPr/>
          <a:lstStyle/>
          <a:p>
            <a:endParaRPr lang="en-US"/>
          </a:p>
        </p:txBody>
      </p:sp>
      <p:sp>
        <p:nvSpPr>
          <p:cNvPr id="34825" name="Freeform 8"/>
          <p:cNvSpPr>
            <a:spLocks/>
          </p:cNvSpPr>
          <p:nvPr/>
        </p:nvSpPr>
        <p:spPr bwMode="auto">
          <a:xfrm>
            <a:off x="4411663" y="2884488"/>
            <a:ext cx="1222375" cy="401637"/>
          </a:xfrm>
          <a:custGeom>
            <a:avLst/>
            <a:gdLst>
              <a:gd name="T0" fmla="*/ 0 w 182"/>
              <a:gd name="T1" fmla="*/ 0 h 181"/>
              <a:gd name="T2" fmla="*/ 1222375 w 182"/>
              <a:gd name="T3" fmla="*/ 0 h 181"/>
              <a:gd name="T4" fmla="*/ 1222375 w 182"/>
              <a:gd name="T5" fmla="*/ 401637 h 181"/>
              <a:gd name="T6" fmla="*/ 0 60000 65536"/>
              <a:gd name="T7" fmla="*/ 0 60000 65536"/>
              <a:gd name="T8" fmla="*/ 0 60000 65536"/>
              <a:gd name="T9" fmla="*/ 0 w 182"/>
              <a:gd name="T10" fmla="*/ 0 h 181"/>
              <a:gd name="T11" fmla="*/ 182 w 182"/>
              <a:gd name="T12" fmla="*/ 181 h 181"/>
            </a:gdLst>
            <a:ahLst/>
            <a:cxnLst>
              <a:cxn ang="T6">
                <a:pos x="T0" y="T1"/>
              </a:cxn>
              <a:cxn ang="T7">
                <a:pos x="T2" y="T3"/>
              </a:cxn>
              <a:cxn ang="T8">
                <a:pos x="T4" y="T5"/>
              </a:cxn>
            </a:cxnLst>
            <a:rect l="T9" t="T10" r="T11" b="T12"/>
            <a:pathLst>
              <a:path w="182" h="181">
                <a:moveTo>
                  <a:pt x="0" y="0"/>
                </a:moveTo>
                <a:lnTo>
                  <a:pt x="182" y="0"/>
                </a:lnTo>
                <a:lnTo>
                  <a:pt x="182" y="181"/>
                </a:lnTo>
              </a:path>
            </a:pathLst>
          </a:custGeom>
          <a:noFill/>
          <a:ln w="19050" cap="flat" cmpd="sng">
            <a:solidFill>
              <a:srgbClr val="36424A"/>
            </a:solidFill>
            <a:prstDash val="solid"/>
            <a:round/>
            <a:headEnd type="none" w="med" len="med"/>
            <a:tailEnd type="triangle" w="lg" len="lg"/>
          </a:ln>
        </p:spPr>
        <p:txBody>
          <a:bodyPr/>
          <a:lstStyle/>
          <a:p>
            <a:endParaRPr lang="en-US"/>
          </a:p>
        </p:txBody>
      </p:sp>
      <p:sp>
        <p:nvSpPr>
          <p:cNvPr id="34826" name="Freeform 9"/>
          <p:cNvSpPr>
            <a:spLocks/>
          </p:cNvSpPr>
          <p:nvPr/>
        </p:nvSpPr>
        <p:spPr bwMode="auto">
          <a:xfrm flipH="1">
            <a:off x="2828925" y="2873375"/>
            <a:ext cx="1189038" cy="708025"/>
          </a:xfrm>
          <a:custGeom>
            <a:avLst/>
            <a:gdLst>
              <a:gd name="T0" fmla="*/ 0 w 182"/>
              <a:gd name="T1" fmla="*/ 0 h 181"/>
              <a:gd name="T2" fmla="*/ 1189038 w 182"/>
              <a:gd name="T3" fmla="*/ 0 h 181"/>
              <a:gd name="T4" fmla="*/ 1189038 w 182"/>
              <a:gd name="T5" fmla="*/ 708025 h 181"/>
              <a:gd name="T6" fmla="*/ 0 60000 65536"/>
              <a:gd name="T7" fmla="*/ 0 60000 65536"/>
              <a:gd name="T8" fmla="*/ 0 60000 65536"/>
              <a:gd name="T9" fmla="*/ 0 w 182"/>
              <a:gd name="T10" fmla="*/ 0 h 181"/>
              <a:gd name="T11" fmla="*/ 182 w 182"/>
              <a:gd name="T12" fmla="*/ 181 h 181"/>
            </a:gdLst>
            <a:ahLst/>
            <a:cxnLst>
              <a:cxn ang="T6">
                <a:pos x="T0" y="T1"/>
              </a:cxn>
              <a:cxn ang="T7">
                <a:pos x="T2" y="T3"/>
              </a:cxn>
              <a:cxn ang="T8">
                <a:pos x="T4" y="T5"/>
              </a:cxn>
            </a:cxnLst>
            <a:rect l="T9" t="T10" r="T11" b="T12"/>
            <a:pathLst>
              <a:path w="182" h="181">
                <a:moveTo>
                  <a:pt x="0" y="0"/>
                </a:moveTo>
                <a:lnTo>
                  <a:pt x="182" y="0"/>
                </a:lnTo>
                <a:lnTo>
                  <a:pt x="182" y="181"/>
                </a:lnTo>
              </a:path>
            </a:pathLst>
          </a:custGeom>
          <a:noFill/>
          <a:ln w="19050" cap="flat" cmpd="sng">
            <a:solidFill>
              <a:srgbClr val="36424A"/>
            </a:solidFill>
            <a:prstDash val="solid"/>
            <a:round/>
            <a:headEnd type="none" w="med" len="med"/>
            <a:tailEnd type="triangle" w="lg" len="lg"/>
          </a:ln>
        </p:spPr>
        <p:txBody>
          <a:bodyPr/>
          <a:lstStyle/>
          <a:p>
            <a:endParaRPr lang="en-US"/>
          </a:p>
        </p:txBody>
      </p:sp>
      <p:sp>
        <p:nvSpPr>
          <p:cNvPr id="34827" name="Oval 10"/>
          <p:cNvSpPr>
            <a:spLocks noChangeArrowheads="1"/>
          </p:cNvSpPr>
          <p:nvPr/>
        </p:nvSpPr>
        <p:spPr bwMode="auto">
          <a:xfrm>
            <a:off x="3979863" y="803275"/>
            <a:ext cx="433387" cy="433388"/>
          </a:xfrm>
          <a:prstGeom prst="ellipse">
            <a:avLst/>
          </a:prstGeom>
          <a:solidFill>
            <a:schemeClr val="bg2"/>
          </a:solidFill>
          <a:ln w="9525" algn="ctr">
            <a:solidFill>
              <a:schemeClr val="tx1"/>
            </a:solidFill>
            <a:round/>
            <a:headEnd/>
            <a:tailEnd/>
          </a:ln>
        </p:spPr>
        <p:txBody>
          <a:bodyPr wrap="none" anchor="ctr"/>
          <a:lstStyle/>
          <a:p>
            <a:endParaRPr lang="en-US"/>
          </a:p>
        </p:txBody>
      </p:sp>
      <p:sp>
        <p:nvSpPr>
          <p:cNvPr id="34828" name="Line 11"/>
          <p:cNvSpPr>
            <a:spLocks noChangeShapeType="1"/>
          </p:cNvSpPr>
          <p:nvPr/>
        </p:nvSpPr>
        <p:spPr bwMode="auto">
          <a:xfrm>
            <a:off x="4186238" y="1235075"/>
            <a:ext cx="17462" cy="581502"/>
          </a:xfrm>
          <a:prstGeom prst="line">
            <a:avLst/>
          </a:prstGeom>
          <a:noFill/>
          <a:ln w="9525">
            <a:solidFill>
              <a:srgbClr val="36424A"/>
            </a:solidFill>
            <a:round/>
            <a:headEnd/>
            <a:tailEnd type="triangle" w="lg" len="lg"/>
          </a:ln>
        </p:spPr>
        <p:txBody>
          <a:bodyPr wrap="square">
            <a:spAutoFit/>
          </a:bodyPr>
          <a:lstStyle/>
          <a:p>
            <a:endParaRPr lang="en-US"/>
          </a:p>
        </p:txBody>
      </p:sp>
      <p:sp>
        <p:nvSpPr>
          <p:cNvPr id="34829" name="AutoShape 12"/>
          <p:cNvSpPr>
            <a:spLocks noChangeArrowheads="1"/>
          </p:cNvSpPr>
          <p:nvPr/>
        </p:nvSpPr>
        <p:spPr bwMode="auto">
          <a:xfrm>
            <a:off x="3984625" y="3362802"/>
            <a:ext cx="3379788" cy="408623"/>
          </a:xfrm>
          <a:prstGeom prst="roundRect">
            <a:avLst>
              <a:gd name="adj" fmla="val 16667"/>
            </a:avLst>
          </a:prstGeom>
          <a:noFill/>
          <a:ln w="9525" algn="ctr">
            <a:solidFill>
              <a:srgbClr val="36424A"/>
            </a:solidFill>
            <a:round/>
            <a:headEnd/>
            <a:tailEnd/>
          </a:ln>
        </p:spPr>
        <p:txBody>
          <a:bodyPr anchor="ctr">
            <a:spAutoFit/>
          </a:bodyPr>
          <a:lstStyle/>
          <a:p>
            <a:pPr algn="ctr"/>
            <a:r>
              <a:rPr lang="en-GB" dirty="0">
                <a:solidFill>
                  <a:srgbClr val="36424A"/>
                </a:solidFill>
              </a:rPr>
              <a:t>Create new patient record</a:t>
            </a:r>
            <a:endParaRPr lang="en-US" altLang="zh-CN" dirty="0">
              <a:solidFill>
                <a:srgbClr val="36424A"/>
              </a:solidFill>
            </a:endParaRPr>
          </a:p>
        </p:txBody>
      </p:sp>
      <p:sp>
        <p:nvSpPr>
          <p:cNvPr id="34830" name="AutoShape 14"/>
          <p:cNvSpPr>
            <a:spLocks noChangeArrowheads="1"/>
          </p:cNvSpPr>
          <p:nvPr/>
        </p:nvSpPr>
        <p:spPr bwMode="auto">
          <a:xfrm>
            <a:off x="3911600" y="3994150"/>
            <a:ext cx="401638" cy="446088"/>
          </a:xfrm>
          <a:prstGeom prst="diamond">
            <a:avLst/>
          </a:prstGeom>
          <a:noFill/>
          <a:ln w="19050" algn="ctr">
            <a:solidFill>
              <a:srgbClr val="36424A"/>
            </a:solidFill>
            <a:miter lim="800000"/>
            <a:headEnd/>
            <a:tailEnd/>
          </a:ln>
        </p:spPr>
        <p:txBody>
          <a:bodyPr wrap="none" anchor="ctr"/>
          <a:lstStyle/>
          <a:p>
            <a:endParaRPr lang="en-US"/>
          </a:p>
        </p:txBody>
      </p:sp>
      <p:sp>
        <p:nvSpPr>
          <p:cNvPr id="34831" name="Line 15"/>
          <p:cNvSpPr>
            <a:spLocks noChangeShapeType="1"/>
          </p:cNvSpPr>
          <p:nvPr/>
        </p:nvSpPr>
        <p:spPr bwMode="auto">
          <a:xfrm flipH="1">
            <a:off x="4097338" y="4421188"/>
            <a:ext cx="15875" cy="461962"/>
          </a:xfrm>
          <a:prstGeom prst="line">
            <a:avLst/>
          </a:prstGeom>
          <a:noFill/>
          <a:ln w="19050">
            <a:solidFill>
              <a:srgbClr val="36424A"/>
            </a:solidFill>
            <a:round/>
            <a:headEnd/>
            <a:tailEnd type="triangle" w="lg" len="lg"/>
          </a:ln>
        </p:spPr>
        <p:txBody>
          <a:bodyPr/>
          <a:lstStyle/>
          <a:p>
            <a:endParaRPr lang="en-US"/>
          </a:p>
        </p:txBody>
      </p:sp>
      <p:sp>
        <p:nvSpPr>
          <p:cNvPr id="34832" name="Freeform 16"/>
          <p:cNvSpPr>
            <a:spLocks/>
          </p:cNvSpPr>
          <p:nvPr/>
        </p:nvSpPr>
        <p:spPr bwMode="auto">
          <a:xfrm rot="5400000">
            <a:off x="4749006" y="3382170"/>
            <a:ext cx="415925" cy="1287462"/>
          </a:xfrm>
          <a:custGeom>
            <a:avLst/>
            <a:gdLst>
              <a:gd name="T0" fmla="*/ 0 w 182"/>
              <a:gd name="T1" fmla="*/ 0 h 181"/>
              <a:gd name="T2" fmla="*/ 415925 w 182"/>
              <a:gd name="T3" fmla="*/ 0 h 181"/>
              <a:gd name="T4" fmla="*/ 415925 w 182"/>
              <a:gd name="T5" fmla="*/ 1287462 h 181"/>
              <a:gd name="T6" fmla="*/ 0 60000 65536"/>
              <a:gd name="T7" fmla="*/ 0 60000 65536"/>
              <a:gd name="T8" fmla="*/ 0 60000 65536"/>
              <a:gd name="T9" fmla="*/ 0 w 182"/>
              <a:gd name="T10" fmla="*/ 0 h 181"/>
              <a:gd name="T11" fmla="*/ 182 w 182"/>
              <a:gd name="T12" fmla="*/ 181 h 181"/>
            </a:gdLst>
            <a:ahLst/>
            <a:cxnLst>
              <a:cxn ang="T6">
                <a:pos x="T0" y="T1"/>
              </a:cxn>
              <a:cxn ang="T7">
                <a:pos x="T2" y="T3"/>
              </a:cxn>
              <a:cxn ang="T8">
                <a:pos x="T4" y="T5"/>
              </a:cxn>
            </a:cxnLst>
            <a:rect l="T9" t="T10" r="T11" b="T12"/>
            <a:pathLst>
              <a:path w="182" h="181">
                <a:moveTo>
                  <a:pt x="0" y="0"/>
                </a:moveTo>
                <a:lnTo>
                  <a:pt x="182" y="0"/>
                </a:lnTo>
                <a:lnTo>
                  <a:pt x="182" y="181"/>
                </a:lnTo>
              </a:path>
            </a:pathLst>
          </a:custGeom>
          <a:noFill/>
          <a:ln w="19050" cap="flat" cmpd="sng">
            <a:solidFill>
              <a:srgbClr val="36424A"/>
            </a:solidFill>
            <a:prstDash val="solid"/>
            <a:round/>
            <a:headEnd type="none" w="med" len="med"/>
            <a:tailEnd type="triangle" w="lg" len="lg"/>
          </a:ln>
        </p:spPr>
        <p:txBody>
          <a:bodyPr/>
          <a:lstStyle/>
          <a:p>
            <a:endParaRPr lang="en-US"/>
          </a:p>
        </p:txBody>
      </p:sp>
      <p:sp>
        <p:nvSpPr>
          <p:cNvPr id="34833" name="Freeform 17"/>
          <p:cNvSpPr>
            <a:spLocks/>
          </p:cNvSpPr>
          <p:nvPr/>
        </p:nvSpPr>
        <p:spPr bwMode="auto">
          <a:xfrm rot="16200000" flipH="1">
            <a:off x="3059906" y="3371057"/>
            <a:ext cx="625475" cy="1077912"/>
          </a:xfrm>
          <a:custGeom>
            <a:avLst/>
            <a:gdLst>
              <a:gd name="T0" fmla="*/ 0 w 182"/>
              <a:gd name="T1" fmla="*/ 0 h 181"/>
              <a:gd name="T2" fmla="*/ 625475 w 182"/>
              <a:gd name="T3" fmla="*/ 0 h 181"/>
              <a:gd name="T4" fmla="*/ 625475 w 182"/>
              <a:gd name="T5" fmla="*/ 1077912 h 181"/>
              <a:gd name="T6" fmla="*/ 0 60000 65536"/>
              <a:gd name="T7" fmla="*/ 0 60000 65536"/>
              <a:gd name="T8" fmla="*/ 0 60000 65536"/>
              <a:gd name="T9" fmla="*/ 0 w 182"/>
              <a:gd name="T10" fmla="*/ 0 h 181"/>
              <a:gd name="T11" fmla="*/ 182 w 182"/>
              <a:gd name="T12" fmla="*/ 181 h 181"/>
            </a:gdLst>
            <a:ahLst/>
            <a:cxnLst>
              <a:cxn ang="T6">
                <a:pos x="T0" y="T1"/>
              </a:cxn>
              <a:cxn ang="T7">
                <a:pos x="T2" y="T3"/>
              </a:cxn>
              <a:cxn ang="T8">
                <a:pos x="T4" y="T5"/>
              </a:cxn>
            </a:cxnLst>
            <a:rect l="T9" t="T10" r="T11" b="T12"/>
            <a:pathLst>
              <a:path w="182" h="181">
                <a:moveTo>
                  <a:pt x="0" y="0"/>
                </a:moveTo>
                <a:lnTo>
                  <a:pt x="182" y="0"/>
                </a:lnTo>
                <a:lnTo>
                  <a:pt x="182" y="181"/>
                </a:lnTo>
              </a:path>
            </a:pathLst>
          </a:custGeom>
          <a:noFill/>
          <a:ln w="19050" cap="flat" cmpd="sng">
            <a:solidFill>
              <a:srgbClr val="36424A"/>
            </a:solidFill>
            <a:prstDash val="solid"/>
            <a:round/>
            <a:headEnd type="none" w="med" len="med"/>
            <a:tailEnd type="triangle" w="lg" len="lg"/>
          </a:ln>
        </p:spPr>
        <p:txBody>
          <a:bodyPr/>
          <a:lstStyle/>
          <a:p>
            <a:endParaRPr lang="en-US"/>
          </a:p>
        </p:txBody>
      </p:sp>
      <p:sp>
        <p:nvSpPr>
          <p:cNvPr id="34834" name="Text Box 18"/>
          <p:cNvSpPr txBox="1">
            <a:spLocks noChangeArrowheads="1"/>
          </p:cNvSpPr>
          <p:nvPr/>
        </p:nvSpPr>
        <p:spPr bwMode="auto">
          <a:xfrm>
            <a:off x="609600" y="2998788"/>
            <a:ext cx="1797050" cy="646331"/>
          </a:xfrm>
          <a:prstGeom prst="rect">
            <a:avLst/>
          </a:prstGeom>
          <a:noFill/>
          <a:ln w="9525" algn="ctr">
            <a:solidFill>
              <a:srgbClr val="36424A"/>
            </a:solidFill>
            <a:miter lim="800000"/>
            <a:headEnd/>
            <a:tailEnd/>
          </a:ln>
        </p:spPr>
        <p:txBody>
          <a:bodyPr>
            <a:spAutoFit/>
          </a:bodyPr>
          <a:lstStyle/>
          <a:p>
            <a:pPr algn="ctr"/>
            <a:r>
              <a:rPr lang="en-GB" dirty="0">
                <a:solidFill>
                  <a:srgbClr val="36424A"/>
                </a:solidFill>
              </a:rPr>
              <a:t>Appt request form</a:t>
            </a:r>
            <a:endParaRPr lang="en-US" altLang="zh-CN" dirty="0">
              <a:solidFill>
                <a:srgbClr val="36424A"/>
              </a:solidFill>
            </a:endParaRPr>
          </a:p>
        </p:txBody>
      </p:sp>
      <p:sp>
        <p:nvSpPr>
          <p:cNvPr id="34835" name="Freeform 19"/>
          <p:cNvSpPr>
            <a:spLocks/>
          </p:cNvSpPr>
          <p:nvPr/>
        </p:nvSpPr>
        <p:spPr bwMode="auto">
          <a:xfrm>
            <a:off x="1523999" y="2020888"/>
            <a:ext cx="1868485" cy="963612"/>
          </a:xfrm>
          <a:custGeom>
            <a:avLst/>
            <a:gdLst>
              <a:gd name="T0" fmla="*/ 1684338 w 1061"/>
              <a:gd name="T1" fmla="*/ 0 h 607"/>
              <a:gd name="T2" fmla="*/ 690563 w 1061"/>
              <a:gd name="T3" fmla="*/ 0 h 607"/>
              <a:gd name="T4" fmla="*/ 0 w 1061"/>
              <a:gd name="T5" fmla="*/ 963612 h 607"/>
              <a:gd name="T6" fmla="*/ 0 60000 65536"/>
              <a:gd name="T7" fmla="*/ 0 60000 65536"/>
              <a:gd name="T8" fmla="*/ 0 60000 65536"/>
              <a:gd name="T9" fmla="*/ 0 w 1061"/>
              <a:gd name="T10" fmla="*/ 0 h 607"/>
              <a:gd name="T11" fmla="*/ 1061 w 1061"/>
              <a:gd name="T12" fmla="*/ 607 h 607"/>
            </a:gdLst>
            <a:ahLst/>
            <a:cxnLst>
              <a:cxn ang="T6">
                <a:pos x="T0" y="T1"/>
              </a:cxn>
              <a:cxn ang="T7">
                <a:pos x="T2" y="T3"/>
              </a:cxn>
              <a:cxn ang="T8">
                <a:pos x="T4" y="T5"/>
              </a:cxn>
            </a:cxnLst>
            <a:rect l="T9" t="T10" r="T11" b="T12"/>
            <a:pathLst>
              <a:path w="1061" h="607">
                <a:moveTo>
                  <a:pt x="1061" y="0"/>
                </a:moveTo>
                <a:lnTo>
                  <a:pt x="435" y="0"/>
                </a:lnTo>
                <a:lnTo>
                  <a:pt x="0" y="607"/>
                </a:lnTo>
              </a:path>
            </a:pathLst>
          </a:custGeom>
          <a:noFill/>
          <a:ln w="9525" cap="flat" cmpd="sng">
            <a:solidFill>
              <a:srgbClr val="36424A"/>
            </a:solidFill>
            <a:prstDash val="dash"/>
            <a:round/>
            <a:headEnd type="none" w="med" len="med"/>
            <a:tailEnd type="triangle" w="lg" len="lg"/>
          </a:ln>
        </p:spPr>
        <p:txBody>
          <a:bodyPr wrap="square">
            <a:spAutoFit/>
          </a:bodyPr>
          <a:lstStyle/>
          <a:p>
            <a:endParaRPr lang="en-US"/>
          </a:p>
        </p:txBody>
      </p:sp>
      <p:sp>
        <p:nvSpPr>
          <p:cNvPr id="34836" name="Text Box 20"/>
          <p:cNvSpPr txBox="1">
            <a:spLocks noChangeArrowheads="1"/>
          </p:cNvSpPr>
          <p:nvPr/>
        </p:nvSpPr>
        <p:spPr bwMode="auto">
          <a:xfrm>
            <a:off x="6777038" y="4033838"/>
            <a:ext cx="1797050" cy="646331"/>
          </a:xfrm>
          <a:prstGeom prst="rect">
            <a:avLst/>
          </a:prstGeom>
          <a:noFill/>
          <a:ln w="9525" algn="ctr">
            <a:solidFill>
              <a:srgbClr val="36424A"/>
            </a:solidFill>
            <a:miter lim="800000"/>
            <a:headEnd/>
            <a:tailEnd/>
          </a:ln>
        </p:spPr>
        <p:txBody>
          <a:bodyPr>
            <a:spAutoFit/>
          </a:bodyPr>
          <a:lstStyle/>
          <a:p>
            <a:pPr algn="ctr"/>
            <a:r>
              <a:rPr lang="en-GB" dirty="0">
                <a:solidFill>
                  <a:srgbClr val="36424A"/>
                </a:solidFill>
              </a:rPr>
              <a:t>Appt request form</a:t>
            </a:r>
            <a:endParaRPr lang="en-US" altLang="zh-CN" dirty="0">
              <a:solidFill>
                <a:srgbClr val="36424A"/>
              </a:solidFill>
            </a:endParaRPr>
          </a:p>
        </p:txBody>
      </p:sp>
      <p:sp>
        <p:nvSpPr>
          <p:cNvPr id="34837" name="AutoShape 21"/>
          <p:cNvSpPr>
            <a:spLocks noChangeArrowheads="1"/>
          </p:cNvSpPr>
          <p:nvPr/>
        </p:nvSpPr>
        <p:spPr bwMode="auto">
          <a:xfrm>
            <a:off x="2888868" y="4905852"/>
            <a:ext cx="2426464" cy="408623"/>
          </a:xfrm>
          <a:prstGeom prst="roundRect">
            <a:avLst>
              <a:gd name="adj" fmla="val 16667"/>
            </a:avLst>
          </a:prstGeom>
          <a:noFill/>
          <a:ln w="9525" algn="ctr">
            <a:solidFill>
              <a:srgbClr val="36424A"/>
            </a:solidFill>
            <a:round/>
            <a:headEnd/>
            <a:tailEnd/>
          </a:ln>
        </p:spPr>
        <p:txBody>
          <a:bodyPr wrap="none" anchor="ctr">
            <a:spAutoFit/>
          </a:bodyPr>
          <a:lstStyle/>
          <a:p>
            <a:pPr algn="ctr"/>
            <a:r>
              <a:rPr lang="en-GB" dirty="0">
                <a:solidFill>
                  <a:srgbClr val="36424A"/>
                </a:solidFill>
              </a:rPr>
              <a:t>Make an appointment</a:t>
            </a:r>
            <a:endParaRPr lang="en-US" altLang="zh-CN" dirty="0">
              <a:solidFill>
                <a:srgbClr val="36424A"/>
              </a:solidFill>
            </a:endParaRPr>
          </a:p>
        </p:txBody>
      </p:sp>
      <p:sp>
        <p:nvSpPr>
          <p:cNvPr id="34838" name="Freeform 22"/>
          <p:cNvSpPr>
            <a:spLocks/>
          </p:cNvSpPr>
          <p:nvPr/>
        </p:nvSpPr>
        <p:spPr bwMode="auto">
          <a:xfrm>
            <a:off x="1443038" y="3817937"/>
            <a:ext cx="1422401" cy="1285875"/>
          </a:xfrm>
          <a:custGeom>
            <a:avLst/>
            <a:gdLst>
              <a:gd name="T0" fmla="*/ 17463 w 758"/>
              <a:gd name="T1" fmla="*/ 0 h 768"/>
              <a:gd name="T2" fmla="*/ 0 w 758"/>
              <a:gd name="T3" fmla="*/ 722312 h 768"/>
              <a:gd name="T4" fmla="*/ 1203325 w 758"/>
              <a:gd name="T5" fmla="*/ 1219200 h 768"/>
              <a:gd name="T6" fmla="*/ 0 60000 65536"/>
              <a:gd name="T7" fmla="*/ 0 60000 65536"/>
              <a:gd name="T8" fmla="*/ 0 60000 65536"/>
              <a:gd name="T9" fmla="*/ 0 w 758"/>
              <a:gd name="T10" fmla="*/ 0 h 768"/>
              <a:gd name="T11" fmla="*/ 758 w 758"/>
              <a:gd name="T12" fmla="*/ 768 h 768"/>
            </a:gdLst>
            <a:ahLst/>
            <a:cxnLst>
              <a:cxn ang="T6">
                <a:pos x="T0" y="T1"/>
              </a:cxn>
              <a:cxn ang="T7">
                <a:pos x="T2" y="T3"/>
              </a:cxn>
              <a:cxn ang="T8">
                <a:pos x="T4" y="T5"/>
              </a:cxn>
            </a:cxnLst>
            <a:rect l="T9" t="T10" r="T11" b="T12"/>
            <a:pathLst>
              <a:path w="758" h="768">
                <a:moveTo>
                  <a:pt x="11" y="0"/>
                </a:moveTo>
                <a:lnTo>
                  <a:pt x="0" y="455"/>
                </a:lnTo>
                <a:lnTo>
                  <a:pt x="758" y="768"/>
                </a:lnTo>
              </a:path>
            </a:pathLst>
          </a:custGeom>
          <a:noFill/>
          <a:ln w="9525" cap="flat" cmpd="sng">
            <a:solidFill>
              <a:srgbClr val="36424A"/>
            </a:solidFill>
            <a:prstDash val="dash"/>
            <a:round/>
            <a:headEnd type="none" w="med" len="med"/>
            <a:tailEnd type="triangle" w="lg" len="lg"/>
          </a:ln>
        </p:spPr>
        <p:txBody>
          <a:bodyPr wrap="square">
            <a:spAutoFit/>
          </a:bodyPr>
          <a:lstStyle/>
          <a:p>
            <a:endParaRPr lang="en-US"/>
          </a:p>
        </p:txBody>
      </p:sp>
      <p:sp>
        <p:nvSpPr>
          <p:cNvPr id="34839" name="Freeform 23"/>
          <p:cNvSpPr>
            <a:spLocks/>
          </p:cNvSpPr>
          <p:nvPr/>
        </p:nvSpPr>
        <p:spPr bwMode="auto">
          <a:xfrm>
            <a:off x="7362825" y="3544888"/>
            <a:ext cx="288925" cy="465137"/>
          </a:xfrm>
          <a:custGeom>
            <a:avLst/>
            <a:gdLst>
              <a:gd name="T0" fmla="*/ 0 w 182"/>
              <a:gd name="T1" fmla="*/ 0 h 384"/>
              <a:gd name="T2" fmla="*/ 288925 w 182"/>
              <a:gd name="T3" fmla="*/ 12113 h 384"/>
              <a:gd name="T4" fmla="*/ 288925 w 182"/>
              <a:gd name="T5" fmla="*/ 465137 h 384"/>
              <a:gd name="T6" fmla="*/ 0 60000 65536"/>
              <a:gd name="T7" fmla="*/ 0 60000 65536"/>
              <a:gd name="T8" fmla="*/ 0 60000 65536"/>
              <a:gd name="T9" fmla="*/ 0 w 182"/>
              <a:gd name="T10" fmla="*/ 0 h 384"/>
              <a:gd name="T11" fmla="*/ 182 w 182"/>
              <a:gd name="T12" fmla="*/ 384 h 384"/>
            </a:gdLst>
            <a:ahLst/>
            <a:cxnLst>
              <a:cxn ang="T6">
                <a:pos x="T0" y="T1"/>
              </a:cxn>
              <a:cxn ang="T7">
                <a:pos x="T2" y="T3"/>
              </a:cxn>
              <a:cxn ang="T8">
                <a:pos x="T4" y="T5"/>
              </a:cxn>
            </a:cxnLst>
            <a:rect l="T9" t="T10" r="T11" b="T12"/>
            <a:pathLst>
              <a:path w="182" h="384">
                <a:moveTo>
                  <a:pt x="0" y="0"/>
                </a:moveTo>
                <a:lnTo>
                  <a:pt x="182" y="10"/>
                </a:lnTo>
                <a:lnTo>
                  <a:pt x="182" y="384"/>
                </a:lnTo>
              </a:path>
            </a:pathLst>
          </a:custGeom>
          <a:noFill/>
          <a:ln w="9525" cap="flat" cmpd="sng">
            <a:solidFill>
              <a:srgbClr val="36424A"/>
            </a:solidFill>
            <a:prstDash val="dash"/>
            <a:round/>
            <a:headEnd type="none" w="med" len="med"/>
            <a:tailEnd type="triangle" w="lg" len="lg"/>
          </a:ln>
        </p:spPr>
        <p:txBody>
          <a:bodyPr>
            <a:spAutoFit/>
          </a:bodyPr>
          <a:lstStyle/>
          <a:p>
            <a:endParaRPr lang="en-US"/>
          </a:p>
        </p:txBody>
      </p:sp>
      <p:sp>
        <p:nvSpPr>
          <p:cNvPr id="34840" name="Freeform 24"/>
          <p:cNvSpPr>
            <a:spLocks/>
          </p:cNvSpPr>
          <p:nvPr/>
        </p:nvSpPr>
        <p:spPr bwMode="auto">
          <a:xfrm>
            <a:off x="5315332" y="4680169"/>
            <a:ext cx="2336418" cy="530620"/>
          </a:xfrm>
          <a:custGeom>
            <a:avLst/>
            <a:gdLst>
              <a:gd name="T0" fmla="*/ 2151062 w 1355"/>
              <a:gd name="T1" fmla="*/ 0 h 273"/>
              <a:gd name="T2" fmla="*/ 2141537 w 1355"/>
              <a:gd name="T3" fmla="*/ 284692 h 273"/>
              <a:gd name="T4" fmla="*/ 0 w 1355"/>
              <a:gd name="T5" fmla="*/ 288925 h 273"/>
              <a:gd name="T6" fmla="*/ 0 60000 65536"/>
              <a:gd name="T7" fmla="*/ 0 60000 65536"/>
              <a:gd name="T8" fmla="*/ 0 60000 65536"/>
              <a:gd name="T9" fmla="*/ 0 w 1355"/>
              <a:gd name="T10" fmla="*/ 0 h 273"/>
              <a:gd name="T11" fmla="*/ 1355 w 1355"/>
              <a:gd name="T12" fmla="*/ 273 h 273"/>
            </a:gdLst>
            <a:ahLst/>
            <a:cxnLst>
              <a:cxn ang="T6">
                <a:pos x="T0" y="T1"/>
              </a:cxn>
              <a:cxn ang="T7">
                <a:pos x="T2" y="T3"/>
              </a:cxn>
              <a:cxn ang="T8">
                <a:pos x="T4" y="T5"/>
              </a:cxn>
            </a:cxnLst>
            <a:rect l="T9" t="T10" r="T11" b="T12"/>
            <a:pathLst>
              <a:path w="1355" h="273">
                <a:moveTo>
                  <a:pt x="1355" y="0"/>
                </a:moveTo>
                <a:lnTo>
                  <a:pt x="1349" y="269"/>
                </a:lnTo>
                <a:lnTo>
                  <a:pt x="0" y="273"/>
                </a:lnTo>
              </a:path>
            </a:pathLst>
          </a:custGeom>
          <a:noFill/>
          <a:ln w="9525" cap="flat" cmpd="sng">
            <a:solidFill>
              <a:srgbClr val="36424A"/>
            </a:solidFill>
            <a:prstDash val="dash"/>
            <a:round/>
            <a:headEnd type="none" w="med" len="med"/>
            <a:tailEnd type="triangle" w="lg" len="lg"/>
          </a:ln>
        </p:spPr>
        <p:txBody>
          <a:bodyPr wrap="square">
            <a:spAutoFit/>
          </a:bodyPr>
          <a:lstStyle/>
          <a:p>
            <a:endParaRPr lang="en-US"/>
          </a:p>
        </p:txBody>
      </p:sp>
      <p:grpSp>
        <p:nvGrpSpPr>
          <p:cNvPr id="34841" name="Group 25"/>
          <p:cNvGrpSpPr>
            <a:grpSpLocks/>
          </p:cNvGrpSpPr>
          <p:nvPr/>
        </p:nvGrpSpPr>
        <p:grpSpPr bwMode="auto">
          <a:xfrm>
            <a:off x="3841750" y="5734050"/>
            <a:ext cx="433388" cy="431800"/>
            <a:chOff x="793" y="3294"/>
            <a:chExt cx="273" cy="272"/>
          </a:xfrm>
        </p:grpSpPr>
        <p:sp>
          <p:nvSpPr>
            <p:cNvPr id="34860" name="Oval 26"/>
            <p:cNvSpPr>
              <a:spLocks noChangeArrowheads="1"/>
            </p:cNvSpPr>
            <p:nvPr/>
          </p:nvSpPr>
          <p:spPr bwMode="auto">
            <a:xfrm>
              <a:off x="793" y="3294"/>
              <a:ext cx="273" cy="272"/>
            </a:xfrm>
            <a:prstGeom prst="ellipse">
              <a:avLst/>
            </a:prstGeom>
            <a:noFill/>
            <a:ln w="28575" algn="ctr">
              <a:solidFill>
                <a:srgbClr val="36424A"/>
              </a:solidFill>
              <a:round/>
              <a:headEnd/>
              <a:tailEnd/>
            </a:ln>
          </p:spPr>
          <p:txBody>
            <a:bodyPr wrap="none" anchor="ctr"/>
            <a:lstStyle/>
            <a:p>
              <a:endParaRPr lang="en-US"/>
            </a:p>
          </p:txBody>
        </p:sp>
        <p:sp>
          <p:nvSpPr>
            <p:cNvPr id="34861" name="Oval 27"/>
            <p:cNvSpPr>
              <a:spLocks noChangeArrowheads="1"/>
            </p:cNvSpPr>
            <p:nvPr/>
          </p:nvSpPr>
          <p:spPr bwMode="auto">
            <a:xfrm>
              <a:off x="839" y="3339"/>
              <a:ext cx="182" cy="181"/>
            </a:xfrm>
            <a:prstGeom prst="ellipse">
              <a:avLst/>
            </a:prstGeom>
            <a:solidFill>
              <a:srgbClr val="36424A"/>
            </a:solidFill>
            <a:ln w="9525" algn="ctr">
              <a:solidFill>
                <a:schemeClr val="tx1"/>
              </a:solidFill>
              <a:round/>
              <a:headEnd/>
              <a:tailEnd/>
            </a:ln>
          </p:spPr>
          <p:txBody>
            <a:bodyPr wrap="none" anchor="ctr"/>
            <a:lstStyle/>
            <a:p>
              <a:endParaRPr lang="en-US"/>
            </a:p>
          </p:txBody>
        </p:sp>
      </p:grpSp>
      <p:sp>
        <p:nvSpPr>
          <p:cNvPr id="34842" name="Line 28"/>
          <p:cNvSpPr>
            <a:spLocks noChangeShapeType="1"/>
          </p:cNvSpPr>
          <p:nvPr/>
        </p:nvSpPr>
        <p:spPr bwMode="auto">
          <a:xfrm flipH="1">
            <a:off x="4073524" y="5310188"/>
            <a:ext cx="23813" cy="382587"/>
          </a:xfrm>
          <a:prstGeom prst="line">
            <a:avLst/>
          </a:prstGeom>
          <a:noFill/>
          <a:ln w="19050">
            <a:solidFill>
              <a:srgbClr val="36424A"/>
            </a:solidFill>
            <a:round/>
            <a:headEnd/>
            <a:tailEnd type="triangle" w="lg" len="lg"/>
          </a:ln>
        </p:spPr>
        <p:txBody>
          <a:bodyPr/>
          <a:lstStyle/>
          <a:p>
            <a:endParaRPr lang="en-US"/>
          </a:p>
        </p:txBody>
      </p:sp>
      <p:sp>
        <p:nvSpPr>
          <p:cNvPr id="34843" name="Text Box 29"/>
          <p:cNvSpPr txBox="1">
            <a:spLocks noChangeArrowheads="1"/>
          </p:cNvSpPr>
          <p:nvPr/>
        </p:nvSpPr>
        <p:spPr bwMode="auto">
          <a:xfrm>
            <a:off x="4394200" y="2420938"/>
            <a:ext cx="2068513" cy="457200"/>
          </a:xfrm>
          <a:prstGeom prst="rect">
            <a:avLst/>
          </a:prstGeom>
          <a:noFill/>
          <a:ln w="9525" algn="ctr">
            <a:noFill/>
            <a:miter lim="800000"/>
            <a:headEnd/>
            <a:tailEnd/>
          </a:ln>
        </p:spPr>
        <p:txBody>
          <a:bodyPr>
            <a:spAutoFit/>
          </a:bodyPr>
          <a:lstStyle/>
          <a:p>
            <a:pPr algn="l"/>
            <a:r>
              <a:rPr lang="en-GB" dirty="0">
                <a:solidFill>
                  <a:srgbClr val="36424A"/>
                </a:solidFill>
              </a:rPr>
              <a:t>[New patient]</a:t>
            </a:r>
            <a:endParaRPr lang="en-US" altLang="zh-CN" dirty="0">
              <a:solidFill>
                <a:srgbClr val="36424A"/>
              </a:solidFill>
            </a:endParaRPr>
          </a:p>
        </p:txBody>
      </p:sp>
      <p:sp>
        <p:nvSpPr>
          <p:cNvPr id="34844" name="Text Box 30"/>
          <p:cNvSpPr txBox="1">
            <a:spLocks noChangeArrowheads="1"/>
          </p:cNvSpPr>
          <p:nvPr/>
        </p:nvSpPr>
        <p:spPr bwMode="auto">
          <a:xfrm>
            <a:off x="2268538" y="2411413"/>
            <a:ext cx="1811337" cy="457200"/>
          </a:xfrm>
          <a:prstGeom prst="rect">
            <a:avLst/>
          </a:prstGeom>
          <a:noFill/>
          <a:ln w="9525" algn="ctr">
            <a:noFill/>
            <a:miter lim="800000"/>
            <a:headEnd/>
            <a:tailEnd/>
          </a:ln>
        </p:spPr>
        <p:txBody>
          <a:bodyPr>
            <a:spAutoFit/>
          </a:bodyPr>
          <a:lstStyle/>
          <a:p>
            <a:pPr algn="r"/>
            <a:r>
              <a:rPr lang="en-GB" dirty="0">
                <a:solidFill>
                  <a:srgbClr val="36424A"/>
                </a:solidFill>
              </a:rPr>
              <a:t>[old patient]</a:t>
            </a:r>
            <a:endParaRPr lang="en-US" altLang="zh-CN" dirty="0">
              <a:solidFill>
                <a:srgbClr val="36424A"/>
              </a:solidFill>
            </a:endParaRPr>
          </a:p>
        </p:txBody>
      </p:sp>
      <p:sp>
        <p:nvSpPr>
          <p:cNvPr id="34845" name="Text Box 31"/>
          <p:cNvSpPr txBox="1">
            <a:spLocks noChangeArrowheads="1"/>
          </p:cNvSpPr>
          <p:nvPr/>
        </p:nvSpPr>
        <p:spPr bwMode="auto">
          <a:xfrm>
            <a:off x="2541588" y="5700713"/>
            <a:ext cx="835025" cy="369332"/>
          </a:xfrm>
          <a:prstGeom prst="rect">
            <a:avLst/>
          </a:prstGeom>
          <a:noFill/>
          <a:ln w="9525" algn="ctr">
            <a:solidFill>
              <a:srgbClr val="36424A"/>
            </a:solidFill>
            <a:miter lim="800000"/>
            <a:headEnd/>
            <a:tailEnd/>
          </a:ln>
        </p:spPr>
        <p:txBody>
          <a:bodyPr>
            <a:spAutoFit/>
          </a:bodyPr>
          <a:lstStyle/>
          <a:p>
            <a:pPr algn="ctr"/>
            <a:r>
              <a:rPr lang="en-GB" dirty="0">
                <a:solidFill>
                  <a:srgbClr val="36424A"/>
                </a:solidFill>
              </a:rPr>
              <a:t>Appt</a:t>
            </a:r>
            <a:endParaRPr lang="en-US" altLang="zh-CN" dirty="0">
              <a:solidFill>
                <a:srgbClr val="36424A"/>
              </a:solidFill>
            </a:endParaRPr>
          </a:p>
        </p:txBody>
      </p:sp>
      <p:sp>
        <p:nvSpPr>
          <p:cNvPr id="34846" name="Line 32"/>
          <p:cNvSpPr>
            <a:spLocks noChangeShapeType="1"/>
          </p:cNvSpPr>
          <p:nvPr/>
        </p:nvSpPr>
        <p:spPr bwMode="auto">
          <a:xfrm flipH="1">
            <a:off x="3070225" y="5383213"/>
            <a:ext cx="15875" cy="333375"/>
          </a:xfrm>
          <a:prstGeom prst="line">
            <a:avLst/>
          </a:prstGeom>
          <a:noFill/>
          <a:ln w="19050">
            <a:solidFill>
              <a:srgbClr val="36424A"/>
            </a:solidFill>
            <a:prstDash val="dash"/>
            <a:round/>
            <a:headEnd/>
            <a:tailEnd type="triangle" w="lg" len="lg"/>
          </a:ln>
        </p:spPr>
        <p:txBody>
          <a:bodyPr/>
          <a:lstStyle/>
          <a:p>
            <a:endParaRPr lang="en-US"/>
          </a:p>
        </p:txBody>
      </p:sp>
      <p:sp>
        <p:nvSpPr>
          <p:cNvPr id="34847" name="Line 33"/>
          <p:cNvSpPr>
            <a:spLocks noChangeShapeType="1"/>
          </p:cNvSpPr>
          <p:nvPr/>
        </p:nvSpPr>
        <p:spPr bwMode="auto">
          <a:xfrm rot="16200000" flipH="1">
            <a:off x="3583781" y="5782470"/>
            <a:ext cx="15875" cy="398462"/>
          </a:xfrm>
          <a:prstGeom prst="line">
            <a:avLst/>
          </a:prstGeom>
          <a:noFill/>
          <a:ln w="19050">
            <a:solidFill>
              <a:srgbClr val="36424A"/>
            </a:solidFill>
            <a:prstDash val="dash"/>
            <a:round/>
            <a:headEnd/>
            <a:tailEnd type="triangle" w="lg" len="lg"/>
          </a:ln>
        </p:spPr>
        <p:txBody>
          <a:bodyPr/>
          <a:lstStyle/>
          <a:p>
            <a:endParaRPr lang="en-US"/>
          </a:p>
        </p:txBody>
      </p:sp>
      <p:grpSp>
        <p:nvGrpSpPr>
          <p:cNvPr id="3" name="Group 36"/>
          <p:cNvGrpSpPr>
            <a:grpSpLocks/>
          </p:cNvGrpSpPr>
          <p:nvPr/>
        </p:nvGrpSpPr>
        <p:grpSpPr bwMode="auto">
          <a:xfrm>
            <a:off x="4330700" y="1290638"/>
            <a:ext cx="3560763" cy="1465262"/>
            <a:chOff x="2728" y="813"/>
            <a:chExt cx="2243" cy="923"/>
          </a:xfrm>
        </p:grpSpPr>
        <p:sp>
          <p:nvSpPr>
            <p:cNvPr id="34858" name="Rectangle 34"/>
            <p:cNvSpPr>
              <a:spLocks noChangeArrowheads="1"/>
            </p:cNvSpPr>
            <p:nvPr/>
          </p:nvSpPr>
          <p:spPr bwMode="auto">
            <a:xfrm>
              <a:off x="3724" y="813"/>
              <a:ext cx="1247" cy="294"/>
            </a:xfrm>
            <a:prstGeom prst="rect">
              <a:avLst/>
            </a:prstGeom>
            <a:noFill/>
            <a:ln w="9525" algn="ctr">
              <a:solidFill>
                <a:schemeClr val="tx1"/>
              </a:solidFill>
              <a:miter lim="800000"/>
              <a:headEnd/>
              <a:tailEnd type="none" w="lg" len="lg"/>
            </a:ln>
          </p:spPr>
          <p:txBody>
            <a:bodyPr wrap="none" anchor="ctr">
              <a:spAutoFit/>
            </a:bodyPr>
            <a:lstStyle/>
            <a:p>
              <a:r>
                <a:rPr lang="en-GB" b="1" i="1">
                  <a:solidFill>
                    <a:srgbClr val="A50021"/>
                  </a:solidFill>
                </a:rPr>
                <a:t>Decision node</a:t>
              </a:r>
            </a:p>
          </p:txBody>
        </p:sp>
        <p:sp>
          <p:nvSpPr>
            <p:cNvPr id="34859" name="Line 35"/>
            <p:cNvSpPr>
              <a:spLocks noChangeShapeType="1"/>
            </p:cNvSpPr>
            <p:nvPr/>
          </p:nvSpPr>
          <p:spPr bwMode="auto">
            <a:xfrm flipH="1">
              <a:off x="2728" y="1096"/>
              <a:ext cx="1032" cy="640"/>
            </a:xfrm>
            <a:prstGeom prst="line">
              <a:avLst/>
            </a:prstGeom>
            <a:noFill/>
            <a:ln w="9525">
              <a:solidFill>
                <a:srgbClr val="A50021"/>
              </a:solidFill>
              <a:round/>
              <a:headEnd/>
              <a:tailEnd type="arrow" w="lg" len="lg"/>
            </a:ln>
          </p:spPr>
          <p:txBody>
            <a:bodyPr>
              <a:spAutoFit/>
            </a:bodyPr>
            <a:lstStyle/>
            <a:p>
              <a:endParaRPr lang="en-US"/>
            </a:p>
          </p:txBody>
        </p:sp>
      </p:grpSp>
      <p:grpSp>
        <p:nvGrpSpPr>
          <p:cNvPr id="4" name="Group 40"/>
          <p:cNvGrpSpPr>
            <a:grpSpLocks/>
          </p:cNvGrpSpPr>
          <p:nvPr/>
        </p:nvGrpSpPr>
        <p:grpSpPr bwMode="auto">
          <a:xfrm>
            <a:off x="6197600" y="1831975"/>
            <a:ext cx="2581275" cy="831850"/>
            <a:chOff x="3904" y="1154"/>
            <a:chExt cx="1626" cy="524"/>
          </a:xfrm>
        </p:grpSpPr>
        <p:sp>
          <p:nvSpPr>
            <p:cNvPr id="34856" name="Rectangle 38"/>
            <p:cNvSpPr>
              <a:spLocks noChangeArrowheads="1"/>
            </p:cNvSpPr>
            <p:nvPr/>
          </p:nvSpPr>
          <p:spPr bwMode="auto">
            <a:xfrm>
              <a:off x="4558" y="1154"/>
              <a:ext cx="972" cy="524"/>
            </a:xfrm>
            <a:prstGeom prst="rect">
              <a:avLst/>
            </a:prstGeom>
            <a:noFill/>
            <a:ln w="9525" algn="ctr">
              <a:solidFill>
                <a:schemeClr val="tx1"/>
              </a:solidFill>
              <a:miter lim="800000"/>
              <a:headEnd/>
              <a:tailEnd type="none" w="lg" len="lg"/>
            </a:ln>
          </p:spPr>
          <p:txBody>
            <a:bodyPr anchor="ctr">
              <a:spAutoFit/>
            </a:bodyPr>
            <a:lstStyle/>
            <a:p>
              <a:r>
                <a:rPr lang="en-GB" b="1" i="1">
                  <a:solidFill>
                    <a:srgbClr val="A50021"/>
                  </a:solidFill>
                </a:rPr>
                <a:t>Decision condition</a:t>
              </a:r>
            </a:p>
          </p:txBody>
        </p:sp>
        <p:sp>
          <p:nvSpPr>
            <p:cNvPr id="34857" name="Line 39"/>
            <p:cNvSpPr>
              <a:spLocks noChangeShapeType="1"/>
            </p:cNvSpPr>
            <p:nvPr/>
          </p:nvSpPr>
          <p:spPr bwMode="auto">
            <a:xfrm flipH="1">
              <a:off x="3904" y="1440"/>
              <a:ext cx="640" cy="176"/>
            </a:xfrm>
            <a:prstGeom prst="line">
              <a:avLst/>
            </a:prstGeom>
            <a:noFill/>
            <a:ln w="9525">
              <a:solidFill>
                <a:srgbClr val="A50021"/>
              </a:solidFill>
              <a:round/>
              <a:headEnd/>
              <a:tailEnd type="arrow" w="lg" len="lg"/>
            </a:ln>
          </p:spPr>
          <p:txBody>
            <a:bodyPr>
              <a:spAutoFit/>
            </a:bodyPr>
            <a:lstStyle/>
            <a:p>
              <a:endParaRPr lang="en-US"/>
            </a:p>
          </p:txBody>
        </p:sp>
      </p:grpSp>
      <p:grpSp>
        <p:nvGrpSpPr>
          <p:cNvPr id="5" name="Group 44"/>
          <p:cNvGrpSpPr>
            <a:grpSpLocks/>
          </p:cNvGrpSpPr>
          <p:nvPr/>
        </p:nvGrpSpPr>
        <p:grpSpPr bwMode="auto">
          <a:xfrm>
            <a:off x="357188" y="1481138"/>
            <a:ext cx="1690687" cy="1516062"/>
            <a:chOff x="225" y="933"/>
            <a:chExt cx="1065" cy="955"/>
          </a:xfrm>
        </p:grpSpPr>
        <p:sp>
          <p:nvSpPr>
            <p:cNvPr id="34854" name="Rectangle 42"/>
            <p:cNvSpPr>
              <a:spLocks noChangeArrowheads="1"/>
            </p:cNvSpPr>
            <p:nvPr/>
          </p:nvSpPr>
          <p:spPr bwMode="auto">
            <a:xfrm>
              <a:off x="225" y="933"/>
              <a:ext cx="1065" cy="294"/>
            </a:xfrm>
            <a:prstGeom prst="rect">
              <a:avLst/>
            </a:prstGeom>
            <a:noFill/>
            <a:ln w="9525" algn="ctr">
              <a:solidFill>
                <a:schemeClr val="tx1"/>
              </a:solidFill>
              <a:miter lim="800000"/>
              <a:headEnd/>
              <a:tailEnd type="none" w="lg" len="lg"/>
            </a:ln>
          </p:spPr>
          <p:txBody>
            <a:bodyPr wrap="none" anchor="ctr">
              <a:spAutoFit/>
            </a:bodyPr>
            <a:lstStyle/>
            <a:p>
              <a:r>
                <a:rPr lang="en-GB" b="1" i="1">
                  <a:solidFill>
                    <a:srgbClr val="A50021"/>
                  </a:solidFill>
                </a:rPr>
                <a:t>Object node</a:t>
              </a:r>
            </a:p>
          </p:txBody>
        </p:sp>
        <p:sp>
          <p:nvSpPr>
            <p:cNvPr id="34855" name="Line 43"/>
            <p:cNvSpPr>
              <a:spLocks noChangeShapeType="1"/>
            </p:cNvSpPr>
            <p:nvPr/>
          </p:nvSpPr>
          <p:spPr bwMode="auto">
            <a:xfrm>
              <a:off x="544" y="1240"/>
              <a:ext cx="192" cy="648"/>
            </a:xfrm>
            <a:prstGeom prst="line">
              <a:avLst/>
            </a:prstGeom>
            <a:noFill/>
            <a:ln w="9525">
              <a:solidFill>
                <a:srgbClr val="A50021"/>
              </a:solidFill>
              <a:round/>
              <a:headEnd/>
              <a:tailEnd type="arrow" w="lg" len="lg"/>
            </a:ln>
          </p:spPr>
          <p:txBody>
            <a:bodyPr>
              <a:spAutoFit/>
            </a:bodyPr>
            <a:lstStyle/>
            <a:p>
              <a:endParaRPr lang="en-US"/>
            </a:p>
          </p:txBody>
        </p:sp>
      </p:grpSp>
      <p:grpSp>
        <p:nvGrpSpPr>
          <p:cNvPr id="34851" name="Group 48"/>
          <p:cNvGrpSpPr>
            <a:grpSpLocks/>
          </p:cNvGrpSpPr>
          <p:nvPr/>
        </p:nvGrpSpPr>
        <p:grpSpPr bwMode="auto">
          <a:xfrm>
            <a:off x="569913" y="4724400"/>
            <a:ext cx="1622425" cy="1135063"/>
            <a:chOff x="359" y="2976"/>
            <a:chExt cx="1022" cy="715"/>
          </a:xfrm>
        </p:grpSpPr>
        <p:sp>
          <p:nvSpPr>
            <p:cNvPr id="34852" name="Rectangle 46"/>
            <p:cNvSpPr>
              <a:spLocks noChangeArrowheads="1"/>
            </p:cNvSpPr>
            <p:nvPr/>
          </p:nvSpPr>
          <p:spPr bwMode="auto">
            <a:xfrm>
              <a:off x="359" y="3397"/>
              <a:ext cx="1022" cy="294"/>
            </a:xfrm>
            <a:prstGeom prst="rect">
              <a:avLst/>
            </a:prstGeom>
            <a:noFill/>
            <a:ln w="9525" algn="ctr">
              <a:solidFill>
                <a:schemeClr val="tx1"/>
              </a:solidFill>
              <a:miter lim="800000"/>
              <a:headEnd/>
              <a:tailEnd type="none" w="lg" len="lg"/>
            </a:ln>
          </p:spPr>
          <p:txBody>
            <a:bodyPr wrap="none" anchor="ctr">
              <a:spAutoFit/>
            </a:bodyPr>
            <a:lstStyle/>
            <a:p>
              <a:r>
                <a:rPr lang="en-GB" b="1" i="1" dirty="0">
                  <a:solidFill>
                    <a:srgbClr val="A50021"/>
                  </a:solidFill>
                </a:rPr>
                <a:t>Object flow</a:t>
              </a:r>
            </a:p>
          </p:txBody>
        </p:sp>
        <p:sp>
          <p:nvSpPr>
            <p:cNvPr id="34853" name="Line 47"/>
            <p:cNvSpPr>
              <a:spLocks noChangeShapeType="1"/>
            </p:cNvSpPr>
            <p:nvPr/>
          </p:nvSpPr>
          <p:spPr bwMode="auto">
            <a:xfrm flipV="1">
              <a:off x="856" y="2976"/>
              <a:ext cx="208" cy="400"/>
            </a:xfrm>
            <a:prstGeom prst="line">
              <a:avLst/>
            </a:prstGeom>
            <a:noFill/>
            <a:ln w="9525">
              <a:solidFill>
                <a:srgbClr val="A50021"/>
              </a:solidFill>
              <a:round/>
              <a:headEnd/>
              <a:tailEnd type="arrow" w="lg" len="lg"/>
            </a:ln>
          </p:spPr>
          <p:txBody>
            <a:bodyPr>
              <a:spAutoFit/>
            </a:bodyPr>
            <a:lstStyle/>
            <a:p>
              <a:endParaRPr lang="en-US"/>
            </a:p>
          </p:txBody>
        </p:sp>
      </p:grpSp>
      <p:sp>
        <p:nvSpPr>
          <p:cNvPr id="7" name="Slide Number Placeholder 6">
            <a:extLst>
              <a:ext uri="{FF2B5EF4-FFF2-40B4-BE49-F238E27FC236}">
                <a16:creationId xmlns:a16="http://schemas.microsoft.com/office/drawing/2014/main" id="{8E47FBAC-CB08-9847-AF03-3D6908502CC4}"/>
              </a:ext>
            </a:extLst>
          </p:cNvPr>
          <p:cNvSpPr>
            <a:spLocks noGrp="1"/>
          </p:cNvSpPr>
          <p:nvPr>
            <p:ph type="sldNum" sz="quarter" idx="4"/>
          </p:nvPr>
        </p:nvSpPr>
        <p:spPr/>
        <p:txBody>
          <a:bodyPr/>
          <a:lstStyle/>
          <a:p>
            <a:fld id="{D6255EFE-3ACE-DA4E-80CE-7588690A9A08}" type="slidenum">
              <a:rPr lang="en-GB" smtClean="0"/>
              <a:t>24</a:t>
            </a:fld>
            <a:endParaRPr lang="en-GB"/>
          </a:p>
        </p:txBody>
      </p:sp>
    </p:spTree>
    <p:extLst>
      <p:ext uri="{BB962C8B-B14F-4D97-AF65-F5344CB8AC3E}">
        <p14:creationId xmlns:p14="http://schemas.microsoft.com/office/powerpoint/2010/main" val="3139265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ChangeArrowheads="1"/>
          </p:cNvSpPr>
          <p:nvPr>
            <p:ph type="title"/>
          </p:nvPr>
        </p:nvSpPr>
        <p:spPr/>
        <p:txBody>
          <a:bodyPr>
            <a:normAutofit/>
          </a:bodyPr>
          <a:lstStyle/>
          <a:p>
            <a:r>
              <a:rPr lang="en-GB" sz="3600" dirty="0"/>
              <a:t>Swim Lane</a:t>
            </a:r>
            <a:endParaRPr lang="en-US" altLang="zh-CN" sz="3600" dirty="0">
              <a:ea typeface="SimSun" pitchFamily="2" charset="-122"/>
            </a:endParaRPr>
          </a:p>
        </p:txBody>
      </p:sp>
      <p:sp>
        <p:nvSpPr>
          <p:cNvPr id="35846" name="Rectangle 3"/>
          <p:cNvSpPr>
            <a:spLocks noGrp="1" noChangeArrowheads="1"/>
          </p:cNvSpPr>
          <p:nvPr>
            <p:ph idx="1"/>
          </p:nvPr>
        </p:nvSpPr>
        <p:spPr>
          <a:xfrm>
            <a:off x="350324" y="882649"/>
            <a:ext cx="8484406" cy="5522347"/>
          </a:xfrm>
        </p:spPr>
        <p:txBody>
          <a:bodyPr/>
          <a:lstStyle/>
          <a:p>
            <a:pPr marL="361950" indent="-361950"/>
            <a:r>
              <a:rPr lang="en-GB" sz="2800" dirty="0"/>
              <a:t>Breaking up an activity diagram into parts by placing actions into the swim lane boxes</a:t>
            </a:r>
          </a:p>
          <a:p>
            <a:pPr marL="361950" indent="-361950"/>
            <a:r>
              <a:rPr lang="en-GB" sz="2800" dirty="0"/>
              <a:t>Assigning responsibility to objects or individuals that performs the actions by assign a name of object/individual to each swim lane</a:t>
            </a:r>
          </a:p>
          <a:p>
            <a:pPr marL="361950" indent="-361950"/>
            <a:r>
              <a:rPr lang="en-GB" sz="2800" dirty="0"/>
              <a:t>Representing parallel and concurrency of executions</a:t>
            </a:r>
          </a:p>
          <a:p>
            <a:pPr marL="361950" indent="-361950"/>
            <a:r>
              <a:rPr lang="en-GB" sz="2800" dirty="0"/>
              <a:t>Modelling a business workflow, </a:t>
            </a:r>
          </a:p>
          <a:p>
            <a:pPr marL="722313" lvl="1" indent="-360363"/>
            <a:r>
              <a:rPr lang="en-GB" sz="2400" dirty="0"/>
              <a:t>Describing ‘who is doing what’ using </a:t>
            </a:r>
            <a:r>
              <a:rPr lang="en-GB" sz="2400" i="1" dirty="0"/>
              <a:t>swim lanes</a:t>
            </a:r>
          </a:p>
          <a:p>
            <a:pPr marL="722313" lvl="1" indent="-360363"/>
            <a:r>
              <a:rPr lang="en-GB" sz="2400" dirty="0"/>
              <a:t>Describing ‘how they coordinate’ using </a:t>
            </a:r>
            <a:r>
              <a:rPr lang="en-GB" sz="2400" i="1" dirty="0"/>
              <a:t>synchronisation bars</a:t>
            </a:r>
            <a:endParaRPr lang="en-US" altLang="zh-CN" sz="2400" i="1" dirty="0">
              <a:ea typeface="SimSun" pitchFamily="2" charset="-122"/>
            </a:endParaRPr>
          </a:p>
        </p:txBody>
      </p:sp>
      <p:sp>
        <p:nvSpPr>
          <p:cNvPr id="4" name="Slide Number Placeholder 3">
            <a:extLst>
              <a:ext uri="{FF2B5EF4-FFF2-40B4-BE49-F238E27FC236}">
                <a16:creationId xmlns:a16="http://schemas.microsoft.com/office/drawing/2014/main" id="{064297D1-87E5-9144-869B-BB50A7401F62}"/>
              </a:ext>
            </a:extLst>
          </p:cNvPr>
          <p:cNvSpPr>
            <a:spLocks noGrp="1"/>
          </p:cNvSpPr>
          <p:nvPr>
            <p:ph type="sldNum" sz="quarter" idx="4"/>
          </p:nvPr>
        </p:nvSpPr>
        <p:spPr/>
        <p:txBody>
          <a:bodyPr/>
          <a:lstStyle/>
          <a:p>
            <a:fld id="{D6255EFE-3ACE-DA4E-80CE-7588690A9A08}" type="slidenum">
              <a:rPr lang="en-GB" smtClean="0"/>
              <a:t>25</a:t>
            </a:fld>
            <a:endParaRPr lang="en-GB"/>
          </a:p>
        </p:txBody>
      </p:sp>
    </p:spTree>
    <p:extLst>
      <p:ext uri="{BB962C8B-B14F-4D97-AF65-F5344CB8AC3E}">
        <p14:creationId xmlns:p14="http://schemas.microsoft.com/office/powerpoint/2010/main" val="3895727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1" name="Rectangle 2"/>
          <p:cNvSpPr>
            <a:spLocks noGrp="1" noChangeArrowheads="1"/>
          </p:cNvSpPr>
          <p:nvPr>
            <p:ph type="title"/>
          </p:nvPr>
        </p:nvSpPr>
        <p:spPr>
          <a:xfrm>
            <a:off x="204788" y="87592"/>
            <a:ext cx="8772525" cy="714375"/>
          </a:xfrm>
          <a:solidFill>
            <a:srgbClr val="EEFAB9"/>
          </a:solidFill>
        </p:spPr>
        <p:txBody>
          <a:bodyPr>
            <a:normAutofit/>
          </a:bodyPr>
          <a:lstStyle/>
          <a:p>
            <a:r>
              <a:rPr lang="en-GB" sz="3600" dirty="0"/>
              <a:t>Example: Make a School Lunch Box</a:t>
            </a:r>
            <a:endParaRPr lang="en-US" altLang="zh-CN" sz="3600" dirty="0">
              <a:ea typeface="SimSun" pitchFamily="2" charset="-122"/>
            </a:endParaRPr>
          </a:p>
        </p:txBody>
      </p:sp>
      <p:sp>
        <p:nvSpPr>
          <p:cNvPr id="36872" name="AutoShape 4"/>
          <p:cNvSpPr>
            <a:spLocks noChangeArrowheads="1"/>
          </p:cNvSpPr>
          <p:nvPr/>
        </p:nvSpPr>
        <p:spPr bwMode="auto">
          <a:xfrm>
            <a:off x="1017444" y="2040449"/>
            <a:ext cx="1111250" cy="441325"/>
          </a:xfrm>
          <a:prstGeom prst="roundRect">
            <a:avLst>
              <a:gd name="adj" fmla="val 16667"/>
            </a:avLst>
          </a:prstGeom>
          <a:noFill/>
          <a:ln w="9525" algn="ctr">
            <a:solidFill>
              <a:srgbClr val="36424A"/>
            </a:solidFill>
            <a:round/>
            <a:headEnd/>
            <a:tailEnd/>
          </a:ln>
        </p:spPr>
        <p:txBody>
          <a:bodyPr wrap="none" anchor="ctr">
            <a:spAutoFit/>
          </a:bodyPr>
          <a:lstStyle/>
          <a:p>
            <a:r>
              <a:rPr lang="en-GB" sz="2000">
                <a:solidFill>
                  <a:srgbClr val="36424A"/>
                </a:solidFill>
              </a:rPr>
              <a:t>Get jelly</a:t>
            </a:r>
            <a:endParaRPr lang="en-US" altLang="zh-CN" sz="2000">
              <a:solidFill>
                <a:srgbClr val="36424A"/>
              </a:solidFill>
            </a:endParaRPr>
          </a:p>
        </p:txBody>
      </p:sp>
      <p:sp>
        <p:nvSpPr>
          <p:cNvPr id="36873" name="AutoShape 5"/>
          <p:cNvSpPr>
            <a:spLocks noChangeArrowheads="1"/>
          </p:cNvSpPr>
          <p:nvPr/>
        </p:nvSpPr>
        <p:spPr bwMode="auto">
          <a:xfrm>
            <a:off x="3021716" y="1996912"/>
            <a:ext cx="1459448" cy="442674"/>
          </a:xfrm>
          <a:prstGeom prst="roundRect">
            <a:avLst>
              <a:gd name="adj" fmla="val 16667"/>
            </a:avLst>
          </a:prstGeom>
          <a:noFill/>
          <a:ln w="9525" algn="ctr">
            <a:solidFill>
              <a:srgbClr val="36424A"/>
            </a:solidFill>
            <a:round/>
            <a:headEnd/>
            <a:tailEnd/>
          </a:ln>
        </p:spPr>
        <p:txBody>
          <a:bodyPr wrap="square" anchor="ctr">
            <a:spAutoFit/>
          </a:bodyPr>
          <a:lstStyle/>
          <a:p>
            <a:r>
              <a:rPr lang="en-GB" sz="2000" dirty="0">
                <a:solidFill>
                  <a:srgbClr val="36424A"/>
                </a:solidFill>
              </a:rPr>
              <a:t>Get bread</a:t>
            </a:r>
            <a:endParaRPr lang="en-US" altLang="zh-CN" sz="2000" dirty="0">
              <a:solidFill>
                <a:srgbClr val="36424A"/>
              </a:solidFill>
            </a:endParaRPr>
          </a:p>
        </p:txBody>
      </p:sp>
      <p:sp>
        <p:nvSpPr>
          <p:cNvPr id="36874" name="AutoShape 6"/>
          <p:cNvSpPr>
            <a:spLocks noChangeArrowheads="1"/>
          </p:cNvSpPr>
          <p:nvPr/>
        </p:nvSpPr>
        <p:spPr bwMode="auto">
          <a:xfrm>
            <a:off x="1386285" y="2617624"/>
            <a:ext cx="2389432" cy="442674"/>
          </a:xfrm>
          <a:prstGeom prst="roundRect">
            <a:avLst>
              <a:gd name="adj" fmla="val 16667"/>
            </a:avLst>
          </a:prstGeom>
          <a:noFill/>
          <a:ln w="9525" algn="ctr">
            <a:solidFill>
              <a:srgbClr val="36424A"/>
            </a:solidFill>
            <a:round/>
            <a:headEnd/>
            <a:tailEnd/>
          </a:ln>
        </p:spPr>
        <p:txBody>
          <a:bodyPr wrap="square" anchor="ctr">
            <a:spAutoFit/>
          </a:bodyPr>
          <a:lstStyle/>
          <a:p>
            <a:r>
              <a:rPr lang="en-GB" sz="2000">
                <a:solidFill>
                  <a:srgbClr val="36424A"/>
                </a:solidFill>
              </a:rPr>
              <a:t>Get peanut butter</a:t>
            </a:r>
            <a:endParaRPr lang="en-US" altLang="zh-CN" sz="2000">
              <a:solidFill>
                <a:srgbClr val="36424A"/>
              </a:solidFill>
            </a:endParaRPr>
          </a:p>
        </p:txBody>
      </p:sp>
      <p:sp>
        <p:nvSpPr>
          <p:cNvPr id="36875" name="AutoShape 7"/>
          <p:cNvSpPr>
            <a:spLocks noChangeArrowheads="1"/>
          </p:cNvSpPr>
          <p:nvPr/>
        </p:nvSpPr>
        <p:spPr bwMode="auto">
          <a:xfrm>
            <a:off x="1695450" y="3862899"/>
            <a:ext cx="1922463" cy="441325"/>
          </a:xfrm>
          <a:prstGeom prst="roundRect">
            <a:avLst>
              <a:gd name="adj" fmla="val 16667"/>
            </a:avLst>
          </a:prstGeom>
          <a:noFill/>
          <a:ln w="9525" algn="ctr">
            <a:solidFill>
              <a:srgbClr val="36424A"/>
            </a:solidFill>
            <a:round/>
            <a:headEnd/>
            <a:tailEnd/>
          </a:ln>
        </p:spPr>
        <p:txBody>
          <a:bodyPr wrap="none" anchor="ctr">
            <a:spAutoFit/>
          </a:bodyPr>
          <a:lstStyle/>
          <a:p>
            <a:r>
              <a:rPr lang="en-GB" sz="2000">
                <a:solidFill>
                  <a:srgbClr val="36424A"/>
                </a:solidFill>
              </a:rPr>
              <a:t>Create sandwich</a:t>
            </a:r>
            <a:endParaRPr lang="en-US" altLang="zh-CN" sz="2000">
              <a:solidFill>
                <a:srgbClr val="36424A"/>
              </a:solidFill>
            </a:endParaRPr>
          </a:p>
        </p:txBody>
      </p:sp>
      <p:sp>
        <p:nvSpPr>
          <p:cNvPr id="36876" name="AutoShape 8"/>
          <p:cNvSpPr>
            <a:spLocks noChangeArrowheads="1"/>
          </p:cNvSpPr>
          <p:nvPr/>
        </p:nvSpPr>
        <p:spPr bwMode="auto">
          <a:xfrm>
            <a:off x="5019675" y="2015049"/>
            <a:ext cx="1200150" cy="441325"/>
          </a:xfrm>
          <a:prstGeom prst="roundRect">
            <a:avLst>
              <a:gd name="adj" fmla="val 16667"/>
            </a:avLst>
          </a:prstGeom>
          <a:noFill/>
          <a:ln w="9525" algn="ctr">
            <a:solidFill>
              <a:srgbClr val="36424A"/>
            </a:solidFill>
            <a:round/>
            <a:headEnd/>
            <a:tailEnd/>
          </a:ln>
        </p:spPr>
        <p:txBody>
          <a:bodyPr wrap="none" anchor="ctr">
            <a:spAutoFit/>
          </a:bodyPr>
          <a:lstStyle/>
          <a:p>
            <a:r>
              <a:rPr lang="en-GB" sz="2000">
                <a:solidFill>
                  <a:srgbClr val="36424A"/>
                </a:solidFill>
              </a:rPr>
              <a:t>Get drink</a:t>
            </a:r>
            <a:endParaRPr lang="en-US" altLang="zh-CN" sz="2000">
              <a:solidFill>
                <a:srgbClr val="36424A"/>
              </a:solidFill>
            </a:endParaRPr>
          </a:p>
        </p:txBody>
      </p:sp>
      <p:sp>
        <p:nvSpPr>
          <p:cNvPr id="36877" name="AutoShape 9"/>
          <p:cNvSpPr>
            <a:spLocks noChangeArrowheads="1"/>
          </p:cNvSpPr>
          <p:nvPr/>
        </p:nvSpPr>
        <p:spPr bwMode="auto">
          <a:xfrm>
            <a:off x="6504127" y="2014375"/>
            <a:ext cx="1377672" cy="442674"/>
          </a:xfrm>
          <a:prstGeom prst="roundRect">
            <a:avLst>
              <a:gd name="adj" fmla="val 16667"/>
            </a:avLst>
          </a:prstGeom>
          <a:noFill/>
          <a:ln w="9525" algn="ctr">
            <a:solidFill>
              <a:srgbClr val="36424A"/>
            </a:solidFill>
            <a:round/>
            <a:headEnd/>
            <a:tailEnd/>
          </a:ln>
        </p:spPr>
        <p:txBody>
          <a:bodyPr wrap="none" anchor="ctr">
            <a:spAutoFit/>
          </a:bodyPr>
          <a:lstStyle/>
          <a:p>
            <a:r>
              <a:rPr lang="en-GB" sz="2000">
                <a:solidFill>
                  <a:srgbClr val="36424A"/>
                </a:solidFill>
              </a:rPr>
              <a:t>Get dessert</a:t>
            </a:r>
            <a:endParaRPr lang="en-US" altLang="zh-CN" sz="2000">
              <a:solidFill>
                <a:srgbClr val="36424A"/>
              </a:solidFill>
            </a:endParaRPr>
          </a:p>
        </p:txBody>
      </p:sp>
      <p:sp>
        <p:nvSpPr>
          <p:cNvPr id="36878" name="Line 10"/>
          <p:cNvSpPr>
            <a:spLocks noChangeShapeType="1"/>
          </p:cNvSpPr>
          <p:nvPr/>
        </p:nvSpPr>
        <p:spPr bwMode="auto">
          <a:xfrm flipV="1">
            <a:off x="1141413" y="3381887"/>
            <a:ext cx="2914650" cy="0"/>
          </a:xfrm>
          <a:prstGeom prst="line">
            <a:avLst/>
          </a:prstGeom>
          <a:noFill/>
          <a:ln w="76200">
            <a:solidFill>
              <a:srgbClr val="36424A"/>
            </a:solidFill>
            <a:round/>
            <a:headEnd/>
            <a:tailEnd/>
          </a:ln>
        </p:spPr>
        <p:txBody>
          <a:bodyPr>
            <a:spAutoFit/>
          </a:bodyPr>
          <a:lstStyle/>
          <a:p>
            <a:endParaRPr lang="en-US">
              <a:solidFill>
                <a:srgbClr val="36424A"/>
              </a:solidFill>
            </a:endParaRPr>
          </a:p>
        </p:txBody>
      </p:sp>
      <p:sp>
        <p:nvSpPr>
          <p:cNvPr id="36879" name="Line 11"/>
          <p:cNvSpPr>
            <a:spLocks noChangeShapeType="1"/>
          </p:cNvSpPr>
          <p:nvPr/>
        </p:nvSpPr>
        <p:spPr bwMode="auto">
          <a:xfrm flipV="1">
            <a:off x="5030788" y="2940562"/>
            <a:ext cx="2914650" cy="0"/>
          </a:xfrm>
          <a:prstGeom prst="line">
            <a:avLst/>
          </a:prstGeom>
          <a:noFill/>
          <a:ln w="76200">
            <a:solidFill>
              <a:srgbClr val="36424A"/>
            </a:solidFill>
            <a:round/>
            <a:headEnd/>
            <a:tailEnd/>
          </a:ln>
        </p:spPr>
        <p:txBody>
          <a:bodyPr>
            <a:spAutoFit/>
          </a:bodyPr>
          <a:lstStyle/>
          <a:p>
            <a:endParaRPr lang="en-US">
              <a:solidFill>
                <a:srgbClr val="36424A"/>
              </a:solidFill>
            </a:endParaRPr>
          </a:p>
        </p:txBody>
      </p:sp>
      <p:sp>
        <p:nvSpPr>
          <p:cNvPr id="36880" name="Line 12"/>
          <p:cNvSpPr>
            <a:spLocks noChangeShapeType="1"/>
          </p:cNvSpPr>
          <p:nvPr/>
        </p:nvSpPr>
        <p:spPr bwMode="auto">
          <a:xfrm flipV="1">
            <a:off x="2922588" y="4718562"/>
            <a:ext cx="2914650" cy="0"/>
          </a:xfrm>
          <a:prstGeom prst="line">
            <a:avLst/>
          </a:prstGeom>
          <a:noFill/>
          <a:ln w="76200">
            <a:solidFill>
              <a:srgbClr val="36424A"/>
            </a:solidFill>
            <a:round/>
            <a:headEnd/>
            <a:tailEnd/>
          </a:ln>
        </p:spPr>
        <p:txBody>
          <a:bodyPr>
            <a:spAutoFit/>
          </a:bodyPr>
          <a:lstStyle/>
          <a:p>
            <a:endParaRPr lang="en-US">
              <a:solidFill>
                <a:srgbClr val="36424A"/>
              </a:solidFill>
            </a:endParaRPr>
          </a:p>
        </p:txBody>
      </p:sp>
      <p:sp>
        <p:nvSpPr>
          <p:cNvPr id="36881" name="AutoShape 13"/>
          <p:cNvSpPr>
            <a:spLocks noChangeArrowheads="1"/>
          </p:cNvSpPr>
          <p:nvPr/>
        </p:nvSpPr>
        <p:spPr bwMode="auto">
          <a:xfrm>
            <a:off x="5395913" y="5059874"/>
            <a:ext cx="2060573" cy="441325"/>
          </a:xfrm>
          <a:prstGeom prst="roundRect">
            <a:avLst>
              <a:gd name="adj" fmla="val 16667"/>
            </a:avLst>
          </a:prstGeom>
          <a:noFill/>
          <a:ln w="9525" algn="ctr">
            <a:solidFill>
              <a:srgbClr val="36424A"/>
            </a:solidFill>
            <a:round/>
            <a:headEnd/>
            <a:tailEnd/>
          </a:ln>
        </p:spPr>
        <p:txBody>
          <a:bodyPr wrap="square" anchor="ctr">
            <a:spAutoFit/>
          </a:bodyPr>
          <a:lstStyle/>
          <a:p>
            <a:r>
              <a:rPr lang="en-GB" sz="2000">
                <a:solidFill>
                  <a:srgbClr val="36424A"/>
                </a:solidFill>
              </a:rPr>
              <a:t>Get lunch box</a:t>
            </a:r>
            <a:endParaRPr lang="en-US" altLang="zh-CN" sz="2000">
              <a:solidFill>
                <a:srgbClr val="36424A"/>
              </a:solidFill>
            </a:endParaRPr>
          </a:p>
        </p:txBody>
      </p:sp>
      <p:sp>
        <p:nvSpPr>
          <p:cNvPr id="36882" name="AutoShape 14"/>
          <p:cNvSpPr>
            <a:spLocks noChangeArrowheads="1"/>
          </p:cNvSpPr>
          <p:nvPr/>
        </p:nvSpPr>
        <p:spPr bwMode="auto">
          <a:xfrm>
            <a:off x="5395913" y="5839337"/>
            <a:ext cx="2060570" cy="441325"/>
          </a:xfrm>
          <a:prstGeom prst="roundRect">
            <a:avLst>
              <a:gd name="adj" fmla="val 16667"/>
            </a:avLst>
          </a:prstGeom>
          <a:noFill/>
          <a:ln w="9525" algn="ctr">
            <a:solidFill>
              <a:srgbClr val="36424A"/>
            </a:solidFill>
            <a:round/>
            <a:headEnd/>
            <a:tailEnd/>
          </a:ln>
        </p:spPr>
        <p:txBody>
          <a:bodyPr wrap="square" anchor="ctr">
            <a:spAutoFit/>
          </a:bodyPr>
          <a:lstStyle/>
          <a:p>
            <a:r>
              <a:rPr lang="en-GB" sz="2000">
                <a:solidFill>
                  <a:srgbClr val="36424A"/>
                </a:solidFill>
              </a:rPr>
              <a:t>Put lunch in box</a:t>
            </a:r>
            <a:endParaRPr lang="en-US" altLang="zh-CN" sz="2000">
              <a:solidFill>
                <a:srgbClr val="36424A"/>
              </a:solidFill>
            </a:endParaRPr>
          </a:p>
        </p:txBody>
      </p:sp>
      <p:sp>
        <p:nvSpPr>
          <p:cNvPr id="36883" name="Line 17"/>
          <p:cNvSpPr>
            <a:spLocks noChangeShapeType="1"/>
          </p:cNvSpPr>
          <p:nvPr/>
        </p:nvSpPr>
        <p:spPr bwMode="auto">
          <a:xfrm flipV="1">
            <a:off x="3170238" y="1522924"/>
            <a:ext cx="2914650" cy="0"/>
          </a:xfrm>
          <a:prstGeom prst="line">
            <a:avLst/>
          </a:prstGeom>
          <a:noFill/>
          <a:ln w="76200">
            <a:solidFill>
              <a:srgbClr val="36424A"/>
            </a:solidFill>
            <a:round/>
            <a:headEnd/>
            <a:tailEnd/>
          </a:ln>
        </p:spPr>
        <p:txBody>
          <a:bodyPr>
            <a:spAutoFit/>
          </a:bodyPr>
          <a:lstStyle/>
          <a:p>
            <a:endParaRPr lang="en-US">
              <a:solidFill>
                <a:srgbClr val="36424A"/>
              </a:solidFill>
            </a:endParaRPr>
          </a:p>
        </p:txBody>
      </p:sp>
      <p:sp>
        <p:nvSpPr>
          <p:cNvPr id="36884" name="Line 18"/>
          <p:cNvSpPr>
            <a:spLocks noChangeShapeType="1"/>
          </p:cNvSpPr>
          <p:nvPr/>
        </p:nvSpPr>
        <p:spPr bwMode="auto">
          <a:xfrm>
            <a:off x="3754437" y="1553087"/>
            <a:ext cx="596" cy="406733"/>
          </a:xfrm>
          <a:prstGeom prst="line">
            <a:avLst/>
          </a:prstGeom>
          <a:noFill/>
          <a:ln w="9525">
            <a:solidFill>
              <a:srgbClr val="36424A"/>
            </a:solidFill>
            <a:round/>
            <a:headEnd/>
            <a:tailEnd type="triangle" w="lg" len="lg"/>
          </a:ln>
        </p:spPr>
        <p:txBody>
          <a:bodyPr wrap="square">
            <a:spAutoFit/>
          </a:bodyPr>
          <a:lstStyle/>
          <a:p>
            <a:endParaRPr lang="en-US">
              <a:solidFill>
                <a:srgbClr val="36424A"/>
              </a:solidFill>
            </a:endParaRPr>
          </a:p>
        </p:txBody>
      </p:sp>
      <p:sp>
        <p:nvSpPr>
          <p:cNvPr id="36885" name="Line 19"/>
          <p:cNvSpPr>
            <a:spLocks noChangeShapeType="1"/>
          </p:cNvSpPr>
          <p:nvPr/>
        </p:nvSpPr>
        <p:spPr bwMode="auto">
          <a:xfrm flipH="1">
            <a:off x="5588000" y="1564199"/>
            <a:ext cx="11113" cy="439738"/>
          </a:xfrm>
          <a:prstGeom prst="line">
            <a:avLst/>
          </a:prstGeom>
          <a:noFill/>
          <a:ln w="9525">
            <a:solidFill>
              <a:srgbClr val="36424A"/>
            </a:solidFill>
            <a:round/>
            <a:headEnd/>
            <a:tailEnd type="triangle" w="lg" len="lg"/>
          </a:ln>
        </p:spPr>
        <p:txBody>
          <a:bodyPr>
            <a:spAutoFit/>
          </a:bodyPr>
          <a:lstStyle/>
          <a:p>
            <a:endParaRPr lang="en-US">
              <a:solidFill>
                <a:srgbClr val="36424A"/>
              </a:solidFill>
            </a:endParaRPr>
          </a:p>
        </p:txBody>
      </p:sp>
      <p:sp>
        <p:nvSpPr>
          <p:cNvPr id="36886" name="Line 20"/>
          <p:cNvSpPr>
            <a:spLocks noChangeShapeType="1"/>
          </p:cNvSpPr>
          <p:nvPr/>
        </p:nvSpPr>
        <p:spPr bwMode="auto">
          <a:xfrm>
            <a:off x="5949950" y="1564199"/>
            <a:ext cx="596900" cy="452438"/>
          </a:xfrm>
          <a:prstGeom prst="line">
            <a:avLst/>
          </a:prstGeom>
          <a:noFill/>
          <a:ln w="9525">
            <a:solidFill>
              <a:srgbClr val="36424A"/>
            </a:solidFill>
            <a:round/>
            <a:headEnd/>
            <a:tailEnd type="triangle" w="lg" len="lg"/>
          </a:ln>
        </p:spPr>
        <p:txBody>
          <a:bodyPr>
            <a:spAutoFit/>
          </a:bodyPr>
          <a:lstStyle/>
          <a:p>
            <a:endParaRPr lang="en-US">
              <a:solidFill>
                <a:srgbClr val="36424A"/>
              </a:solidFill>
            </a:endParaRPr>
          </a:p>
        </p:txBody>
      </p:sp>
      <p:sp>
        <p:nvSpPr>
          <p:cNvPr id="36887" name="Line 21"/>
          <p:cNvSpPr>
            <a:spLocks noChangeShapeType="1"/>
          </p:cNvSpPr>
          <p:nvPr/>
        </p:nvSpPr>
        <p:spPr bwMode="auto">
          <a:xfrm flipH="1">
            <a:off x="2232025" y="1564199"/>
            <a:ext cx="1023938" cy="476250"/>
          </a:xfrm>
          <a:prstGeom prst="line">
            <a:avLst/>
          </a:prstGeom>
          <a:noFill/>
          <a:ln w="9525">
            <a:solidFill>
              <a:srgbClr val="36424A"/>
            </a:solidFill>
            <a:round/>
            <a:headEnd/>
            <a:tailEnd type="triangle" w="lg" len="lg"/>
          </a:ln>
        </p:spPr>
        <p:txBody>
          <a:bodyPr>
            <a:spAutoFit/>
          </a:bodyPr>
          <a:lstStyle/>
          <a:p>
            <a:endParaRPr lang="en-US">
              <a:solidFill>
                <a:srgbClr val="36424A"/>
              </a:solidFill>
            </a:endParaRPr>
          </a:p>
        </p:txBody>
      </p:sp>
      <p:sp>
        <p:nvSpPr>
          <p:cNvPr id="36888" name="Line 22"/>
          <p:cNvSpPr>
            <a:spLocks noChangeShapeType="1"/>
          </p:cNvSpPr>
          <p:nvPr/>
        </p:nvSpPr>
        <p:spPr bwMode="auto">
          <a:xfrm flipH="1">
            <a:off x="2620963" y="1553087"/>
            <a:ext cx="804862" cy="1047750"/>
          </a:xfrm>
          <a:prstGeom prst="line">
            <a:avLst/>
          </a:prstGeom>
          <a:noFill/>
          <a:ln w="9525">
            <a:solidFill>
              <a:srgbClr val="36424A"/>
            </a:solidFill>
            <a:round/>
            <a:headEnd/>
            <a:tailEnd type="triangle" w="lg" len="lg"/>
          </a:ln>
        </p:spPr>
        <p:txBody>
          <a:bodyPr>
            <a:spAutoFit/>
          </a:bodyPr>
          <a:lstStyle/>
          <a:p>
            <a:endParaRPr lang="en-US">
              <a:solidFill>
                <a:srgbClr val="36424A"/>
              </a:solidFill>
            </a:endParaRPr>
          </a:p>
        </p:txBody>
      </p:sp>
      <p:sp>
        <p:nvSpPr>
          <p:cNvPr id="36889" name="Line 23"/>
          <p:cNvSpPr>
            <a:spLocks noChangeShapeType="1"/>
          </p:cNvSpPr>
          <p:nvPr/>
        </p:nvSpPr>
        <p:spPr bwMode="auto">
          <a:xfrm>
            <a:off x="5668895" y="2456374"/>
            <a:ext cx="25467" cy="425450"/>
          </a:xfrm>
          <a:prstGeom prst="line">
            <a:avLst/>
          </a:prstGeom>
          <a:noFill/>
          <a:ln w="9525">
            <a:solidFill>
              <a:srgbClr val="36424A"/>
            </a:solidFill>
            <a:round/>
            <a:headEnd/>
            <a:tailEnd type="triangle" w="lg" len="lg"/>
          </a:ln>
        </p:spPr>
        <p:txBody>
          <a:bodyPr wrap="square">
            <a:spAutoFit/>
          </a:bodyPr>
          <a:lstStyle/>
          <a:p>
            <a:endParaRPr lang="en-US">
              <a:solidFill>
                <a:srgbClr val="36424A"/>
              </a:solidFill>
            </a:endParaRPr>
          </a:p>
        </p:txBody>
      </p:sp>
      <p:sp>
        <p:nvSpPr>
          <p:cNvPr id="36890" name="Line 24"/>
          <p:cNvSpPr>
            <a:spLocks noChangeShapeType="1"/>
          </p:cNvSpPr>
          <p:nvPr/>
        </p:nvSpPr>
        <p:spPr bwMode="auto">
          <a:xfrm flipH="1">
            <a:off x="6924675" y="2467488"/>
            <a:ext cx="0" cy="414336"/>
          </a:xfrm>
          <a:prstGeom prst="line">
            <a:avLst/>
          </a:prstGeom>
          <a:noFill/>
          <a:ln w="9525">
            <a:solidFill>
              <a:srgbClr val="36424A"/>
            </a:solidFill>
            <a:round/>
            <a:headEnd/>
            <a:tailEnd type="triangle" w="lg" len="lg"/>
          </a:ln>
        </p:spPr>
        <p:txBody>
          <a:bodyPr wrap="square">
            <a:spAutoFit/>
          </a:bodyPr>
          <a:lstStyle/>
          <a:p>
            <a:endParaRPr lang="en-US">
              <a:solidFill>
                <a:srgbClr val="36424A"/>
              </a:solidFill>
            </a:endParaRPr>
          </a:p>
        </p:txBody>
      </p:sp>
      <p:sp>
        <p:nvSpPr>
          <p:cNvPr id="36891" name="Line 25"/>
          <p:cNvSpPr>
            <a:spLocks noChangeShapeType="1"/>
          </p:cNvSpPr>
          <p:nvPr/>
        </p:nvSpPr>
        <p:spPr bwMode="auto">
          <a:xfrm>
            <a:off x="2560638" y="3064387"/>
            <a:ext cx="0" cy="255587"/>
          </a:xfrm>
          <a:prstGeom prst="line">
            <a:avLst/>
          </a:prstGeom>
          <a:noFill/>
          <a:ln w="9525">
            <a:solidFill>
              <a:srgbClr val="36424A"/>
            </a:solidFill>
            <a:round/>
            <a:headEnd/>
            <a:tailEnd type="triangle" w="lg" len="lg"/>
          </a:ln>
        </p:spPr>
        <p:txBody>
          <a:bodyPr>
            <a:spAutoFit/>
          </a:bodyPr>
          <a:lstStyle/>
          <a:p>
            <a:endParaRPr lang="en-US">
              <a:solidFill>
                <a:srgbClr val="36424A"/>
              </a:solidFill>
            </a:endParaRPr>
          </a:p>
        </p:txBody>
      </p:sp>
      <p:sp>
        <p:nvSpPr>
          <p:cNvPr id="36892" name="Line 26"/>
          <p:cNvSpPr>
            <a:spLocks noChangeShapeType="1"/>
          </p:cNvSpPr>
          <p:nvPr/>
        </p:nvSpPr>
        <p:spPr bwMode="auto">
          <a:xfrm>
            <a:off x="3923928" y="2483362"/>
            <a:ext cx="0" cy="914400"/>
          </a:xfrm>
          <a:prstGeom prst="line">
            <a:avLst/>
          </a:prstGeom>
          <a:noFill/>
          <a:ln w="9525">
            <a:solidFill>
              <a:srgbClr val="36424A"/>
            </a:solidFill>
            <a:round/>
            <a:headEnd/>
            <a:tailEnd type="triangle" w="lg" len="lg"/>
          </a:ln>
        </p:spPr>
        <p:txBody>
          <a:bodyPr>
            <a:spAutoFit/>
          </a:bodyPr>
          <a:lstStyle/>
          <a:p>
            <a:endParaRPr lang="en-US">
              <a:solidFill>
                <a:srgbClr val="36424A"/>
              </a:solidFill>
            </a:endParaRPr>
          </a:p>
        </p:txBody>
      </p:sp>
      <p:sp>
        <p:nvSpPr>
          <p:cNvPr id="36893" name="Line 27"/>
          <p:cNvSpPr>
            <a:spLocks noChangeShapeType="1"/>
          </p:cNvSpPr>
          <p:nvPr/>
        </p:nvSpPr>
        <p:spPr bwMode="auto">
          <a:xfrm>
            <a:off x="1259632" y="2465899"/>
            <a:ext cx="0" cy="854075"/>
          </a:xfrm>
          <a:prstGeom prst="line">
            <a:avLst/>
          </a:prstGeom>
          <a:noFill/>
          <a:ln w="9525">
            <a:solidFill>
              <a:srgbClr val="36424A"/>
            </a:solidFill>
            <a:round/>
            <a:headEnd/>
            <a:tailEnd type="triangle" w="lg" len="lg"/>
          </a:ln>
        </p:spPr>
        <p:txBody>
          <a:bodyPr>
            <a:spAutoFit/>
          </a:bodyPr>
          <a:lstStyle/>
          <a:p>
            <a:endParaRPr lang="en-US">
              <a:solidFill>
                <a:srgbClr val="36424A"/>
              </a:solidFill>
            </a:endParaRPr>
          </a:p>
        </p:txBody>
      </p:sp>
      <p:sp>
        <p:nvSpPr>
          <p:cNvPr id="36894" name="Line 28"/>
          <p:cNvSpPr>
            <a:spLocks noChangeShapeType="1"/>
          </p:cNvSpPr>
          <p:nvPr/>
        </p:nvSpPr>
        <p:spPr bwMode="auto">
          <a:xfrm flipH="1">
            <a:off x="2562225" y="3429512"/>
            <a:ext cx="11113" cy="415925"/>
          </a:xfrm>
          <a:prstGeom prst="line">
            <a:avLst/>
          </a:prstGeom>
          <a:noFill/>
          <a:ln w="9525">
            <a:solidFill>
              <a:srgbClr val="36424A"/>
            </a:solidFill>
            <a:round/>
            <a:headEnd/>
            <a:tailEnd type="triangle" w="lg" len="lg"/>
          </a:ln>
        </p:spPr>
        <p:txBody>
          <a:bodyPr>
            <a:spAutoFit/>
          </a:bodyPr>
          <a:lstStyle/>
          <a:p>
            <a:endParaRPr lang="en-US">
              <a:solidFill>
                <a:srgbClr val="36424A"/>
              </a:solidFill>
            </a:endParaRPr>
          </a:p>
        </p:txBody>
      </p:sp>
      <p:sp>
        <p:nvSpPr>
          <p:cNvPr id="36895" name="Line 29"/>
          <p:cNvSpPr>
            <a:spLocks noChangeShapeType="1"/>
          </p:cNvSpPr>
          <p:nvPr/>
        </p:nvSpPr>
        <p:spPr bwMode="auto">
          <a:xfrm>
            <a:off x="2998788" y="4320099"/>
            <a:ext cx="182562" cy="328613"/>
          </a:xfrm>
          <a:prstGeom prst="line">
            <a:avLst/>
          </a:prstGeom>
          <a:noFill/>
          <a:ln w="9525">
            <a:solidFill>
              <a:srgbClr val="36424A"/>
            </a:solidFill>
            <a:round/>
            <a:headEnd/>
            <a:tailEnd type="triangle" w="lg" len="lg"/>
          </a:ln>
        </p:spPr>
        <p:txBody>
          <a:bodyPr>
            <a:spAutoFit/>
          </a:bodyPr>
          <a:lstStyle/>
          <a:p>
            <a:endParaRPr lang="en-US">
              <a:solidFill>
                <a:srgbClr val="36424A"/>
              </a:solidFill>
            </a:endParaRPr>
          </a:p>
        </p:txBody>
      </p:sp>
      <p:sp>
        <p:nvSpPr>
          <p:cNvPr id="36896" name="Line 30"/>
          <p:cNvSpPr>
            <a:spLocks noChangeShapeType="1"/>
          </p:cNvSpPr>
          <p:nvPr/>
        </p:nvSpPr>
        <p:spPr bwMode="auto">
          <a:xfrm flipH="1">
            <a:off x="5353050" y="2967549"/>
            <a:ext cx="828675" cy="1693863"/>
          </a:xfrm>
          <a:prstGeom prst="line">
            <a:avLst/>
          </a:prstGeom>
          <a:noFill/>
          <a:ln w="9525">
            <a:solidFill>
              <a:srgbClr val="36424A"/>
            </a:solidFill>
            <a:round/>
            <a:headEnd/>
            <a:tailEnd type="triangle" w="lg" len="lg"/>
          </a:ln>
        </p:spPr>
        <p:txBody>
          <a:bodyPr>
            <a:spAutoFit/>
          </a:bodyPr>
          <a:lstStyle/>
          <a:p>
            <a:endParaRPr lang="en-US">
              <a:solidFill>
                <a:srgbClr val="36424A"/>
              </a:solidFill>
            </a:endParaRPr>
          </a:p>
        </p:txBody>
      </p:sp>
      <p:sp>
        <p:nvSpPr>
          <p:cNvPr id="36897" name="Line 31"/>
          <p:cNvSpPr>
            <a:spLocks noChangeShapeType="1"/>
          </p:cNvSpPr>
          <p:nvPr/>
        </p:nvSpPr>
        <p:spPr bwMode="auto">
          <a:xfrm>
            <a:off x="5632450" y="4747137"/>
            <a:ext cx="122238" cy="292100"/>
          </a:xfrm>
          <a:prstGeom prst="line">
            <a:avLst/>
          </a:prstGeom>
          <a:noFill/>
          <a:ln w="9525">
            <a:solidFill>
              <a:srgbClr val="36424A"/>
            </a:solidFill>
            <a:round/>
            <a:headEnd/>
            <a:tailEnd type="triangle" w="lg" len="lg"/>
          </a:ln>
        </p:spPr>
        <p:txBody>
          <a:bodyPr>
            <a:spAutoFit/>
          </a:bodyPr>
          <a:lstStyle/>
          <a:p>
            <a:endParaRPr lang="en-US">
              <a:solidFill>
                <a:srgbClr val="36424A"/>
              </a:solidFill>
            </a:endParaRPr>
          </a:p>
        </p:txBody>
      </p:sp>
      <p:sp>
        <p:nvSpPr>
          <p:cNvPr id="36898" name="Line 32"/>
          <p:cNvSpPr>
            <a:spLocks noChangeShapeType="1"/>
          </p:cNvSpPr>
          <p:nvPr/>
        </p:nvSpPr>
        <p:spPr bwMode="auto">
          <a:xfrm>
            <a:off x="6327775" y="5515487"/>
            <a:ext cx="0" cy="292100"/>
          </a:xfrm>
          <a:prstGeom prst="line">
            <a:avLst/>
          </a:prstGeom>
          <a:noFill/>
          <a:ln w="9525">
            <a:solidFill>
              <a:srgbClr val="36424A"/>
            </a:solidFill>
            <a:round/>
            <a:headEnd/>
            <a:tailEnd type="triangle" w="lg" len="lg"/>
          </a:ln>
        </p:spPr>
        <p:txBody>
          <a:bodyPr>
            <a:spAutoFit/>
          </a:bodyPr>
          <a:lstStyle/>
          <a:p>
            <a:endParaRPr lang="en-US">
              <a:solidFill>
                <a:srgbClr val="36424A"/>
              </a:solidFill>
            </a:endParaRPr>
          </a:p>
        </p:txBody>
      </p:sp>
      <p:sp>
        <p:nvSpPr>
          <p:cNvPr id="36899" name="Oval 33"/>
          <p:cNvSpPr>
            <a:spLocks noChangeArrowheads="1"/>
          </p:cNvSpPr>
          <p:nvPr/>
        </p:nvSpPr>
        <p:spPr bwMode="auto">
          <a:xfrm>
            <a:off x="4418529" y="677592"/>
            <a:ext cx="433387" cy="433388"/>
          </a:xfrm>
          <a:prstGeom prst="ellipse">
            <a:avLst/>
          </a:prstGeom>
          <a:solidFill>
            <a:schemeClr val="bg2"/>
          </a:solidFill>
          <a:ln w="9525" algn="ctr">
            <a:solidFill>
              <a:schemeClr val="tx1"/>
            </a:solidFill>
            <a:round/>
            <a:headEnd/>
            <a:tailEnd/>
          </a:ln>
        </p:spPr>
        <p:txBody>
          <a:bodyPr wrap="none" anchor="ctr"/>
          <a:lstStyle/>
          <a:p>
            <a:endParaRPr lang="en-US"/>
          </a:p>
        </p:txBody>
      </p:sp>
      <p:grpSp>
        <p:nvGrpSpPr>
          <p:cNvPr id="36901" name="Group 35"/>
          <p:cNvGrpSpPr>
            <a:grpSpLocks/>
          </p:cNvGrpSpPr>
          <p:nvPr/>
        </p:nvGrpSpPr>
        <p:grpSpPr bwMode="auto">
          <a:xfrm>
            <a:off x="4408735" y="6426200"/>
            <a:ext cx="433387" cy="431800"/>
            <a:chOff x="793" y="3294"/>
            <a:chExt cx="273" cy="272"/>
          </a:xfrm>
        </p:grpSpPr>
        <p:sp>
          <p:nvSpPr>
            <p:cNvPr id="36905" name="Oval 36"/>
            <p:cNvSpPr>
              <a:spLocks noChangeArrowheads="1"/>
            </p:cNvSpPr>
            <p:nvPr/>
          </p:nvSpPr>
          <p:spPr bwMode="auto">
            <a:xfrm>
              <a:off x="793" y="3294"/>
              <a:ext cx="273" cy="272"/>
            </a:xfrm>
            <a:prstGeom prst="ellipse">
              <a:avLst/>
            </a:prstGeom>
            <a:noFill/>
            <a:ln w="28575" algn="ctr">
              <a:solidFill>
                <a:srgbClr val="36424A"/>
              </a:solidFill>
              <a:round/>
              <a:headEnd/>
              <a:tailEnd/>
            </a:ln>
          </p:spPr>
          <p:txBody>
            <a:bodyPr wrap="none" anchor="ctr"/>
            <a:lstStyle/>
            <a:p>
              <a:endParaRPr lang="en-US">
                <a:solidFill>
                  <a:srgbClr val="36424A"/>
                </a:solidFill>
              </a:endParaRPr>
            </a:p>
          </p:txBody>
        </p:sp>
        <p:sp>
          <p:nvSpPr>
            <p:cNvPr id="36906" name="Oval 37"/>
            <p:cNvSpPr>
              <a:spLocks noChangeArrowheads="1"/>
            </p:cNvSpPr>
            <p:nvPr/>
          </p:nvSpPr>
          <p:spPr bwMode="auto">
            <a:xfrm>
              <a:off x="839" y="3339"/>
              <a:ext cx="182" cy="181"/>
            </a:xfrm>
            <a:prstGeom prst="ellipse">
              <a:avLst/>
            </a:prstGeom>
            <a:solidFill>
              <a:srgbClr val="36424A"/>
            </a:solidFill>
            <a:ln w="9525" algn="ctr">
              <a:solidFill>
                <a:srgbClr val="36424A"/>
              </a:solidFill>
              <a:round/>
              <a:headEnd/>
              <a:tailEnd/>
            </a:ln>
          </p:spPr>
          <p:txBody>
            <a:bodyPr wrap="none" anchor="ctr"/>
            <a:lstStyle/>
            <a:p>
              <a:endParaRPr lang="en-US">
                <a:solidFill>
                  <a:srgbClr val="36424A"/>
                </a:solidFill>
              </a:endParaRPr>
            </a:p>
          </p:txBody>
        </p:sp>
      </p:grpSp>
      <p:sp>
        <p:nvSpPr>
          <p:cNvPr id="36902" name="Line 38"/>
          <p:cNvSpPr>
            <a:spLocks noChangeShapeType="1"/>
          </p:cNvSpPr>
          <p:nvPr/>
        </p:nvSpPr>
        <p:spPr bwMode="auto">
          <a:xfrm flipH="1">
            <a:off x="4827901" y="6076536"/>
            <a:ext cx="558328" cy="492692"/>
          </a:xfrm>
          <a:prstGeom prst="line">
            <a:avLst/>
          </a:prstGeom>
          <a:noFill/>
          <a:ln w="9525">
            <a:solidFill>
              <a:srgbClr val="36424A"/>
            </a:solidFill>
            <a:round/>
            <a:headEnd/>
            <a:tailEnd type="triangle" w="lg" len="lg"/>
          </a:ln>
        </p:spPr>
        <p:txBody>
          <a:bodyPr wrap="square">
            <a:spAutoFit/>
          </a:bodyPr>
          <a:lstStyle/>
          <a:p>
            <a:endParaRPr lang="en-US">
              <a:solidFill>
                <a:srgbClr val="36424A"/>
              </a:solidFill>
            </a:endParaRPr>
          </a:p>
        </p:txBody>
      </p:sp>
      <p:sp>
        <p:nvSpPr>
          <p:cNvPr id="36903" name="Text Box 41"/>
          <p:cNvSpPr txBox="1">
            <a:spLocks noChangeArrowheads="1"/>
          </p:cNvSpPr>
          <p:nvPr/>
        </p:nvSpPr>
        <p:spPr bwMode="auto">
          <a:xfrm>
            <a:off x="885991" y="1114987"/>
            <a:ext cx="1133475" cy="457200"/>
          </a:xfrm>
          <a:prstGeom prst="rect">
            <a:avLst/>
          </a:prstGeom>
          <a:noFill/>
          <a:ln w="9525" algn="ctr">
            <a:noFill/>
            <a:miter lim="800000"/>
            <a:headEnd/>
            <a:tailEnd type="none" w="lg" len="lg"/>
          </a:ln>
        </p:spPr>
        <p:txBody>
          <a:bodyPr>
            <a:spAutoFit/>
          </a:bodyPr>
          <a:lstStyle/>
          <a:p>
            <a:r>
              <a:rPr lang="en-GB" dirty="0">
                <a:solidFill>
                  <a:srgbClr val="36424A"/>
                </a:solidFill>
              </a:rPr>
              <a:t>Father </a:t>
            </a:r>
            <a:endParaRPr lang="en-US" altLang="zh-CN" dirty="0">
              <a:solidFill>
                <a:srgbClr val="36424A"/>
              </a:solidFill>
            </a:endParaRPr>
          </a:p>
        </p:txBody>
      </p:sp>
      <p:sp>
        <p:nvSpPr>
          <p:cNvPr id="36904" name="Text Box 42"/>
          <p:cNvSpPr txBox="1">
            <a:spLocks noChangeArrowheads="1"/>
          </p:cNvSpPr>
          <p:nvPr/>
        </p:nvSpPr>
        <p:spPr bwMode="auto">
          <a:xfrm>
            <a:off x="7248176" y="1128292"/>
            <a:ext cx="1133475" cy="457200"/>
          </a:xfrm>
          <a:prstGeom prst="rect">
            <a:avLst/>
          </a:prstGeom>
          <a:noFill/>
          <a:ln w="9525" algn="ctr">
            <a:noFill/>
            <a:miter lim="800000"/>
            <a:headEnd/>
            <a:tailEnd type="none" w="lg" len="lg"/>
          </a:ln>
        </p:spPr>
        <p:txBody>
          <a:bodyPr>
            <a:spAutoFit/>
          </a:bodyPr>
          <a:lstStyle/>
          <a:p>
            <a:r>
              <a:rPr lang="en-GB" dirty="0">
                <a:solidFill>
                  <a:srgbClr val="36424A"/>
                </a:solidFill>
              </a:rPr>
              <a:t>Mother </a:t>
            </a:r>
            <a:endParaRPr lang="en-US" altLang="zh-CN" dirty="0">
              <a:solidFill>
                <a:srgbClr val="36424A"/>
              </a:solidFill>
            </a:endParaRPr>
          </a:p>
        </p:txBody>
      </p:sp>
      <p:sp>
        <p:nvSpPr>
          <p:cNvPr id="43" name="Line 18"/>
          <p:cNvSpPr>
            <a:spLocks noChangeShapeType="1"/>
          </p:cNvSpPr>
          <p:nvPr/>
        </p:nvSpPr>
        <p:spPr bwMode="auto">
          <a:xfrm>
            <a:off x="4629379" y="1114258"/>
            <a:ext cx="1463" cy="374768"/>
          </a:xfrm>
          <a:prstGeom prst="line">
            <a:avLst/>
          </a:prstGeom>
          <a:noFill/>
          <a:ln w="9525">
            <a:solidFill>
              <a:srgbClr val="36424A"/>
            </a:solidFill>
            <a:round/>
            <a:headEnd/>
            <a:tailEnd type="triangle" w="lg" len="lg"/>
          </a:ln>
        </p:spPr>
        <p:txBody>
          <a:bodyPr wrap="square">
            <a:spAutoFit/>
          </a:bodyPr>
          <a:lstStyle/>
          <a:p>
            <a:endParaRPr lang="en-US">
              <a:solidFill>
                <a:srgbClr val="36424A"/>
              </a:solidFill>
            </a:endParaRPr>
          </a:p>
        </p:txBody>
      </p:sp>
      <p:sp>
        <p:nvSpPr>
          <p:cNvPr id="2" name="Rectangle 1"/>
          <p:cNvSpPr/>
          <p:nvPr/>
        </p:nvSpPr>
        <p:spPr>
          <a:xfrm>
            <a:off x="842966" y="1138666"/>
            <a:ext cx="3721665" cy="5321075"/>
          </a:xfrm>
          <a:prstGeom prst="rect">
            <a:avLst/>
          </a:prstGeom>
          <a:ln w="28575" cmpd="sng">
            <a:solidFill>
              <a:srgbClr val="000066"/>
            </a:solidFill>
            <a:prstDash val="soli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Rectangle 44"/>
          <p:cNvSpPr/>
          <p:nvPr/>
        </p:nvSpPr>
        <p:spPr>
          <a:xfrm>
            <a:off x="4848934" y="1137784"/>
            <a:ext cx="3525134" cy="5321075"/>
          </a:xfrm>
          <a:prstGeom prst="rect">
            <a:avLst/>
          </a:prstGeom>
          <a:ln w="28575" cmpd="sng">
            <a:solidFill>
              <a:srgbClr val="000066"/>
            </a:solidFill>
            <a:prstDash val="soli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9E2B2B75-0764-344B-A96B-96AA544502F3}"/>
              </a:ext>
            </a:extLst>
          </p:cNvPr>
          <p:cNvSpPr>
            <a:spLocks noGrp="1"/>
          </p:cNvSpPr>
          <p:nvPr>
            <p:ph type="sldNum" sz="quarter" idx="4"/>
          </p:nvPr>
        </p:nvSpPr>
        <p:spPr/>
        <p:txBody>
          <a:bodyPr/>
          <a:lstStyle/>
          <a:p>
            <a:fld id="{D6255EFE-3ACE-DA4E-80CE-7588690A9A08}" type="slidenum">
              <a:rPr lang="en-GB" smtClean="0"/>
              <a:t>26</a:t>
            </a:fld>
            <a:endParaRPr lang="en-GB"/>
          </a:p>
        </p:txBody>
      </p:sp>
    </p:spTree>
    <p:extLst>
      <p:ext uri="{BB962C8B-B14F-4D97-AF65-F5344CB8AC3E}">
        <p14:creationId xmlns:p14="http://schemas.microsoft.com/office/powerpoint/2010/main" val="3604243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a:bodyPr>
          <a:lstStyle/>
          <a:p>
            <a:r>
              <a:rPr lang="en-GB" sz="3600" dirty="0"/>
              <a:t>Principles of OO Methodology (1)</a:t>
            </a:r>
            <a:endParaRPr lang="en-US" altLang="zh-CN" sz="3600" dirty="0">
              <a:ea typeface="宋体" pitchFamily="2" charset="-122"/>
            </a:endParaRPr>
          </a:p>
        </p:txBody>
      </p:sp>
      <p:sp>
        <p:nvSpPr>
          <p:cNvPr id="12291" name="Rectangle 3"/>
          <p:cNvSpPr>
            <a:spLocks noGrp="1" noChangeArrowheads="1"/>
          </p:cNvSpPr>
          <p:nvPr>
            <p:ph type="body" idx="1"/>
          </p:nvPr>
        </p:nvSpPr>
        <p:spPr>
          <a:xfrm>
            <a:off x="323850" y="1052736"/>
            <a:ext cx="8655050" cy="5400600"/>
          </a:xfrm>
        </p:spPr>
        <p:txBody>
          <a:bodyPr/>
          <a:lstStyle/>
          <a:p>
            <a:r>
              <a:rPr lang="en-GB" sz="2800" dirty="0"/>
              <a:t>An information system should be structured in such a way that it reflects the structure of the real world system</a:t>
            </a:r>
          </a:p>
          <a:p>
            <a:pPr lvl="1"/>
            <a:r>
              <a:rPr lang="en-GB" sz="2400" dirty="0"/>
              <a:t>Easier to understand the information system </a:t>
            </a:r>
          </a:p>
          <a:p>
            <a:pPr lvl="2"/>
            <a:r>
              <a:rPr lang="en-GB" sz="2400" dirty="0"/>
              <a:t>Metaphor: using the same vocabulary to describe the entities in the information system as the users describes the things, ideas and concepts in the real world</a:t>
            </a:r>
          </a:p>
          <a:p>
            <a:pPr lvl="1"/>
            <a:r>
              <a:rPr lang="en-GB" sz="2400" dirty="0"/>
              <a:t>Easier to modify the information system</a:t>
            </a:r>
          </a:p>
          <a:p>
            <a:pPr lvl="2"/>
            <a:r>
              <a:rPr lang="en-GB" sz="2400" dirty="0"/>
              <a:t>Users’ requirements tend to change much more frequently than the structure of their organisation and the domain</a:t>
            </a:r>
          </a:p>
          <a:p>
            <a:pPr lvl="2"/>
            <a:r>
              <a:rPr lang="en-GB" sz="2400" dirty="0"/>
              <a:t>Changes in organisation system can be relatively easily reflected in the modification of the information system</a:t>
            </a:r>
            <a:endParaRPr lang="en-US" altLang="zh-CN" sz="2400" dirty="0">
              <a:ea typeface="宋体" pitchFamily="2" charset="-122"/>
            </a:endParaRPr>
          </a:p>
        </p:txBody>
      </p:sp>
      <p:sp>
        <p:nvSpPr>
          <p:cNvPr id="3" name="Slide Number Placeholder 2">
            <a:extLst>
              <a:ext uri="{FF2B5EF4-FFF2-40B4-BE49-F238E27FC236}">
                <a16:creationId xmlns:a16="http://schemas.microsoft.com/office/drawing/2014/main" id="{A2FD20F3-E014-B942-9F26-0B2E69EB3DAC}"/>
              </a:ext>
            </a:extLst>
          </p:cNvPr>
          <p:cNvSpPr>
            <a:spLocks noGrp="1"/>
          </p:cNvSpPr>
          <p:nvPr>
            <p:ph type="sldNum" sz="quarter" idx="11"/>
          </p:nvPr>
        </p:nvSpPr>
        <p:spPr bwMode="auto">
          <a:xfrm>
            <a:off x="8440613" y="6526609"/>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27</a:t>
            </a:fld>
            <a:endParaRPr lang="en-US" altLang="en-US">
              <a:solidFill>
                <a:schemeClr val="tx1"/>
              </a:solidFill>
            </a:endParaRPr>
          </a:p>
        </p:txBody>
      </p:sp>
    </p:spTree>
    <p:extLst>
      <p:ext uri="{BB962C8B-B14F-4D97-AF65-F5344CB8AC3E}">
        <p14:creationId xmlns:p14="http://schemas.microsoft.com/office/powerpoint/2010/main" val="17278885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r>
              <a:rPr lang="en-GB" sz="3600" dirty="0"/>
              <a:t>Principles of OO Methodology (2)</a:t>
            </a:r>
            <a:endParaRPr lang="en-US" altLang="zh-CN" sz="3600" dirty="0">
              <a:ea typeface="宋体" pitchFamily="2" charset="-122"/>
            </a:endParaRPr>
          </a:p>
        </p:txBody>
      </p:sp>
      <p:sp>
        <p:nvSpPr>
          <p:cNvPr id="13315" name="Rectangle 3"/>
          <p:cNvSpPr>
            <a:spLocks noGrp="1" noChangeArrowheads="1"/>
          </p:cNvSpPr>
          <p:nvPr>
            <p:ph type="body" idx="1"/>
          </p:nvPr>
        </p:nvSpPr>
        <p:spPr>
          <a:xfrm>
            <a:off x="468313" y="836613"/>
            <a:ext cx="8488362" cy="2305050"/>
          </a:xfrm>
        </p:spPr>
        <p:txBody>
          <a:bodyPr/>
          <a:lstStyle/>
          <a:p>
            <a:pPr marL="360363" indent="-360363"/>
            <a:r>
              <a:rPr lang="en-GB" sz="2800" dirty="0"/>
              <a:t>‘Everything in the world is object’</a:t>
            </a:r>
          </a:p>
          <a:p>
            <a:pPr marL="627063" lvl="1" indent="-355600"/>
            <a:r>
              <a:rPr lang="en-GB" sz="2400" dirty="0"/>
              <a:t>The real world can be modelled by objects</a:t>
            </a:r>
          </a:p>
          <a:p>
            <a:pPr marL="627063" lvl="1" indent="-355600"/>
            <a:r>
              <a:rPr lang="en-GB" sz="2400" dirty="0"/>
              <a:t>Everything in an information system </a:t>
            </a:r>
            <a:r>
              <a:rPr lang="en-GB" sz="2400" dirty="0">
                <a:solidFill>
                  <a:srgbClr val="A50021"/>
                </a:solidFill>
              </a:rPr>
              <a:t>should be</a:t>
            </a:r>
            <a:r>
              <a:rPr lang="en-GB" sz="2400" dirty="0"/>
              <a:t> an object in order to satisfy principle 1</a:t>
            </a:r>
          </a:p>
          <a:p>
            <a:pPr marL="627063" lvl="1" indent="-355600"/>
            <a:r>
              <a:rPr lang="en-GB" sz="2400" dirty="0"/>
              <a:t>All information systems </a:t>
            </a:r>
            <a:r>
              <a:rPr lang="en-GB" sz="2400" dirty="0">
                <a:solidFill>
                  <a:srgbClr val="A50021"/>
                </a:solidFill>
              </a:rPr>
              <a:t>can be</a:t>
            </a:r>
            <a:r>
              <a:rPr lang="en-GB" sz="2400" dirty="0"/>
              <a:t> modelled in OO approach</a:t>
            </a:r>
            <a:endParaRPr lang="en-US" altLang="zh-CN" sz="2400" dirty="0">
              <a:ea typeface="宋体" pitchFamily="2" charset="-122"/>
            </a:endParaRPr>
          </a:p>
        </p:txBody>
      </p:sp>
      <p:sp>
        <p:nvSpPr>
          <p:cNvPr id="13316" name="Text Box 4"/>
          <p:cNvSpPr txBox="1">
            <a:spLocks noChangeArrowheads="1"/>
          </p:cNvSpPr>
          <p:nvPr/>
        </p:nvSpPr>
        <p:spPr bwMode="auto">
          <a:xfrm>
            <a:off x="2484438" y="3429000"/>
            <a:ext cx="1081087" cy="830997"/>
          </a:xfrm>
          <a:prstGeom prst="rect">
            <a:avLst/>
          </a:prstGeom>
          <a:noFill/>
          <a:ln w="28575">
            <a:solidFill>
              <a:schemeClr val="accent2"/>
            </a:solidFill>
            <a:miter lim="800000"/>
            <a:headEnd/>
            <a:tailEnd/>
          </a:ln>
          <a:effectLst/>
        </p:spPr>
        <p:txBody>
          <a:bodyPr>
            <a:spAutoFit/>
          </a:bodyPr>
          <a:lstStyle/>
          <a:p>
            <a:pPr algn="ctr"/>
            <a:r>
              <a:rPr lang="en-GB" sz="2400">
                <a:solidFill>
                  <a:schemeClr val="tx2"/>
                </a:solidFill>
              </a:rPr>
              <a:t>Real world</a:t>
            </a:r>
            <a:endParaRPr lang="en-US" altLang="zh-CN" sz="2400">
              <a:solidFill>
                <a:schemeClr val="tx2"/>
              </a:solidFill>
            </a:endParaRPr>
          </a:p>
        </p:txBody>
      </p:sp>
      <p:sp>
        <p:nvSpPr>
          <p:cNvPr id="13317" name="Text Box 5"/>
          <p:cNvSpPr txBox="1">
            <a:spLocks noChangeArrowheads="1"/>
          </p:cNvSpPr>
          <p:nvPr/>
        </p:nvSpPr>
        <p:spPr bwMode="auto">
          <a:xfrm>
            <a:off x="5867400" y="3429000"/>
            <a:ext cx="1441450" cy="830997"/>
          </a:xfrm>
          <a:prstGeom prst="rect">
            <a:avLst/>
          </a:prstGeom>
          <a:noFill/>
          <a:ln w="28575">
            <a:solidFill>
              <a:schemeClr val="accent2"/>
            </a:solidFill>
            <a:miter lim="800000"/>
            <a:headEnd/>
            <a:tailEnd/>
          </a:ln>
          <a:effectLst/>
        </p:spPr>
        <p:txBody>
          <a:bodyPr>
            <a:spAutoFit/>
          </a:bodyPr>
          <a:lstStyle/>
          <a:p>
            <a:pPr algn="ctr"/>
            <a:r>
              <a:rPr lang="en-GB" sz="2400">
                <a:solidFill>
                  <a:schemeClr val="tx2"/>
                </a:solidFill>
              </a:rPr>
              <a:t>World of software</a:t>
            </a:r>
            <a:endParaRPr lang="en-US" altLang="zh-CN" sz="2400">
              <a:solidFill>
                <a:schemeClr val="tx2"/>
              </a:solidFill>
            </a:endParaRPr>
          </a:p>
        </p:txBody>
      </p:sp>
      <p:sp>
        <p:nvSpPr>
          <p:cNvPr id="13318" name="Line 6"/>
          <p:cNvSpPr>
            <a:spLocks noChangeShapeType="1"/>
          </p:cNvSpPr>
          <p:nvPr/>
        </p:nvSpPr>
        <p:spPr bwMode="auto">
          <a:xfrm>
            <a:off x="3563938" y="3860800"/>
            <a:ext cx="2303462" cy="0"/>
          </a:xfrm>
          <a:prstGeom prst="line">
            <a:avLst/>
          </a:prstGeom>
          <a:noFill/>
          <a:ln w="28575">
            <a:solidFill>
              <a:srgbClr val="FF0000"/>
            </a:solidFill>
            <a:round/>
            <a:headEnd type="triangle" w="lg" len="lg"/>
            <a:tailEnd type="triangle" w="lg" len="lg"/>
          </a:ln>
          <a:effectLst/>
        </p:spPr>
        <p:txBody>
          <a:bodyPr>
            <a:spAutoFit/>
          </a:bodyPr>
          <a:lstStyle/>
          <a:p>
            <a:endParaRPr lang="en-US"/>
          </a:p>
        </p:txBody>
      </p:sp>
      <p:sp>
        <p:nvSpPr>
          <p:cNvPr id="13319" name="Text Box 7"/>
          <p:cNvSpPr txBox="1">
            <a:spLocks noChangeArrowheads="1"/>
          </p:cNvSpPr>
          <p:nvPr/>
        </p:nvSpPr>
        <p:spPr bwMode="auto">
          <a:xfrm>
            <a:off x="3615867" y="3347454"/>
            <a:ext cx="2087563" cy="400110"/>
          </a:xfrm>
          <a:prstGeom prst="rect">
            <a:avLst/>
          </a:prstGeom>
          <a:noFill/>
          <a:ln w="28575" algn="ctr">
            <a:noFill/>
            <a:miter lim="800000"/>
            <a:headEnd type="none" w="lg" len="lg"/>
            <a:tailEnd type="none" w="lg" len="lg"/>
          </a:ln>
          <a:effectLst/>
        </p:spPr>
        <p:txBody>
          <a:bodyPr>
            <a:spAutoFit/>
          </a:bodyPr>
          <a:lstStyle/>
          <a:p>
            <a:pPr algn="ctr"/>
            <a:r>
              <a:rPr lang="en-GB" sz="2000" dirty="0">
                <a:solidFill>
                  <a:srgbClr val="FF0000"/>
                </a:solidFill>
              </a:rPr>
              <a:t>Semantic gap</a:t>
            </a:r>
            <a:endParaRPr lang="en-US" altLang="zh-CN" sz="2000" dirty="0">
              <a:solidFill>
                <a:srgbClr val="FF0000"/>
              </a:solidFill>
            </a:endParaRPr>
          </a:p>
        </p:txBody>
      </p:sp>
      <p:sp>
        <p:nvSpPr>
          <p:cNvPr id="13320" name="Text Box 8"/>
          <p:cNvSpPr txBox="1">
            <a:spLocks noChangeArrowheads="1"/>
          </p:cNvSpPr>
          <p:nvPr/>
        </p:nvSpPr>
        <p:spPr bwMode="auto">
          <a:xfrm>
            <a:off x="2123729" y="5013325"/>
            <a:ext cx="1945034" cy="830997"/>
          </a:xfrm>
          <a:prstGeom prst="rect">
            <a:avLst/>
          </a:prstGeom>
          <a:noFill/>
          <a:ln w="28575" algn="ctr">
            <a:solidFill>
              <a:schemeClr val="accent2"/>
            </a:solidFill>
            <a:miter lim="800000"/>
            <a:headEnd type="none" w="lg" len="lg"/>
            <a:tailEnd type="none" w="lg" len="lg"/>
          </a:ln>
          <a:effectLst/>
        </p:spPr>
        <p:txBody>
          <a:bodyPr wrap="square">
            <a:spAutoFit/>
          </a:bodyPr>
          <a:lstStyle/>
          <a:p>
            <a:pPr algn="ctr"/>
            <a:r>
              <a:rPr lang="en-GB" sz="2400" dirty="0">
                <a:solidFill>
                  <a:schemeClr val="tx2"/>
                </a:solidFill>
              </a:rPr>
              <a:t>Model of the real world</a:t>
            </a:r>
            <a:endParaRPr lang="en-US" altLang="zh-CN" sz="2400" dirty="0">
              <a:solidFill>
                <a:schemeClr val="tx2"/>
              </a:solidFill>
            </a:endParaRPr>
          </a:p>
        </p:txBody>
      </p:sp>
      <p:sp>
        <p:nvSpPr>
          <p:cNvPr id="13321" name="Text Box 9"/>
          <p:cNvSpPr txBox="1">
            <a:spLocks noChangeArrowheads="1"/>
          </p:cNvSpPr>
          <p:nvPr/>
        </p:nvSpPr>
        <p:spPr bwMode="auto">
          <a:xfrm>
            <a:off x="5580063" y="5013325"/>
            <a:ext cx="2089150" cy="830997"/>
          </a:xfrm>
          <a:prstGeom prst="rect">
            <a:avLst/>
          </a:prstGeom>
          <a:noFill/>
          <a:ln w="28575" algn="ctr">
            <a:solidFill>
              <a:schemeClr val="accent2"/>
            </a:solidFill>
            <a:miter lim="800000"/>
            <a:headEnd type="none" w="lg" len="lg"/>
            <a:tailEnd type="none" w="lg" len="lg"/>
          </a:ln>
          <a:effectLst/>
        </p:spPr>
        <p:txBody>
          <a:bodyPr>
            <a:spAutoFit/>
          </a:bodyPr>
          <a:lstStyle/>
          <a:p>
            <a:pPr algn="ctr"/>
            <a:r>
              <a:rPr lang="en-GB" sz="2400">
                <a:solidFill>
                  <a:schemeClr val="tx2"/>
                </a:solidFill>
              </a:rPr>
              <a:t>Model of the SW world</a:t>
            </a:r>
            <a:endParaRPr lang="en-US" altLang="zh-CN" sz="2400">
              <a:solidFill>
                <a:schemeClr val="tx2"/>
              </a:solidFill>
            </a:endParaRPr>
          </a:p>
        </p:txBody>
      </p:sp>
      <p:sp>
        <p:nvSpPr>
          <p:cNvPr id="13322" name="Line 10"/>
          <p:cNvSpPr>
            <a:spLocks noChangeShapeType="1"/>
          </p:cNvSpPr>
          <p:nvPr/>
        </p:nvSpPr>
        <p:spPr bwMode="auto">
          <a:xfrm>
            <a:off x="3059113" y="4294188"/>
            <a:ext cx="0" cy="719137"/>
          </a:xfrm>
          <a:prstGeom prst="line">
            <a:avLst/>
          </a:prstGeom>
          <a:noFill/>
          <a:ln w="28575">
            <a:solidFill>
              <a:schemeClr val="accent2"/>
            </a:solidFill>
            <a:round/>
            <a:headEnd type="none" w="lg" len="lg"/>
            <a:tailEnd type="triangle" w="lg" len="lg"/>
          </a:ln>
          <a:effectLst/>
        </p:spPr>
        <p:txBody>
          <a:bodyPr>
            <a:spAutoFit/>
          </a:bodyPr>
          <a:lstStyle/>
          <a:p>
            <a:endParaRPr lang="en-US"/>
          </a:p>
        </p:txBody>
      </p:sp>
      <p:sp>
        <p:nvSpPr>
          <p:cNvPr id="13323" name="Line 11"/>
          <p:cNvSpPr>
            <a:spLocks noChangeShapeType="1"/>
          </p:cNvSpPr>
          <p:nvPr/>
        </p:nvSpPr>
        <p:spPr bwMode="auto">
          <a:xfrm flipV="1">
            <a:off x="6659563" y="4294188"/>
            <a:ext cx="0" cy="719137"/>
          </a:xfrm>
          <a:prstGeom prst="line">
            <a:avLst/>
          </a:prstGeom>
          <a:noFill/>
          <a:ln w="28575">
            <a:solidFill>
              <a:schemeClr val="accent2"/>
            </a:solidFill>
            <a:round/>
            <a:headEnd type="none" w="lg" len="lg"/>
            <a:tailEnd type="triangle" w="lg" len="lg"/>
          </a:ln>
          <a:effectLst/>
        </p:spPr>
        <p:txBody>
          <a:bodyPr>
            <a:spAutoFit/>
          </a:bodyPr>
          <a:lstStyle/>
          <a:p>
            <a:endParaRPr lang="en-US"/>
          </a:p>
        </p:txBody>
      </p:sp>
      <p:sp>
        <p:nvSpPr>
          <p:cNvPr id="13324" name="Line 12"/>
          <p:cNvSpPr>
            <a:spLocks noChangeShapeType="1"/>
          </p:cNvSpPr>
          <p:nvPr/>
        </p:nvSpPr>
        <p:spPr bwMode="auto">
          <a:xfrm>
            <a:off x="4067175" y="5446713"/>
            <a:ext cx="1512888" cy="0"/>
          </a:xfrm>
          <a:prstGeom prst="line">
            <a:avLst/>
          </a:prstGeom>
          <a:noFill/>
          <a:ln w="28575">
            <a:solidFill>
              <a:schemeClr val="accent2"/>
            </a:solidFill>
            <a:round/>
            <a:headEnd type="none" w="lg" len="lg"/>
            <a:tailEnd type="triangle" w="lg" len="lg"/>
          </a:ln>
          <a:effectLst/>
        </p:spPr>
        <p:txBody>
          <a:bodyPr>
            <a:spAutoFit/>
          </a:bodyPr>
          <a:lstStyle/>
          <a:p>
            <a:endParaRPr lang="en-US"/>
          </a:p>
        </p:txBody>
      </p:sp>
      <p:sp>
        <p:nvSpPr>
          <p:cNvPr id="13325" name="Text Box 13"/>
          <p:cNvSpPr txBox="1">
            <a:spLocks noChangeArrowheads="1"/>
          </p:cNvSpPr>
          <p:nvPr/>
        </p:nvSpPr>
        <p:spPr bwMode="auto">
          <a:xfrm>
            <a:off x="1164338" y="4251125"/>
            <a:ext cx="1296987" cy="707886"/>
          </a:xfrm>
          <a:prstGeom prst="rect">
            <a:avLst/>
          </a:prstGeom>
          <a:noFill/>
          <a:ln w="28575" algn="ctr">
            <a:noFill/>
            <a:miter lim="800000"/>
            <a:headEnd type="none" w="lg" len="lg"/>
            <a:tailEnd type="none" w="lg" len="lg"/>
          </a:ln>
          <a:effectLst/>
        </p:spPr>
        <p:txBody>
          <a:bodyPr>
            <a:spAutoFit/>
          </a:bodyPr>
          <a:lstStyle/>
          <a:p>
            <a:r>
              <a:rPr lang="en-GB" sz="2000" i="1" dirty="0">
                <a:solidFill>
                  <a:schemeClr val="tx2"/>
                </a:solidFill>
              </a:rPr>
              <a:t>Analysis phase</a:t>
            </a:r>
            <a:endParaRPr lang="en-US" altLang="zh-CN" sz="2000" i="1" dirty="0">
              <a:solidFill>
                <a:schemeClr val="tx2"/>
              </a:solidFill>
            </a:endParaRPr>
          </a:p>
        </p:txBody>
      </p:sp>
      <p:sp>
        <p:nvSpPr>
          <p:cNvPr id="13326" name="Text Box 14"/>
          <p:cNvSpPr txBox="1">
            <a:spLocks noChangeArrowheads="1"/>
          </p:cNvSpPr>
          <p:nvPr/>
        </p:nvSpPr>
        <p:spPr bwMode="auto">
          <a:xfrm>
            <a:off x="7308850" y="4193391"/>
            <a:ext cx="1296988" cy="707886"/>
          </a:xfrm>
          <a:prstGeom prst="rect">
            <a:avLst/>
          </a:prstGeom>
          <a:noFill/>
          <a:ln w="28575" algn="ctr">
            <a:noFill/>
            <a:miter lim="800000"/>
            <a:headEnd type="none" w="lg" len="lg"/>
            <a:tailEnd type="none" w="lg" len="lg"/>
          </a:ln>
          <a:effectLst/>
        </p:spPr>
        <p:txBody>
          <a:bodyPr>
            <a:spAutoFit/>
          </a:bodyPr>
          <a:lstStyle/>
          <a:p>
            <a:r>
              <a:rPr lang="en-GB" sz="2000" i="1" dirty="0">
                <a:solidFill>
                  <a:schemeClr val="tx2"/>
                </a:solidFill>
              </a:rPr>
              <a:t>Design phase</a:t>
            </a:r>
            <a:endParaRPr lang="en-US" altLang="zh-CN" sz="2000" i="1" dirty="0">
              <a:solidFill>
                <a:schemeClr val="tx2"/>
              </a:solidFill>
            </a:endParaRPr>
          </a:p>
        </p:txBody>
      </p:sp>
      <p:sp>
        <p:nvSpPr>
          <p:cNvPr id="3" name="Slide Number Placeholder 2">
            <a:extLst>
              <a:ext uri="{FF2B5EF4-FFF2-40B4-BE49-F238E27FC236}">
                <a16:creationId xmlns:a16="http://schemas.microsoft.com/office/drawing/2014/main" id="{5AE9C2F9-B3C6-644E-AA30-B58EF8833522}"/>
              </a:ext>
            </a:extLst>
          </p:cNvPr>
          <p:cNvSpPr>
            <a:spLocks noGrp="1"/>
          </p:cNvSpPr>
          <p:nvPr>
            <p:ph type="sldNum" sz="quarter" idx="11"/>
          </p:nvPr>
        </p:nvSpPr>
        <p:spPr bwMode="auto">
          <a:xfrm>
            <a:off x="8432800" y="6471466"/>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28</a:t>
            </a:fld>
            <a:endParaRPr lang="en-US" altLang="en-US">
              <a:solidFill>
                <a:schemeClr val="tx1"/>
              </a:solidFill>
            </a:endParaRPr>
          </a:p>
        </p:txBody>
      </p:sp>
    </p:spTree>
    <p:extLst>
      <p:ext uri="{BB962C8B-B14F-4D97-AF65-F5344CB8AC3E}">
        <p14:creationId xmlns:p14="http://schemas.microsoft.com/office/powerpoint/2010/main" val="8906847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Autofit/>
          </a:bodyPr>
          <a:lstStyle/>
          <a:p>
            <a:r>
              <a:rPr lang="en-GB" sz="3600" dirty="0"/>
              <a:t>Object-Orientation</a:t>
            </a:r>
            <a:endParaRPr lang="en-US" altLang="zh-CN" sz="3600" dirty="0">
              <a:ea typeface="宋体" pitchFamily="2" charset="-122"/>
            </a:endParaRPr>
          </a:p>
        </p:txBody>
      </p:sp>
      <p:sp>
        <p:nvSpPr>
          <p:cNvPr id="14339" name="Rectangle 3"/>
          <p:cNvSpPr>
            <a:spLocks noGrp="1" noChangeArrowheads="1"/>
          </p:cNvSpPr>
          <p:nvPr>
            <p:ph type="body" idx="1"/>
          </p:nvPr>
        </p:nvSpPr>
        <p:spPr>
          <a:xfrm>
            <a:off x="468313" y="765175"/>
            <a:ext cx="8488362" cy="3527425"/>
          </a:xfrm>
        </p:spPr>
        <p:txBody>
          <a:bodyPr/>
          <a:lstStyle/>
          <a:p>
            <a:pPr>
              <a:lnSpc>
                <a:spcPct val="90000"/>
              </a:lnSpc>
            </a:pPr>
            <a:r>
              <a:rPr lang="en-GB" sz="2800" dirty="0"/>
              <a:t>Object</a:t>
            </a:r>
          </a:p>
          <a:p>
            <a:pPr lvl="1">
              <a:lnSpc>
                <a:spcPct val="90000"/>
              </a:lnSpc>
            </a:pPr>
            <a:r>
              <a:rPr lang="en-GB" sz="2400" dirty="0"/>
              <a:t>A set of attributes: </a:t>
            </a:r>
          </a:p>
          <a:p>
            <a:pPr lvl="2">
              <a:lnSpc>
                <a:spcPct val="90000"/>
              </a:lnSpc>
            </a:pPr>
            <a:r>
              <a:rPr lang="en-GB" sz="2400" dirty="0"/>
              <a:t>The states of real world objects are reflected by the values of the attributes</a:t>
            </a:r>
          </a:p>
          <a:p>
            <a:pPr lvl="1">
              <a:lnSpc>
                <a:spcPct val="90000"/>
              </a:lnSpc>
            </a:pPr>
            <a:r>
              <a:rPr lang="en-GB" sz="2400" dirty="0"/>
              <a:t>A set of methods:</a:t>
            </a:r>
          </a:p>
          <a:p>
            <a:pPr lvl="2">
              <a:lnSpc>
                <a:spcPct val="90000"/>
              </a:lnSpc>
            </a:pPr>
            <a:r>
              <a:rPr lang="en-GB" sz="2400" dirty="0"/>
              <a:t>The changes of states are reflected in the collection of methods that changes the states of objects</a:t>
            </a:r>
          </a:p>
          <a:p>
            <a:pPr lvl="1">
              <a:lnSpc>
                <a:spcPct val="90000"/>
              </a:lnSpc>
            </a:pPr>
            <a:r>
              <a:rPr lang="en-GB" sz="2400" dirty="0"/>
              <a:t>The set of attributes and the set of methods are </a:t>
            </a:r>
            <a:r>
              <a:rPr lang="en-GB" sz="2400" i="1" dirty="0"/>
              <a:t>encapsulated</a:t>
            </a:r>
            <a:r>
              <a:rPr lang="en-GB" sz="2400" dirty="0"/>
              <a:t> into one computational entity</a:t>
            </a:r>
            <a:endParaRPr lang="en-US" altLang="zh-CN" sz="2400" dirty="0">
              <a:ea typeface="宋体" pitchFamily="2" charset="-122"/>
            </a:endParaRPr>
          </a:p>
        </p:txBody>
      </p:sp>
      <p:sp>
        <p:nvSpPr>
          <p:cNvPr id="14340" name="Text Box 4"/>
          <p:cNvSpPr txBox="1">
            <a:spLocks noChangeArrowheads="1"/>
          </p:cNvSpPr>
          <p:nvPr/>
        </p:nvSpPr>
        <p:spPr bwMode="auto">
          <a:xfrm>
            <a:off x="395536" y="4292600"/>
            <a:ext cx="8569325" cy="2123658"/>
          </a:xfrm>
          <a:prstGeom prst="rect">
            <a:avLst/>
          </a:prstGeom>
          <a:noFill/>
          <a:ln w="28575" algn="ctr">
            <a:solidFill>
              <a:schemeClr val="accent2"/>
            </a:solidFill>
            <a:miter lim="800000"/>
            <a:headEnd type="none" w="lg" len="lg"/>
            <a:tailEnd type="none" w="lg" len="lg"/>
          </a:ln>
          <a:effectLst/>
        </p:spPr>
        <p:txBody>
          <a:bodyPr>
            <a:spAutoFit/>
          </a:bodyPr>
          <a:lstStyle/>
          <a:p>
            <a:pPr algn="l">
              <a:lnSpc>
                <a:spcPct val="85000"/>
              </a:lnSpc>
              <a:spcBef>
                <a:spcPct val="20000"/>
              </a:spcBef>
            </a:pPr>
            <a:r>
              <a:rPr kumimoji="1" lang="en-US" altLang="zh-CN" sz="2400" dirty="0">
                <a:solidFill>
                  <a:srgbClr val="A50021"/>
                </a:solidFill>
              </a:rPr>
              <a:t>Encapsulation:</a:t>
            </a:r>
          </a:p>
          <a:p>
            <a:pPr lvl="1" indent="-277813" algn="l">
              <a:lnSpc>
                <a:spcPct val="85000"/>
              </a:lnSpc>
              <a:spcBef>
                <a:spcPct val="20000"/>
              </a:spcBef>
              <a:buFontTx/>
              <a:buChar char="•"/>
            </a:pPr>
            <a:r>
              <a:rPr kumimoji="1" lang="en-US" altLang="zh-CN" sz="2400" dirty="0">
                <a:solidFill>
                  <a:schemeClr val="accent5">
                    <a:lumMod val="75000"/>
                  </a:schemeClr>
                </a:solidFill>
              </a:rPr>
              <a:t>It means as much as shielding. Each OO object has a shield around it. They can exchange things though, as if they are interconnected through a hatch.</a:t>
            </a:r>
          </a:p>
          <a:p>
            <a:pPr lvl="1" indent="-277813" algn="l">
              <a:lnSpc>
                <a:spcPct val="85000"/>
              </a:lnSpc>
              <a:spcBef>
                <a:spcPct val="20000"/>
              </a:spcBef>
              <a:buFontTx/>
              <a:buChar char="•"/>
            </a:pPr>
            <a:r>
              <a:rPr kumimoji="1" lang="en-GB" sz="2400" dirty="0">
                <a:solidFill>
                  <a:schemeClr val="accent5">
                    <a:lumMod val="75000"/>
                  </a:schemeClr>
                </a:solidFill>
              </a:rPr>
              <a:t>Only the operations are visible and the data and the implementation of the operations are hidden in the objects</a:t>
            </a:r>
            <a:endParaRPr kumimoji="1" lang="en-US" altLang="zh-CN" sz="2400" dirty="0">
              <a:solidFill>
                <a:schemeClr val="accent5">
                  <a:lumMod val="75000"/>
                </a:schemeClr>
              </a:solidFill>
            </a:endParaRPr>
          </a:p>
        </p:txBody>
      </p:sp>
      <p:sp>
        <p:nvSpPr>
          <p:cNvPr id="4" name="Slide Number Placeholder 3">
            <a:extLst>
              <a:ext uri="{FF2B5EF4-FFF2-40B4-BE49-F238E27FC236}">
                <a16:creationId xmlns:a16="http://schemas.microsoft.com/office/drawing/2014/main" id="{57A97A7C-6C02-5A41-B766-C598D7C2ECED}"/>
              </a:ext>
            </a:extLst>
          </p:cNvPr>
          <p:cNvSpPr>
            <a:spLocks noGrp="1"/>
          </p:cNvSpPr>
          <p:nvPr>
            <p:ph type="sldNum" sz="quarter" idx="4"/>
          </p:nvPr>
        </p:nvSpPr>
        <p:spPr/>
        <p:txBody>
          <a:bodyPr/>
          <a:lstStyle/>
          <a:p>
            <a:fld id="{D6255EFE-3ACE-DA4E-80CE-7588690A9A08}" type="slidenum">
              <a:rPr lang="en-GB" smtClean="0"/>
              <a:t>29</a:t>
            </a:fld>
            <a:endParaRPr lang="en-GB"/>
          </a:p>
        </p:txBody>
      </p:sp>
    </p:spTree>
    <p:extLst>
      <p:ext uri="{BB962C8B-B14F-4D97-AF65-F5344CB8AC3E}">
        <p14:creationId xmlns:p14="http://schemas.microsoft.com/office/powerpoint/2010/main" val="2567712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a:xfrm>
            <a:off x="323850" y="1196975"/>
            <a:ext cx="8488363" cy="3887788"/>
          </a:xfrm>
        </p:spPr>
        <p:txBody>
          <a:bodyPr/>
          <a:lstStyle/>
          <a:p>
            <a:r>
              <a:rPr lang="en-GB" sz="2800" dirty="0"/>
              <a:t>Class</a:t>
            </a:r>
          </a:p>
          <a:p>
            <a:pPr lvl="1"/>
            <a:r>
              <a:rPr lang="en-GB" sz="2400" dirty="0"/>
              <a:t>The similarity between objects is reflected by </a:t>
            </a:r>
            <a:r>
              <a:rPr lang="en-GB" sz="2400" i="1" dirty="0"/>
              <a:t>classifying</a:t>
            </a:r>
            <a:r>
              <a:rPr lang="en-GB" sz="2400" dirty="0"/>
              <a:t> them into the same </a:t>
            </a:r>
            <a:r>
              <a:rPr lang="en-GB" sz="2400" i="1" dirty="0"/>
              <a:t>class</a:t>
            </a:r>
            <a:r>
              <a:rPr lang="en-GB" sz="2400" dirty="0"/>
              <a:t>. </a:t>
            </a:r>
          </a:p>
          <a:p>
            <a:pPr lvl="1"/>
            <a:r>
              <a:rPr lang="en-GB" sz="2400" dirty="0"/>
              <a:t>Objects are </a:t>
            </a:r>
            <a:r>
              <a:rPr lang="en-GB" sz="2400" i="1" dirty="0"/>
              <a:t>instances</a:t>
            </a:r>
            <a:r>
              <a:rPr lang="en-GB" sz="2400" dirty="0"/>
              <a:t> of classes</a:t>
            </a:r>
          </a:p>
          <a:p>
            <a:pPr lvl="1"/>
            <a:r>
              <a:rPr lang="en-GB" sz="2400" dirty="0"/>
              <a:t>Class is the </a:t>
            </a:r>
            <a:r>
              <a:rPr lang="en-GB" sz="2400" i="1" dirty="0"/>
              <a:t>template</a:t>
            </a:r>
            <a:r>
              <a:rPr lang="en-GB" sz="2400" dirty="0"/>
              <a:t> for a collection of objects that have the same structure, i.e. </a:t>
            </a:r>
          </a:p>
          <a:p>
            <a:pPr lvl="2"/>
            <a:r>
              <a:rPr lang="en-GB" sz="2400" dirty="0"/>
              <a:t>the same set of attributes, and </a:t>
            </a:r>
          </a:p>
          <a:p>
            <a:pPr lvl="2"/>
            <a:r>
              <a:rPr lang="en-GB" sz="2400" dirty="0"/>
              <a:t>the same set of methods. </a:t>
            </a:r>
            <a:endParaRPr lang="en-US" altLang="zh-CN" sz="2400" dirty="0">
              <a:ea typeface="宋体" pitchFamily="2" charset="-122"/>
            </a:endParaRPr>
          </a:p>
        </p:txBody>
      </p:sp>
      <p:grpSp>
        <p:nvGrpSpPr>
          <p:cNvPr id="15366" name="Group 6"/>
          <p:cNvGrpSpPr>
            <a:grpSpLocks/>
          </p:cNvGrpSpPr>
          <p:nvPr/>
        </p:nvGrpSpPr>
        <p:grpSpPr bwMode="auto">
          <a:xfrm>
            <a:off x="2800350" y="317500"/>
            <a:ext cx="4392613" cy="1455738"/>
            <a:chOff x="1764" y="290"/>
            <a:chExt cx="2767" cy="917"/>
          </a:xfrm>
        </p:grpSpPr>
        <p:sp>
          <p:nvSpPr>
            <p:cNvPr id="15364" name="Text Box 4"/>
            <p:cNvSpPr txBox="1">
              <a:spLocks noChangeArrowheads="1"/>
            </p:cNvSpPr>
            <p:nvPr/>
          </p:nvSpPr>
          <p:spPr bwMode="auto">
            <a:xfrm>
              <a:off x="1764" y="290"/>
              <a:ext cx="2767" cy="640"/>
            </a:xfrm>
            <a:prstGeom prst="rect">
              <a:avLst/>
            </a:prstGeom>
            <a:noFill/>
            <a:ln w="28575" algn="ctr">
              <a:solidFill>
                <a:schemeClr val="accent2"/>
              </a:solidFill>
              <a:miter lim="800000"/>
              <a:headEnd type="none" w="lg" len="lg"/>
              <a:tailEnd type="none" w="lg" len="lg"/>
            </a:ln>
            <a:effectLst/>
          </p:spPr>
          <p:txBody>
            <a:bodyPr>
              <a:spAutoFit/>
            </a:bodyPr>
            <a:lstStyle/>
            <a:p>
              <a:pPr algn="l"/>
              <a:r>
                <a:rPr lang="en-GB" sz="2000" i="1">
                  <a:solidFill>
                    <a:schemeClr val="accent5">
                      <a:lumMod val="75000"/>
                    </a:schemeClr>
                  </a:solidFill>
                </a:rPr>
                <a:t>Class is called the classifier of objects, similar to data type is the classifier of data</a:t>
              </a:r>
              <a:endParaRPr lang="en-US" altLang="zh-CN" sz="2000" i="1">
                <a:solidFill>
                  <a:schemeClr val="accent5">
                    <a:lumMod val="75000"/>
                  </a:schemeClr>
                </a:solidFill>
              </a:endParaRPr>
            </a:p>
          </p:txBody>
        </p:sp>
        <p:sp>
          <p:nvSpPr>
            <p:cNvPr id="15365" name="Line 5"/>
            <p:cNvSpPr>
              <a:spLocks noChangeShapeType="1"/>
            </p:cNvSpPr>
            <p:nvPr/>
          </p:nvSpPr>
          <p:spPr bwMode="auto">
            <a:xfrm>
              <a:off x="3969" y="930"/>
              <a:ext cx="499" cy="277"/>
            </a:xfrm>
            <a:prstGeom prst="line">
              <a:avLst/>
            </a:prstGeom>
            <a:noFill/>
            <a:ln w="28575">
              <a:solidFill>
                <a:schemeClr val="accent2"/>
              </a:solidFill>
              <a:round/>
              <a:headEnd type="none" w="lg" len="lg"/>
              <a:tailEnd type="triangle" w="lg" len="lg"/>
            </a:ln>
            <a:effectLst/>
          </p:spPr>
          <p:txBody>
            <a:bodyPr wrap="square">
              <a:spAutoFit/>
            </a:bodyPr>
            <a:lstStyle/>
            <a:p>
              <a:endParaRPr lang="en-US"/>
            </a:p>
          </p:txBody>
        </p:sp>
      </p:grpSp>
      <p:grpSp>
        <p:nvGrpSpPr>
          <p:cNvPr id="15369" name="Group 9"/>
          <p:cNvGrpSpPr>
            <a:grpSpLocks/>
          </p:cNvGrpSpPr>
          <p:nvPr/>
        </p:nvGrpSpPr>
        <p:grpSpPr bwMode="auto">
          <a:xfrm>
            <a:off x="3784601" y="2708275"/>
            <a:ext cx="5180013" cy="2549524"/>
            <a:chOff x="2384" y="1796"/>
            <a:chExt cx="3263" cy="1606"/>
          </a:xfrm>
        </p:grpSpPr>
        <p:sp>
          <p:nvSpPr>
            <p:cNvPr id="15367" name="Text Box 7"/>
            <p:cNvSpPr txBox="1">
              <a:spLocks noChangeArrowheads="1"/>
            </p:cNvSpPr>
            <p:nvPr/>
          </p:nvSpPr>
          <p:spPr bwMode="auto">
            <a:xfrm>
              <a:off x="3424" y="2568"/>
              <a:ext cx="2223" cy="834"/>
            </a:xfrm>
            <a:prstGeom prst="rect">
              <a:avLst/>
            </a:prstGeom>
            <a:noFill/>
            <a:ln w="28575" algn="ctr">
              <a:solidFill>
                <a:schemeClr val="accent2"/>
              </a:solidFill>
              <a:miter lim="800000"/>
              <a:headEnd type="none" w="lg" len="lg"/>
              <a:tailEnd type="none" w="lg" len="lg"/>
            </a:ln>
            <a:effectLst/>
          </p:spPr>
          <p:txBody>
            <a:bodyPr>
              <a:spAutoFit/>
            </a:bodyPr>
            <a:lstStyle/>
            <a:p>
              <a:pPr algn="l"/>
              <a:r>
                <a:rPr lang="en-GB" sz="2000" i="1">
                  <a:solidFill>
                    <a:schemeClr val="accent5">
                      <a:lumMod val="75000"/>
                    </a:schemeClr>
                  </a:solidFill>
                </a:rPr>
                <a:t>In mainstream OO methodology, objects does not change their membership to the classes.</a:t>
              </a:r>
              <a:endParaRPr lang="en-US" altLang="zh-CN" sz="2000" i="1">
                <a:solidFill>
                  <a:schemeClr val="accent5">
                    <a:lumMod val="75000"/>
                  </a:schemeClr>
                </a:solidFill>
              </a:endParaRPr>
            </a:p>
          </p:txBody>
        </p:sp>
        <p:sp>
          <p:nvSpPr>
            <p:cNvPr id="15368" name="Line 8"/>
            <p:cNvSpPr>
              <a:spLocks noChangeShapeType="1"/>
            </p:cNvSpPr>
            <p:nvPr/>
          </p:nvSpPr>
          <p:spPr bwMode="auto">
            <a:xfrm flipH="1" flipV="1">
              <a:off x="2384" y="1796"/>
              <a:ext cx="1131" cy="727"/>
            </a:xfrm>
            <a:prstGeom prst="line">
              <a:avLst/>
            </a:prstGeom>
            <a:noFill/>
            <a:ln w="28575">
              <a:solidFill>
                <a:schemeClr val="accent2"/>
              </a:solidFill>
              <a:round/>
              <a:headEnd type="none" w="lg" len="lg"/>
              <a:tailEnd type="triangle" w="lg" len="lg"/>
            </a:ln>
            <a:effectLst/>
          </p:spPr>
          <p:txBody>
            <a:bodyPr wrap="square">
              <a:spAutoFit/>
            </a:bodyPr>
            <a:lstStyle/>
            <a:p>
              <a:endParaRPr lang="en-US"/>
            </a:p>
          </p:txBody>
        </p:sp>
      </p:grpSp>
      <p:grpSp>
        <p:nvGrpSpPr>
          <p:cNvPr id="15372" name="Group 12"/>
          <p:cNvGrpSpPr>
            <a:grpSpLocks/>
          </p:cNvGrpSpPr>
          <p:nvPr/>
        </p:nvGrpSpPr>
        <p:grpSpPr bwMode="auto">
          <a:xfrm>
            <a:off x="323850" y="3284538"/>
            <a:ext cx="3672154" cy="2960688"/>
            <a:chOff x="204" y="2069"/>
            <a:chExt cx="2115" cy="1865"/>
          </a:xfrm>
        </p:grpSpPr>
        <p:sp>
          <p:nvSpPr>
            <p:cNvPr id="15370" name="Text Box 10"/>
            <p:cNvSpPr txBox="1">
              <a:spLocks noChangeArrowheads="1"/>
            </p:cNvSpPr>
            <p:nvPr/>
          </p:nvSpPr>
          <p:spPr bwMode="auto">
            <a:xfrm>
              <a:off x="204" y="3294"/>
              <a:ext cx="2115" cy="640"/>
            </a:xfrm>
            <a:prstGeom prst="rect">
              <a:avLst/>
            </a:prstGeom>
            <a:noFill/>
            <a:ln w="28575" algn="ctr">
              <a:solidFill>
                <a:schemeClr val="accent2"/>
              </a:solidFill>
              <a:miter lim="800000"/>
              <a:headEnd type="none" w="lg" len="lg"/>
              <a:tailEnd type="none" w="lg" len="lg"/>
            </a:ln>
            <a:effectLst/>
          </p:spPr>
          <p:txBody>
            <a:bodyPr wrap="square">
              <a:spAutoFit/>
            </a:bodyPr>
            <a:lstStyle/>
            <a:p>
              <a:pPr algn="l"/>
              <a:r>
                <a:rPr lang="en-GB" sz="2000" i="1">
                  <a:solidFill>
                    <a:schemeClr val="accent5">
                      <a:lumMod val="75000"/>
                    </a:schemeClr>
                  </a:solidFill>
                </a:rPr>
                <a:t>Class is an abstract thing that does not actually exist in the system at runtime. </a:t>
              </a:r>
              <a:endParaRPr lang="en-US" altLang="zh-CN" sz="2000" i="1">
                <a:solidFill>
                  <a:schemeClr val="accent5">
                    <a:lumMod val="75000"/>
                  </a:schemeClr>
                </a:solidFill>
              </a:endParaRPr>
            </a:p>
          </p:txBody>
        </p:sp>
        <p:sp>
          <p:nvSpPr>
            <p:cNvPr id="15371" name="Line 11"/>
            <p:cNvSpPr>
              <a:spLocks noChangeShapeType="1"/>
            </p:cNvSpPr>
            <p:nvPr/>
          </p:nvSpPr>
          <p:spPr bwMode="auto">
            <a:xfrm flipV="1">
              <a:off x="1199" y="2069"/>
              <a:ext cx="539" cy="1225"/>
            </a:xfrm>
            <a:prstGeom prst="line">
              <a:avLst/>
            </a:prstGeom>
            <a:noFill/>
            <a:ln w="28575">
              <a:solidFill>
                <a:schemeClr val="accent2"/>
              </a:solidFill>
              <a:round/>
              <a:headEnd type="none" w="lg" len="lg"/>
              <a:tailEnd type="triangle" w="lg" len="lg"/>
            </a:ln>
            <a:effectLst/>
          </p:spPr>
          <p:txBody>
            <a:bodyPr wrap="square">
              <a:spAutoFit/>
            </a:bodyPr>
            <a:lstStyle/>
            <a:p>
              <a:endParaRPr lang="en-US"/>
            </a:p>
          </p:txBody>
        </p:sp>
      </p:grpSp>
      <p:sp>
        <p:nvSpPr>
          <p:cNvPr id="4" name="Slide Number Placeholder 3">
            <a:extLst>
              <a:ext uri="{FF2B5EF4-FFF2-40B4-BE49-F238E27FC236}">
                <a16:creationId xmlns:a16="http://schemas.microsoft.com/office/drawing/2014/main" id="{3B4D492A-E9DB-E540-BD0A-7C0D7DE5002D}"/>
              </a:ext>
            </a:extLst>
          </p:cNvPr>
          <p:cNvSpPr>
            <a:spLocks noGrp="1"/>
          </p:cNvSpPr>
          <p:nvPr>
            <p:ph type="sldNum" sz="quarter" idx="4"/>
          </p:nvPr>
        </p:nvSpPr>
        <p:spPr/>
        <p:txBody>
          <a:bodyPr/>
          <a:lstStyle/>
          <a:p>
            <a:fld id="{D6255EFE-3ACE-DA4E-80CE-7588690A9A08}" type="slidenum">
              <a:rPr lang="en-GB" smtClean="0"/>
              <a:t>30</a:t>
            </a:fld>
            <a:endParaRPr lang="en-GB"/>
          </a:p>
        </p:txBody>
      </p:sp>
    </p:spTree>
    <p:extLst>
      <p:ext uri="{BB962C8B-B14F-4D97-AF65-F5344CB8AC3E}">
        <p14:creationId xmlns:p14="http://schemas.microsoft.com/office/powerpoint/2010/main" val="1678952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5366"/>
                                        </p:tgtEl>
                                        <p:attrNameLst>
                                          <p:attrName>style.visibility</p:attrName>
                                        </p:attrNameLst>
                                      </p:cBhvr>
                                      <p:to>
                                        <p:strVal val="visible"/>
                                      </p:to>
                                    </p:set>
                                    <p:animEffect transition="in" filter="box(in)">
                                      <p:cBhvr>
                                        <p:cTn id="7" dur="500"/>
                                        <p:tgtEl>
                                          <p:spTgt spid="153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369"/>
                                        </p:tgtEl>
                                        <p:attrNameLst>
                                          <p:attrName>style.visibility</p:attrName>
                                        </p:attrNameLst>
                                      </p:cBhvr>
                                      <p:to>
                                        <p:strVal val="visible"/>
                                      </p:to>
                                    </p:set>
                                    <p:animEffect transition="in" filter="blinds(horizontal)">
                                      <p:cBhvr>
                                        <p:cTn id="12" dur="500"/>
                                        <p:tgtEl>
                                          <p:spTgt spid="1536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372"/>
                                        </p:tgtEl>
                                        <p:attrNameLst>
                                          <p:attrName>style.visibility</p:attrName>
                                        </p:attrNameLst>
                                      </p:cBhvr>
                                      <p:to>
                                        <p:strVal val="visible"/>
                                      </p:to>
                                    </p:set>
                                    <p:animEffect transition="in" filter="blinds(horizontal)">
                                      <p:cBhvr>
                                        <p:cTn id="17" dur="500"/>
                                        <p:tgtEl>
                                          <p:spTgt spid="15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a:bodyPr>
          <a:lstStyle/>
          <a:p>
            <a:r>
              <a:rPr lang="en-GB" sz="3600" dirty="0"/>
              <a:t>Relationships between Classes</a:t>
            </a:r>
            <a:endParaRPr lang="en-US" altLang="zh-CN" sz="3600" dirty="0">
              <a:ea typeface="宋体" pitchFamily="2" charset="-122"/>
            </a:endParaRPr>
          </a:p>
        </p:txBody>
      </p:sp>
      <p:sp>
        <p:nvSpPr>
          <p:cNvPr id="16387" name="Rectangle 3"/>
          <p:cNvSpPr>
            <a:spLocks noGrp="1" noChangeArrowheads="1"/>
          </p:cNvSpPr>
          <p:nvPr>
            <p:ph type="body" idx="1"/>
          </p:nvPr>
        </p:nvSpPr>
        <p:spPr>
          <a:xfrm>
            <a:off x="395288" y="933449"/>
            <a:ext cx="8583612" cy="5735909"/>
          </a:xfrm>
        </p:spPr>
        <p:txBody>
          <a:bodyPr/>
          <a:lstStyle/>
          <a:p>
            <a:pPr>
              <a:lnSpc>
                <a:spcPct val="90000"/>
              </a:lnSpc>
            </a:pPr>
            <a:r>
              <a:rPr lang="en-GB" sz="2800" dirty="0"/>
              <a:t>Generalisation</a:t>
            </a:r>
          </a:p>
          <a:p>
            <a:pPr lvl="1">
              <a:lnSpc>
                <a:spcPct val="90000"/>
              </a:lnSpc>
            </a:pPr>
            <a:r>
              <a:rPr lang="en-GB" sz="2400" dirty="0"/>
              <a:t>Definition:</a:t>
            </a:r>
          </a:p>
          <a:p>
            <a:pPr lvl="1">
              <a:lnSpc>
                <a:spcPct val="90000"/>
              </a:lnSpc>
              <a:buFont typeface="Wingdings" pitchFamily="2" charset="2"/>
              <a:buNone/>
            </a:pPr>
            <a:r>
              <a:rPr lang="en-GB" sz="2400" dirty="0"/>
              <a:t>	Class A is a </a:t>
            </a:r>
            <a:r>
              <a:rPr lang="en-GB" sz="2400" b="1" i="1" dirty="0"/>
              <a:t>generalisation</a:t>
            </a:r>
            <a:r>
              <a:rPr lang="en-GB" sz="2400" dirty="0"/>
              <a:t> of class B, if every instance of class A is also an instance of class B. </a:t>
            </a:r>
          </a:p>
          <a:p>
            <a:pPr marL="935038" lvl="2" indent="-401638">
              <a:lnSpc>
                <a:spcPct val="90000"/>
              </a:lnSpc>
            </a:pPr>
            <a:r>
              <a:rPr lang="en-GB" sz="2400" dirty="0"/>
              <a:t>Class A is called a </a:t>
            </a:r>
            <a:r>
              <a:rPr lang="en-GB" sz="2400" b="1" i="1" dirty="0"/>
              <a:t>super-class</a:t>
            </a:r>
            <a:r>
              <a:rPr lang="en-GB" sz="2400" dirty="0"/>
              <a:t> of B; class B is called a </a:t>
            </a:r>
            <a:r>
              <a:rPr lang="en-GB" sz="2400" b="1" i="1" dirty="0"/>
              <a:t>subclass</a:t>
            </a:r>
            <a:r>
              <a:rPr lang="en-GB" sz="2400" dirty="0"/>
              <a:t> of A. </a:t>
            </a:r>
          </a:p>
          <a:p>
            <a:pPr marL="935038" lvl="2" indent="-401638">
              <a:lnSpc>
                <a:spcPct val="90000"/>
              </a:lnSpc>
            </a:pPr>
            <a:r>
              <a:rPr lang="en-GB" sz="2400" dirty="0"/>
              <a:t>We also say that class B is a </a:t>
            </a:r>
            <a:r>
              <a:rPr lang="en-GB" sz="2400" b="1" i="1" dirty="0"/>
              <a:t>specialisation</a:t>
            </a:r>
            <a:r>
              <a:rPr lang="en-GB" sz="2400" dirty="0"/>
              <a:t> of A. </a:t>
            </a:r>
          </a:p>
          <a:p>
            <a:pPr marL="935038" lvl="2" indent="-401638">
              <a:lnSpc>
                <a:spcPct val="90000"/>
              </a:lnSpc>
            </a:pPr>
            <a:r>
              <a:rPr lang="en-GB" sz="2400" dirty="0"/>
              <a:t>A relationship between classes: the super-class /subclass relationship is also called </a:t>
            </a:r>
            <a:r>
              <a:rPr lang="en-GB" sz="2400" b="1" i="1" dirty="0"/>
              <a:t>inheritance</a:t>
            </a:r>
            <a:r>
              <a:rPr lang="en-GB" sz="2400" dirty="0"/>
              <a:t> relation. </a:t>
            </a:r>
          </a:p>
          <a:p>
            <a:pPr marL="1211263" lvl="4" indent="-315913">
              <a:lnSpc>
                <a:spcPct val="90000"/>
              </a:lnSpc>
            </a:pPr>
            <a:r>
              <a:rPr lang="en-GB" sz="2000" dirty="0"/>
              <a:t>Class B inherits the attributes and methods of A. </a:t>
            </a:r>
          </a:p>
          <a:p>
            <a:pPr lvl="1">
              <a:lnSpc>
                <a:spcPct val="90000"/>
              </a:lnSpc>
            </a:pPr>
            <a:r>
              <a:rPr lang="en-GB" sz="2400" dirty="0"/>
              <a:t>Example:</a:t>
            </a:r>
          </a:p>
          <a:p>
            <a:pPr marL="895350" lvl="2" indent="-361950">
              <a:lnSpc>
                <a:spcPct val="90000"/>
              </a:lnSpc>
            </a:pPr>
            <a:r>
              <a:rPr lang="en-GB" sz="2400" dirty="0"/>
              <a:t>Undergraduate Student is a subclass of Student;</a:t>
            </a:r>
          </a:p>
          <a:p>
            <a:pPr marL="895350" lvl="2" indent="-361950">
              <a:lnSpc>
                <a:spcPct val="90000"/>
              </a:lnSpc>
            </a:pPr>
            <a:r>
              <a:rPr lang="en-GB" sz="2400" dirty="0"/>
              <a:t>Postgraduate Student is a subclass of Student;</a:t>
            </a:r>
          </a:p>
          <a:p>
            <a:pPr marL="895350" lvl="2" indent="-361950">
              <a:lnSpc>
                <a:spcPct val="90000"/>
              </a:lnSpc>
            </a:pPr>
            <a:r>
              <a:rPr lang="en-GB" sz="2400" dirty="0"/>
              <a:t>Student is a subclass of Person; </a:t>
            </a:r>
          </a:p>
          <a:p>
            <a:pPr marL="895350" lvl="2" indent="-361950">
              <a:lnSpc>
                <a:spcPct val="90000"/>
              </a:lnSpc>
            </a:pPr>
            <a:r>
              <a:rPr lang="en-GB" sz="2400" dirty="0"/>
              <a:t>Lecturer is also a subclass of Person</a:t>
            </a:r>
            <a:endParaRPr lang="en-US" altLang="zh-CN" sz="2400" dirty="0">
              <a:ea typeface="宋体" pitchFamily="2" charset="-122"/>
            </a:endParaRPr>
          </a:p>
        </p:txBody>
      </p:sp>
      <p:sp>
        <p:nvSpPr>
          <p:cNvPr id="4" name="Slide Number Placeholder 3">
            <a:extLst>
              <a:ext uri="{FF2B5EF4-FFF2-40B4-BE49-F238E27FC236}">
                <a16:creationId xmlns:a16="http://schemas.microsoft.com/office/drawing/2014/main" id="{E92901F0-9061-F34A-A1DE-0EB8874A6611}"/>
              </a:ext>
            </a:extLst>
          </p:cNvPr>
          <p:cNvSpPr>
            <a:spLocks noGrp="1"/>
          </p:cNvSpPr>
          <p:nvPr>
            <p:ph type="sldNum" sz="quarter" idx="4"/>
          </p:nvPr>
        </p:nvSpPr>
        <p:spPr/>
        <p:txBody>
          <a:bodyPr/>
          <a:lstStyle/>
          <a:p>
            <a:fld id="{D6255EFE-3ACE-DA4E-80CE-7588690A9A08}" type="slidenum">
              <a:rPr lang="en-GB" smtClean="0"/>
              <a:t>31</a:t>
            </a:fld>
            <a:endParaRPr lang="en-GB"/>
          </a:p>
        </p:txBody>
      </p:sp>
    </p:spTree>
    <p:extLst>
      <p:ext uri="{BB962C8B-B14F-4D97-AF65-F5344CB8AC3E}">
        <p14:creationId xmlns:p14="http://schemas.microsoft.com/office/powerpoint/2010/main" val="826233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395288" y="188913"/>
            <a:ext cx="8583612" cy="6336431"/>
          </a:xfrm>
        </p:spPr>
        <p:txBody>
          <a:bodyPr/>
          <a:lstStyle/>
          <a:p>
            <a:pPr>
              <a:lnSpc>
                <a:spcPct val="90000"/>
              </a:lnSpc>
            </a:pPr>
            <a:r>
              <a:rPr lang="en-GB" sz="3200" dirty="0"/>
              <a:t>Whole-part relationships </a:t>
            </a:r>
          </a:p>
          <a:p>
            <a:pPr lvl="1">
              <a:lnSpc>
                <a:spcPct val="90000"/>
              </a:lnSpc>
            </a:pPr>
            <a:r>
              <a:rPr lang="en-GB" sz="2800" dirty="0"/>
              <a:t>Whole-part: Object A is a part of object B</a:t>
            </a:r>
          </a:p>
          <a:p>
            <a:pPr lvl="2">
              <a:lnSpc>
                <a:spcPct val="90000"/>
              </a:lnSpc>
            </a:pPr>
            <a:r>
              <a:rPr lang="en-GB" sz="2400" dirty="0"/>
              <a:t>A wheel is a part of a car</a:t>
            </a:r>
          </a:p>
          <a:p>
            <a:pPr lvl="1">
              <a:lnSpc>
                <a:spcPct val="90000"/>
              </a:lnSpc>
            </a:pPr>
            <a:r>
              <a:rPr lang="en-GB" sz="2800" dirty="0"/>
              <a:t>Aggregation: an object consists of several other objects</a:t>
            </a:r>
          </a:p>
          <a:p>
            <a:pPr lvl="2">
              <a:lnSpc>
                <a:spcPct val="90000"/>
              </a:lnSpc>
            </a:pPr>
            <a:r>
              <a:rPr lang="en-GB" sz="2400" dirty="0"/>
              <a:t>A car consists of 4 wheels, 1 engine, 1 steering wheel, …</a:t>
            </a:r>
          </a:p>
          <a:p>
            <a:pPr lvl="1">
              <a:lnSpc>
                <a:spcPct val="90000"/>
              </a:lnSpc>
            </a:pPr>
            <a:r>
              <a:rPr lang="en-GB" sz="2800" dirty="0"/>
              <a:t>Key features of whole-part relationship</a:t>
            </a:r>
          </a:p>
          <a:p>
            <a:pPr lvl="2">
              <a:lnSpc>
                <a:spcPct val="90000"/>
              </a:lnSpc>
            </a:pPr>
            <a:r>
              <a:rPr lang="en-GB" sz="2400" dirty="0"/>
              <a:t>Life-dependence:</a:t>
            </a:r>
          </a:p>
          <a:p>
            <a:pPr lvl="3">
              <a:lnSpc>
                <a:spcPct val="90000"/>
              </a:lnSpc>
            </a:pPr>
            <a:r>
              <a:rPr lang="en-GB" sz="2000" dirty="0"/>
              <a:t>Whether a part object can exist without being a part of a whole object</a:t>
            </a:r>
          </a:p>
          <a:p>
            <a:pPr lvl="2">
              <a:lnSpc>
                <a:spcPct val="90000"/>
              </a:lnSpc>
            </a:pPr>
            <a:r>
              <a:rPr lang="en-GB" sz="2400" dirty="0"/>
              <a:t>Shareability:</a:t>
            </a:r>
          </a:p>
          <a:p>
            <a:pPr lvl="3">
              <a:lnSpc>
                <a:spcPct val="90000"/>
              </a:lnSpc>
            </a:pPr>
            <a:r>
              <a:rPr lang="en-GB" sz="2000" dirty="0"/>
              <a:t>Whether a part object can be a part of more than 1 object</a:t>
            </a:r>
          </a:p>
          <a:p>
            <a:pPr lvl="2">
              <a:lnSpc>
                <a:spcPct val="90000"/>
              </a:lnSpc>
            </a:pPr>
            <a:r>
              <a:rPr lang="en-GB" sz="2400" dirty="0"/>
              <a:t>Cardinality: (also called multiplicity):</a:t>
            </a:r>
          </a:p>
          <a:p>
            <a:pPr lvl="3">
              <a:lnSpc>
                <a:spcPct val="90000"/>
              </a:lnSpc>
            </a:pPr>
            <a:r>
              <a:rPr lang="en-GB" sz="2000" dirty="0"/>
              <a:t>How many part objects can be contained in 1 whole object</a:t>
            </a:r>
          </a:p>
          <a:p>
            <a:pPr lvl="1">
              <a:lnSpc>
                <a:spcPct val="90000"/>
              </a:lnSpc>
            </a:pPr>
            <a:r>
              <a:rPr lang="en-GB" sz="2800" dirty="0"/>
              <a:t>Types of whole-part relations in UML:</a:t>
            </a:r>
          </a:p>
          <a:p>
            <a:pPr lvl="2">
              <a:lnSpc>
                <a:spcPct val="90000"/>
              </a:lnSpc>
            </a:pPr>
            <a:r>
              <a:rPr lang="en-GB" sz="2400" i="1" dirty="0"/>
              <a:t>Aggregate</a:t>
            </a:r>
            <a:r>
              <a:rPr lang="en-GB" sz="2400" dirty="0"/>
              <a:t>: shareable, but no life-dependence</a:t>
            </a:r>
          </a:p>
          <a:p>
            <a:pPr lvl="2">
              <a:lnSpc>
                <a:spcPct val="90000"/>
              </a:lnSpc>
            </a:pPr>
            <a:r>
              <a:rPr lang="en-GB" sz="2400" i="1" dirty="0"/>
              <a:t>Composite</a:t>
            </a:r>
            <a:r>
              <a:rPr lang="en-GB" sz="2400" dirty="0"/>
              <a:t>: life-dependent and not shareable</a:t>
            </a:r>
            <a:endParaRPr lang="en-US" altLang="zh-CN" sz="2400" dirty="0">
              <a:ea typeface="宋体" pitchFamily="2" charset="-122"/>
            </a:endParaRPr>
          </a:p>
        </p:txBody>
      </p:sp>
      <p:sp>
        <p:nvSpPr>
          <p:cNvPr id="17412" name="Text Box 4"/>
          <p:cNvSpPr txBox="1">
            <a:spLocks noChangeArrowheads="1"/>
          </p:cNvSpPr>
          <p:nvPr/>
        </p:nvSpPr>
        <p:spPr bwMode="auto">
          <a:xfrm>
            <a:off x="3707904" y="3080129"/>
            <a:ext cx="3960390" cy="276999"/>
          </a:xfrm>
          <a:prstGeom prst="rect">
            <a:avLst/>
          </a:prstGeom>
          <a:noFill/>
          <a:ln w="28575" algn="ctr">
            <a:solidFill>
              <a:schemeClr val="accent2"/>
            </a:solidFill>
            <a:miter lim="800000"/>
            <a:headEnd type="none" w="lg" len="lg"/>
            <a:tailEnd type="none" w="lg" len="lg"/>
          </a:ln>
          <a:effectLst/>
        </p:spPr>
        <p:txBody>
          <a:bodyPr wrap="square" tIns="0" bIns="0">
            <a:spAutoFit/>
          </a:bodyPr>
          <a:lstStyle/>
          <a:p>
            <a:pPr algn="l">
              <a:spcBef>
                <a:spcPct val="0"/>
              </a:spcBef>
            </a:pPr>
            <a:r>
              <a:rPr lang="en-GB" sz="1800" i="1" dirty="0">
                <a:solidFill>
                  <a:schemeClr val="tx2"/>
                </a:solidFill>
              </a:rPr>
              <a:t>E.g. Heart is a part of human body. </a:t>
            </a:r>
            <a:endParaRPr lang="en-US" altLang="zh-CN" sz="1800" i="1" dirty="0">
              <a:solidFill>
                <a:schemeClr val="tx2"/>
              </a:solidFill>
            </a:endParaRPr>
          </a:p>
        </p:txBody>
      </p:sp>
      <p:sp>
        <p:nvSpPr>
          <p:cNvPr id="17414" name="Text Box 6"/>
          <p:cNvSpPr txBox="1">
            <a:spLocks noChangeArrowheads="1"/>
          </p:cNvSpPr>
          <p:nvPr/>
        </p:nvSpPr>
        <p:spPr bwMode="auto">
          <a:xfrm>
            <a:off x="3059832" y="4056941"/>
            <a:ext cx="3557240" cy="276999"/>
          </a:xfrm>
          <a:prstGeom prst="rect">
            <a:avLst/>
          </a:prstGeom>
          <a:noFill/>
          <a:ln w="28575" algn="ctr">
            <a:solidFill>
              <a:schemeClr val="accent2"/>
            </a:solidFill>
            <a:miter lim="800000"/>
            <a:headEnd type="none" w="lg" len="lg"/>
            <a:tailEnd type="none" w="lg" len="lg"/>
          </a:ln>
          <a:effectLst/>
        </p:spPr>
        <p:txBody>
          <a:bodyPr wrap="square" tIns="0" bIns="0">
            <a:spAutoFit/>
          </a:bodyPr>
          <a:lstStyle/>
          <a:p>
            <a:pPr algn="l"/>
            <a:r>
              <a:rPr lang="en-GB" sz="1800" i="1" dirty="0">
                <a:solidFill>
                  <a:schemeClr val="tx2"/>
                </a:solidFill>
              </a:rPr>
              <a:t>E.g. Your money is also mine. </a:t>
            </a:r>
            <a:endParaRPr lang="en-US" altLang="zh-CN" sz="1800" i="1" dirty="0">
              <a:solidFill>
                <a:schemeClr val="tx2"/>
              </a:solidFill>
            </a:endParaRPr>
          </a:p>
        </p:txBody>
      </p:sp>
      <p:sp>
        <p:nvSpPr>
          <p:cNvPr id="4" name="Slide Number Placeholder 3">
            <a:extLst>
              <a:ext uri="{FF2B5EF4-FFF2-40B4-BE49-F238E27FC236}">
                <a16:creationId xmlns:a16="http://schemas.microsoft.com/office/drawing/2014/main" id="{AF0B1FEF-4AEB-6944-BABF-D624BD8E5965}"/>
              </a:ext>
            </a:extLst>
          </p:cNvPr>
          <p:cNvSpPr>
            <a:spLocks noGrp="1"/>
          </p:cNvSpPr>
          <p:nvPr>
            <p:ph type="sldNum" sz="quarter" idx="4"/>
          </p:nvPr>
        </p:nvSpPr>
        <p:spPr/>
        <p:txBody>
          <a:bodyPr/>
          <a:lstStyle/>
          <a:p>
            <a:fld id="{D6255EFE-3ACE-DA4E-80CE-7588690A9A08}" type="slidenum">
              <a:rPr lang="en-GB" smtClean="0"/>
              <a:t>32</a:t>
            </a:fld>
            <a:endParaRPr lang="en-GB"/>
          </a:p>
        </p:txBody>
      </p:sp>
    </p:spTree>
    <p:extLst>
      <p:ext uri="{BB962C8B-B14F-4D97-AF65-F5344CB8AC3E}">
        <p14:creationId xmlns:p14="http://schemas.microsoft.com/office/powerpoint/2010/main" val="3112963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50738-F1A5-5E23-B27A-C80649A19318}"/>
              </a:ext>
            </a:extLst>
          </p:cNvPr>
          <p:cNvSpPr>
            <a:spLocks noGrp="1"/>
          </p:cNvSpPr>
          <p:nvPr>
            <p:ph type="title"/>
          </p:nvPr>
        </p:nvSpPr>
        <p:spPr/>
        <p:txBody>
          <a:bodyPr/>
          <a:lstStyle/>
          <a:p>
            <a:r>
              <a:rPr lang="en-GB" dirty="0"/>
              <a:t>Read, think then answer</a:t>
            </a:r>
          </a:p>
        </p:txBody>
      </p:sp>
      <p:sp>
        <p:nvSpPr>
          <p:cNvPr id="3" name="Content Placeholder 2">
            <a:extLst>
              <a:ext uri="{FF2B5EF4-FFF2-40B4-BE49-F238E27FC236}">
                <a16:creationId xmlns:a16="http://schemas.microsoft.com/office/drawing/2014/main" id="{2AEEFACB-2FAB-EA81-D622-8038138CEB3F}"/>
              </a:ext>
            </a:extLst>
          </p:cNvPr>
          <p:cNvSpPr>
            <a:spLocks noGrp="1"/>
          </p:cNvSpPr>
          <p:nvPr>
            <p:ph idx="1"/>
          </p:nvPr>
        </p:nvSpPr>
        <p:spPr/>
        <p:txBody>
          <a:bodyPr/>
          <a:lstStyle/>
          <a:p>
            <a:r>
              <a:rPr lang="en-GB" dirty="0"/>
              <a:t>Check if the whole-part relationships between these classes are aggregate or composite?</a:t>
            </a:r>
          </a:p>
          <a:p>
            <a:endParaRPr lang="en-GB" dirty="0"/>
          </a:p>
        </p:txBody>
      </p:sp>
      <p:sp>
        <p:nvSpPr>
          <p:cNvPr id="6" name="Slide Number Placeholder 5">
            <a:extLst>
              <a:ext uri="{FF2B5EF4-FFF2-40B4-BE49-F238E27FC236}">
                <a16:creationId xmlns:a16="http://schemas.microsoft.com/office/drawing/2014/main" id="{97C2153F-272D-7AD4-C031-EE099FF5567F}"/>
              </a:ext>
            </a:extLst>
          </p:cNvPr>
          <p:cNvSpPr>
            <a:spLocks noGrp="1"/>
          </p:cNvSpPr>
          <p:nvPr>
            <p:ph type="sldNum" sz="quarter" idx="4"/>
          </p:nvPr>
        </p:nvSpPr>
        <p:spPr/>
        <p:txBody>
          <a:bodyPr/>
          <a:lstStyle/>
          <a:p>
            <a:fld id="{D6255EFE-3ACE-DA4E-80CE-7588690A9A08}" type="slidenum">
              <a:rPr lang="en-GB" smtClean="0"/>
              <a:pPr/>
              <a:t>33</a:t>
            </a:fld>
            <a:endParaRPr lang="en-GB"/>
          </a:p>
        </p:txBody>
      </p:sp>
      <p:graphicFrame>
        <p:nvGraphicFramePr>
          <p:cNvPr id="7" name="Table 6">
            <a:extLst>
              <a:ext uri="{FF2B5EF4-FFF2-40B4-BE49-F238E27FC236}">
                <a16:creationId xmlns:a16="http://schemas.microsoft.com/office/drawing/2014/main" id="{4E7AEE46-CEA1-C843-1D21-3991299DA742}"/>
              </a:ext>
            </a:extLst>
          </p:cNvPr>
          <p:cNvGraphicFramePr>
            <a:graphicFrameLocks noGrp="1"/>
          </p:cNvGraphicFramePr>
          <p:nvPr>
            <p:extLst>
              <p:ext uri="{D42A27DB-BD31-4B8C-83A1-F6EECF244321}">
                <p14:modId xmlns:p14="http://schemas.microsoft.com/office/powerpoint/2010/main" val="3971754922"/>
              </p:ext>
            </p:extLst>
          </p:nvPr>
        </p:nvGraphicFramePr>
        <p:xfrm>
          <a:off x="755577" y="2107128"/>
          <a:ext cx="7632846" cy="3281606"/>
        </p:xfrm>
        <a:graphic>
          <a:graphicData uri="http://schemas.openxmlformats.org/drawingml/2006/table">
            <a:tbl>
              <a:tblPr firstRow="1" bandRow="1">
                <a:tableStyleId>{5C22544A-7EE6-4342-B048-85BDC9FD1C3A}</a:tableStyleId>
              </a:tblPr>
              <a:tblGrid>
                <a:gridCol w="2544282">
                  <a:extLst>
                    <a:ext uri="{9D8B030D-6E8A-4147-A177-3AD203B41FA5}">
                      <a16:colId xmlns:a16="http://schemas.microsoft.com/office/drawing/2014/main" val="757917296"/>
                    </a:ext>
                  </a:extLst>
                </a:gridCol>
                <a:gridCol w="2544282">
                  <a:extLst>
                    <a:ext uri="{9D8B030D-6E8A-4147-A177-3AD203B41FA5}">
                      <a16:colId xmlns:a16="http://schemas.microsoft.com/office/drawing/2014/main" val="4257937996"/>
                    </a:ext>
                  </a:extLst>
                </a:gridCol>
                <a:gridCol w="2544282">
                  <a:extLst>
                    <a:ext uri="{9D8B030D-6E8A-4147-A177-3AD203B41FA5}">
                      <a16:colId xmlns:a16="http://schemas.microsoft.com/office/drawing/2014/main" val="2869261261"/>
                    </a:ext>
                  </a:extLst>
                </a:gridCol>
              </a:tblGrid>
              <a:tr h="1142334">
                <a:tc>
                  <a:txBody>
                    <a:bodyPr/>
                    <a:lstStyle/>
                    <a:p>
                      <a:r>
                        <a:rPr lang="en-GB" sz="2000" dirty="0"/>
                        <a:t>Class 1</a:t>
                      </a:r>
                    </a:p>
                  </a:txBody>
                  <a:tcPr/>
                </a:tc>
                <a:tc>
                  <a:txBody>
                    <a:bodyPr/>
                    <a:lstStyle/>
                    <a:p>
                      <a:r>
                        <a:rPr lang="en-GB" sz="2000" dirty="0"/>
                        <a:t>Class 2</a:t>
                      </a:r>
                    </a:p>
                  </a:txBody>
                  <a:tcPr/>
                </a:tc>
                <a:tc>
                  <a:txBody>
                    <a:bodyPr/>
                    <a:lstStyle/>
                    <a:p>
                      <a:r>
                        <a:rPr lang="en-GB" sz="2000" dirty="0"/>
                        <a:t>Type of whole-part  relationship</a:t>
                      </a:r>
                    </a:p>
                  </a:txBody>
                  <a:tcPr/>
                </a:tc>
                <a:extLst>
                  <a:ext uri="{0D108BD9-81ED-4DB2-BD59-A6C34878D82A}">
                    <a16:rowId xmlns:a16="http://schemas.microsoft.com/office/drawing/2014/main" val="412233642"/>
                  </a:ext>
                </a:extLst>
              </a:tr>
              <a:tr h="534818">
                <a:tc>
                  <a:txBody>
                    <a:bodyPr/>
                    <a:lstStyle/>
                    <a:p>
                      <a:r>
                        <a:rPr lang="en-GB" sz="2800"/>
                        <a:t>Body</a:t>
                      </a:r>
                      <a:endParaRPr lang="en-GB" sz="2800" dirty="0"/>
                    </a:p>
                  </a:txBody>
                  <a:tcPr/>
                </a:tc>
                <a:tc>
                  <a:txBody>
                    <a:bodyPr/>
                    <a:lstStyle/>
                    <a:p>
                      <a:r>
                        <a:rPr lang="en-GB" sz="2800" dirty="0"/>
                        <a:t>Leg</a:t>
                      </a:r>
                    </a:p>
                  </a:txBody>
                  <a:tcPr/>
                </a:tc>
                <a:tc>
                  <a:txBody>
                    <a:bodyPr/>
                    <a:lstStyle/>
                    <a:p>
                      <a:endParaRPr lang="en-GB" sz="2800" dirty="0"/>
                    </a:p>
                  </a:txBody>
                  <a:tcPr/>
                </a:tc>
                <a:extLst>
                  <a:ext uri="{0D108BD9-81ED-4DB2-BD59-A6C34878D82A}">
                    <a16:rowId xmlns:a16="http://schemas.microsoft.com/office/drawing/2014/main" val="2165694256"/>
                  </a:ext>
                </a:extLst>
              </a:tr>
              <a:tr h="534818">
                <a:tc>
                  <a:txBody>
                    <a:bodyPr/>
                    <a:lstStyle/>
                    <a:p>
                      <a:r>
                        <a:rPr lang="en-GB" sz="2800" dirty="0"/>
                        <a:t>House</a:t>
                      </a:r>
                    </a:p>
                  </a:txBody>
                  <a:tcPr/>
                </a:tc>
                <a:tc>
                  <a:txBody>
                    <a:bodyPr/>
                    <a:lstStyle/>
                    <a:p>
                      <a:r>
                        <a:rPr lang="en-GB" sz="2800" dirty="0"/>
                        <a:t>Room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2800" dirty="0"/>
                    </a:p>
                  </a:txBody>
                  <a:tcPr/>
                </a:tc>
                <a:extLst>
                  <a:ext uri="{0D108BD9-81ED-4DB2-BD59-A6C34878D82A}">
                    <a16:rowId xmlns:a16="http://schemas.microsoft.com/office/drawing/2014/main" val="3463024416"/>
                  </a:ext>
                </a:extLst>
              </a:tr>
              <a:tr h="534818">
                <a:tc>
                  <a:txBody>
                    <a:bodyPr/>
                    <a:lstStyle/>
                    <a:p>
                      <a:r>
                        <a:rPr lang="en-GB" sz="2800" dirty="0"/>
                        <a:t>Car</a:t>
                      </a:r>
                    </a:p>
                  </a:txBody>
                  <a:tcPr/>
                </a:tc>
                <a:tc>
                  <a:txBody>
                    <a:bodyPr/>
                    <a:lstStyle/>
                    <a:p>
                      <a:r>
                        <a:rPr lang="en-GB" sz="2800" dirty="0"/>
                        <a:t>Engine</a:t>
                      </a:r>
                    </a:p>
                  </a:txBody>
                  <a:tcPr/>
                </a:tc>
                <a:tc>
                  <a:txBody>
                    <a:bodyPr/>
                    <a:lstStyle/>
                    <a:p>
                      <a:endParaRPr lang="en-GB" sz="2800" dirty="0"/>
                    </a:p>
                  </a:txBody>
                  <a:tcPr/>
                </a:tc>
                <a:extLst>
                  <a:ext uri="{0D108BD9-81ED-4DB2-BD59-A6C34878D82A}">
                    <a16:rowId xmlns:a16="http://schemas.microsoft.com/office/drawing/2014/main" val="403648032"/>
                  </a:ext>
                </a:extLst>
              </a:tr>
              <a:tr h="534818">
                <a:tc>
                  <a:txBody>
                    <a:bodyPr/>
                    <a:lstStyle/>
                    <a:p>
                      <a:r>
                        <a:rPr lang="en-GB" sz="2800" dirty="0"/>
                        <a:t>Person</a:t>
                      </a:r>
                    </a:p>
                  </a:txBody>
                  <a:tcPr/>
                </a:tc>
                <a:tc>
                  <a:txBody>
                    <a:bodyPr/>
                    <a:lstStyle/>
                    <a:p>
                      <a:r>
                        <a:rPr lang="en-GB" sz="2800" dirty="0"/>
                        <a:t>Doctor</a:t>
                      </a:r>
                    </a:p>
                  </a:txBody>
                  <a:tcPr/>
                </a:tc>
                <a:tc>
                  <a:txBody>
                    <a:bodyPr/>
                    <a:lstStyle/>
                    <a:p>
                      <a:endParaRPr lang="en-GB" sz="2800" dirty="0">
                        <a:solidFill>
                          <a:srgbClr val="FF0000"/>
                        </a:solidFill>
                      </a:endParaRPr>
                    </a:p>
                  </a:txBody>
                  <a:tcPr/>
                </a:tc>
                <a:extLst>
                  <a:ext uri="{0D108BD9-81ED-4DB2-BD59-A6C34878D82A}">
                    <a16:rowId xmlns:a16="http://schemas.microsoft.com/office/drawing/2014/main" val="3199497441"/>
                  </a:ext>
                </a:extLst>
              </a:tr>
            </a:tbl>
          </a:graphicData>
        </a:graphic>
      </p:graphicFrame>
      <p:sp>
        <p:nvSpPr>
          <p:cNvPr id="8" name="TextBox 7">
            <a:extLst>
              <a:ext uri="{FF2B5EF4-FFF2-40B4-BE49-F238E27FC236}">
                <a16:creationId xmlns:a16="http://schemas.microsoft.com/office/drawing/2014/main" id="{C41256BA-0470-9C4C-E567-8AEBDE75D14F}"/>
              </a:ext>
            </a:extLst>
          </p:cNvPr>
          <p:cNvSpPr txBox="1"/>
          <p:nvPr/>
        </p:nvSpPr>
        <p:spPr>
          <a:xfrm>
            <a:off x="5884169" y="3203974"/>
            <a:ext cx="2137743" cy="504402"/>
          </a:xfrm>
          <a:custGeom>
            <a:avLst/>
            <a:gdLst>
              <a:gd name="connsiteX0" fmla="*/ 0 w 2137743"/>
              <a:gd name="connsiteY0" fmla="*/ 0 h 954107"/>
              <a:gd name="connsiteX1" fmla="*/ 2137743 w 2137743"/>
              <a:gd name="connsiteY1" fmla="*/ 0 h 954107"/>
              <a:gd name="connsiteX2" fmla="*/ 2137743 w 2137743"/>
              <a:gd name="connsiteY2" fmla="*/ 954107 h 954107"/>
              <a:gd name="connsiteX3" fmla="*/ 0 w 2137743"/>
              <a:gd name="connsiteY3" fmla="*/ 954107 h 954107"/>
              <a:gd name="connsiteX4" fmla="*/ 0 w 2137743"/>
              <a:gd name="connsiteY4" fmla="*/ 0 h 954107"/>
              <a:gd name="connsiteX0" fmla="*/ 0 w 2137743"/>
              <a:gd name="connsiteY0" fmla="*/ 0 h 954107"/>
              <a:gd name="connsiteX1" fmla="*/ 2137743 w 2137743"/>
              <a:gd name="connsiteY1" fmla="*/ 0 h 954107"/>
              <a:gd name="connsiteX2" fmla="*/ 2137743 w 2137743"/>
              <a:gd name="connsiteY2" fmla="*/ 504402 h 954107"/>
              <a:gd name="connsiteX3" fmla="*/ 0 w 2137743"/>
              <a:gd name="connsiteY3" fmla="*/ 954107 h 954107"/>
              <a:gd name="connsiteX4" fmla="*/ 0 w 2137743"/>
              <a:gd name="connsiteY4" fmla="*/ 0 h 954107"/>
              <a:gd name="connsiteX0" fmla="*/ 0 w 2137743"/>
              <a:gd name="connsiteY0" fmla="*/ 0 h 504402"/>
              <a:gd name="connsiteX1" fmla="*/ 2137743 w 2137743"/>
              <a:gd name="connsiteY1" fmla="*/ 0 h 504402"/>
              <a:gd name="connsiteX2" fmla="*/ 2137743 w 2137743"/>
              <a:gd name="connsiteY2" fmla="*/ 504402 h 504402"/>
              <a:gd name="connsiteX3" fmla="*/ 44971 w 2137743"/>
              <a:gd name="connsiteY3" fmla="*/ 504402 h 504402"/>
              <a:gd name="connsiteX4" fmla="*/ 0 w 2137743"/>
              <a:gd name="connsiteY4" fmla="*/ 0 h 504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7743" h="504402">
                <a:moveTo>
                  <a:pt x="0" y="0"/>
                </a:moveTo>
                <a:lnTo>
                  <a:pt x="2137743" y="0"/>
                </a:lnTo>
                <a:lnTo>
                  <a:pt x="2137743" y="504402"/>
                </a:lnTo>
                <a:lnTo>
                  <a:pt x="44971" y="504402"/>
                </a:lnTo>
                <a:lnTo>
                  <a:pt x="0" y="0"/>
                </a:lnTo>
                <a:close/>
              </a:path>
            </a:pathLst>
          </a:custGeom>
          <a:noFill/>
        </p:spPr>
        <p:txBody>
          <a:bodyPr wrap="square" rtlCol="0">
            <a:spAutoFit/>
          </a:bodyPr>
          <a:lstStyle/>
          <a:p>
            <a:r>
              <a:rPr lang="en-GB" sz="2800" dirty="0"/>
              <a:t>Composite</a:t>
            </a:r>
          </a:p>
          <a:p>
            <a:endParaRPr lang="en-GB" sz="2800" dirty="0"/>
          </a:p>
        </p:txBody>
      </p:sp>
      <p:sp>
        <p:nvSpPr>
          <p:cNvPr id="9" name="TextBox 8">
            <a:extLst>
              <a:ext uri="{FF2B5EF4-FFF2-40B4-BE49-F238E27FC236}">
                <a16:creationId xmlns:a16="http://schemas.microsoft.com/office/drawing/2014/main" id="{BF371B52-C13A-0E5E-17D8-BBCD9B854A05}"/>
              </a:ext>
            </a:extLst>
          </p:cNvPr>
          <p:cNvSpPr txBox="1"/>
          <p:nvPr/>
        </p:nvSpPr>
        <p:spPr>
          <a:xfrm>
            <a:off x="5890641" y="3771037"/>
            <a:ext cx="2137743" cy="444442"/>
          </a:xfrm>
          <a:custGeom>
            <a:avLst/>
            <a:gdLst>
              <a:gd name="connsiteX0" fmla="*/ 0 w 2137743"/>
              <a:gd name="connsiteY0" fmla="*/ 0 h 954107"/>
              <a:gd name="connsiteX1" fmla="*/ 2137743 w 2137743"/>
              <a:gd name="connsiteY1" fmla="*/ 0 h 954107"/>
              <a:gd name="connsiteX2" fmla="*/ 2137743 w 2137743"/>
              <a:gd name="connsiteY2" fmla="*/ 954107 h 954107"/>
              <a:gd name="connsiteX3" fmla="*/ 0 w 2137743"/>
              <a:gd name="connsiteY3" fmla="*/ 954107 h 954107"/>
              <a:gd name="connsiteX4" fmla="*/ 0 w 2137743"/>
              <a:gd name="connsiteY4" fmla="*/ 0 h 954107"/>
              <a:gd name="connsiteX0" fmla="*/ 0 w 2137743"/>
              <a:gd name="connsiteY0" fmla="*/ 0 h 954107"/>
              <a:gd name="connsiteX1" fmla="*/ 2137743 w 2137743"/>
              <a:gd name="connsiteY1" fmla="*/ 0 h 954107"/>
              <a:gd name="connsiteX2" fmla="*/ 2077782 w 2137743"/>
              <a:gd name="connsiteY2" fmla="*/ 429452 h 954107"/>
              <a:gd name="connsiteX3" fmla="*/ 0 w 2137743"/>
              <a:gd name="connsiteY3" fmla="*/ 954107 h 954107"/>
              <a:gd name="connsiteX4" fmla="*/ 0 w 2137743"/>
              <a:gd name="connsiteY4" fmla="*/ 0 h 954107"/>
              <a:gd name="connsiteX0" fmla="*/ 0 w 2137743"/>
              <a:gd name="connsiteY0" fmla="*/ 0 h 444442"/>
              <a:gd name="connsiteX1" fmla="*/ 2137743 w 2137743"/>
              <a:gd name="connsiteY1" fmla="*/ 0 h 444442"/>
              <a:gd name="connsiteX2" fmla="*/ 2077782 w 2137743"/>
              <a:gd name="connsiteY2" fmla="*/ 429452 h 444442"/>
              <a:gd name="connsiteX3" fmla="*/ 0 w 2137743"/>
              <a:gd name="connsiteY3" fmla="*/ 444442 h 444442"/>
              <a:gd name="connsiteX4" fmla="*/ 0 w 2137743"/>
              <a:gd name="connsiteY4" fmla="*/ 0 h 444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7743" h="444442">
                <a:moveTo>
                  <a:pt x="0" y="0"/>
                </a:moveTo>
                <a:lnTo>
                  <a:pt x="2137743" y="0"/>
                </a:lnTo>
                <a:lnTo>
                  <a:pt x="2077782" y="429452"/>
                </a:lnTo>
                <a:lnTo>
                  <a:pt x="0" y="444442"/>
                </a:lnTo>
                <a:lnTo>
                  <a:pt x="0" y="0"/>
                </a:lnTo>
                <a:close/>
              </a:path>
            </a:pathLst>
          </a:custGeom>
          <a:noFill/>
        </p:spPr>
        <p:txBody>
          <a:bodyPr wrap="square" rtlCol="0">
            <a:spAutoFit/>
          </a:bodyPr>
          <a:lstStyle/>
          <a:p>
            <a:r>
              <a:rPr lang="en-GB" sz="2800" dirty="0"/>
              <a:t>Composite</a:t>
            </a:r>
          </a:p>
          <a:p>
            <a:endParaRPr lang="en-GB" sz="2800" dirty="0"/>
          </a:p>
        </p:txBody>
      </p:sp>
      <p:sp>
        <p:nvSpPr>
          <p:cNvPr id="10" name="TextBox 9">
            <a:extLst>
              <a:ext uri="{FF2B5EF4-FFF2-40B4-BE49-F238E27FC236}">
                <a16:creationId xmlns:a16="http://schemas.microsoft.com/office/drawing/2014/main" id="{76026D58-5A82-79F9-9F6E-100A2983ACB3}"/>
              </a:ext>
            </a:extLst>
          </p:cNvPr>
          <p:cNvSpPr txBox="1"/>
          <p:nvPr/>
        </p:nvSpPr>
        <p:spPr>
          <a:xfrm>
            <a:off x="5884168" y="4347101"/>
            <a:ext cx="2152733" cy="489412"/>
          </a:xfrm>
          <a:custGeom>
            <a:avLst/>
            <a:gdLst>
              <a:gd name="connsiteX0" fmla="*/ 0 w 2137743"/>
              <a:gd name="connsiteY0" fmla="*/ 0 h 954107"/>
              <a:gd name="connsiteX1" fmla="*/ 2137743 w 2137743"/>
              <a:gd name="connsiteY1" fmla="*/ 0 h 954107"/>
              <a:gd name="connsiteX2" fmla="*/ 2137743 w 2137743"/>
              <a:gd name="connsiteY2" fmla="*/ 954107 h 954107"/>
              <a:gd name="connsiteX3" fmla="*/ 0 w 2137743"/>
              <a:gd name="connsiteY3" fmla="*/ 954107 h 954107"/>
              <a:gd name="connsiteX4" fmla="*/ 0 w 2137743"/>
              <a:gd name="connsiteY4" fmla="*/ 0 h 954107"/>
              <a:gd name="connsiteX0" fmla="*/ 0 w 2152733"/>
              <a:gd name="connsiteY0" fmla="*/ 0 h 954107"/>
              <a:gd name="connsiteX1" fmla="*/ 2137743 w 2152733"/>
              <a:gd name="connsiteY1" fmla="*/ 0 h 954107"/>
              <a:gd name="connsiteX2" fmla="*/ 2152733 w 2152733"/>
              <a:gd name="connsiteY2" fmla="*/ 444442 h 954107"/>
              <a:gd name="connsiteX3" fmla="*/ 0 w 2152733"/>
              <a:gd name="connsiteY3" fmla="*/ 954107 h 954107"/>
              <a:gd name="connsiteX4" fmla="*/ 0 w 2152733"/>
              <a:gd name="connsiteY4" fmla="*/ 0 h 954107"/>
              <a:gd name="connsiteX0" fmla="*/ 0 w 2152733"/>
              <a:gd name="connsiteY0" fmla="*/ 0 h 489412"/>
              <a:gd name="connsiteX1" fmla="*/ 2137743 w 2152733"/>
              <a:gd name="connsiteY1" fmla="*/ 0 h 489412"/>
              <a:gd name="connsiteX2" fmla="*/ 2152733 w 2152733"/>
              <a:gd name="connsiteY2" fmla="*/ 444442 h 489412"/>
              <a:gd name="connsiteX3" fmla="*/ 14990 w 2152733"/>
              <a:gd name="connsiteY3" fmla="*/ 489412 h 489412"/>
              <a:gd name="connsiteX4" fmla="*/ 0 w 2152733"/>
              <a:gd name="connsiteY4" fmla="*/ 0 h 48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733" h="489412">
                <a:moveTo>
                  <a:pt x="0" y="0"/>
                </a:moveTo>
                <a:lnTo>
                  <a:pt x="2137743" y="0"/>
                </a:lnTo>
                <a:lnTo>
                  <a:pt x="2152733" y="444442"/>
                </a:lnTo>
                <a:lnTo>
                  <a:pt x="14990" y="489412"/>
                </a:lnTo>
                <a:lnTo>
                  <a:pt x="0" y="0"/>
                </a:lnTo>
                <a:close/>
              </a:path>
            </a:pathLst>
          </a:custGeom>
          <a:noFill/>
        </p:spPr>
        <p:txBody>
          <a:bodyPr wrap="square" rtlCol="0">
            <a:spAutoFit/>
          </a:bodyPr>
          <a:lstStyle/>
          <a:p>
            <a:r>
              <a:rPr lang="en-GB" sz="2800" dirty="0"/>
              <a:t>Aggregation</a:t>
            </a:r>
          </a:p>
          <a:p>
            <a:endParaRPr lang="en-GB" sz="2800" dirty="0"/>
          </a:p>
        </p:txBody>
      </p:sp>
      <p:sp>
        <p:nvSpPr>
          <p:cNvPr id="11" name="TextBox 10">
            <a:extLst>
              <a:ext uri="{FF2B5EF4-FFF2-40B4-BE49-F238E27FC236}">
                <a16:creationId xmlns:a16="http://schemas.microsoft.com/office/drawing/2014/main" id="{F06A5137-12B8-9029-775C-DA4487A6CAEA}"/>
              </a:ext>
            </a:extLst>
          </p:cNvPr>
          <p:cNvSpPr txBox="1"/>
          <p:nvPr/>
        </p:nvSpPr>
        <p:spPr>
          <a:xfrm>
            <a:off x="5890641" y="4847476"/>
            <a:ext cx="2497782" cy="549372"/>
          </a:xfrm>
          <a:custGeom>
            <a:avLst/>
            <a:gdLst>
              <a:gd name="connsiteX0" fmla="*/ 0 w 2497782"/>
              <a:gd name="connsiteY0" fmla="*/ 0 h 954107"/>
              <a:gd name="connsiteX1" fmla="*/ 2497782 w 2497782"/>
              <a:gd name="connsiteY1" fmla="*/ 0 h 954107"/>
              <a:gd name="connsiteX2" fmla="*/ 2497782 w 2497782"/>
              <a:gd name="connsiteY2" fmla="*/ 954107 h 954107"/>
              <a:gd name="connsiteX3" fmla="*/ 0 w 2497782"/>
              <a:gd name="connsiteY3" fmla="*/ 954107 h 954107"/>
              <a:gd name="connsiteX4" fmla="*/ 0 w 2497782"/>
              <a:gd name="connsiteY4" fmla="*/ 0 h 954107"/>
              <a:gd name="connsiteX0" fmla="*/ 0 w 2497782"/>
              <a:gd name="connsiteY0" fmla="*/ 0 h 954107"/>
              <a:gd name="connsiteX1" fmla="*/ 2497782 w 2497782"/>
              <a:gd name="connsiteY1" fmla="*/ 0 h 954107"/>
              <a:gd name="connsiteX2" fmla="*/ 2497782 w 2497782"/>
              <a:gd name="connsiteY2" fmla="*/ 534383 h 954107"/>
              <a:gd name="connsiteX3" fmla="*/ 0 w 2497782"/>
              <a:gd name="connsiteY3" fmla="*/ 954107 h 954107"/>
              <a:gd name="connsiteX4" fmla="*/ 0 w 2497782"/>
              <a:gd name="connsiteY4" fmla="*/ 0 h 954107"/>
              <a:gd name="connsiteX0" fmla="*/ 0 w 2497782"/>
              <a:gd name="connsiteY0" fmla="*/ 0 h 549372"/>
              <a:gd name="connsiteX1" fmla="*/ 2497782 w 2497782"/>
              <a:gd name="connsiteY1" fmla="*/ 0 h 549372"/>
              <a:gd name="connsiteX2" fmla="*/ 2497782 w 2497782"/>
              <a:gd name="connsiteY2" fmla="*/ 534383 h 549372"/>
              <a:gd name="connsiteX3" fmla="*/ 59961 w 2497782"/>
              <a:gd name="connsiteY3" fmla="*/ 549372 h 549372"/>
              <a:gd name="connsiteX4" fmla="*/ 0 w 2497782"/>
              <a:gd name="connsiteY4" fmla="*/ 0 h 549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7782" h="549372">
                <a:moveTo>
                  <a:pt x="0" y="0"/>
                </a:moveTo>
                <a:lnTo>
                  <a:pt x="2497782" y="0"/>
                </a:lnTo>
                <a:lnTo>
                  <a:pt x="2497782" y="534383"/>
                </a:lnTo>
                <a:lnTo>
                  <a:pt x="59961" y="549372"/>
                </a:lnTo>
                <a:lnTo>
                  <a:pt x="0" y="0"/>
                </a:lnTo>
                <a:close/>
              </a:path>
            </a:pathLst>
          </a:custGeom>
          <a:noFill/>
        </p:spPr>
        <p:txBody>
          <a:bodyPr wrap="square" rtlCol="0">
            <a:spAutoFit/>
          </a:bodyPr>
          <a:lstStyle/>
          <a:p>
            <a:r>
              <a:rPr lang="en-GB" sz="2800" dirty="0">
                <a:solidFill>
                  <a:srgbClr val="FF0000"/>
                </a:solidFill>
              </a:rPr>
              <a:t>Generalization</a:t>
            </a:r>
          </a:p>
          <a:p>
            <a:endParaRPr lang="en-GB" sz="2800" dirty="0"/>
          </a:p>
        </p:txBody>
      </p:sp>
      <p:sp>
        <p:nvSpPr>
          <p:cNvPr id="12" name="Speech Bubble: Rectangle 11">
            <a:extLst>
              <a:ext uri="{FF2B5EF4-FFF2-40B4-BE49-F238E27FC236}">
                <a16:creationId xmlns:a16="http://schemas.microsoft.com/office/drawing/2014/main" id="{79C7E10B-9427-99CF-78AC-8CC5289F3025}"/>
              </a:ext>
            </a:extLst>
          </p:cNvPr>
          <p:cNvSpPr/>
          <p:nvPr/>
        </p:nvSpPr>
        <p:spPr>
          <a:xfrm>
            <a:off x="6084168" y="5589239"/>
            <a:ext cx="2497782" cy="936103"/>
          </a:xfrm>
          <a:prstGeom prst="wedgeRectCallout">
            <a:avLst>
              <a:gd name="adj1" fmla="val -30441"/>
              <a:gd name="adj2" fmla="val -78595"/>
            </a:avLst>
          </a:prstGeom>
          <a:ln>
            <a:solidFill>
              <a:srgbClr val="FF0000"/>
            </a:solidFill>
            <a:tailEnd type="stealth"/>
          </a:ln>
        </p:spPr>
        <p:style>
          <a:lnRef idx="2">
            <a:schemeClr val="accent1"/>
          </a:lnRef>
          <a:fillRef idx="1">
            <a:schemeClr val="lt1"/>
          </a:fillRef>
          <a:effectRef idx="0">
            <a:schemeClr val="accent1"/>
          </a:effectRef>
          <a:fontRef idx="minor">
            <a:schemeClr val="dk1"/>
          </a:fontRef>
        </p:style>
        <p:txBody>
          <a:bodyPr rtlCol="0" anchor="ctr"/>
          <a:lstStyle/>
          <a:p>
            <a:pPr algn="ctr"/>
            <a:r>
              <a:rPr lang="en-GB" b="1" dirty="0">
                <a:solidFill>
                  <a:srgbClr val="FF0000"/>
                </a:solidFill>
              </a:rPr>
              <a:t>This is not </a:t>
            </a:r>
            <a:r>
              <a:rPr lang="en-GB" b="1">
                <a:solidFill>
                  <a:srgbClr val="FF0000"/>
                </a:solidFill>
              </a:rPr>
              <a:t>a whole-part </a:t>
            </a:r>
            <a:r>
              <a:rPr lang="en-GB" b="1" dirty="0">
                <a:solidFill>
                  <a:srgbClr val="FF0000"/>
                </a:solidFill>
              </a:rPr>
              <a:t>relationship</a:t>
            </a:r>
          </a:p>
        </p:txBody>
      </p:sp>
    </p:spTree>
    <p:extLst>
      <p:ext uri="{BB962C8B-B14F-4D97-AF65-F5344CB8AC3E}">
        <p14:creationId xmlns:p14="http://schemas.microsoft.com/office/powerpoint/2010/main" val="369827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1"/>
          </p:nvPr>
        </p:nvSpPr>
        <p:spPr>
          <a:xfrm>
            <a:off x="490538" y="188913"/>
            <a:ext cx="8488362" cy="5907087"/>
          </a:xfrm>
        </p:spPr>
        <p:txBody>
          <a:bodyPr/>
          <a:lstStyle/>
          <a:p>
            <a:r>
              <a:rPr lang="en-GB" sz="3200" dirty="0"/>
              <a:t>Association</a:t>
            </a:r>
          </a:p>
          <a:p>
            <a:pPr marL="668338" lvl="1" indent="-396875"/>
            <a:r>
              <a:rPr lang="en-GB" sz="2800" dirty="0"/>
              <a:t>An object </a:t>
            </a:r>
            <a:r>
              <a:rPr lang="en-GB" sz="2800" i="1" dirty="0"/>
              <a:t>A</a:t>
            </a:r>
            <a:r>
              <a:rPr lang="en-GB" sz="2800" dirty="0"/>
              <a:t> affects another object </a:t>
            </a:r>
            <a:r>
              <a:rPr lang="en-GB" sz="2800" i="1" dirty="0"/>
              <a:t>B</a:t>
            </a:r>
            <a:r>
              <a:rPr lang="en-GB" sz="2800" dirty="0"/>
              <a:t>’s state, e.g. object </a:t>
            </a:r>
            <a:r>
              <a:rPr lang="en-GB" sz="2800" i="1" dirty="0"/>
              <a:t>A</a:t>
            </a:r>
            <a:r>
              <a:rPr lang="en-GB" sz="2800" dirty="0"/>
              <a:t> can directly cause object </a:t>
            </a:r>
            <a:r>
              <a:rPr lang="en-GB" sz="2800" i="1" dirty="0"/>
              <a:t>B</a:t>
            </a:r>
            <a:r>
              <a:rPr lang="en-GB" sz="2800" dirty="0"/>
              <a:t> to change its state (by invocation of object B’s method). </a:t>
            </a:r>
          </a:p>
          <a:p>
            <a:pPr marL="1255713" lvl="2" indent="-534988"/>
            <a:r>
              <a:rPr lang="en-GB" sz="2800" dirty="0"/>
              <a:t>A doctor operates on a patient</a:t>
            </a:r>
          </a:p>
          <a:p>
            <a:pPr marL="1255713" lvl="2" indent="-534988"/>
            <a:r>
              <a:rPr lang="en-GB" sz="2800" dirty="0"/>
              <a:t>Engine drives wheels</a:t>
            </a:r>
          </a:p>
          <a:p>
            <a:pPr marL="1255713" lvl="2" indent="-534988"/>
            <a:r>
              <a:rPr lang="en-GB" sz="2800" dirty="0"/>
              <a:t>Steer wheel change the direction of wheels</a:t>
            </a:r>
          </a:p>
          <a:p>
            <a:pPr marL="668338" lvl="1" indent="-396875"/>
            <a:r>
              <a:rPr lang="en-GB" sz="2800" dirty="0"/>
              <a:t>An object </a:t>
            </a:r>
            <a:r>
              <a:rPr lang="en-GB" sz="2800" i="1" dirty="0"/>
              <a:t>A</a:t>
            </a:r>
            <a:r>
              <a:rPr lang="en-GB" sz="2800" dirty="0"/>
              <a:t> monitors another object </a:t>
            </a:r>
            <a:r>
              <a:rPr lang="en-GB" sz="2800" i="1" dirty="0"/>
              <a:t>B</a:t>
            </a:r>
            <a:r>
              <a:rPr lang="en-GB" sz="2800" dirty="0"/>
              <a:t>’s state, e.g. object </a:t>
            </a:r>
            <a:r>
              <a:rPr lang="en-GB" sz="2800" i="1" dirty="0"/>
              <a:t>A</a:t>
            </a:r>
            <a:r>
              <a:rPr lang="en-GB" sz="2800" dirty="0"/>
              <a:t> accesses </a:t>
            </a:r>
            <a:r>
              <a:rPr lang="en-GB" sz="2800" i="1" dirty="0"/>
              <a:t>B</a:t>
            </a:r>
            <a:r>
              <a:rPr lang="en-GB" sz="2800" dirty="0"/>
              <a:t>’s attributes. </a:t>
            </a:r>
            <a:endParaRPr lang="en-US" altLang="zh-CN" sz="2800" dirty="0">
              <a:ea typeface="宋体" pitchFamily="2" charset="-122"/>
            </a:endParaRPr>
          </a:p>
        </p:txBody>
      </p:sp>
      <p:sp>
        <p:nvSpPr>
          <p:cNvPr id="5" name="Slide Number Placeholder 4">
            <a:extLst>
              <a:ext uri="{FF2B5EF4-FFF2-40B4-BE49-F238E27FC236}">
                <a16:creationId xmlns:a16="http://schemas.microsoft.com/office/drawing/2014/main" id="{55D6697A-3069-CB4E-BED5-5C00B8BB1462}"/>
              </a:ext>
            </a:extLst>
          </p:cNvPr>
          <p:cNvSpPr>
            <a:spLocks noGrp="1"/>
          </p:cNvSpPr>
          <p:nvPr>
            <p:ph type="sldNum" sz="quarter" idx="4"/>
          </p:nvPr>
        </p:nvSpPr>
        <p:spPr/>
        <p:txBody>
          <a:bodyPr/>
          <a:lstStyle/>
          <a:p>
            <a:fld id="{D6255EFE-3ACE-DA4E-80CE-7588690A9A08}" type="slidenum">
              <a:rPr lang="en-GB" smtClean="0"/>
              <a:t>34</a:t>
            </a:fld>
            <a:endParaRPr lang="en-GB"/>
          </a:p>
        </p:txBody>
      </p:sp>
    </p:spTree>
    <p:extLst>
      <p:ext uri="{BB962C8B-B14F-4D97-AF65-F5344CB8AC3E}">
        <p14:creationId xmlns:p14="http://schemas.microsoft.com/office/powerpoint/2010/main" val="3038908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a:bodyPr>
          <a:lstStyle/>
          <a:p>
            <a:r>
              <a:rPr lang="en-GB" sz="3600" dirty="0"/>
              <a:t>UML Class Diagram </a:t>
            </a:r>
            <a:endParaRPr lang="en-US" altLang="zh-CN" sz="3600" dirty="0">
              <a:ea typeface="宋体" pitchFamily="2" charset="-122"/>
            </a:endParaRPr>
          </a:p>
        </p:txBody>
      </p:sp>
      <p:sp>
        <p:nvSpPr>
          <p:cNvPr id="19460" name="Text Box 4"/>
          <p:cNvSpPr txBox="1">
            <a:spLocks noChangeArrowheads="1"/>
          </p:cNvSpPr>
          <p:nvPr/>
        </p:nvSpPr>
        <p:spPr bwMode="auto">
          <a:xfrm>
            <a:off x="757238" y="1268413"/>
            <a:ext cx="1800224" cy="1938992"/>
          </a:xfrm>
          <a:prstGeom prst="rect">
            <a:avLst/>
          </a:prstGeom>
          <a:noFill/>
          <a:ln w="28575" algn="ctr">
            <a:solidFill>
              <a:schemeClr val="tx2"/>
            </a:solidFill>
            <a:miter lim="800000"/>
            <a:headEnd type="none" w="lg" len="lg"/>
            <a:tailEnd type="none" w="lg" len="lg"/>
          </a:ln>
          <a:effectLst/>
        </p:spPr>
        <p:txBody>
          <a:bodyPr wrap="square">
            <a:spAutoFit/>
          </a:bodyPr>
          <a:lstStyle/>
          <a:p>
            <a:r>
              <a:rPr lang="en-GB" sz="2400" dirty="0">
                <a:solidFill>
                  <a:schemeClr val="tx2"/>
                </a:solidFill>
              </a:rPr>
              <a:t>Class name</a:t>
            </a:r>
          </a:p>
          <a:p>
            <a:endParaRPr lang="en-GB" sz="2400" dirty="0">
              <a:solidFill>
                <a:schemeClr val="tx2"/>
              </a:solidFill>
            </a:endParaRPr>
          </a:p>
          <a:p>
            <a:r>
              <a:rPr lang="en-GB" sz="2400" dirty="0">
                <a:solidFill>
                  <a:schemeClr val="tx2"/>
                </a:solidFill>
              </a:rPr>
              <a:t>Attributes</a:t>
            </a:r>
          </a:p>
          <a:p>
            <a:endParaRPr lang="en-GB" sz="2400" dirty="0">
              <a:solidFill>
                <a:schemeClr val="tx2"/>
              </a:solidFill>
            </a:endParaRPr>
          </a:p>
          <a:p>
            <a:r>
              <a:rPr lang="en-GB" sz="2400" dirty="0">
                <a:solidFill>
                  <a:schemeClr val="tx2"/>
                </a:solidFill>
              </a:rPr>
              <a:t>Methods </a:t>
            </a:r>
            <a:endParaRPr lang="en-US" altLang="zh-CN" sz="2400" dirty="0">
              <a:solidFill>
                <a:schemeClr val="tx2"/>
              </a:solidFill>
            </a:endParaRPr>
          </a:p>
        </p:txBody>
      </p:sp>
      <p:sp>
        <p:nvSpPr>
          <p:cNvPr id="19461" name="Line 5"/>
          <p:cNvSpPr>
            <a:spLocks noChangeShapeType="1"/>
          </p:cNvSpPr>
          <p:nvPr/>
        </p:nvSpPr>
        <p:spPr bwMode="auto">
          <a:xfrm>
            <a:off x="757238" y="1874540"/>
            <a:ext cx="1800224" cy="0"/>
          </a:xfrm>
          <a:prstGeom prst="line">
            <a:avLst/>
          </a:prstGeom>
          <a:noFill/>
          <a:ln w="28575">
            <a:solidFill>
              <a:schemeClr val="tx2"/>
            </a:solidFill>
            <a:round/>
            <a:headEnd type="none" w="lg" len="lg"/>
            <a:tailEnd type="none" w="lg" len="lg"/>
          </a:ln>
          <a:effectLst/>
        </p:spPr>
        <p:txBody>
          <a:bodyPr wrap="square">
            <a:spAutoFit/>
          </a:bodyPr>
          <a:lstStyle/>
          <a:p>
            <a:endParaRPr lang="en-US" sz="2400">
              <a:solidFill>
                <a:schemeClr val="tx2"/>
              </a:solidFill>
            </a:endParaRPr>
          </a:p>
        </p:txBody>
      </p:sp>
      <p:sp>
        <p:nvSpPr>
          <p:cNvPr id="19462" name="Line 6"/>
          <p:cNvSpPr>
            <a:spLocks noChangeShapeType="1"/>
          </p:cNvSpPr>
          <p:nvPr/>
        </p:nvSpPr>
        <p:spPr bwMode="auto">
          <a:xfrm flipV="1">
            <a:off x="757237" y="2550459"/>
            <a:ext cx="1800223" cy="1"/>
          </a:xfrm>
          <a:prstGeom prst="line">
            <a:avLst/>
          </a:prstGeom>
          <a:noFill/>
          <a:ln w="28575">
            <a:solidFill>
              <a:schemeClr val="tx2"/>
            </a:solidFill>
            <a:round/>
            <a:headEnd type="none" w="lg" len="lg"/>
            <a:tailEnd type="none" w="lg" len="lg"/>
          </a:ln>
          <a:effectLst/>
        </p:spPr>
        <p:txBody>
          <a:bodyPr wrap="square">
            <a:spAutoFit/>
          </a:bodyPr>
          <a:lstStyle/>
          <a:p>
            <a:endParaRPr lang="en-US" sz="2400">
              <a:solidFill>
                <a:schemeClr val="tx2"/>
              </a:solidFill>
            </a:endParaRPr>
          </a:p>
        </p:txBody>
      </p:sp>
      <p:sp>
        <p:nvSpPr>
          <p:cNvPr id="19463" name="Text Box 7"/>
          <p:cNvSpPr txBox="1">
            <a:spLocks noChangeArrowheads="1"/>
          </p:cNvSpPr>
          <p:nvPr/>
        </p:nvSpPr>
        <p:spPr bwMode="auto">
          <a:xfrm>
            <a:off x="3060699" y="1268413"/>
            <a:ext cx="1944687" cy="461665"/>
          </a:xfrm>
          <a:prstGeom prst="rect">
            <a:avLst/>
          </a:prstGeom>
          <a:noFill/>
          <a:ln w="28575" algn="ctr">
            <a:solidFill>
              <a:schemeClr val="tx2"/>
            </a:solidFill>
            <a:miter lim="800000"/>
            <a:headEnd type="none" w="lg" len="lg"/>
            <a:tailEnd type="none" w="lg" len="lg"/>
          </a:ln>
          <a:effectLst/>
        </p:spPr>
        <p:txBody>
          <a:bodyPr wrap="square">
            <a:spAutoFit/>
          </a:bodyPr>
          <a:lstStyle/>
          <a:p>
            <a:r>
              <a:rPr lang="en-GB" sz="2400">
                <a:solidFill>
                  <a:schemeClr val="tx2"/>
                </a:solidFill>
              </a:rPr>
              <a:t>Class name</a:t>
            </a:r>
            <a:endParaRPr lang="en-US" altLang="zh-CN" sz="2400">
              <a:solidFill>
                <a:schemeClr val="tx2"/>
              </a:solidFill>
            </a:endParaRPr>
          </a:p>
        </p:txBody>
      </p:sp>
      <p:sp>
        <p:nvSpPr>
          <p:cNvPr id="19464" name="Text Box 8"/>
          <p:cNvSpPr txBox="1">
            <a:spLocks noChangeArrowheads="1"/>
          </p:cNvSpPr>
          <p:nvPr/>
        </p:nvSpPr>
        <p:spPr bwMode="auto">
          <a:xfrm>
            <a:off x="2900378" y="1972703"/>
            <a:ext cx="2231826" cy="1200329"/>
          </a:xfrm>
          <a:prstGeom prst="rect">
            <a:avLst/>
          </a:prstGeom>
          <a:noFill/>
          <a:ln w="28575" algn="ctr">
            <a:noFill/>
            <a:miter lim="800000"/>
            <a:headEnd type="none" w="lg" len="lg"/>
            <a:tailEnd type="none" w="lg" len="lg"/>
          </a:ln>
          <a:effectLst/>
        </p:spPr>
        <p:txBody>
          <a:bodyPr wrap="square">
            <a:spAutoFit/>
          </a:bodyPr>
          <a:lstStyle/>
          <a:p>
            <a:pPr algn="ctr"/>
            <a:r>
              <a:rPr lang="en-GB" sz="2400" dirty="0">
                <a:solidFill>
                  <a:srgbClr val="002060"/>
                </a:solidFill>
              </a:rPr>
              <a:t>Class node without compartments</a:t>
            </a:r>
            <a:endParaRPr lang="en-US" altLang="zh-CN" sz="2400" dirty="0">
              <a:solidFill>
                <a:srgbClr val="002060"/>
              </a:solidFill>
            </a:endParaRPr>
          </a:p>
        </p:txBody>
      </p:sp>
      <p:sp>
        <p:nvSpPr>
          <p:cNvPr id="19465" name="Text Box 9"/>
          <p:cNvSpPr txBox="1">
            <a:spLocks noChangeArrowheads="1"/>
          </p:cNvSpPr>
          <p:nvPr/>
        </p:nvSpPr>
        <p:spPr bwMode="auto">
          <a:xfrm>
            <a:off x="541338" y="3622030"/>
            <a:ext cx="2160587" cy="1200329"/>
          </a:xfrm>
          <a:prstGeom prst="rect">
            <a:avLst/>
          </a:prstGeom>
          <a:noFill/>
          <a:ln w="28575" algn="ctr">
            <a:noFill/>
            <a:miter lim="800000"/>
            <a:headEnd type="none" w="lg" len="lg"/>
            <a:tailEnd type="none" w="lg" len="lg"/>
          </a:ln>
          <a:effectLst/>
        </p:spPr>
        <p:txBody>
          <a:bodyPr>
            <a:spAutoFit/>
          </a:bodyPr>
          <a:lstStyle/>
          <a:p>
            <a:pPr algn="ctr"/>
            <a:r>
              <a:rPr lang="en-GB" sz="2400" dirty="0">
                <a:solidFill>
                  <a:srgbClr val="002060"/>
                </a:solidFill>
              </a:rPr>
              <a:t>Class node with 3 compartments</a:t>
            </a:r>
            <a:endParaRPr lang="en-US" altLang="zh-CN" sz="2400" dirty="0">
              <a:solidFill>
                <a:srgbClr val="002060"/>
              </a:solidFill>
            </a:endParaRPr>
          </a:p>
        </p:txBody>
      </p:sp>
      <p:sp>
        <p:nvSpPr>
          <p:cNvPr id="19472" name="Text Box 16"/>
          <p:cNvSpPr txBox="1">
            <a:spLocks noChangeArrowheads="1"/>
          </p:cNvSpPr>
          <p:nvPr/>
        </p:nvSpPr>
        <p:spPr bwMode="auto">
          <a:xfrm>
            <a:off x="5867400" y="1586740"/>
            <a:ext cx="1871663" cy="461665"/>
          </a:xfrm>
          <a:prstGeom prst="rect">
            <a:avLst/>
          </a:prstGeom>
          <a:noFill/>
          <a:ln w="28575" algn="ctr">
            <a:noFill/>
            <a:miter lim="800000"/>
            <a:headEnd type="none" w="lg" len="lg"/>
            <a:tailEnd type="none" w="lg" len="lg"/>
          </a:ln>
          <a:effectLst/>
        </p:spPr>
        <p:txBody>
          <a:bodyPr>
            <a:spAutoFit/>
          </a:bodyPr>
          <a:lstStyle/>
          <a:p>
            <a:r>
              <a:rPr lang="en-GB" sz="2400" dirty="0">
                <a:solidFill>
                  <a:srgbClr val="002060"/>
                </a:solidFill>
              </a:rPr>
              <a:t>Aggregate </a:t>
            </a:r>
            <a:endParaRPr lang="en-US" altLang="zh-CN" sz="2400" dirty="0">
              <a:solidFill>
                <a:srgbClr val="002060"/>
              </a:solidFill>
            </a:endParaRPr>
          </a:p>
        </p:txBody>
      </p:sp>
      <p:sp>
        <p:nvSpPr>
          <p:cNvPr id="19473" name="Text Box 17"/>
          <p:cNvSpPr txBox="1">
            <a:spLocks noChangeArrowheads="1"/>
          </p:cNvSpPr>
          <p:nvPr/>
        </p:nvSpPr>
        <p:spPr bwMode="auto">
          <a:xfrm>
            <a:off x="5873080" y="2771428"/>
            <a:ext cx="1871663" cy="461665"/>
          </a:xfrm>
          <a:prstGeom prst="rect">
            <a:avLst/>
          </a:prstGeom>
          <a:noFill/>
          <a:ln w="28575" algn="ctr">
            <a:noFill/>
            <a:miter lim="800000"/>
            <a:headEnd type="none" w="lg" len="lg"/>
            <a:tailEnd type="none" w="lg" len="lg"/>
          </a:ln>
          <a:effectLst/>
        </p:spPr>
        <p:txBody>
          <a:bodyPr>
            <a:spAutoFit/>
          </a:bodyPr>
          <a:lstStyle/>
          <a:p>
            <a:r>
              <a:rPr lang="en-GB" sz="2400" dirty="0">
                <a:solidFill>
                  <a:srgbClr val="002060"/>
                </a:solidFill>
              </a:rPr>
              <a:t>Composite</a:t>
            </a:r>
            <a:endParaRPr lang="en-US" altLang="zh-CN" sz="2400" dirty="0">
              <a:solidFill>
                <a:srgbClr val="002060"/>
              </a:solidFill>
            </a:endParaRPr>
          </a:p>
        </p:txBody>
      </p:sp>
      <p:sp>
        <p:nvSpPr>
          <p:cNvPr id="19474" name="AutoShape 18"/>
          <p:cNvSpPr>
            <a:spLocks noChangeArrowheads="1"/>
          </p:cNvSpPr>
          <p:nvPr/>
        </p:nvSpPr>
        <p:spPr bwMode="auto">
          <a:xfrm>
            <a:off x="5797550" y="3500438"/>
            <a:ext cx="2232025" cy="360362"/>
          </a:xfrm>
          <a:prstGeom prst="rightArrow">
            <a:avLst>
              <a:gd name="adj1" fmla="val 0"/>
              <a:gd name="adj2" fmla="val 117330"/>
            </a:avLst>
          </a:prstGeom>
          <a:noFill/>
          <a:ln w="28575" algn="ctr">
            <a:solidFill>
              <a:schemeClr val="tx2"/>
            </a:solidFill>
            <a:miter lim="800000"/>
            <a:headEnd type="none" w="lg" len="lg"/>
            <a:tailEnd type="none" w="lg" len="lg"/>
          </a:ln>
          <a:effectLst/>
        </p:spPr>
        <p:txBody>
          <a:bodyPr anchor="ctr">
            <a:spAutoFit/>
          </a:bodyPr>
          <a:lstStyle/>
          <a:p>
            <a:endParaRPr lang="en-US" sz="2400">
              <a:solidFill>
                <a:schemeClr val="tx2"/>
              </a:solidFill>
            </a:endParaRPr>
          </a:p>
        </p:txBody>
      </p:sp>
      <p:sp>
        <p:nvSpPr>
          <p:cNvPr id="19475" name="Text Box 19"/>
          <p:cNvSpPr txBox="1">
            <a:spLocks noChangeArrowheads="1"/>
          </p:cNvSpPr>
          <p:nvPr/>
        </p:nvSpPr>
        <p:spPr bwMode="auto">
          <a:xfrm>
            <a:off x="5909015" y="3903960"/>
            <a:ext cx="1727200" cy="461665"/>
          </a:xfrm>
          <a:prstGeom prst="rect">
            <a:avLst/>
          </a:prstGeom>
          <a:noFill/>
          <a:ln w="28575" algn="ctr">
            <a:noFill/>
            <a:miter lim="800000"/>
            <a:headEnd type="none" w="lg" len="lg"/>
            <a:tailEnd type="none" w="lg" len="lg"/>
          </a:ln>
          <a:effectLst/>
        </p:spPr>
        <p:txBody>
          <a:bodyPr>
            <a:spAutoFit/>
          </a:bodyPr>
          <a:lstStyle/>
          <a:p>
            <a:r>
              <a:rPr lang="en-GB" sz="2400" dirty="0">
                <a:solidFill>
                  <a:srgbClr val="002060"/>
                </a:solidFill>
              </a:rPr>
              <a:t>Inheritance</a:t>
            </a:r>
            <a:endParaRPr lang="en-US" altLang="zh-CN" sz="2400" dirty="0">
              <a:solidFill>
                <a:srgbClr val="002060"/>
              </a:solidFill>
            </a:endParaRPr>
          </a:p>
        </p:txBody>
      </p:sp>
      <p:sp>
        <p:nvSpPr>
          <p:cNvPr id="19476" name="Line 20"/>
          <p:cNvSpPr>
            <a:spLocks noChangeShapeType="1"/>
          </p:cNvSpPr>
          <p:nvPr/>
        </p:nvSpPr>
        <p:spPr bwMode="auto">
          <a:xfrm>
            <a:off x="5868988" y="4868863"/>
            <a:ext cx="2160587" cy="0"/>
          </a:xfrm>
          <a:prstGeom prst="line">
            <a:avLst/>
          </a:prstGeom>
          <a:noFill/>
          <a:ln w="28575">
            <a:solidFill>
              <a:schemeClr val="tx2"/>
            </a:solidFill>
            <a:round/>
            <a:headEnd type="none" w="lg" len="lg"/>
            <a:tailEnd type="none" w="lg" len="lg"/>
          </a:ln>
          <a:effectLst/>
        </p:spPr>
        <p:txBody>
          <a:bodyPr>
            <a:spAutoFit/>
          </a:bodyPr>
          <a:lstStyle/>
          <a:p>
            <a:endParaRPr lang="en-US" sz="2400">
              <a:solidFill>
                <a:schemeClr val="tx2"/>
              </a:solidFill>
            </a:endParaRPr>
          </a:p>
        </p:txBody>
      </p:sp>
      <p:sp>
        <p:nvSpPr>
          <p:cNvPr id="19477" name="Text Box 21"/>
          <p:cNvSpPr txBox="1">
            <a:spLocks noChangeArrowheads="1"/>
          </p:cNvSpPr>
          <p:nvPr/>
        </p:nvSpPr>
        <p:spPr bwMode="auto">
          <a:xfrm>
            <a:off x="5940425" y="5111404"/>
            <a:ext cx="2089150" cy="461665"/>
          </a:xfrm>
          <a:prstGeom prst="rect">
            <a:avLst/>
          </a:prstGeom>
          <a:noFill/>
          <a:ln w="28575" algn="ctr">
            <a:noFill/>
            <a:miter lim="800000"/>
            <a:headEnd type="none" w="lg" len="lg"/>
            <a:tailEnd type="none" w="lg" len="lg"/>
          </a:ln>
          <a:effectLst/>
        </p:spPr>
        <p:txBody>
          <a:bodyPr>
            <a:spAutoFit/>
          </a:bodyPr>
          <a:lstStyle/>
          <a:p>
            <a:r>
              <a:rPr lang="en-GB" sz="2400" dirty="0">
                <a:solidFill>
                  <a:srgbClr val="002060"/>
                </a:solidFill>
              </a:rPr>
              <a:t>Association</a:t>
            </a:r>
            <a:endParaRPr lang="en-US" altLang="zh-CN" sz="2400" dirty="0">
              <a:solidFill>
                <a:srgbClr val="002060"/>
              </a:solidFill>
            </a:endParaRPr>
          </a:p>
        </p:txBody>
      </p:sp>
      <p:grpSp>
        <p:nvGrpSpPr>
          <p:cNvPr id="24" name="Group 12"/>
          <p:cNvGrpSpPr>
            <a:grpSpLocks/>
          </p:cNvGrpSpPr>
          <p:nvPr/>
        </p:nvGrpSpPr>
        <p:grpSpPr bwMode="auto">
          <a:xfrm>
            <a:off x="5508623" y="1182041"/>
            <a:ext cx="2662237" cy="461666"/>
            <a:chOff x="3515" y="987"/>
            <a:chExt cx="1274" cy="578"/>
          </a:xfrm>
        </p:grpSpPr>
        <p:sp>
          <p:nvSpPr>
            <p:cNvPr id="25" name="AutoShape 10"/>
            <p:cNvSpPr>
              <a:spLocks noChangeArrowheads="1"/>
            </p:cNvSpPr>
            <p:nvPr/>
          </p:nvSpPr>
          <p:spPr bwMode="auto">
            <a:xfrm>
              <a:off x="4558" y="987"/>
              <a:ext cx="231" cy="578"/>
            </a:xfrm>
            <a:prstGeom prst="diamond">
              <a:avLst/>
            </a:prstGeom>
            <a:noFill/>
            <a:ln w="28575" algn="ctr">
              <a:solidFill>
                <a:schemeClr val="tx2"/>
              </a:solidFill>
              <a:miter lim="800000"/>
              <a:headEnd type="none" w="lg" len="lg"/>
              <a:tailEnd type="none" w="lg" len="lg"/>
            </a:ln>
            <a:effectLst/>
          </p:spPr>
          <p:txBody>
            <a:bodyPr wrap="none" anchor="ctr">
              <a:spAutoFit/>
            </a:bodyPr>
            <a:lstStyle/>
            <a:p>
              <a:endParaRPr lang="en-US" sz="2400"/>
            </a:p>
          </p:txBody>
        </p:sp>
        <p:sp>
          <p:nvSpPr>
            <p:cNvPr id="26" name="Line 11"/>
            <p:cNvSpPr>
              <a:spLocks noChangeShapeType="1"/>
            </p:cNvSpPr>
            <p:nvPr/>
          </p:nvSpPr>
          <p:spPr bwMode="auto">
            <a:xfrm>
              <a:off x="3515" y="1275"/>
              <a:ext cx="1043" cy="0"/>
            </a:xfrm>
            <a:prstGeom prst="line">
              <a:avLst/>
            </a:prstGeom>
            <a:noFill/>
            <a:ln w="28575">
              <a:solidFill>
                <a:schemeClr val="tx2"/>
              </a:solidFill>
              <a:round/>
              <a:headEnd type="none" w="lg" len="lg"/>
              <a:tailEnd type="none" w="lg" len="lg"/>
            </a:ln>
            <a:effectLst/>
          </p:spPr>
          <p:txBody>
            <a:bodyPr>
              <a:spAutoFit/>
            </a:bodyPr>
            <a:lstStyle/>
            <a:p>
              <a:endParaRPr lang="en-US" sz="2400"/>
            </a:p>
          </p:txBody>
        </p:sp>
      </p:grpSp>
      <p:grpSp>
        <p:nvGrpSpPr>
          <p:cNvPr id="27" name="Group 13"/>
          <p:cNvGrpSpPr>
            <a:grpSpLocks/>
          </p:cNvGrpSpPr>
          <p:nvPr/>
        </p:nvGrpSpPr>
        <p:grpSpPr bwMode="auto">
          <a:xfrm>
            <a:off x="5704182" y="2286274"/>
            <a:ext cx="2446335" cy="435618"/>
            <a:chOff x="3515" y="987"/>
            <a:chExt cx="1274" cy="578"/>
          </a:xfrm>
          <a:solidFill>
            <a:schemeClr val="tx2"/>
          </a:solidFill>
        </p:grpSpPr>
        <p:sp>
          <p:nvSpPr>
            <p:cNvPr id="28" name="AutoShape 14"/>
            <p:cNvSpPr>
              <a:spLocks noChangeArrowheads="1"/>
            </p:cNvSpPr>
            <p:nvPr/>
          </p:nvSpPr>
          <p:spPr bwMode="auto">
            <a:xfrm>
              <a:off x="4558" y="987"/>
              <a:ext cx="231" cy="578"/>
            </a:xfrm>
            <a:prstGeom prst="diamond">
              <a:avLst/>
            </a:prstGeom>
            <a:grpFill/>
            <a:ln w="28575" algn="ctr">
              <a:solidFill>
                <a:schemeClr val="tx2"/>
              </a:solidFill>
              <a:miter lim="800000"/>
              <a:headEnd type="none" w="lg" len="lg"/>
              <a:tailEnd type="none" w="lg" len="lg"/>
            </a:ln>
            <a:effectLst/>
          </p:spPr>
          <p:txBody>
            <a:bodyPr wrap="none" anchor="ctr">
              <a:spAutoFit/>
            </a:bodyPr>
            <a:lstStyle/>
            <a:p>
              <a:endParaRPr lang="en-US" sz="2400"/>
            </a:p>
          </p:txBody>
        </p:sp>
        <p:sp>
          <p:nvSpPr>
            <p:cNvPr id="29" name="Line 15"/>
            <p:cNvSpPr>
              <a:spLocks noChangeShapeType="1"/>
            </p:cNvSpPr>
            <p:nvPr/>
          </p:nvSpPr>
          <p:spPr bwMode="auto">
            <a:xfrm>
              <a:off x="3515" y="1275"/>
              <a:ext cx="1043" cy="0"/>
            </a:xfrm>
            <a:prstGeom prst="line">
              <a:avLst/>
            </a:prstGeom>
            <a:grpFill/>
            <a:ln w="28575">
              <a:solidFill>
                <a:schemeClr val="tx2"/>
              </a:solidFill>
              <a:round/>
              <a:headEnd type="none" w="lg" len="lg"/>
              <a:tailEnd type="none" w="lg" len="lg"/>
            </a:ln>
            <a:effectLst/>
          </p:spPr>
          <p:txBody>
            <a:bodyPr>
              <a:spAutoFit/>
            </a:bodyPr>
            <a:lstStyle/>
            <a:p>
              <a:endParaRPr lang="en-US" sz="2400"/>
            </a:p>
          </p:txBody>
        </p:sp>
      </p:grpSp>
      <p:sp>
        <p:nvSpPr>
          <p:cNvPr id="4" name="Slide Number Placeholder 3">
            <a:extLst>
              <a:ext uri="{FF2B5EF4-FFF2-40B4-BE49-F238E27FC236}">
                <a16:creationId xmlns:a16="http://schemas.microsoft.com/office/drawing/2014/main" id="{D9D2B910-CBED-BA4B-9594-83AC9E9F5A0A}"/>
              </a:ext>
            </a:extLst>
          </p:cNvPr>
          <p:cNvSpPr>
            <a:spLocks noGrp="1"/>
          </p:cNvSpPr>
          <p:nvPr>
            <p:ph type="sldNum" sz="quarter" idx="4"/>
          </p:nvPr>
        </p:nvSpPr>
        <p:spPr/>
        <p:txBody>
          <a:bodyPr/>
          <a:lstStyle/>
          <a:p>
            <a:fld id="{D6255EFE-3ACE-DA4E-80CE-7588690A9A08}" type="slidenum">
              <a:rPr lang="en-GB" smtClean="0"/>
              <a:t>35</a:t>
            </a:fld>
            <a:endParaRPr lang="en-GB"/>
          </a:p>
        </p:txBody>
      </p:sp>
    </p:spTree>
    <p:extLst>
      <p:ext uri="{BB962C8B-B14F-4D97-AF65-F5344CB8AC3E}">
        <p14:creationId xmlns:p14="http://schemas.microsoft.com/office/powerpoint/2010/main" val="10363944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95536" y="188640"/>
            <a:ext cx="8461127" cy="707681"/>
          </a:xfrm>
        </p:spPr>
        <p:txBody>
          <a:bodyPr>
            <a:normAutofit/>
          </a:bodyPr>
          <a:lstStyle/>
          <a:p>
            <a:r>
              <a:rPr lang="en-GB" sz="3600" dirty="0"/>
              <a:t>Example: Inheritance Relation</a:t>
            </a:r>
            <a:endParaRPr lang="en-US" altLang="zh-CN" sz="3600" dirty="0">
              <a:ea typeface="宋体" pitchFamily="2" charset="-122"/>
            </a:endParaRPr>
          </a:p>
        </p:txBody>
      </p:sp>
      <p:grpSp>
        <p:nvGrpSpPr>
          <p:cNvPr id="21519" name="Group 15"/>
          <p:cNvGrpSpPr>
            <a:grpSpLocks/>
          </p:cNvGrpSpPr>
          <p:nvPr/>
        </p:nvGrpSpPr>
        <p:grpSpPr bwMode="auto">
          <a:xfrm>
            <a:off x="900113" y="1484313"/>
            <a:ext cx="7705725" cy="3343276"/>
            <a:chOff x="748" y="663"/>
            <a:chExt cx="4854" cy="2106"/>
          </a:xfrm>
        </p:grpSpPr>
        <p:sp>
          <p:nvSpPr>
            <p:cNvPr id="21508" name="Text Box 4"/>
            <p:cNvSpPr txBox="1">
              <a:spLocks noChangeArrowheads="1"/>
            </p:cNvSpPr>
            <p:nvPr/>
          </p:nvSpPr>
          <p:spPr bwMode="auto">
            <a:xfrm>
              <a:off x="2154" y="663"/>
              <a:ext cx="1134" cy="291"/>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sz="2400">
                  <a:solidFill>
                    <a:schemeClr val="tx2"/>
                  </a:solidFill>
                </a:rPr>
                <a:t>Vehicle </a:t>
              </a:r>
              <a:endParaRPr lang="en-US" altLang="zh-CN" sz="2400">
                <a:solidFill>
                  <a:schemeClr val="tx2"/>
                </a:solidFill>
              </a:endParaRPr>
            </a:p>
          </p:txBody>
        </p:sp>
        <p:sp>
          <p:nvSpPr>
            <p:cNvPr id="21509" name="Text Box 5"/>
            <p:cNvSpPr txBox="1">
              <a:spLocks noChangeArrowheads="1"/>
            </p:cNvSpPr>
            <p:nvPr/>
          </p:nvSpPr>
          <p:spPr bwMode="auto">
            <a:xfrm>
              <a:off x="748" y="1570"/>
              <a:ext cx="1134" cy="291"/>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sz="2400">
                  <a:solidFill>
                    <a:schemeClr val="tx2"/>
                  </a:solidFill>
                </a:rPr>
                <a:t>Buffalo cart </a:t>
              </a:r>
              <a:endParaRPr lang="en-US" altLang="zh-CN" sz="2400">
                <a:solidFill>
                  <a:schemeClr val="tx2"/>
                </a:solidFill>
              </a:endParaRPr>
            </a:p>
          </p:txBody>
        </p:sp>
        <p:sp>
          <p:nvSpPr>
            <p:cNvPr id="21510" name="Text Box 6"/>
            <p:cNvSpPr txBox="1">
              <a:spLocks noChangeArrowheads="1"/>
            </p:cNvSpPr>
            <p:nvPr/>
          </p:nvSpPr>
          <p:spPr bwMode="auto">
            <a:xfrm>
              <a:off x="2154" y="1570"/>
              <a:ext cx="1134" cy="291"/>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sz="2400">
                  <a:solidFill>
                    <a:schemeClr val="tx2"/>
                  </a:solidFill>
                </a:rPr>
                <a:t>Truck </a:t>
              </a:r>
              <a:endParaRPr lang="en-US" altLang="zh-CN" sz="2400">
                <a:solidFill>
                  <a:schemeClr val="tx2"/>
                </a:solidFill>
              </a:endParaRPr>
            </a:p>
          </p:txBody>
        </p:sp>
        <p:sp>
          <p:nvSpPr>
            <p:cNvPr id="21511" name="Text Box 7"/>
            <p:cNvSpPr txBox="1">
              <a:spLocks noChangeArrowheads="1"/>
            </p:cNvSpPr>
            <p:nvPr/>
          </p:nvSpPr>
          <p:spPr bwMode="auto">
            <a:xfrm>
              <a:off x="3606" y="1570"/>
              <a:ext cx="1134" cy="291"/>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sz="2400">
                  <a:solidFill>
                    <a:schemeClr val="tx2"/>
                  </a:solidFill>
                </a:rPr>
                <a:t>Aircraft </a:t>
              </a:r>
              <a:endParaRPr lang="en-US" altLang="zh-CN" sz="2400">
                <a:solidFill>
                  <a:schemeClr val="tx2"/>
                </a:solidFill>
              </a:endParaRPr>
            </a:p>
          </p:txBody>
        </p:sp>
        <p:sp>
          <p:nvSpPr>
            <p:cNvPr id="21512" name="Text Box 8"/>
            <p:cNvSpPr txBox="1">
              <a:spLocks noChangeArrowheads="1"/>
            </p:cNvSpPr>
            <p:nvPr/>
          </p:nvSpPr>
          <p:spPr bwMode="auto">
            <a:xfrm>
              <a:off x="2699" y="2478"/>
              <a:ext cx="1134" cy="291"/>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sz="2400">
                  <a:solidFill>
                    <a:schemeClr val="tx2"/>
                  </a:solidFill>
                </a:rPr>
                <a:t>Jumbo-jet </a:t>
              </a:r>
              <a:endParaRPr lang="en-US" altLang="zh-CN" sz="2400">
                <a:solidFill>
                  <a:schemeClr val="tx2"/>
                </a:solidFill>
              </a:endParaRPr>
            </a:p>
          </p:txBody>
        </p:sp>
        <p:sp>
          <p:nvSpPr>
            <p:cNvPr id="21513" name="Text Box 9"/>
            <p:cNvSpPr txBox="1">
              <a:spLocks noChangeArrowheads="1"/>
            </p:cNvSpPr>
            <p:nvPr/>
          </p:nvSpPr>
          <p:spPr bwMode="auto">
            <a:xfrm>
              <a:off x="4468" y="2478"/>
              <a:ext cx="1134" cy="291"/>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sz="2400">
                  <a:solidFill>
                    <a:schemeClr val="tx2"/>
                  </a:solidFill>
                </a:rPr>
                <a:t>Helicopter  </a:t>
              </a:r>
              <a:endParaRPr lang="en-US" altLang="zh-CN" sz="2400">
                <a:solidFill>
                  <a:schemeClr val="tx2"/>
                </a:solidFill>
              </a:endParaRPr>
            </a:p>
          </p:txBody>
        </p:sp>
        <p:sp>
          <p:nvSpPr>
            <p:cNvPr id="21514" name="AutoShape 10"/>
            <p:cNvSpPr>
              <a:spLocks noChangeArrowheads="1"/>
            </p:cNvSpPr>
            <p:nvPr/>
          </p:nvSpPr>
          <p:spPr bwMode="auto">
            <a:xfrm rot="-24300000">
              <a:off x="1655" y="1207"/>
              <a:ext cx="784" cy="157"/>
            </a:xfrm>
            <a:prstGeom prst="rightArrow">
              <a:avLst>
                <a:gd name="adj1" fmla="val 0"/>
                <a:gd name="adj2" fmla="val 124679"/>
              </a:avLst>
            </a:prstGeom>
            <a:noFill/>
            <a:ln w="28575" algn="ctr">
              <a:solidFill>
                <a:schemeClr val="tx2"/>
              </a:solidFill>
              <a:miter lim="800000"/>
              <a:headEnd type="none" w="lg" len="lg"/>
              <a:tailEnd type="none" w="lg" len="lg"/>
            </a:ln>
            <a:effectLst/>
          </p:spPr>
          <p:txBody>
            <a:bodyPr anchor="ctr">
              <a:spAutoFit/>
            </a:bodyPr>
            <a:lstStyle/>
            <a:p>
              <a:pPr algn="ctr"/>
              <a:endParaRPr lang="en-US" sz="2400">
                <a:solidFill>
                  <a:schemeClr val="tx2"/>
                </a:solidFill>
              </a:endParaRPr>
            </a:p>
          </p:txBody>
        </p:sp>
        <p:sp>
          <p:nvSpPr>
            <p:cNvPr id="21515" name="AutoShape 11"/>
            <p:cNvSpPr>
              <a:spLocks noChangeArrowheads="1"/>
            </p:cNvSpPr>
            <p:nvPr/>
          </p:nvSpPr>
          <p:spPr bwMode="auto">
            <a:xfrm rot="-5400000">
              <a:off x="2472" y="1207"/>
              <a:ext cx="544" cy="182"/>
            </a:xfrm>
            <a:prstGeom prst="rightArrow">
              <a:avLst>
                <a:gd name="adj1" fmla="val 0"/>
                <a:gd name="adj2" fmla="val 120889"/>
              </a:avLst>
            </a:prstGeom>
            <a:noFill/>
            <a:ln w="28575" algn="ctr">
              <a:solidFill>
                <a:schemeClr val="tx2"/>
              </a:solidFill>
              <a:miter lim="800000"/>
              <a:headEnd type="none" w="lg" len="lg"/>
              <a:tailEnd type="none" w="lg" len="lg"/>
            </a:ln>
            <a:effectLst/>
          </p:spPr>
          <p:txBody>
            <a:bodyPr anchor="ctr">
              <a:spAutoFit/>
            </a:bodyPr>
            <a:lstStyle/>
            <a:p>
              <a:pPr algn="ctr"/>
              <a:endParaRPr lang="en-US" sz="2400">
                <a:solidFill>
                  <a:schemeClr val="tx2"/>
                </a:solidFill>
              </a:endParaRPr>
            </a:p>
          </p:txBody>
        </p:sp>
        <p:sp>
          <p:nvSpPr>
            <p:cNvPr id="21516" name="AutoShape 12"/>
            <p:cNvSpPr>
              <a:spLocks noChangeArrowheads="1"/>
            </p:cNvSpPr>
            <p:nvPr/>
          </p:nvSpPr>
          <p:spPr bwMode="auto">
            <a:xfrm rot="-29700000">
              <a:off x="3111" y="1203"/>
              <a:ext cx="784" cy="157"/>
            </a:xfrm>
            <a:prstGeom prst="rightArrow">
              <a:avLst>
                <a:gd name="adj1" fmla="val 0"/>
                <a:gd name="adj2" fmla="val 124679"/>
              </a:avLst>
            </a:prstGeom>
            <a:noFill/>
            <a:ln w="28575" algn="ctr">
              <a:solidFill>
                <a:schemeClr val="tx2"/>
              </a:solidFill>
              <a:miter lim="800000"/>
              <a:headEnd type="none" w="lg" len="lg"/>
              <a:tailEnd type="none" w="lg" len="lg"/>
            </a:ln>
            <a:effectLst/>
          </p:spPr>
          <p:txBody>
            <a:bodyPr anchor="ctr">
              <a:spAutoFit/>
            </a:bodyPr>
            <a:lstStyle/>
            <a:p>
              <a:pPr algn="ctr"/>
              <a:endParaRPr lang="en-US" sz="2400">
                <a:solidFill>
                  <a:schemeClr val="tx2"/>
                </a:solidFill>
              </a:endParaRPr>
            </a:p>
          </p:txBody>
        </p:sp>
        <p:sp>
          <p:nvSpPr>
            <p:cNvPr id="21517" name="AutoShape 13"/>
            <p:cNvSpPr>
              <a:spLocks noChangeArrowheads="1"/>
            </p:cNvSpPr>
            <p:nvPr/>
          </p:nvSpPr>
          <p:spPr bwMode="auto">
            <a:xfrm rot="-24300000">
              <a:off x="3334" y="2115"/>
              <a:ext cx="784" cy="157"/>
            </a:xfrm>
            <a:prstGeom prst="rightArrow">
              <a:avLst>
                <a:gd name="adj1" fmla="val 0"/>
                <a:gd name="adj2" fmla="val 124679"/>
              </a:avLst>
            </a:prstGeom>
            <a:noFill/>
            <a:ln w="28575" algn="ctr">
              <a:solidFill>
                <a:schemeClr val="tx2"/>
              </a:solidFill>
              <a:miter lim="800000"/>
              <a:headEnd type="none" w="lg" len="lg"/>
              <a:tailEnd type="none" w="lg" len="lg"/>
            </a:ln>
            <a:effectLst/>
          </p:spPr>
          <p:txBody>
            <a:bodyPr anchor="ctr">
              <a:spAutoFit/>
            </a:bodyPr>
            <a:lstStyle/>
            <a:p>
              <a:pPr algn="ctr"/>
              <a:endParaRPr lang="en-US" sz="2400">
                <a:solidFill>
                  <a:schemeClr val="tx2"/>
                </a:solidFill>
              </a:endParaRPr>
            </a:p>
          </p:txBody>
        </p:sp>
        <p:sp>
          <p:nvSpPr>
            <p:cNvPr id="21518" name="AutoShape 14"/>
            <p:cNvSpPr>
              <a:spLocks noChangeArrowheads="1"/>
            </p:cNvSpPr>
            <p:nvPr/>
          </p:nvSpPr>
          <p:spPr bwMode="auto">
            <a:xfrm rot="-29700000">
              <a:off x="4291" y="2110"/>
              <a:ext cx="784" cy="157"/>
            </a:xfrm>
            <a:prstGeom prst="rightArrow">
              <a:avLst>
                <a:gd name="adj1" fmla="val 0"/>
                <a:gd name="adj2" fmla="val 124679"/>
              </a:avLst>
            </a:prstGeom>
            <a:noFill/>
            <a:ln w="28575" algn="ctr">
              <a:solidFill>
                <a:schemeClr val="tx2"/>
              </a:solidFill>
              <a:miter lim="800000"/>
              <a:headEnd type="none" w="lg" len="lg"/>
              <a:tailEnd type="none" w="lg" len="lg"/>
            </a:ln>
            <a:effectLst/>
          </p:spPr>
          <p:txBody>
            <a:bodyPr anchor="ctr">
              <a:spAutoFit/>
            </a:bodyPr>
            <a:lstStyle/>
            <a:p>
              <a:pPr algn="ctr"/>
              <a:endParaRPr lang="en-US" sz="2400">
                <a:solidFill>
                  <a:schemeClr val="tx2"/>
                </a:solidFill>
              </a:endParaRPr>
            </a:p>
          </p:txBody>
        </p:sp>
      </p:grpSp>
      <p:sp>
        <p:nvSpPr>
          <p:cNvPr id="4" name="Slide Number Placeholder 3">
            <a:extLst>
              <a:ext uri="{FF2B5EF4-FFF2-40B4-BE49-F238E27FC236}">
                <a16:creationId xmlns:a16="http://schemas.microsoft.com/office/drawing/2014/main" id="{FC31969D-3011-C244-8EC7-317EBE801C62}"/>
              </a:ext>
            </a:extLst>
          </p:cNvPr>
          <p:cNvSpPr>
            <a:spLocks noGrp="1"/>
          </p:cNvSpPr>
          <p:nvPr>
            <p:ph type="sldNum" sz="quarter" idx="4"/>
          </p:nvPr>
        </p:nvSpPr>
        <p:spPr/>
        <p:txBody>
          <a:bodyPr/>
          <a:lstStyle/>
          <a:p>
            <a:fld id="{D6255EFE-3ACE-DA4E-80CE-7588690A9A08}" type="slidenum">
              <a:rPr lang="en-GB" smtClean="0"/>
              <a:t>36</a:t>
            </a:fld>
            <a:endParaRPr lang="en-GB"/>
          </a:p>
        </p:txBody>
      </p:sp>
    </p:spTree>
    <p:extLst>
      <p:ext uri="{BB962C8B-B14F-4D97-AF65-F5344CB8AC3E}">
        <p14:creationId xmlns:p14="http://schemas.microsoft.com/office/powerpoint/2010/main" val="21170331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a:bodyPr>
          <a:lstStyle/>
          <a:p>
            <a:r>
              <a:rPr lang="en-GB" sz="3600" dirty="0"/>
              <a:t>Examples: Multiplicity</a:t>
            </a:r>
            <a:endParaRPr lang="en-US" altLang="zh-CN" sz="3600" dirty="0">
              <a:ea typeface="宋体" pitchFamily="2" charset="-122"/>
            </a:endParaRPr>
          </a:p>
        </p:txBody>
      </p:sp>
      <p:grpSp>
        <p:nvGrpSpPr>
          <p:cNvPr id="20508" name="Group 28"/>
          <p:cNvGrpSpPr>
            <a:grpSpLocks/>
          </p:cNvGrpSpPr>
          <p:nvPr/>
        </p:nvGrpSpPr>
        <p:grpSpPr bwMode="auto">
          <a:xfrm>
            <a:off x="755650" y="1123950"/>
            <a:ext cx="1296988" cy="2622551"/>
            <a:chOff x="476" y="708"/>
            <a:chExt cx="817" cy="1652"/>
          </a:xfrm>
        </p:grpSpPr>
        <p:sp>
          <p:nvSpPr>
            <p:cNvPr id="20484" name="Text Box 4"/>
            <p:cNvSpPr txBox="1">
              <a:spLocks noChangeArrowheads="1"/>
            </p:cNvSpPr>
            <p:nvPr/>
          </p:nvSpPr>
          <p:spPr bwMode="auto">
            <a:xfrm>
              <a:off x="522" y="708"/>
              <a:ext cx="771" cy="291"/>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sz="2400">
                  <a:solidFill>
                    <a:schemeClr val="tx2"/>
                  </a:solidFill>
                </a:rPr>
                <a:t>Car </a:t>
              </a:r>
              <a:endParaRPr lang="en-US" altLang="zh-CN" sz="2400">
                <a:solidFill>
                  <a:schemeClr val="tx2"/>
                </a:solidFill>
              </a:endParaRPr>
            </a:p>
          </p:txBody>
        </p:sp>
        <p:sp>
          <p:nvSpPr>
            <p:cNvPr id="20485" name="Text Box 5"/>
            <p:cNvSpPr txBox="1">
              <a:spLocks noChangeArrowheads="1"/>
            </p:cNvSpPr>
            <p:nvPr/>
          </p:nvSpPr>
          <p:spPr bwMode="auto">
            <a:xfrm>
              <a:off x="476" y="2069"/>
              <a:ext cx="816" cy="291"/>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sz="2400">
                  <a:solidFill>
                    <a:schemeClr val="tx2"/>
                  </a:solidFill>
                </a:rPr>
                <a:t>Wheel </a:t>
              </a:r>
              <a:endParaRPr lang="en-US" altLang="zh-CN" sz="2400">
                <a:solidFill>
                  <a:schemeClr val="tx2"/>
                </a:solidFill>
              </a:endParaRPr>
            </a:p>
          </p:txBody>
        </p:sp>
        <p:sp>
          <p:nvSpPr>
            <p:cNvPr id="20488" name="Line 8"/>
            <p:cNvSpPr>
              <a:spLocks noChangeShapeType="1"/>
            </p:cNvSpPr>
            <p:nvPr/>
          </p:nvSpPr>
          <p:spPr bwMode="auto">
            <a:xfrm rot="16200000">
              <a:off x="529" y="1685"/>
              <a:ext cx="773" cy="0"/>
            </a:xfrm>
            <a:prstGeom prst="line">
              <a:avLst/>
            </a:prstGeom>
            <a:noFill/>
            <a:ln w="28575">
              <a:solidFill>
                <a:schemeClr val="tx2"/>
              </a:solidFill>
              <a:round/>
              <a:headEnd type="none" w="lg" len="lg"/>
              <a:tailEnd type="none" w="lg" len="lg"/>
            </a:ln>
            <a:effectLst/>
          </p:spPr>
          <p:txBody>
            <a:bodyPr>
              <a:spAutoFit/>
            </a:bodyPr>
            <a:lstStyle/>
            <a:p>
              <a:pPr algn="ctr"/>
              <a:endParaRPr lang="en-US" sz="2400">
                <a:solidFill>
                  <a:schemeClr val="tx2"/>
                </a:solidFill>
              </a:endParaRPr>
            </a:p>
          </p:txBody>
        </p:sp>
      </p:grpSp>
      <p:sp>
        <p:nvSpPr>
          <p:cNvPr id="20491" name="Text Box 11"/>
          <p:cNvSpPr txBox="1">
            <a:spLocks noChangeArrowheads="1"/>
          </p:cNvSpPr>
          <p:nvPr/>
        </p:nvSpPr>
        <p:spPr bwMode="auto">
          <a:xfrm>
            <a:off x="2411413" y="3933825"/>
            <a:ext cx="2160587" cy="1461939"/>
          </a:xfrm>
          <a:prstGeom prst="rect">
            <a:avLst/>
          </a:prstGeom>
          <a:noFill/>
          <a:ln w="28575" algn="ctr">
            <a:noFill/>
            <a:miter lim="800000"/>
            <a:headEnd type="none" w="lg" len="lg"/>
            <a:tailEnd type="none" w="lg" len="lg"/>
          </a:ln>
          <a:effectLst/>
        </p:spPr>
        <p:txBody>
          <a:bodyPr wrap="square">
            <a:spAutoFit/>
          </a:bodyPr>
          <a:lstStyle/>
          <a:p>
            <a:pPr algn="l">
              <a:lnSpc>
                <a:spcPct val="85000"/>
              </a:lnSpc>
              <a:spcBef>
                <a:spcPct val="20000"/>
              </a:spcBef>
            </a:pPr>
            <a:r>
              <a:rPr lang="en-GB" sz="2000" dirty="0">
                <a:solidFill>
                  <a:srgbClr val="002060"/>
                </a:solidFill>
              </a:rPr>
              <a:t>A car has 4 wheels.</a:t>
            </a:r>
          </a:p>
          <a:p>
            <a:pPr algn="l">
              <a:lnSpc>
                <a:spcPct val="85000"/>
              </a:lnSpc>
              <a:spcBef>
                <a:spcPct val="20000"/>
              </a:spcBef>
            </a:pPr>
            <a:r>
              <a:rPr lang="en-GB" sz="2000" dirty="0">
                <a:solidFill>
                  <a:srgbClr val="002060"/>
                </a:solidFill>
              </a:rPr>
              <a:t>A wheel can be on 1 car at any time.</a:t>
            </a:r>
            <a:endParaRPr lang="en-US" altLang="zh-CN" sz="2000" dirty="0">
              <a:solidFill>
                <a:srgbClr val="002060"/>
              </a:solidFill>
            </a:endParaRPr>
          </a:p>
        </p:txBody>
      </p:sp>
      <p:grpSp>
        <p:nvGrpSpPr>
          <p:cNvPr id="20509" name="Group 29"/>
          <p:cNvGrpSpPr>
            <a:grpSpLocks/>
          </p:cNvGrpSpPr>
          <p:nvPr/>
        </p:nvGrpSpPr>
        <p:grpSpPr bwMode="auto">
          <a:xfrm>
            <a:off x="2627313" y="1123950"/>
            <a:ext cx="1296987" cy="2622551"/>
            <a:chOff x="1655" y="708"/>
            <a:chExt cx="817" cy="1652"/>
          </a:xfrm>
        </p:grpSpPr>
        <p:sp>
          <p:nvSpPr>
            <p:cNvPr id="20492" name="Text Box 12"/>
            <p:cNvSpPr txBox="1">
              <a:spLocks noChangeArrowheads="1"/>
            </p:cNvSpPr>
            <p:nvPr/>
          </p:nvSpPr>
          <p:spPr bwMode="auto">
            <a:xfrm>
              <a:off x="1701" y="708"/>
              <a:ext cx="771" cy="291"/>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sz="2400">
                  <a:solidFill>
                    <a:schemeClr val="tx2"/>
                  </a:solidFill>
                </a:rPr>
                <a:t>Car </a:t>
              </a:r>
              <a:endParaRPr lang="en-US" altLang="zh-CN" sz="2400">
                <a:solidFill>
                  <a:schemeClr val="tx2"/>
                </a:solidFill>
              </a:endParaRPr>
            </a:p>
          </p:txBody>
        </p:sp>
        <p:sp>
          <p:nvSpPr>
            <p:cNvPr id="20493" name="Text Box 13"/>
            <p:cNvSpPr txBox="1">
              <a:spLocks noChangeArrowheads="1"/>
            </p:cNvSpPr>
            <p:nvPr/>
          </p:nvSpPr>
          <p:spPr bwMode="auto">
            <a:xfrm>
              <a:off x="1655" y="2069"/>
              <a:ext cx="816" cy="291"/>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sz="2400">
                  <a:solidFill>
                    <a:schemeClr val="tx2"/>
                  </a:solidFill>
                </a:rPr>
                <a:t>Wheel </a:t>
              </a:r>
              <a:endParaRPr lang="en-US" altLang="zh-CN" sz="2400">
                <a:solidFill>
                  <a:schemeClr val="tx2"/>
                </a:solidFill>
              </a:endParaRPr>
            </a:p>
          </p:txBody>
        </p:sp>
        <p:sp>
          <p:nvSpPr>
            <p:cNvPr id="20496" name="Line 16"/>
            <p:cNvSpPr>
              <a:spLocks noChangeShapeType="1"/>
            </p:cNvSpPr>
            <p:nvPr/>
          </p:nvSpPr>
          <p:spPr bwMode="auto">
            <a:xfrm rot="16200000">
              <a:off x="1708" y="1685"/>
              <a:ext cx="773" cy="0"/>
            </a:xfrm>
            <a:prstGeom prst="line">
              <a:avLst/>
            </a:prstGeom>
            <a:noFill/>
            <a:ln w="28575">
              <a:solidFill>
                <a:schemeClr val="tx2"/>
              </a:solidFill>
              <a:round/>
              <a:headEnd type="none" w="lg" len="lg"/>
              <a:tailEnd type="none" w="lg" len="lg"/>
            </a:ln>
            <a:effectLst/>
          </p:spPr>
          <p:txBody>
            <a:bodyPr>
              <a:spAutoFit/>
            </a:bodyPr>
            <a:lstStyle/>
            <a:p>
              <a:pPr algn="ctr"/>
              <a:endParaRPr lang="en-US" sz="2400">
                <a:solidFill>
                  <a:schemeClr val="tx2"/>
                </a:solidFill>
              </a:endParaRPr>
            </a:p>
          </p:txBody>
        </p:sp>
        <p:sp>
          <p:nvSpPr>
            <p:cNvPr id="20497" name="Text Box 17"/>
            <p:cNvSpPr txBox="1">
              <a:spLocks noChangeArrowheads="1"/>
            </p:cNvSpPr>
            <p:nvPr/>
          </p:nvSpPr>
          <p:spPr bwMode="auto">
            <a:xfrm>
              <a:off x="2063" y="1797"/>
              <a:ext cx="272" cy="291"/>
            </a:xfrm>
            <a:prstGeom prst="rect">
              <a:avLst/>
            </a:prstGeom>
            <a:noFill/>
            <a:ln w="28575" algn="ctr">
              <a:noFill/>
              <a:miter lim="800000"/>
              <a:headEnd type="none" w="lg" len="lg"/>
              <a:tailEnd type="none" w="lg" len="lg"/>
            </a:ln>
            <a:effectLst/>
          </p:spPr>
          <p:txBody>
            <a:bodyPr>
              <a:spAutoFit/>
            </a:bodyPr>
            <a:lstStyle/>
            <a:p>
              <a:pPr algn="ctr"/>
              <a:r>
                <a:rPr lang="en-GB" sz="2400">
                  <a:solidFill>
                    <a:schemeClr val="tx2"/>
                  </a:solidFill>
                </a:rPr>
                <a:t>4</a:t>
              </a:r>
              <a:endParaRPr lang="en-US" altLang="zh-CN" sz="2400">
                <a:solidFill>
                  <a:schemeClr val="tx2"/>
                </a:solidFill>
              </a:endParaRPr>
            </a:p>
          </p:txBody>
        </p:sp>
        <p:sp>
          <p:nvSpPr>
            <p:cNvPr id="20498" name="Text Box 18"/>
            <p:cNvSpPr txBox="1">
              <a:spLocks noChangeArrowheads="1"/>
            </p:cNvSpPr>
            <p:nvPr/>
          </p:nvSpPr>
          <p:spPr bwMode="auto">
            <a:xfrm>
              <a:off x="2154" y="1026"/>
              <a:ext cx="227" cy="291"/>
            </a:xfrm>
            <a:prstGeom prst="rect">
              <a:avLst/>
            </a:prstGeom>
            <a:noFill/>
            <a:ln w="28575" algn="ctr">
              <a:noFill/>
              <a:miter lim="800000"/>
              <a:headEnd type="none" w="lg" len="lg"/>
              <a:tailEnd type="none" w="lg" len="lg"/>
            </a:ln>
            <a:effectLst/>
          </p:spPr>
          <p:txBody>
            <a:bodyPr>
              <a:spAutoFit/>
            </a:bodyPr>
            <a:lstStyle/>
            <a:p>
              <a:pPr algn="ctr"/>
              <a:r>
                <a:rPr lang="en-GB" sz="2400">
                  <a:solidFill>
                    <a:schemeClr val="tx2"/>
                  </a:solidFill>
                </a:rPr>
                <a:t>1</a:t>
              </a:r>
              <a:endParaRPr lang="en-US" altLang="zh-CN" sz="2400">
                <a:solidFill>
                  <a:schemeClr val="tx2"/>
                </a:solidFill>
              </a:endParaRPr>
            </a:p>
          </p:txBody>
        </p:sp>
      </p:grpSp>
      <p:sp>
        <p:nvSpPr>
          <p:cNvPr id="20499" name="Text Box 19"/>
          <p:cNvSpPr txBox="1">
            <a:spLocks noChangeArrowheads="1"/>
          </p:cNvSpPr>
          <p:nvPr/>
        </p:nvSpPr>
        <p:spPr bwMode="auto">
          <a:xfrm>
            <a:off x="539750" y="3933825"/>
            <a:ext cx="1657350" cy="707886"/>
          </a:xfrm>
          <a:prstGeom prst="rect">
            <a:avLst/>
          </a:prstGeom>
          <a:noFill/>
          <a:ln w="28575" algn="ctr">
            <a:noFill/>
            <a:miter lim="800000"/>
            <a:headEnd type="none" w="lg" len="lg"/>
            <a:tailEnd type="none" w="lg" len="lg"/>
          </a:ln>
          <a:effectLst/>
        </p:spPr>
        <p:txBody>
          <a:bodyPr>
            <a:spAutoFit/>
          </a:bodyPr>
          <a:lstStyle/>
          <a:p>
            <a:pPr algn="l"/>
            <a:r>
              <a:rPr lang="en-GB" sz="2000">
                <a:solidFill>
                  <a:srgbClr val="002060"/>
                </a:solidFill>
              </a:rPr>
              <a:t>A wheel is a part of car</a:t>
            </a:r>
            <a:endParaRPr lang="en-US" altLang="zh-CN" sz="2000">
              <a:solidFill>
                <a:srgbClr val="002060"/>
              </a:solidFill>
            </a:endParaRPr>
          </a:p>
        </p:txBody>
      </p:sp>
      <p:sp>
        <p:nvSpPr>
          <p:cNvPr id="20500" name="Text Box 20"/>
          <p:cNvSpPr txBox="1">
            <a:spLocks noChangeArrowheads="1"/>
          </p:cNvSpPr>
          <p:nvPr/>
        </p:nvSpPr>
        <p:spPr bwMode="auto">
          <a:xfrm>
            <a:off x="5365750" y="1123950"/>
            <a:ext cx="1223963" cy="461665"/>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sz="2400">
                <a:solidFill>
                  <a:schemeClr val="tx2"/>
                </a:solidFill>
              </a:rPr>
              <a:t>Car </a:t>
            </a:r>
            <a:endParaRPr lang="en-US" altLang="zh-CN" sz="2400">
              <a:solidFill>
                <a:schemeClr val="tx2"/>
              </a:solidFill>
            </a:endParaRPr>
          </a:p>
        </p:txBody>
      </p:sp>
      <p:sp>
        <p:nvSpPr>
          <p:cNvPr id="20501" name="Text Box 21"/>
          <p:cNvSpPr txBox="1">
            <a:spLocks noChangeArrowheads="1"/>
          </p:cNvSpPr>
          <p:nvPr/>
        </p:nvSpPr>
        <p:spPr bwMode="auto">
          <a:xfrm>
            <a:off x="5292725" y="3284538"/>
            <a:ext cx="1295400" cy="461665"/>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sz="2400">
                <a:solidFill>
                  <a:schemeClr val="tx2"/>
                </a:solidFill>
              </a:rPr>
              <a:t>Wheel </a:t>
            </a:r>
            <a:endParaRPr lang="en-US" altLang="zh-CN" sz="2400">
              <a:solidFill>
                <a:schemeClr val="tx2"/>
              </a:solidFill>
            </a:endParaRPr>
          </a:p>
        </p:txBody>
      </p:sp>
      <p:grpSp>
        <p:nvGrpSpPr>
          <p:cNvPr id="20502" name="Group 22"/>
          <p:cNvGrpSpPr>
            <a:grpSpLocks/>
          </p:cNvGrpSpPr>
          <p:nvPr/>
        </p:nvGrpSpPr>
        <p:grpSpPr bwMode="auto">
          <a:xfrm rot="-5400000" flipV="1">
            <a:off x="5112193" y="2212231"/>
            <a:ext cx="1655765" cy="488849"/>
            <a:chOff x="3515" y="926"/>
            <a:chExt cx="1400" cy="701"/>
          </a:xfrm>
        </p:grpSpPr>
        <p:sp>
          <p:nvSpPr>
            <p:cNvPr id="20503" name="AutoShape 23"/>
            <p:cNvSpPr>
              <a:spLocks noChangeArrowheads="1"/>
            </p:cNvSpPr>
            <p:nvPr/>
          </p:nvSpPr>
          <p:spPr bwMode="auto">
            <a:xfrm>
              <a:off x="4510" y="926"/>
              <a:ext cx="405" cy="701"/>
            </a:xfrm>
            <a:prstGeom prst="diamond">
              <a:avLst/>
            </a:prstGeom>
            <a:noFill/>
            <a:ln w="28575" algn="ctr">
              <a:solidFill>
                <a:schemeClr val="tx2"/>
              </a:solidFill>
              <a:miter lim="800000"/>
              <a:headEnd type="none" w="lg" len="lg"/>
              <a:tailEnd type="none" w="lg" len="lg"/>
            </a:ln>
            <a:effectLst/>
          </p:spPr>
          <p:txBody>
            <a:bodyPr wrap="square" anchor="ctr">
              <a:spAutoFit/>
            </a:bodyPr>
            <a:lstStyle/>
            <a:p>
              <a:endParaRPr lang="en-US" sz="1000">
                <a:solidFill>
                  <a:schemeClr val="tx2"/>
                </a:solidFill>
              </a:endParaRPr>
            </a:p>
          </p:txBody>
        </p:sp>
        <p:sp>
          <p:nvSpPr>
            <p:cNvPr id="20504" name="Line 24"/>
            <p:cNvSpPr>
              <a:spLocks noChangeShapeType="1"/>
            </p:cNvSpPr>
            <p:nvPr/>
          </p:nvSpPr>
          <p:spPr bwMode="auto">
            <a:xfrm>
              <a:off x="3515" y="1275"/>
              <a:ext cx="1043" cy="0"/>
            </a:xfrm>
            <a:prstGeom prst="line">
              <a:avLst/>
            </a:prstGeom>
            <a:noFill/>
            <a:ln w="28575">
              <a:solidFill>
                <a:schemeClr val="tx2"/>
              </a:solidFill>
              <a:round/>
              <a:headEnd type="none" w="lg" len="lg"/>
              <a:tailEnd type="none" w="lg" len="lg"/>
            </a:ln>
            <a:effectLst/>
          </p:spPr>
          <p:txBody>
            <a:bodyPr>
              <a:spAutoFit/>
            </a:bodyPr>
            <a:lstStyle/>
            <a:p>
              <a:endParaRPr lang="en-US" sz="2400">
                <a:solidFill>
                  <a:schemeClr val="tx2"/>
                </a:solidFill>
              </a:endParaRPr>
            </a:p>
          </p:txBody>
        </p:sp>
      </p:grpSp>
      <p:sp>
        <p:nvSpPr>
          <p:cNvPr id="20505" name="Text Box 25"/>
          <p:cNvSpPr txBox="1">
            <a:spLocks noChangeArrowheads="1"/>
          </p:cNvSpPr>
          <p:nvPr/>
        </p:nvSpPr>
        <p:spPr bwMode="auto">
          <a:xfrm>
            <a:off x="6080123" y="2811386"/>
            <a:ext cx="792163" cy="461665"/>
          </a:xfrm>
          <a:prstGeom prst="rect">
            <a:avLst/>
          </a:prstGeom>
          <a:noFill/>
          <a:ln w="28575" algn="ctr">
            <a:noFill/>
            <a:miter lim="800000"/>
            <a:headEnd type="none" w="lg" len="lg"/>
            <a:tailEnd type="none" w="lg" len="lg"/>
          </a:ln>
          <a:effectLst/>
        </p:spPr>
        <p:txBody>
          <a:bodyPr>
            <a:spAutoFit/>
          </a:bodyPr>
          <a:lstStyle/>
          <a:p>
            <a:r>
              <a:rPr lang="en-GB" sz="2400" dirty="0">
                <a:solidFill>
                  <a:schemeClr val="tx2"/>
                </a:solidFill>
              </a:rPr>
              <a:t>4..5</a:t>
            </a:r>
            <a:endParaRPr lang="en-US" altLang="zh-CN" sz="2400" dirty="0">
              <a:solidFill>
                <a:schemeClr val="tx2"/>
              </a:solidFill>
            </a:endParaRPr>
          </a:p>
        </p:txBody>
      </p:sp>
      <p:sp>
        <p:nvSpPr>
          <p:cNvPr id="20506" name="Text Box 26"/>
          <p:cNvSpPr txBox="1">
            <a:spLocks noChangeArrowheads="1"/>
          </p:cNvSpPr>
          <p:nvPr/>
        </p:nvSpPr>
        <p:spPr bwMode="auto">
          <a:xfrm>
            <a:off x="6153149" y="1551824"/>
            <a:ext cx="719137" cy="461665"/>
          </a:xfrm>
          <a:prstGeom prst="rect">
            <a:avLst/>
          </a:prstGeom>
          <a:noFill/>
          <a:ln w="28575" algn="ctr">
            <a:noFill/>
            <a:miter lim="800000"/>
            <a:headEnd type="none" w="lg" len="lg"/>
            <a:tailEnd type="none" w="lg" len="lg"/>
          </a:ln>
          <a:effectLst/>
        </p:spPr>
        <p:txBody>
          <a:bodyPr>
            <a:spAutoFit/>
          </a:bodyPr>
          <a:lstStyle/>
          <a:p>
            <a:r>
              <a:rPr lang="en-GB" sz="2400" dirty="0">
                <a:solidFill>
                  <a:schemeClr val="tx2"/>
                </a:solidFill>
              </a:rPr>
              <a:t>0..1</a:t>
            </a:r>
            <a:endParaRPr lang="en-US" altLang="zh-CN" sz="2400" dirty="0">
              <a:solidFill>
                <a:schemeClr val="tx2"/>
              </a:solidFill>
            </a:endParaRPr>
          </a:p>
        </p:txBody>
      </p:sp>
      <p:sp>
        <p:nvSpPr>
          <p:cNvPr id="20507" name="Text Box 27"/>
          <p:cNvSpPr txBox="1">
            <a:spLocks noChangeArrowheads="1"/>
          </p:cNvSpPr>
          <p:nvPr/>
        </p:nvSpPr>
        <p:spPr bwMode="auto">
          <a:xfrm>
            <a:off x="5076825" y="3933825"/>
            <a:ext cx="2591519" cy="1938992"/>
          </a:xfrm>
          <a:prstGeom prst="rect">
            <a:avLst/>
          </a:prstGeom>
          <a:noFill/>
          <a:ln w="28575" algn="ctr">
            <a:noFill/>
            <a:miter lim="800000"/>
            <a:headEnd type="none" w="lg" len="lg"/>
            <a:tailEnd type="none" w="lg" len="lg"/>
          </a:ln>
          <a:effectLst/>
        </p:spPr>
        <p:txBody>
          <a:bodyPr wrap="square">
            <a:spAutoFit/>
          </a:bodyPr>
          <a:lstStyle/>
          <a:p>
            <a:pPr algn="l"/>
            <a:r>
              <a:rPr lang="en-GB" sz="2000" dirty="0">
                <a:solidFill>
                  <a:srgbClr val="002060"/>
                </a:solidFill>
              </a:rPr>
              <a:t>A car may have 4 or 5 wheels.</a:t>
            </a:r>
          </a:p>
          <a:p>
            <a:pPr algn="l"/>
            <a:r>
              <a:rPr lang="en-GB" sz="2000" dirty="0">
                <a:solidFill>
                  <a:srgbClr val="002060"/>
                </a:solidFill>
              </a:rPr>
              <a:t>A wheel may be fixed on 1 car, but it may also be not used by any car.</a:t>
            </a:r>
            <a:endParaRPr lang="en-US" altLang="zh-CN" sz="2000" dirty="0">
              <a:solidFill>
                <a:srgbClr val="002060"/>
              </a:solidFill>
            </a:endParaRPr>
          </a:p>
        </p:txBody>
      </p:sp>
      <p:sp>
        <p:nvSpPr>
          <p:cNvPr id="28" name="AutoShape 7"/>
          <p:cNvSpPr>
            <a:spLocks noChangeArrowheads="1"/>
          </p:cNvSpPr>
          <p:nvPr/>
        </p:nvSpPr>
        <p:spPr bwMode="auto">
          <a:xfrm rot="16200000">
            <a:off x="1269877" y="1528680"/>
            <a:ext cx="366960" cy="489109"/>
          </a:xfrm>
          <a:prstGeom prst="diamond">
            <a:avLst/>
          </a:prstGeom>
          <a:noFill/>
          <a:ln w="28575" algn="ctr">
            <a:solidFill>
              <a:schemeClr val="tx2"/>
            </a:solidFill>
            <a:miter lim="800000"/>
            <a:headEnd type="none" w="lg" len="lg"/>
            <a:tailEnd type="none" w="lg" len="lg"/>
          </a:ln>
          <a:effectLst/>
        </p:spPr>
        <p:txBody>
          <a:bodyPr wrap="none" anchor="ctr">
            <a:spAutoFit/>
          </a:bodyPr>
          <a:lstStyle/>
          <a:p>
            <a:endParaRPr lang="en-US" sz="1000"/>
          </a:p>
        </p:txBody>
      </p:sp>
      <p:sp>
        <p:nvSpPr>
          <p:cNvPr id="29" name="AutoShape 15"/>
          <p:cNvSpPr>
            <a:spLocks noChangeArrowheads="1"/>
          </p:cNvSpPr>
          <p:nvPr/>
        </p:nvSpPr>
        <p:spPr bwMode="auto">
          <a:xfrm rot="16200000">
            <a:off x="3127252" y="1629322"/>
            <a:ext cx="366960" cy="427970"/>
          </a:xfrm>
          <a:prstGeom prst="diamond">
            <a:avLst/>
          </a:prstGeom>
          <a:noFill/>
          <a:ln w="28575" algn="ctr">
            <a:solidFill>
              <a:schemeClr val="tx2"/>
            </a:solidFill>
            <a:miter lim="800000"/>
            <a:headEnd type="none" w="lg" len="lg"/>
            <a:tailEnd type="none" w="lg" len="lg"/>
          </a:ln>
          <a:effectLst/>
        </p:spPr>
        <p:txBody>
          <a:bodyPr wrap="none" anchor="ctr">
            <a:spAutoFit/>
          </a:bodyPr>
          <a:lstStyle/>
          <a:p>
            <a:endParaRPr lang="en-US" sz="800"/>
          </a:p>
        </p:txBody>
      </p:sp>
      <p:sp>
        <p:nvSpPr>
          <p:cNvPr id="4" name="Slide Number Placeholder 3">
            <a:extLst>
              <a:ext uri="{FF2B5EF4-FFF2-40B4-BE49-F238E27FC236}">
                <a16:creationId xmlns:a16="http://schemas.microsoft.com/office/drawing/2014/main" id="{E9D98F85-E9AE-7543-87F8-CE30A41AAF13}"/>
              </a:ext>
            </a:extLst>
          </p:cNvPr>
          <p:cNvSpPr>
            <a:spLocks noGrp="1"/>
          </p:cNvSpPr>
          <p:nvPr>
            <p:ph type="sldNum" sz="quarter" idx="4"/>
          </p:nvPr>
        </p:nvSpPr>
        <p:spPr/>
        <p:txBody>
          <a:bodyPr/>
          <a:lstStyle/>
          <a:p>
            <a:fld id="{D6255EFE-3ACE-DA4E-80CE-7588690A9A08}" type="slidenum">
              <a:rPr lang="en-GB" smtClean="0"/>
              <a:t>37</a:t>
            </a:fld>
            <a:endParaRPr lang="en-GB"/>
          </a:p>
        </p:txBody>
      </p:sp>
    </p:spTree>
    <p:extLst>
      <p:ext uri="{BB962C8B-B14F-4D97-AF65-F5344CB8AC3E}">
        <p14:creationId xmlns:p14="http://schemas.microsoft.com/office/powerpoint/2010/main" val="956054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8"/>
                                        </p:tgtEl>
                                        <p:attrNameLst>
                                          <p:attrName>style.visibility</p:attrName>
                                        </p:attrNameLst>
                                      </p:cBhvr>
                                      <p:to>
                                        <p:strVal val="visible"/>
                                      </p:to>
                                    </p:set>
                                    <p:anim calcmode="lin" valueType="num">
                                      <p:cBhvr additive="base">
                                        <p:cTn id="7" dur="500" fill="hold"/>
                                        <p:tgtEl>
                                          <p:spTgt spid="20508"/>
                                        </p:tgtEl>
                                        <p:attrNameLst>
                                          <p:attrName>ppt_x</p:attrName>
                                        </p:attrNameLst>
                                      </p:cBhvr>
                                      <p:tavLst>
                                        <p:tav tm="0">
                                          <p:val>
                                            <p:strVal val="#ppt_x"/>
                                          </p:val>
                                        </p:tav>
                                        <p:tav tm="100000">
                                          <p:val>
                                            <p:strVal val="#ppt_x"/>
                                          </p:val>
                                        </p:tav>
                                      </p:tavLst>
                                    </p:anim>
                                    <p:anim calcmode="lin" valueType="num">
                                      <p:cBhvr additive="base">
                                        <p:cTn id="8" dur="500" fill="hold"/>
                                        <p:tgtEl>
                                          <p:spTgt spid="2050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20499"/>
                                        </p:tgtEl>
                                        <p:attrNameLst>
                                          <p:attrName>style.visibility</p:attrName>
                                        </p:attrNameLst>
                                      </p:cBhvr>
                                      <p:to>
                                        <p:strVal val="visible"/>
                                      </p:to>
                                    </p:set>
                                    <p:animEffect transition="in" filter="box(in)">
                                      <p:cBhvr>
                                        <p:cTn id="13" dur="500"/>
                                        <p:tgtEl>
                                          <p:spTgt spid="2049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0509"/>
                                        </p:tgtEl>
                                        <p:attrNameLst>
                                          <p:attrName>style.visibility</p:attrName>
                                        </p:attrNameLst>
                                      </p:cBhvr>
                                      <p:to>
                                        <p:strVal val="visible"/>
                                      </p:to>
                                    </p:set>
                                    <p:anim calcmode="lin" valueType="num">
                                      <p:cBhvr additive="base">
                                        <p:cTn id="18" dur="500" fill="hold"/>
                                        <p:tgtEl>
                                          <p:spTgt spid="20509"/>
                                        </p:tgtEl>
                                        <p:attrNameLst>
                                          <p:attrName>ppt_x</p:attrName>
                                        </p:attrNameLst>
                                      </p:cBhvr>
                                      <p:tavLst>
                                        <p:tav tm="0">
                                          <p:val>
                                            <p:strVal val="#ppt_x"/>
                                          </p:val>
                                        </p:tav>
                                        <p:tav tm="100000">
                                          <p:val>
                                            <p:strVal val="#ppt_x"/>
                                          </p:val>
                                        </p:tav>
                                      </p:tavLst>
                                    </p:anim>
                                    <p:anim calcmode="lin" valueType="num">
                                      <p:cBhvr additive="base">
                                        <p:cTn id="19" dur="500" fill="hold"/>
                                        <p:tgtEl>
                                          <p:spTgt spid="2050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20491"/>
                                        </p:tgtEl>
                                        <p:attrNameLst>
                                          <p:attrName>style.visibility</p:attrName>
                                        </p:attrNameLst>
                                      </p:cBhvr>
                                      <p:to>
                                        <p:strVal val="visible"/>
                                      </p:to>
                                    </p:set>
                                    <p:animEffect transition="in" filter="box(in)">
                                      <p:cBhvr>
                                        <p:cTn id="24" dur="500"/>
                                        <p:tgtEl>
                                          <p:spTgt spid="2049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0500"/>
                                        </p:tgtEl>
                                        <p:attrNameLst>
                                          <p:attrName>style.visibility</p:attrName>
                                        </p:attrNameLst>
                                      </p:cBhvr>
                                      <p:to>
                                        <p:strVal val="visible"/>
                                      </p:to>
                                    </p:set>
                                    <p:animEffect transition="in" filter="blinds(horizontal)">
                                      <p:cBhvr>
                                        <p:cTn id="29" dur="500"/>
                                        <p:tgtEl>
                                          <p:spTgt spid="20500"/>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20501"/>
                                        </p:tgtEl>
                                        <p:attrNameLst>
                                          <p:attrName>style.visibility</p:attrName>
                                        </p:attrNameLst>
                                      </p:cBhvr>
                                      <p:to>
                                        <p:strVal val="visible"/>
                                      </p:to>
                                    </p:set>
                                    <p:animEffect transition="in" filter="blinds(horizontal)">
                                      <p:cBhvr>
                                        <p:cTn id="32" dur="500"/>
                                        <p:tgtEl>
                                          <p:spTgt spid="20501"/>
                                        </p:tgtEl>
                                      </p:cBhvr>
                                    </p:animEffect>
                                  </p:childTnLst>
                                </p:cTn>
                              </p:par>
                              <p:par>
                                <p:cTn id="33" presetID="3" presetClass="entr" presetSubtype="10" fill="hold" nodeType="withEffect">
                                  <p:stCondLst>
                                    <p:cond delay="0"/>
                                  </p:stCondLst>
                                  <p:childTnLst>
                                    <p:set>
                                      <p:cBhvr>
                                        <p:cTn id="34" dur="1" fill="hold">
                                          <p:stCondLst>
                                            <p:cond delay="0"/>
                                          </p:stCondLst>
                                        </p:cTn>
                                        <p:tgtEl>
                                          <p:spTgt spid="20502"/>
                                        </p:tgtEl>
                                        <p:attrNameLst>
                                          <p:attrName>style.visibility</p:attrName>
                                        </p:attrNameLst>
                                      </p:cBhvr>
                                      <p:to>
                                        <p:strVal val="visible"/>
                                      </p:to>
                                    </p:set>
                                    <p:animEffect transition="in" filter="blinds(horizontal)">
                                      <p:cBhvr>
                                        <p:cTn id="35" dur="500"/>
                                        <p:tgtEl>
                                          <p:spTgt spid="20502"/>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0505"/>
                                        </p:tgtEl>
                                        <p:attrNameLst>
                                          <p:attrName>style.visibility</p:attrName>
                                        </p:attrNameLst>
                                      </p:cBhvr>
                                      <p:to>
                                        <p:strVal val="visible"/>
                                      </p:to>
                                    </p:set>
                                    <p:animEffect transition="in" filter="blinds(horizontal)">
                                      <p:cBhvr>
                                        <p:cTn id="38" dur="500"/>
                                        <p:tgtEl>
                                          <p:spTgt spid="20505"/>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0506"/>
                                        </p:tgtEl>
                                        <p:attrNameLst>
                                          <p:attrName>style.visibility</p:attrName>
                                        </p:attrNameLst>
                                      </p:cBhvr>
                                      <p:to>
                                        <p:strVal val="visible"/>
                                      </p:to>
                                    </p:set>
                                    <p:animEffect transition="in" filter="blinds(horizontal)">
                                      <p:cBhvr>
                                        <p:cTn id="41" dur="500"/>
                                        <p:tgtEl>
                                          <p:spTgt spid="20506"/>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grpId="0" nodeType="clickEffect">
                                  <p:stCondLst>
                                    <p:cond delay="0"/>
                                  </p:stCondLst>
                                  <p:childTnLst>
                                    <p:set>
                                      <p:cBhvr>
                                        <p:cTn id="45" dur="1" fill="hold">
                                          <p:stCondLst>
                                            <p:cond delay="0"/>
                                          </p:stCondLst>
                                        </p:cTn>
                                        <p:tgtEl>
                                          <p:spTgt spid="20507"/>
                                        </p:tgtEl>
                                        <p:attrNameLst>
                                          <p:attrName>style.visibility</p:attrName>
                                        </p:attrNameLst>
                                      </p:cBhvr>
                                      <p:to>
                                        <p:strVal val="visible"/>
                                      </p:to>
                                    </p:set>
                                    <p:animEffect transition="in" filter="box(in)">
                                      <p:cBhvr>
                                        <p:cTn id="46" dur="500"/>
                                        <p:tgtEl>
                                          <p:spTgt spid="20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1" grpId="0"/>
      <p:bldP spid="20499" grpId="0"/>
      <p:bldP spid="20500" grpId="0" animBg="1"/>
      <p:bldP spid="20501" grpId="0" animBg="1"/>
      <p:bldP spid="20505" grpId="0"/>
      <p:bldP spid="20506" grpId="0"/>
      <p:bldP spid="2050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r>
              <a:rPr lang="en-GB" sz="3600" dirty="0"/>
              <a:t>Example: Hospital</a:t>
            </a:r>
            <a:endParaRPr lang="en-US" altLang="zh-CN" sz="3600" dirty="0">
              <a:ea typeface="宋体" pitchFamily="2" charset="-122"/>
            </a:endParaRPr>
          </a:p>
        </p:txBody>
      </p:sp>
      <p:grpSp>
        <p:nvGrpSpPr>
          <p:cNvPr id="22577" name="Group 49"/>
          <p:cNvGrpSpPr>
            <a:grpSpLocks/>
          </p:cNvGrpSpPr>
          <p:nvPr/>
        </p:nvGrpSpPr>
        <p:grpSpPr bwMode="auto">
          <a:xfrm>
            <a:off x="550767" y="884892"/>
            <a:ext cx="3429000" cy="1709738"/>
            <a:chOff x="357" y="618"/>
            <a:chExt cx="2160" cy="1077"/>
          </a:xfrm>
        </p:grpSpPr>
        <p:sp>
          <p:nvSpPr>
            <p:cNvPr id="22532" name="Text Box 4"/>
            <p:cNvSpPr txBox="1">
              <a:spLocks noChangeArrowheads="1"/>
            </p:cNvSpPr>
            <p:nvPr/>
          </p:nvSpPr>
          <p:spPr bwMode="auto">
            <a:xfrm>
              <a:off x="1020" y="618"/>
              <a:ext cx="907" cy="233"/>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a:solidFill>
                    <a:schemeClr val="tx2"/>
                  </a:solidFill>
                </a:rPr>
                <a:t>Person</a:t>
              </a:r>
              <a:endParaRPr lang="en-US" altLang="zh-CN">
                <a:solidFill>
                  <a:schemeClr val="tx2"/>
                </a:solidFill>
              </a:endParaRPr>
            </a:p>
          </p:txBody>
        </p:sp>
        <p:sp>
          <p:nvSpPr>
            <p:cNvPr id="22533" name="Text Box 5"/>
            <p:cNvSpPr txBox="1">
              <a:spLocks noChangeArrowheads="1"/>
            </p:cNvSpPr>
            <p:nvPr/>
          </p:nvSpPr>
          <p:spPr bwMode="auto">
            <a:xfrm>
              <a:off x="357" y="1462"/>
              <a:ext cx="998" cy="233"/>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a:solidFill>
                    <a:schemeClr val="tx2"/>
                  </a:solidFill>
                </a:rPr>
                <a:t>Employee</a:t>
              </a:r>
              <a:endParaRPr lang="en-US" altLang="zh-CN">
                <a:solidFill>
                  <a:schemeClr val="tx2"/>
                </a:solidFill>
              </a:endParaRPr>
            </a:p>
          </p:txBody>
        </p:sp>
        <p:sp>
          <p:nvSpPr>
            <p:cNvPr id="22534" name="Text Box 6"/>
            <p:cNvSpPr txBox="1">
              <a:spLocks noChangeArrowheads="1"/>
            </p:cNvSpPr>
            <p:nvPr/>
          </p:nvSpPr>
          <p:spPr bwMode="auto">
            <a:xfrm>
              <a:off x="1610" y="1461"/>
              <a:ext cx="907" cy="233"/>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a:solidFill>
                    <a:schemeClr val="tx2"/>
                  </a:solidFill>
                </a:rPr>
                <a:t>Patient </a:t>
              </a:r>
              <a:endParaRPr lang="en-US" altLang="zh-CN">
                <a:solidFill>
                  <a:schemeClr val="tx2"/>
                </a:solidFill>
              </a:endParaRPr>
            </a:p>
          </p:txBody>
        </p:sp>
        <p:sp>
          <p:nvSpPr>
            <p:cNvPr id="22538" name="AutoShape 10"/>
            <p:cNvSpPr>
              <a:spLocks noChangeArrowheads="1"/>
            </p:cNvSpPr>
            <p:nvPr/>
          </p:nvSpPr>
          <p:spPr bwMode="auto">
            <a:xfrm>
              <a:off x="1391" y="855"/>
              <a:ext cx="148" cy="398"/>
            </a:xfrm>
            <a:prstGeom prst="upArrow">
              <a:avLst>
                <a:gd name="adj1" fmla="val 0"/>
                <a:gd name="adj2" fmla="val 131869"/>
              </a:avLst>
            </a:prstGeom>
            <a:noFill/>
            <a:ln w="28575" algn="ctr">
              <a:solidFill>
                <a:schemeClr val="tx2"/>
              </a:solidFill>
              <a:miter lim="800000"/>
              <a:headEnd type="none" w="lg" len="lg"/>
              <a:tailEnd type="none" w="lg" len="lg"/>
            </a:ln>
            <a:effectLst/>
          </p:spPr>
          <p:txBody>
            <a:bodyPr wrap="square" anchor="ctr">
              <a:spAutoFit/>
            </a:bodyPr>
            <a:lstStyle/>
            <a:p>
              <a:pPr algn="ctr"/>
              <a:endParaRPr lang="en-US">
                <a:solidFill>
                  <a:schemeClr val="tx2"/>
                </a:solidFill>
              </a:endParaRPr>
            </a:p>
          </p:txBody>
        </p:sp>
        <p:sp>
          <p:nvSpPr>
            <p:cNvPr id="22539" name="Freeform 11"/>
            <p:cNvSpPr>
              <a:spLocks/>
            </p:cNvSpPr>
            <p:nvPr/>
          </p:nvSpPr>
          <p:spPr bwMode="auto">
            <a:xfrm>
              <a:off x="839" y="1253"/>
              <a:ext cx="1225" cy="233"/>
            </a:xfrm>
            <a:custGeom>
              <a:avLst/>
              <a:gdLst/>
              <a:ahLst/>
              <a:cxnLst>
                <a:cxn ang="0">
                  <a:pos x="0" y="136"/>
                </a:cxn>
                <a:cxn ang="0">
                  <a:pos x="0" y="0"/>
                </a:cxn>
                <a:cxn ang="0">
                  <a:pos x="1225" y="0"/>
                </a:cxn>
                <a:cxn ang="0">
                  <a:pos x="1225" y="136"/>
                </a:cxn>
              </a:cxnLst>
              <a:rect l="0" t="0" r="r" b="b"/>
              <a:pathLst>
                <a:path w="1225" h="136">
                  <a:moveTo>
                    <a:pt x="0" y="136"/>
                  </a:moveTo>
                  <a:lnTo>
                    <a:pt x="0" y="0"/>
                  </a:lnTo>
                  <a:lnTo>
                    <a:pt x="1225" y="0"/>
                  </a:lnTo>
                  <a:lnTo>
                    <a:pt x="1225" y="136"/>
                  </a:lnTo>
                </a:path>
              </a:pathLst>
            </a:custGeom>
            <a:noFill/>
            <a:ln w="28575" cap="flat" cmpd="sng">
              <a:solidFill>
                <a:schemeClr val="tx2"/>
              </a:solidFill>
              <a:prstDash val="solid"/>
              <a:round/>
              <a:headEnd type="none" w="lg" len="lg"/>
              <a:tailEnd type="none" w="lg" len="lg"/>
            </a:ln>
            <a:effectLst/>
          </p:spPr>
          <p:txBody>
            <a:bodyPr>
              <a:spAutoFit/>
            </a:bodyPr>
            <a:lstStyle/>
            <a:p>
              <a:pPr algn="ctr"/>
              <a:endParaRPr lang="en-US">
                <a:solidFill>
                  <a:schemeClr val="tx2"/>
                </a:solidFill>
              </a:endParaRPr>
            </a:p>
          </p:txBody>
        </p:sp>
      </p:grpSp>
      <p:grpSp>
        <p:nvGrpSpPr>
          <p:cNvPr id="22583" name="Group 55"/>
          <p:cNvGrpSpPr>
            <a:grpSpLocks/>
          </p:cNvGrpSpPr>
          <p:nvPr/>
        </p:nvGrpSpPr>
        <p:grpSpPr bwMode="auto">
          <a:xfrm>
            <a:off x="5651500" y="1557339"/>
            <a:ext cx="1871663" cy="946150"/>
            <a:chOff x="3560" y="981"/>
            <a:chExt cx="1179" cy="596"/>
          </a:xfrm>
        </p:grpSpPr>
        <p:sp>
          <p:nvSpPr>
            <p:cNvPr id="22560" name="Text Box 32"/>
            <p:cNvSpPr txBox="1">
              <a:spLocks noChangeArrowheads="1"/>
            </p:cNvSpPr>
            <p:nvPr/>
          </p:nvSpPr>
          <p:spPr bwMode="auto">
            <a:xfrm>
              <a:off x="3560" y="1344"/>
              <a:ext cx="1179" cy="233"/>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a:solidFill>
                    <a:schemeClr val="tx2"/>
                  </a:solidFill>
                </a:rPr>
                <a:t>Treatment </a:t>
              </a:r>
              <a:endParaRPr lang="en-US" altLang="zh-CN">
                <a:solidFill>
                  <a:schemeClr val="tx2"/>
                </a:solidFill>
              </a:endParaRPr>
            </a:p>
          </p:txBody>
        </p:sp>
        <p:sp>
          <p:nvSpPr>
            <p:cNvPr id="22561" name="Line 33"/>
            <p:cNvSpPr>
              <a:spLocks noChangeShapeType="1"/>
            </p:cNvSpPr>
            <p:nvPr/>
          </p:nvSpPr>
          <p:spPr bwMode="auto">
            <a:xfrm>
              <a:off x="4150" y="981"/>
              <a:ext cx="0" cy="363"/>
            </a:xfrm>
            <a:prstGeom prst="line">
              <a:avLst/>
            </a:prstGeom>
            <a:noFill/>
            <a:ln w="28575">
              <a:solidFill>
                <a:schemeClr val="tx2"/>
              </a:solidFill>
              <a:prstDash val="dash"/>
              <a:round/>
              <a:headEnd type="none" w="lg" len="lg"/>
              <a:tailEnd type="none" w="lg" len="lg"/>
            </a:ln>
            <a:effectLst/>
          </p:spPr>
          <p:txBody>
            <a:bodyPr>
              <a:spAutoFit/>
            </a:bodyPr>
            <a:lstStyle/>
            <a:p>
              <a:pPr algn="ctr"/>
              <a:endParaRPr lang="en-US">
                <a:solidFill>
                  <a:schemeClr val="tx2"/>
                </a:solidFill>
              </a:endParaRPr>
            </a:p>
          </p:txBody>
        </p:sp>
      </p:grpSp>
      <p:grpSp>
        <p:nvGrpSpPr>
          <p:cNvPr id="22579" name="Group 51"/>
          <p:cNvGrpSpPr>
            <a:grpSpLocks/>
          </p:cNvGrpSpPr>
          <p:nvPr/>
        </p:nvGrpSpPr>
        <p:grpSpPr bwMode="auto">
          <a:xfrm>
            <a:off x="468313" y="2636466"/>
            <a:ext cx="3527425" cy="3705226"/>
            <a:chOff x="295" y="1556"/>
            <a:chExt cx="2222" cy="2334"/>
          </a:xfrm>
        </p:grpSpPr>
        <p:grpSp>
          <p:nvGrpSpPr>
            <p:cNvPr id="22578" name="Group 50"/>
            <p:cNvGrpSpPr>
              <a:grpSpLocks/>
            </p:cNvGrpSpPr>
            <p:nvPr/>
          </p:nvGrpSpPr>
          <p:grpSpPr bwMode="auto">
            <a:xfrm>
              <a:off x="295" y="1556"/>
              <a:ext cx="2222" cy="1469"/>
              <a:chOff x="295" y="1556"/>
              <a:chExt cx="2222" cy="1469"/>
            </a:xfrm>
          </p:grpSpPr>
          <p:sp>
            <p:nvSpPr>
              <p:cNvPr id="22535" name="Text Box 7"/>
              <p:cNvSpPr txBox="1">
                <a:spLocks noChangeArrowheads="1"/>
              </p:cNvSpPr>
              <p:nvPr/>
            </p:nvSpPr>
            <p:spPr bwMode="auto">
              <a:xfrm>
                <a:off x="295" y="2115"/>
                <a:ext cx="816" cy="233"/>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a:solidFill>
                      <a:schemeClr val="tx2"/>
                    </a:solidFill>
                  </a:rPr>
                  <a:t>Nurse </a:t>
                </a:r>
                <a:endParaRPr lang="en-US" altLang="zh-CN">
                  <a:solidFill>
                    <a:schemeClr val="tx2"/>
                  </a:solidFill>
                </a:endParaRPr>
              </a:p>
            </p:txBody>
          </p:sp>
          <p:sp>
            <p:nvSpPr>
              <p:cNvPr id="22536" name="Text Box 8"/>
              <p:cNvSpPr txBox="1">
                <a:spLocks noChangeArrowheads="1"/>
              </p:cNvSpPr>
              <p:nvPr/>
            </p:nvSpPr>
            <p:spPr bwMode="auto">
              <a:xfrm>
                <a:off x="689" y="2792"/>
                <a:ext cx="1404" cy="233"/>
              </a:xfrm>
              <a:prstGeom prst="rect">
                <a:avLst/>
              </a:prstGeom>
              <a:noFill/>
              <a:ln w="28575" algn="ctr">
                <a:solidFill>
                  <a:schemeClr val="tx2"/>
                </a:solidFill>
                <a:miter lim="800000"/>
                <a:headEnd type="none" w="lg" len="lg"/>
                <a:tailEnd type="none" w="lg" len="lg"/>
              </a:ln>
              <a:effectLst/>
            </p:spPr>
            <p:txBody>
              <a:bodyPr wrap="square">
                <a:spAutoFit/>
              </a:bodyPr>
              <a:lstStyle/>
              <a:p>
                <a:pPr algn="ctr"/>
                <a:r>
                  <a:rPr lang="en-GB">
                    <a:solidFill>
                      <a:schemeClr val="tx2"/>
                    </a:solidFill>
                  </a:rPr>
                  <a:t>Administrative staff</a:t>
                </a:r>
                <a:endParaRPr lang="en-US" altLang="zh-CN">
                  <a:solidFill>
                    <a:schemeClr val="tx2"/>
                  </a:solidFill>
                </a:endParaRPr>
              </a:p>
            </p:txBody>
          </p:sp>
          <p:sp>
            <p:nvSpPr>
              <p:cNvPr id="22537" name="Text Box 9"/>
              <p:cNvSpPr txBox="1">
                <a:spLocks noChangeArrowheads="1"/>
              </p:cNvSpPr>
              <p:nvPr/>
            </p:nvSpPr>
            <p:spPr bwMode="auto">
              <a:xfrm>
                <a:off x="1610" y="2115"/>
                <a:ext cx="907" cy="233"/>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a:solidFill>
                      <a:schemeClr val="tx2"/>
                    </a:solidFill>
                  </a:rPr>
                  <a:t>Doctor</a:t>
                </a:r>
                <a:endParaRPr lang="en-US" altLang="zh-CN">
                  <a:solidFill>
                    <a:schemeClr val="tx2"/>
                  </a:solidFill>
                </a:endParaRPr>
              </a:p>
            </p:txBody>
          </p:sp>
          <p:sp>
            <p:nvSpPr>
              <p:cNvPr id="22540" name="AutoShape 12"/>
              <p:cNvSpPr>
                <a:spLocks noChangeArrowheads="1"/>
              </p:cNvSpPr>
              <p:nvPr/>
            </p:nvSpPr>
            <p:spPr bwMode="auto">
              <a:xfrm>
                <a:off x="855" y="1556"/>
                <a:ext cx="155" cy="369"/>
              </a:xfrm>
              <a:prstGeom prst="upArrow">
                <a:avLst>
                  <a:gd name="adj1" fmla="val 0"/>
                  <a:gd name="adj2" fmla="val 131869"/>
                </a:avLst>
              </a:prstGeom>
              <a:noFill/>
              <a:ln w="28575" algn="ctr">
                <a:solidFill>
                  <a:schemeClr val="tx2"/>
                </a:solidFill>
                <a:miter lim="800000"/>
                <a:headEnd type="none" w="lg" len="lg"/>
                <a:tailEnd type="none" w="lg" len="lg"/>
              </a:ln>
              <a:effectLst/>
            </p:spPr>
            <p:txBody>
              <a:bodyPr wrap="square" anchor="ctr">
                <a:spAutoFit/>
              </a:bodyPr>
              <a:lstStyle/>
              <a:p>
                <a:pPr algn="ctr"/>
                <a:endParaRPr lang="en-US">
                  <a:solidFill>
                    <a:schemeClr val="tx2"/>
                  </a:solidFill>
                </a:endParaRPr>
              </a:p>
            </p:txBody>
          </p:sp>
          <p:sp>
            <p:nvSpPr>
              <p:cNvPr id="22541" name="Freeform 13"/>
              <p:cNvSpPr>
                <a:spLocks/>
              </p:cNvSpPr>
              <p:nvPr/>
            </p:nvSpPr>
            <p:spPr bwMode="auto">
              <a:xfrm>
                <a:off x="596" y="1914"/>
                <a:ext cx="1497" cy="233"/>
              </a:xfrm>
              <a:custGeom>
                <a:avLst/>
                <a:gdLst/>
                <a:ahLst/>
                <a:cxnLst>
                  <a:cxn ang="0">
                    <a:pos x="0" y="91"/>
                  </a:cxn>
                  <a:cxn ang="0">
                    <a:pos x="0" y="0"/>
                  </a:cxn>
                  <a:cxn ang="0">
                    <a:pos x="1497" y="0"/>
                  </a:cxn>
                  <a:cxn ang="0">
                    <a:pos x="1497" y="91"/>
                  </a:cxn>
                </a:cxnLst>
                <a:rect l="0" t="0" r="r" b="b"/>
                <a:pathLst>
                  <a:path w="1497" h="91">
                    <a:moveTo>
                      <a:pt x="0" y="91"/>
                    </a:moveTo>
                    <a:lnTo>
                      <a:pt x="0" y="0"/>
                    </a:lnTo>
                    <a:lnTo>
                      <a:pt x="1497" y="0"/>
                    </a:lnTo>
                    <a:lnTo>
                      <a:pt x="1497" y="91"/>
                    </a:lnTo>
                  </a:path>
                </a:pathLst>
              </a:custGeom>
              <a:noFill/>
              <a:ln w="28575" cap="flat" cmpd="sng">
                <a:solidFill>
                  <a:schemeClr val="tx2"/>
                </a:solidFill>
                <a:prstDash val="solid"/>
                <a:round/>
                <a:headEnd type="none" w="lg" len="lg"/>
                <a:tailEnd type="none" w="lg" len="lg"/>
              </a:ln>
              <a:effectLst/>
            </p:spPr>
            <p:txBody>
              <a:bodyPr>
                <a:spAutoFit/>
              </a:bodyPr>
              <a:lstStyle/>
              <a:p>
                <a:pPr algn="ctr"/>
                <a:endParaRPr lang="en-US">
                  <a:solidFill>
                    <a:schemeClr val="tx2"/>
                  </a:solidFill>
                </a:endParaRPr>
              </a:p>
            </p:txBody>
          </p:sp>
          <p:sp>
            <p:nvSpPr>
              <p:cNvPr id="22542" name="Line 14"/>
              <p:cNvSpPr>
                <a:spLocks noChangeShapeType="1"/>
              </p:cNvSpPr>
              <p:nvPr/>
            </p:nvSpPr>
            <p:spPr bwMode="auto">
              <a:xfrm flipV="1">
                <a:off x="1381" y="2606"/>
                <a:ext cx="5" cy="172"/>
              </a:xfrm>
              <a:prstGeom prst="line">
                <a:avLst/>
              </a:prstGeom>
              <a:noFill/>
              <a:ln w="28575">
                <a:solidFill>
                  <a:schemeClr val="tx2"/>
                </a:solidFill>
                <a:round/>
                <a:headEnd type="none" w="lg" len="lg"/>
                <a:tailEnd type="none" w="lg" len="lg"/>
              </a:ln>
              <a:effectLst/>
            </p:spPr>
            <p:txBody>
              <a:bodyPr wrap="square">
                <a:spAutoFit/>
              </a:bodyPr>
              <a:lstStyle/>
              <a:p>
                <a:pPr algn="ctr"/>
                <a:endParaRPr lang="en-US">
                  <a:solidFill>
                    <a:schemeClr val="tx2"/>
                  </a:solidFill>
                </a:endParaRPr>
              </a:p>
            </p:txBody>
          </p:sp>
        </p:grpSp>
        <p:sp>
          <p:nvSpPr>
            <p:cNvPr id="22543" name="Text Box 15"/>
            <p:cNvSpPr txBox="1">
              <a:spLocks noChangeArrowheads="1"/>
            </p:cNvSpPr>
            <p:nvPr/>
          </p:nvSpPr>
          <p:spPr bwMode="auto">
            <a:xfrm>
              <a:off x="612" y="3657"/>
              <a:ext cx="1543" cy="233"/>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dirty="0">
                  <a:solidFill>
                    <a:schemeClr val="tx2"/>
                  </a:solidFill>
                </a:rPr>
                <a:t>Health Team</a:t>
              </a:r>
              <a:endParaRPr lang="en-US" altLang="zh-CN" dirty="0">
                <a:solidFill>
                  <a:schemeClr val="tx2"/>
                </a:solidFill>
              </a:endParaRPr>
            </a:p>
          </p:txBody>
        </p:sp>
        <p:sp>
          <p:nvSpPr>
            <p:cNvPr id="22548" name="Line 20"/>
            <p:cNvSpPr>
              <a:spLocks noChangeShapeType="1"/>
            </p:cNvSpPr>
            <p:nvPr/>
          </p:nvSpPr>
          <p:spPr bwMode="auto">
            <a:xfrm rot="5400000" flipV="1">
              <a:off x="1178" y="3225"/>
              <a:ext cx="409" cy="1"/>
            </a:xfrm>
            <a:prstGeom prst="line">
              <a:avLst/>
            </a:prstGeom>
            <a:noFill/>
            <a:ln w="28575">
              <a:solidFill>
                <a:schemeClr val="tx2"/>
              </a:solidFill>
              <a:round/>
              <a:headEnd type="none" w="lg" len="lg"/>
              <a:tailEnd type="none" w="lg" len="lg"/>
            </a:ln>
            <a:effectLst/>
          </p:spPr>
          <p:txBody>
            <a:bodyPr wrap="square">
              <a:spAutoFit/>
            </a:bodyPr>
            <a:lstStyle/>
            <a:p>
              <a:pPr algn="ctr"/>
              <a:endParaRPr lang="en-US">
                <a:solidFill>
                  <a:schemeClr val="tx2"/>
                </a:solidFill>
              </a:endParaRPr>
            </a:p>
          </p:txBody>
        </p:sp>
        <p:sp>
          <p:nvSpPr>
            <p:cNvPr id="22565" name="Text Box 37"/>
            <p:cNvSpPr txBox="1">
              <a:spLocks noChangeArrowheads="1"/>
            </p:cNvSpPr>
            <p:nvPr/>
          </p:nvSpPr>
          <p:spPr bwMode="auto">
            <a:xfrm>
              <a:off x="564" y="2327"/>
              <a:ext cx="408" cy="250"/>
            </a:xfrm>
            <a:prstGeom prst="rect">
              <a:avLst/>
            </a:prstGeom>
            <a:noFill/>
            <a:ln w="28575" algn="ctr">
              <a:noFill/>
              <a:miter lim="800000"/>
              <a:headEnd type="none" w="lg" len="lg"/>
              <a:tailEnd type="none" w="lg" len="lg"/>
            </a:ln>
            <a:effectLst/>
          </p:spPr>
          <p:txBody>
            <a:bodyPr>
              <a:spAutoFit/>
            </a:bodyPr>
            <a:lstStyle/>
            <a:p>
              <a:pPr algn="ctr"/>
              <a:r>
                <a:rPr lang="en-GB" sz="2000" dirty="0">
                  <a:solidFill>
                    <a:schemeClr val="tx2"/>
                  </a:solidFill>
                </a:rPr>
                <a:t>0..* </a:t>
              </a:r>
              <a:endParaRPr lang="en-US" altLang="zh-CN" sz="2000" dirty="0">
                <a:solidFill>
                  <a:schemeClr val="tx2"/>
                </a:solidFill>
              </a:endParaRPr>
            </a:p>
          </p:txBody>
        </p:sp>
        <p:sp>
          <p:nvSpPr>
            <p:cNvPr id="22566" name="Text Box 38"/>
            <p:cNvSpPr txBox="1">
              <a:spLocks noChangeArrowheads="1"/>
            </p:cNvSpPr>
            <p:nvPr/>
          </p:nvSpPr>
          <p:spPr bwMode="auto">
            <a:xfrm>
              <a:off x="1849" y="2338"/>
              <a:ext cx="408" cy="250"/>
            </a:xfrm>
            <a:prstGeom prst="rect">
              <a:avLst/>
            </a:prstGeom>
            <a:noFill/>
            <a:ln w="28575" algn="ctr">
              <a:noFill/>
              <a:miter lim="800000"/>
              <a:headEnd type="none" w="lg" len="lg"/>
              <a:tailEnd type="none" w="lg" len="lg"/>
            </a:ln>
            <a:effectLst/>
          </p:spPr>
          <p:txBody>
            <a:bodyPr>
              <a:spAutoFit/>
            </a:bodyPr>
            <a:lstStyle/>
            <a:p>
              <a:pPr algn="ctr"/>
              <a:r>
                <a:rPr lang="en-GB" sz="2000" dirty="0">
                  <a:solidFill>
                    <a:schemeClr val="tx2"/>
                  </a:solidFill>
                </a:rPr>
                <a:t>1..* </a:t>
              </a:r>
              <a:endParaRPr lang="en-US" altLang="zh-CN" sz="2000" dirty="0">
                <a:solidFill>
                  <a:schemeClr val="tx2"/>
                </a:solidFill>
              </a:endParaRPr>
            </a:p>
          </p:txBody>
        </p:sp>
        <p:sp>
          <p:nvSpPr>
            <p:cNvPr id="22567" name="Text Box 39"/>
            <p:cNvSpPr txBox="1">
              <a:spLocks noChangeArrowheads="1"/>
            </p:cNvSpPr>
            <p:nvPr/>
          </p:nvSpPr>
          <p:spPr bwMode="auto">
            <a:xfrm>
              <a:off x="1381" y="3025"/>
              <a:ext cx="408" cy="250"/>
            </a:xfrm>
            <a:prstGeom prst="rect">
              <a:avLst/>
            </a:prstGeom>
            <a:noFill/>
            <a:ln w="28575" algn="ctr">
              <a:noFill/>
              <a:miter lim="800000"/>
              <a:headEnd type="none" w="lg" len="lg"/>
              <a:tailEnd type="none" w="lg" len="lg"/>
            </a:ln>
            <a:effectLst/>
          </p:spPr>
          <p:txBody>
            <a:bodyPr>
              <a:spAutoFit/>
            </a:bodyPr>
            <a:lstStyle/>
            <a:p>
              <a:pPr algn="ctr"/>
              <a:r>
                <a:rPr lang="en-GB" sz="2000" dirty="0">
                  <a:solidFill>
                    <a:schemeClr val="tx2"/>
                  </a:solidFill>
                </a:rPr>
                <a:t>0..1 </a:t>
              </a:r>
              <a:endParaRPr lang="en-US" altLang="zh-CN" sz="2000" dirty="0">
                <a:solidFill>
                  <a:schemeClr val="tx2"/>
                </a:solidFill>
              </a:endParaRPr>
            </a:p>
          </p:txBody>
        </p:sp>
      </p:grpSp>
      <p:sp>
        <p:nvSpPr>
          <p:cNvPr id="22568" name="Text Box 40"/>
          <p:cNvSpPr txBox="1">
            <a:spLocks noChangeArrowheads="1"/>
          </p:cNvSpPr>
          <p:nvPr/>
        </p:nvSpPr>
        <p:spPr bwMode="auto">
          <a:xfrm>
            <a:off x="2208212" y="5470153"/>
            <a:ext cx="431800" cy="396875"/>
          </a:xfrm>
          <a:prstGeom prst="rect">
            <a:avLst/>
          </a:prstGeom>
          <a:noFill/>
          <a:ln w="28575" algn="ctr">
            <a:noFill/>
            <a:miter lim="800000"/>
            <a:headEnd type="none" w="lg" len="lg"/>
            <a:tailEnd type="none" w="lg" len="lg"/>
          </a:ln>
          <a:effectLst/>
        </p:spPr>
        <p:txBody>
          <a:bodyPr wrap="square">
            <a:spAutoFit/>
          </a:bodyPr>
          <a:lstStyle/>
          <a:p>
            <a:pPr algn="ctr"/>
            <a:r>
              <a:rPr lang="en-GB" sz="2000" dirty="0">
                <a:solidFill>
                  <a:schemeClr val="tx2"/>
                </a:solidFill>
              </a:rPr>
              <a:t>* </a:t>
            </a:r>
            <a:endParaRPr lang="zh-CN" altLang="en-US" sz="2000" dirty="0">
              <a:solidFill>
                <a:schemeClr val="tx2"/>
              </a:solidFill>
            </a:endParaRPr>
          </a:p>
        </p:txBody>
      </p:sp>
      <p:grpSp>
        <p:nvGrpSpPr>
          <p:cNvPr id="22580" name="Group 52"/>
          <p:cNvGrpSpPr>
            <a:grpSpLocks/>
          </p:cNvGrpSpPr>
          <p:nvPr/>
        </p:nvGrpSpPr>
        <p:grpSpPr bwMode="auto">
          <a:xfrm>
            <a:off x="3851275" y="2060575"/>
            <a:ext cx="2484438" cy="1909763"/>
            <a:chOff x="2426" y="1298"/>
            <a:chExt cx="1565" cy="1203"/>
          </a:xfrm>
        </p:grpSpPr>
        <p:sp>
          <p:nvSpPr>
            <p:cNvPr id="22550" name="Text Box 22"/>
            <p:cNvSpPr txBox="1">
              <a:spLocks noChangeArrowheads="1"/>
            </p:cNvSpPr>
            <p:nvPr/>
          </p:nvSpPr>
          <p:spPr bwMode="auto">
            <a:xfrm>
              <a:off x="2721" y="1800"/>
              <a:ext cx="1270" cy="233"/>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dirty="0">
                  <a:solidFill>
                    <a:schemeClr val="tx2"/>
                  </a:solidFill>
                </a:rPr>
                <a:t>Appointment </a:t>
              </a:r>
              <a:endParaRPr lang="en-US" altLang="zh-CN" dirty="0">
                <a:solidFill>
                  <a:schemeClr val="tx2"/>
                </a:solidFill>
              </a:endParaRPr>
            </a:p>
          </p:txBody>
        </p:sp>
        <p:sp>
          <p:nvSpPr>
            <p:cNvPr id="22551" name="Freeform 23"/>
            <p:cNvSpPr>
              <a:spLocks/>
            </p:cNvSpPr>
            <p:nvPr/>
          </p:nvSpPr>
          <p:spPr bwMode="auto">
            <a:xfrm>
              <a:off x="2517" y="1525"/>
              <a:ext cx="726" cy="233"/>
            </a:xfrm>
            <a:custGeom>
              <a:avLst/>
              <a:gdLst/>
              <a:ahLst/>
              <a:cxnLst>
                <a:cxn ang="0">
                  <a:pos x="0" y="0"/>
                </a:cxn>
                <a:cxn ang="0">
                  <a:pos x="1043" y="0"/>
                </a:cxn>
                <a:cxn ang="0">
                  <a:pos x="1043" y="227"/>
                </a:cxn>
              </a:cxnLst>
              <a:rect l="0" t="0" r="r" b="b"/>
              <a:pathLst>
                <a:path w="1043" h="227">
                  <a:moveTo>
                    <a:pt x="0" y="0"/>
                  </a:moveTo>
                  <a:lnTo>
                    <a:pt x="1043" y="0"/>
                  </a:lnTo>
                  <a:lnTo>
                    <a:pt x="1043" y="227"/>
                  </a:lnTo>
                </a:path>
              </a:pathLst>
            </a:custGeom>
            <a:noFill/>
            <a:ln w="28575" cap="flat" cmpd="sng">
              <a:solidFill>
                <a:schemeClr val="tx2"/>
              </a:solidFill>
              <a:prstDash val="solid"/>
              <a:round/>
              <a:headEnd type="none" w="lg" len="lg"/>
              <a:tailEnd type="none" w="lg" len="lg"/>
            </a:ln>
            <a:effectLst/>
          </p:spPr>
          <p:txBody>
            <a:bodyPr>
              <a:spAutoFit/>
            </a:bodyPr>
            <a:lstStyle/>
            <a:p>
              <a:pPr algn="ctr"/>
              <a:endParaRPr lang="en-US">
                <a:solidFill>
                  <a:schemeClr val="tx2"/>
                </a:solidFill>
              </a:endParaRPr>
            </a:p>
          </p:txBody>
        </p:sp>
        <p:sp>
          <p:nvSpPr>
            <p:cNvPr id="22553" name="Freeform 25"/>
            <p:cNvSpPr>
              <a:spLocks/>
            </p:cNvSpPr>
            <p:nvPr/>
          </p:nvSpPr>
          <p:spPr bwMode="auto">
            <a:xfrm>
              <a:off x="2517" y="2069"/>
              <a:ext cx="726" cy="233"/>
            </a:xfrm>
            <a:custGeom>
              <a:avLst/>
              <a:gdLst/>
              <a:ahLst/>
              <a:cxnLst>
                <a:cxn ang="0">
                  <a:pos x="0" y="227"/>
                </a:cxn>
                <a:cxn ang="0">
                  <a:pos x="1043" y="227"/>
                </a:cxn>
                <a:cxn ang="0">
                  <a:pos x="1043" y="0"/>
                </a:cxn>
              </a:cxnLst>
              <a:rect l="0" t="0" r="r" b="b"/>
              <a:pathLst>
                <a:path w="1043" h="227">
                  <a:moveTo>
                    <a:pt x="0" y="227"/>
                  </a:moveTo>
                  <a:lnTo>
                    <a:pt x="1043" y="227"/>
                  </a:lnTo>
                  <a:lnTo>
                    <a:pt x="1043" y="0"/>
                  </a:lnTo>
                </a:path>
              </a:pathLst>
            </a:custGeom>
            <a:noFill/>
            <a:ln w="28575" cap="flat" cmpd="sng">
              <a:solidFill>
                <a:schemeClr val="tx2"/>
              </a:solidFill>
              <a:prstDash val="solid"/>
              <a:round/>
              <a:headEnd type="none" w="lg" len="lg"/>
              <a:tailEnd type="none" w="lg" len="lg"/>
            </a:ln>
            <a:effectLst/>
          </p:spPr>
          <p:txBody>
            <a:bodyPr>
              <a:spAutoFit/>
            </a:bodyPr>
            <a:lstStyle/>
            <a:p>
              <a:pPr algn="ctr"/>
              <a:endParaRPr lang="en-US">
                <a:solidFill>
                  <a:schemeClr val="tx2"/>
                </a:solidFill>
              </a:endParaRPr>
            </a:p>
          </p:txBody>
        </p:sp>
        <p:sp>
          <p:nvSpPr>
            <p:cNvPr id="22562" name="Text Box 34"/>
            <p:cNvSpPr txBox="1">
              <a:spLocks noChangeArrowheads="1"/>
            </p:cNvSpPr>
            <p:nvPr/>
          </p:nvSpPr>
          <p:spPr bwMode="auto">
            <a:xfrm>
              <a:off x="2517" y="1298"/>
              <a:ext cx="907" cy="250"/>
            </a:xfrm>
            <a:prstGeom prst="rect">
              <a:avLst/>
            </a:prstGeom>
            <a:noFill/>
            <a:ln w="28575" algn="ctr">
              <a:noFill/>
              <a:miter lim="800000"/>
              <a:headEnd type="none" w="lg" len="lg"/>
              <a:tailEnd type="none" w="lg" len="lg"/>
            </a:ln>
            <a:effectLst/>
          </p:spPr>
          <p:txBody>
            <a:bodyPr wrap="square">
              <a:spAutoFit/>
            </a:bodyPr>
            <a:lstStyle/>
            <a:p>
              <a:pPr algn="ctr"/>
              <a:r>
                <a:rPr lang="en-GB" sz="2000" i="1" dirty="0">
                  <a:solidFill>
                    <a:schemeClr val="tx2"/>
                  </a:solidFill>
                </a:rPr>
                <a:t>Schedules </a:t>
              </a:r>
              <a:endParaRPr lang="en-US" altLang="zh-CN" sz="2000" i="1" dirty="0">
                <a:solidFill>
                  <a:schemeClr val="tx2"/>
                </a:solidFill>
              </a:endParaRPr>
            </a:p>
          </p:txBody>
        </p:sp>
        <p:sp>
          <p:nvSpPr>
            <p:cNvPr id="22563" name="Text Box 35"/>
            <p:cNvSpPr txBox="1">
              <a:spLocks noChangeArrowheads="1"/>
            </p:cNvSpPr>
            <p:nvPr/>
          </p:nvSpPr>
          <p:spPr bwMode="auto">
            <a:xfrm>
              <a:off x="2426" y="2251"/>
              <a:ext cx="1225" cy="250"/>
            </a:xfrm>
            <a:prstGeom prst="rect">
              <a:avLst/>
            </a:prstGeom>
            <a:noFill/>
            <a:ln w="28575" algn="ctr">
              <a:noFill/>
              <a:miter lim="800000"/>
              <a:headEnd type="none" w="lg" len="lg"/>
              <a:tailEnd type="none" w="lg" len="lg"/>
            </a:ln>
            <a:effectLst/>
          </p:spPr>
          <p:txBody>
            <a:bodyPr wrap="square">
              <a:spAutoFit/>
            </a:bodyPr>
            <a:lstStyle/>
            <a:p>
              <a:pPr algn="ctr"/>
              <a:r>
                <a:rPr lang="en-GB" sz="2000" i="1" dirty="0">
                  <a:solidFill>
                    <a:schemeClr val="tx2"/>
                  </a:solidFill>
                </a:rPr>
                <a:t>Has scheduled </a:t>
              </a:r>
              <a:endParaRPr lang="en-US" altLang="zh-CN" sz="2000" i="1" dirty="0">
                <a:solidFill>
                  <a:schemeClr val="tx2"/>
                </a:solidFill>
              </a:endParaRPr>
            </a:p>
          </p:txBody>
        </p:sp>
        <p:sp>
          <p:nvSpPr>
            <p:cNvPr id="22569" name="Text Box 41"/>
            <p:cNvSpPr txBox="1">
              <a:spLocks noChangeArrowheads="1"/>
            </p:cNvSpPr>
            <p:nvPr/>
          </p:nvSpPr>
          <p:spPr bwMode="auto">
            <a:xfrm>
              <a:off x="2517" y="1480"/>
              <a:ext cx="227" cy="250"/>
            </a:xfrm>
            <a:prstGeom prst="rect">
              <a:avLst/>
            </a:prstGeom>
            <a:noFill/>
            <a:ln w="28575" algn="ctr">
              <a:noFill/>
              <a:miter lim="800000"/>
              <a:headEnd type="none" w="lg" len="lg"/>
              <a:tailEnd type="none" w="lg" len="lg"/>
            </a:ln>
            <a:effectLst/>
          </p:spPr>
          <p:txBody>
            <a:bodyPr>
              <a:spAutoFit/>
            </a:bodyPr>
            <a:lstStyle/>
            <a:p>
              <a:pPr algn="ctr"/>
              <a:r>
                <a:rPr lang="en-GB" sz="2000">
                  <a:solidFill>
                    <a:schemeClr val="tx2"/>
                  </a:solidFill>
                </a:rPr>
                <a:t>1 </a:t>
              </a:r>
              <a:endParaRPr lang="en-US" altLang="zh-CN" sz="2000">
                <a:solidFill>
                  <a:schemeClr val="tx2"/>
                </a:solidFill>
              </a:endParaRPr>
            </a:p>
          </p:txBody>
        </p:sp>
        <p:sp>
          <p:nvSpPr>
            <p:cNvPr id="22570" name="Text Box 42"/>
            <p:cNvSpPr txBox="1">
              <a:spLocks noChangeArrowheads="1"/>
            </p:cNvSpPr>
            <p:nvPr/>
          </p:nvSpPr>
          <p:spPr bwMode="auto">
            <a:xfrm>
              <a:off x="2880" y="1525"/>
              <a:ext cx="363" cy="250"/>
            </a:xfrm>
            <a:prstGeom prst="rect">
              <a:avLst/>
            </a:prstGeom>
            <a:noFill/>
            <a:ln w="28575" algn="ctr">
              <a:noFill/>
              <a:miter lim="800000"/>
              <a:headEnd type="none" w="lg" len="lg"/>
              <a:tailEnd type="none" w="lg" len="lg"/>
            </a:ln>
            <a:effectLst/>
          </p:spPr>
          <p:txBody>
            <a:bodyPr>
              <a:spAutoFit/>
            </a:bodyPr>
            <a:lstStyle/>
            <a:p>
              <a:pPr algn="ctr"/>
              <a:r>
                <a:rPr lang="en-GB" sz="2000">
                  <a:solidFill>
                    <a:schemeClr val="tx2"/>
                  </a:solidFill>
                </a:rPr>
                <a:t>0..* </a:t>
              </a:r>
              <a:endParaRPr lang="en-US" altLang="zh-CN" sz="2000">
                <a:solidFill>
                  <a:schemeClr val="tx2"/>
                </a:solidFill>
              </a:endParaRPr>
            </a:p>
          </p:txBody>
        </p:sp>
        <p:sp>
          <p:nvSpPr>
            <p:cNvPr id="22571" name="Text Box 43"/>
            <p:cNvSpPr txBox="1">
              <a:spLocks noChangeArrowheads="1"/>
            </p:cNvSpPr>
            <p:nvPr/>
          </p:nvSpPr>
          <p:spPr bwMode="auto">
            <a:xfrm>
              <a:off x="2517" y="2069"/>
              <a:ext cx="363" cy="250"/>
            </a:xfrm>
            <a:prstGeom prst="rect">
              <a:avLst/>
            </a:prstGeom>
            <a:noFill/>
            <a:ln w="28575" algn="ctr">
              <a:noFill/>
              <a:miter lim="800000"/>
              <a:headEnd type="none" w="lg" len="lg"/>
              <a:tailEnd type="none" w="lg" len="lg"/>
            </a:ln>
            <a:effectLst/>
          </p:spPr>
          <p:txBody>
            <a:bodyPr>
              <a:spAutoFit/>
            </a:bodyPr>
            <a:lstStyle/>
            <a:p>
              <a:pPr algn="ctr"/>
              <a:r>
                <a:rPr lang="en-GB" sz="2000">
                  <a:solidFill>
                    <a:schemeClr val="tx2"/>
                  </a:solidFill>
                </a:rPr>
                <a:t>1..* </a:t>
              </a:r>
              <a:endParaRPr lang="en-US" altLang="zh-CN" sz="2000">
                <a:solidFill>
                  <a:schemeClr val="tx2"/>
                </a:solidFill>
              </a:endParaRPr>
            </a:p>
          </p:txBody>
        </p:sp>
        <p:sp>
          <p:nvSpPr>
            <p:cNvPr id="22572" name="Text Box 44"/>
            <p:cNvSpPr txBox="1">
              <a:spLocks noChangeArrowheads="1"/>
            </p:cNvSpPr>
            <p:nvPr/>
          </p:nvSpPr>
          <p:spPr bwMode="auto">
            <a:xfrm>
              <a:off x="2925" y="2024"/>
              <a:ext cx="363" cy="250"/>
            </a:xfrm>
            <a:prstGeom prst="rect">
              <a:avLst/>
            </a:prstGeom>
            <a:noFill/>
            <a:ln w="28575" algn="ctr">
              <a:noFill/>
              <a:miter lim="800000"/>
              <a:headEnd type="none" w="lg" len="lg"/>
              <a:tailEnd type="none" w="lg" len="lg"/>
            </a:ln>
            <a:effectLst/>
          </p:spPr>
          <p:txBody>
            <a:bodyPr>
              <a:spAutoFit/>
            </a:bodyPr>
            <a:lstStyle/>
            <a:p>
              <a:pPr algn="ctr"/>
              <a:r>
                <a:rPr lang="en-GB" sz="2000">
                  <a:solidFill>
                    <a:schemeClr val="tx2"/>
                  </a:solidFill>
                </a:rPr>
                <a:t>0..* </a:t>
              </a:r>
              <a:endParaRPr lang="en-US" altLang="zh-CN" sz="2000">
                <a:solidFill>
                  <a:schemeClr val="tx2"/>
                </a:solidFill>
              </a:endParaRPr>
            </a:p>
          </p:txBody>
        </p:sp>
      </p:grpSp>
      <p:grpSp>
        <p:nvGrpSpPr>
          <p:cNvPr id="22581" name="Group 53"/>
          <p:cNvGrpSpPr>
            <a:grpSpLocks/>
          </p:cNvGrpSpPr>
          <p:nvPr/>
        </p:nvGrpSpPr>
        <p:grpSpPr bwMode="auto">
          <a:xfrm>
            <a:off x="5219700" y="3213101"/>
            <a:ext cx="1979613" cy="1233488"/>
            <a:chOff x="3288" y="2024"/>
            <a:chExt cx="1247" cy="777"/>
          </a:xfrm>
        </p:grpSpPr>
        <p:sp>
          <p:nvSpPr>
            <p:cNvPr id="22554" name="Text Box 26"/>
            <p:cNvSpPr txBox="1">
              <a:spLocks noChangeArrowheads="1"/>
            </p:cNvSpPr>
            <p:nvPr/>
          </p:nvSpPr>
          <p:spPr bwMode="auto">
            <a:xfrm>
              <a:off x="3288" y="2568"/>
              <a:ext cx="726" cy="233"/>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a:solidFill>
                    <a:schemeClr val="tx2"/>
                  </a:solidFill>
                </a:rPr>
                <a:t>Bill</a:t>
              </a:r>
              <a:endParaRPr lang="en-US" altLang="zh-CN">
                <a:solidFill>
                  <a:schemeClr val="tx2"/>
                </a:solidFill>
              </a:endParaRPr>
            </a:p>
          </p:txBody>
        </p:sp>
        <p:sp>
          <p:nvSpPr>
            <p:cNvPr id="22555" name="Line 27"/>
            <p:cNvSpPr>
              <a:spLocks noChangeShapeType="1"/>
            </p:cNvSpPr>
            <p:nvPr/>
          </p:nvSpPr>
          <p:spPr bwMode="auto">
            <a:xfrm>
              <a:off x="3651" y="2069"/>
              <a:ext cx="0" cy="499"/>
            </a:xfrm>
            <a:prstGeom prst="line">
              <a:avLst/>
            </a:prstGeom>
            <a:noFill/>
            <a:ln w="28575">
              <a:solidFill>
                <a:schemeClr val="tx2"/>
              </a:solidFill>
              <a:round/>
              <a:headEnd type="none" w="lg" len="lg"/>
              <a:tailEnd type="none" w="lg" len="lg"/>
            </a:ln>
            <a:effectLst/>
          </p:spPr>
          <p:txBody>
            <a:bodyPr>
              <a:spAutoFit/>
            </a:bodyPr>
            <a:lstStyle/>
            <a:p>
              <a:pPr algn="ctr"/>
              <a:endParaRPr lang="en-US">
                <a:solidFill>
                  <a:schemeClr val="tx2"/>
                </a:solidFill>
              </a:endParaRPr>
            </a:p>
          </p:txBody>
        </p:sp>
        <p:sp>
          <p:nvSpPr>
            <p:cNvPr id="22564" name="Text Box 36"/>
            <p:cNvSpPr txBox="1">
              <a:spLocks noChangeArrowheads="1"/>
            </p:cNvSpPr>
            <p:nvPr/>
          </p:nvSpPr>
          <p:spPr bwMode="auto">
            <a:xfrm>
              <a:off x="3764" y="2160"/>
              <a:ext cx="771" cy="250"/>
            </a:xfrm>
            <a:prstGeom prst="rect">
              <a:avLst/>
            </a:prstGeom>
            <a:noFill/>
            <a:ln w="28575" algn="ctr">
              <a:noFill/>
              <a:miter lim="800000"/>
              <a:headEnd type="none" w="lg" len="lg"/>
              <a:tailEnd type="none" w="lg" len="lg"/>
            </a:ln>
            <a:effectLst/>
          </p:spPr>
          <p:txBody>
            <a:bodyPr>
              <a:spAutoFit/>
            </a:bodyPr>
            <a:lstStyle/>
            <a:p>
              <a:pPr algn="ctr"/>
              <a:r>
                <a:rPr lang="en-GB" sz="2000" i="1" dirty="0">
                  <a:solidFill>
                    <a:schemeClr val="tx2"/>
                  </a:solidFill>
                </a:rPr>
                <a:t>Leads to </a:t>
              </a:r>
              <a:endParaRPr lang="en-US" altLang="zh-CN" sz="2000" i="1" dirty="0">
                <a:solidFill>
                  <a:schemeClr val="tx2"/>
                </a:solidFill>
              </a:endParaRPr>
            </a:p>
          </p:txBody>
        </p:sp>
        <p:sp>
          <p:nvSpPr>
            <p:cNvPr id="22573" name="Text Box 45"/>
            <p:cNvSpPr txBox="1">
              <a:spLocks noChangeArrowheads="1"/>
            </p:cNvSpPr>
            <p:nvPr/>
          </p:nvSpPr>
          <p:spPr bwMode="auto">
            <a:xfrm>
              <a:off x="3606" y="2024"/>
              <a:ext cx="227" cy="250"/>
            </a:xfrm>
            <a:prstGeom prst="rect">
              <a:avLst/>
            </a:prstGeom>
            <a:noFill/>
            <a:ln w="28575" algn="ctr">
              <a:noFill/>
              <a:miter lim="800000"/>
              <a:headEnd type="none" w="lg" len="lg"/>
              <a:tailEnd type="none" w="lg" len="lg"/>
            </a:ln>
            <a:effectLst/>
          </p:spPr>
          <p:txBody>
            <a:bodyPr>
              <a:spAutoFit/>
            </a:bodyPr>
            <a:lstStyle/>
            <a:p>
              <a:pPr algn="ctr"/>
              <a:r>
                <a:rPr lang="en-GB" sz="2000" dirty="0">
                  <a:solidFill>
                    <a:schemeClr val="tx2"/>
                  </a:solidFill>
                </a:rPr>
                <a:t>1 </a:t>
              </a:r>
              <a:endParaRPr lang="en-US" altLang="zh-CN" sz="2000" dirty="0">
                <a:solidFill>
                  <a:schemeClr val="tx2"/>
                </a:solidFill>
              </a:endParaRPr>
            </a:p>
          </p:txBody>
        </p:sp>
        <p:sp>
          <p:nvSpPr>
            <p:cNvPr id="22574" name="Text Box 46"/>
            <p:cNvSpPr txBox="1">
              <a:spLocks noChangeArrowheads="1"/>
            </p:cNvSpPr>
            <p:nvPr/>
          </p:nvSpPr>
          <p:spPr bwMode="auto">
            <a:xfrm>
              <a:off x="3606" y="2341"/>
              <a:ext cx="408" cy="250"/>
            </a:xfrm>
            <a:prstGeom prst="rect">
              <a:avLst/>
            </a:prstGeom>
            <a:noFill/>
            <a:ln w="28575" algn="ctr">
              <a:noFill/>
              <a:miter lim="800000"/>
              <a:headEnd type="none" w="lg" len="lg"/>
              <a:tailEnd type="none" w="lg" len="lg"/>
            </a:ln>
            <a:effectLst/>
          </p:spPr>
          <p:txBody>
            <a:bodyPr>
              <a:spAutoFit/>
            </a:bodyPr>
            <a:lstStyle/>
            <a:p>
              <a:pPr algn="ctr"/>
              <a:r>
                <a:rPr lang="en-GB" sz="2000">
                  <a:solidFill>
                    <a:schemeClr val="tx2"/>
                  </a:solidFill>
                </a:rPr>
                <a:t>0..* </a:t>
              </a:r>
              <a:endParaRPr lang="en-US" altLang="zh-CN" sz="2000">
                <a:solidFill>
                  <a:schemeClr val="tx2"/>
                </a:solidFill>
              </a:endParaRPr>
            </a:p>
          </p:txBody>
        </p:sp>
      </p:grpSp>
      <p:grpSp>
        <p:nvGrpSpPr>
          <p:cNvPr id="22582" name="Group 54"/>
          <p:cNvGrpSpPr>
            <a:grpSpLocks/>
          </p:cNvGrpSpPr>
          <p:nvPr/>
        </p:nvGrpSpPr>
        <p:grpSpPr bwMode="auto">
          <a:xfrm>
            <a:off x="3621088" y="1341438"/>
            <a:ext cx="4911726" cy="863600"/>
            <a:chOff x="2281" y="845"/>
            <a:chExt cx="3094" cy="544"/>
          </a:xfrm>
        </p:grpSpPr>
        <p:sp>
          <p:nvSpPr>
            <p:cNvPr id="22556" name="Text Box 28"/>
            <p:cNvSpPr txBox="1">
              <a:spLocks noChangeArrowheads="1"/>
            </p:cNvSpPr>
            <p:nvPr/>
          </p:nvSpPr>
          <p:spPr bwMode="auto">
            <a:xfrm>
              <a:off x="2744" y="845"/>
              <a:ext cx="998" cy="233"/>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a:solidFill>
                    <a:schemeClr val="tx2"/>
                  </a:solidFill>
                </a:rPr>
                <a:t>Symptom </a:t>
              </a:r>
              <a:endParaRPr lang="en-US" altLang="zh-CN">
                <a:solidFill>
                  <a:schemeClr val="tx2"/>
                </a:solidFill>
              </a:endParaRPr>
            </a:p>
          </p:txBody>
        </p:sp>
        <p:sp>
          <p:nvSpPr>
            <p:cNvPr id="22557" name="Freeform 29"/>
            <p:cNvSpPr>
              <a:spLocks/>
            </p:cNvSpPr>
            <p:nvPr/>
          </p:nvSpPr>
          <p:spPr bwMode="auto">
            <a:xfrm>
              <a:off x="2281" y="1026"/>
              <a:ext cx="463" cy="363"/>
            </a:xfrm>
            <a:custGeom>
              <a:avLst/>
              <a:gdLst/>
              <a:ahLst/>
              <a:cxnLst>
                <a:cxn ang="0">
                  <a:pos x="0" y="363"/>
                </a:cxn>
                <a:cxn ang="0">
                  <a:pos x="0" y="0"/>
                </a:cxn>
                <a:cxn ang="0">
                  <a:pos x="454" y="0"/>
                </a:cxn>
              </a:cxnLst>
              <a:rect l="0" t="0" r="r" b="b"/>
              <a:pathLst>
                <a:path w="454" h="363">
                  <a:moveTo>
                    <a:pt x="0" y="363"/>
                  </a:moveTo>
                  <a:lnTo>
                    <a:pt x="0" y="0"/>
                  </a:lnTo>
                  <a:lnTo>
                    <a:pt x="454" y="0"/>
                  </a:lnTo>
                </a:path>
              </a:pathLst>
            </a:custGeom>
            <a:noFill/>
            <a:ln w="28575" cap="flat" cmpd="sng">
              <a:solidFill>
                <a:schemeClr val="tx2"/>
              </a:solidFill>
              <a:prstDash val="solid"/>
              <a:round/>
              <a:headEnd type="none" w="lg" len="lg"/>
              <a:tailEnd type="none" w="lg" len="lg"/>
            </a:ln>
            <a:effectLst/>
          </p:spPr>
          <p:txBody>
            <a:bodyPr wrap="square">
              <a:spAutoFit/>
            </a:bodyPr>
            <a:lstStyle/>
            <a:p>
              <a:pPr algn="ctr"/>
              <a:endParaRPr lang="en-US">
                <a:solidFill>
                  <a:schemeClr val="tx2"/>
                </a:solidFill>
              </a:endParaRPr>
            </a:p>
          </p:txBody>
        </p:sp>
        <p:sp>
          <p:nvSpPr>
            <p:cNvPr id="22558" name="Text Box 30"/>
            <p:cNvSpPr txBox="1">
              <a:spLocks noChangeArrowheads="1"/>
            </p:cNvSpPr>
            <p:nvPr/>
          </p:nvSpPr>
          <p:spPr bwMode="auto">
            <a:xfrm>
              <a:off x="4604" y="856"/>
              <a:ext cx="771" cy="233"/>
            </a:xfrm>
            <a:prstGeom prst="rect">
              <a:avLst/>
            </a:prstGeom>
            <a:noFill/>
            <a:ln w="28575" algn="ctr">
              <a:solidFill>
                <a:schemeClr val="tx2"/>
              </a:solidFill>
              <a:miter lim="800000"/>
              <a:headEnd type="none" w="lg" len="lg"/>
              <a:tailEnd type="none" w="lg" len="lg"/>
            </a:ln>
            <a:effectLst/>
          </p:spPr>
          <p:txBody>
            <a:bodyPr>
              <a:spAutoFit/>
            </a:bodyPr>
            <a:lstStyle/>
            <a:p>
              <a:pPr algn="ctr"/>
              <a:r>
                <a:rPr lang="en-GB">
                  <a:solidFill>
                    <a:schemeClr val="tx2"/>
                  </a:solidFill>
                </a:rPr>
                <a:t>Illness </a:t>
              </a:r>
              <a:endParaRPr lang="en-US" altLang="zh-CN">
                <a:solidFill>
                  <a:schemeClr val="tx2"/>
                </a:solidFill>
              </a:endParaRPr>
            </a:p>
          </p:txBody>
        </p:sp>
        <p:sp>
          <p:nvSpPr>
            <p:cNvPr id="22559" name="Line 31"/>
            <p:cNvSpPr>
              <a:spLocks noChangeShapeType="1"/>
            </p:cNvSpPr>
            <p:nvPr/>
          </p:nvSpPr>
          <p:spPr bwMode="auto">
            <a:xfrm>
              <a:off x="3742" y="981"/>
              <a:ext cx="862" cy="0"/>
            </a:xfrm>
            <a:prstGeom prst="line">
              <a:avLst/>
            </a:prstGeom>
            <a:noFill/>
            <a:ln w="28575">
              <a:solidFill>
                <a:schemeClr val="tx2"/>
              </a:solidFill>
              <a:round/>
              <a:headEnd type="none" w="lg" len="lg"/>
              <a:tailEnd type="none" w="lg" len="lg"/>
            </a:ln>
            <a:effectLst/>
          </p:spPr>
          <p:txBody>
            <a:bodyPr>
              <a:spAutoFit/>
            </a:bodyPr>
            <a:lstStyle/>
            <a:p>
              <a:pPr algn="ctr"/>
              <a:endParaRPr lang="en-US">
                <a:solidFill>
                  <a:schemeClr val="tx2"/>
                </a:solidFill>
              </a:endParaRPr>
            </a:p>
          </p:txBody>
        </p:sp>
        <p:sp>
          <p:nvSpPr>
            <p:cNvPr id="22575" name="Text Box 47"/>
            <p:cNvSpPr txBox="1">
              <a:spLocks noChangeArrowheads="1"/>
            </p:cNvSpPr>
            <p:nvPr/>
          </p:nvSpPr>
          <p:spPr bwMode="auto">
            <a:xfrm>
              <a:off x="3696" y="935"/>
              <a:ext cx="408" cy="250"/>
            </a:xfrm>
            <a:prstGeom prst="rect">
              <a:avLst/>
            </a:prstGeom>
            <a:noFill/>
            <a:ln w="28575" algn="ctr">
              <a:noFill/>
              <a:miter lim="800000"/>
              <a:headEnd type="none" w="lg" len="lg"/>
              <a:tailEnd type="none" w="lg" len="lg"/>
            </a:ln>
            <a:effectLst/>
          </p:spPr>
          <p:txBody>
            <a:bodyPr>
              <a:spAutoFit/>
            </a:bodyPr>
            <a:lstStyle/>
            <a:p>
              <a:pPr algn="ctr"/>
              <a:r>
                <a:rPr lang="en-GB" sz="2000">
                  <a:solidFill>
                    <a:schemeClr val="tx2"/>
                  </a:solidFill>
                </a:rPr>
                <a:t>0..* </a:t>
              </a:r>
              <a:endParaRPr lang="en-US" altLang="zh-CN" sz="2000">
                <a:solidFill>
                  <a:schemeClr val="tx2"/>
                </a:solidFill>
              </a:endParaRPr>
            </a:p>
          </p:txBody>
        </p:sp>
        <p:sp>
          <p:nvSpPr>
            <p:cNvPr id="22576" name="Text Box 48"/>
            <p:cNvSpPr txBox="1">
              <a:spLocks noChangeArrowheads="1"/>
            </p:cNvSpPr>
            <p:nvPr/>
          </p:nvSpPr>
          <p:spPr bwMode="auto">
            <a:xfrm>
              <a:off x="4195" y="935"/>
              <a:ext cx="408" cy="250"/>
            </a:xfrm>
            <a:prstGeom prst="rect">
              <a:avLst/>
            </a:prstGeom>
            <a:noFill/>
            <a:ln w="28575" algn="ctr">
              <a:noFill/>
              <a:miter lim="800000"/>
              <a:headEnd type="none" w="lg" len="lg"/>
              <a:tailEnd type="none" w="lg" len="lg"/>
            </a:ln>
            <a:effectLst/>
          </p:spPr>
          <p:txBody>
            <a:bodyPr>
              <a:spAutoFit/>
            </a:bodyPr>
            <a:lstStyle/>
            <a:p>
              <a:pPr algn="ctr"/>
              <a:r>
                <a:rPr lang="en-GB" sz="2000">
                  <a:solidFill>
                    <a:schemeClr val="tx2"/>
                  </a:solidFill>
                </a:rPr>
                <a:t>0..* </a:t>
              </a:r>
              <a:endParaRPr lang="en-US" altLang="zh-CN" sz="2000">
                <a:solidFill>
                  <a:schemeClr val="tx2"/>
                </a:solidFill>
              </a:endParaRPr>
            </a:p>
          </p:txBody>
        </p:sp>
      </p:grpSp>
      <p:sp>
        <p:nvSpPr>
          <p:cNvPr id="53" name="AutoShape 19"/>
          <p:cNvSpPr>
            <a:spLocks noChangeArrowheads="1"/>
          </p:cNvSpPr>
          <p:nvPr/>
        </p:nvSpPr>
        <p:spPr bwMode="auto">
          <a:xfrm rot="5400000">
            <a:off x="2041524" y="5586726"/>
            <a:ext cx="333377" cy="436778"/>
          </a:xfrm>
          <a:prstGeom prst="diamond">
            <a:avLst/>
          </a:prstGeom>
          <a:noFill/>
          <a:ln w="28575" algn="ctr">
            <a:solidFill>
              <a:schemeClr val="tx2"/>
            </a:solidFill>
            <a:miter lim="800000"/>
            <a:headEnd type="none" w="lg" len="lg"/>
            <a:tailEnd type="none" w="lg" len="lg"/>
          </a:ln>
          <a:effectLst/>
        </p:spPr>
        <p:txBody>
          <a:bodyPr wrap="square" anchor="ctr">
            <a:spAutoFit/>
          </a:bodyPr>
          <a:lstStyle/>
          <a:p>
            <a:pPr algn="ctr"/>
            <a:endParaRPr lang="en-US"/>
          </a:p>
        </p:txBody>
      </p:sp>
      <p:sp>
        <p:nvSpPr>
          <p:cNvPr id="54" name="Freeform 17"/>
          <p:cNvSpPr>
            <a:spLocks/>
          </p:cNvSpPr>
          <p:nvPr/>
        </p:nvSpPr>
        <p:spPr bwMode="auto">
          <a:xfrm>
            <a:off x="899319" y="3898529"/>
            <a:ext cx="2663825" cy="369332"/>
          </a:xfrm>
          <a:custGeom>
            <a:avLst/>
            <a:gdLst/>
            <a:ahLst/>
            <a:cxnLst>
              <a:cxn ang="0">
                <a:pos x="0" y="0"/>
              </a:cxn>
              <a:cxn ang="0">
                <a:pos x="0" y="862"/>
              </a:cxn>
              <a:cxn ang="0">
                <a:pos x="1678" y="862"/>
              </a:cxn>
              <a:cxn ang="0">
                <a:pos x="1678" y="0"/>
              </a:cxn>
            </a:cxnLst>
            <a:rect l="0" t="0" r="r" b="b"/>
            <a:pathLst>
              <a:path w="1678" h="862">
                <a:moveTo>
                  <a:pt x="0" y="0"/>
                </a:moveTo>
                <a:lnTo>
                  <a:pt x="0" y="862"/>
                </a:lnTo>
                <a:lnTo>
                  <a:pt x="1678" y="862"/>
                </a:lnTo>
                <a:lnTo>
                  <a:pt x="1678" y="0"/>
                </a:lnTo>
              </a:path>
            </a:pathLst>
          </a:custGeom>
          <a:noFill/>
          <a:ln w="28575" cap="flat" cmpd="sng">
            <a:solidFill>
              <a:schemeClr val="tx2"/>
            </a:solidFill>
            <a:prstDash val="solid"/>
            <a:round/>
            <a:headEnd type="none" w="lg" len="lg"/>
            <a:tailEnd type="none" w="lg" len="lg"/>
          </a:ln>
          <a:effectLst/>
        </p:spPr>
        <p:txBody>
          <a:bodyPr>
            <a:spAutoFit/>
          </a:bodyPr>
          <a:lstStyle/>
          <a:p>
            <a:pPr algn="ctr"/>
            <a:endParaRPr lang="en-US"/>
          </a:p>
        </p:txBody>
      </p:sp>
      <p:sp>
        <p:nvSpPr>
          <p:cNvPr id="4" name="Slide Number Placeholder 3">
            <a:extLst>
              <a:ext uri="{FF2B5EF4-FFF2-40B4-BE49-F238E27FC236}">
                <a16:creationId xmlns:a16="http://schemas.microsoft.com/office/drawing/2014/main" id="{56046245-846F-7140-9878-EA6E78337F35}"/>
              </a:ext>
            </a:extLst>
          </p:cNvPr>
          <p:cNvSpPr>
            <a:spLocks noGrp="1"/>
          </p:cNvSpPr>
          <p:nvPr>
            <p:ph type="sldNum" sz="quarter" idx="4"/>
          </p:nvPr>
        </p:nvSpPr>
        <p:spPr/>
        <p:txBody>
          <a:bodyPr/>
          <a:lstStyle/>
          <a:p>
            <a:fld id="{D6255EFE-3ACE-DA4E-80CE-7588690A9A08}" type="slidenum">
              <a:rPr lang="en-GB" smtClean="0"/>
              <a:t>38</a:t>
            </a:fld>
            <a:endParaRPr lang="en-GB"/>
          </a:p>
        </p:txBody>
      </p:sp>
    </p:spTree>
    <p:extLst>
      <p:ext uri="{BB962C8B-B14F-4D97-AF65-F5344CB8AC3E}">
        <p14:creationId xmlns:p14="http://schemas.microsoft.com/office/powerpoint/2010/main" val="3512918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77"/>
                                        </p:tgtEl>
                                        <p:attrNameLst>
                                          <p:attrName>style.visibility</p:attrName>
                                        </p:attrNameLst>
                                      </p:cBhvr>
                                      <p:to>
                                        <p:strVal val="visible"/>
                                      </p:to>
                                    </p:set>
                                    <p:animEffect transition="in" filter="blinds(horizontal)">
                                      <p:cBhvr>
                                        <p:cTn id="7" dur="500"/>
                                        <p:tgtEl>
                                          <p:spTgt spid="225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79"/>
                                        </p:tgtEl>
                                        <p:attrNameLst>
                                          <p:attrName>style.visibility</p:attrName>
                                        </p:attrNameLst>
                                      </p:cBhvr>
                                      <p:to>
                                        <p:strVal val="visible"/>
                                      </p:to>
                                    </p:set>
                                    <p:animEffect transition="in" filter="blinds(horizontal)">
                                      <p:cBhvr>
                                        <p:cTn id="12" dur="500"/>
                                        <p:tgtEl>
                                          <p:spTgt spid="2257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580"/>
                                        </p:tgtEl>
                                        <p:attrNameLst>
                                          <p:attrName>style.visibility</p:attrName>
                                        </p:attrNameLst>
                                      </p:cBhvr>
                                      <p:to>
                                        <p:strVal val="visible"/>
                                      </p:to>
                                    </p:set>
                                    <p:animEffect transition="in" filter="blinds(horizontal)">
                                      <p:cBhvr>
                                        <p:cTn id="17" dur="500"/>
                                        <p:tgtEl>
                                          <p:spTgt spid="2258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2581"/>
                                        </p:tgtEl>
                                        <p:attrNameLst>
                                          <p:attrName>style.visibility</p:attrName>
                                        </p:attrNameLst>
                                      </p:cBhvr>
                                      <p:to>
                                        <p:strVal val="visible"/>
                                      </p:to>
                                    </p:set>
                                    <p:animEffect transition="in" filter="blinds(horizontal)">
                                      <p:cBhvr>
                                        <p:cTn id="22" dur="500"/>
                                        <p:tgtEl>
                                          <p:spTgt spid="2258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2582"/>
                                        </p:tgtEl>
                                        <p:attrNameLst>
                                          <p:attrName>style.visibility</p:attrName>
                                        </p:attrNameLst>
                                      </p:cBhvr>
                                      <p:to>
                                        <p:strVal val="visible"/>
                                      </p:to>
                                    </p:set>
                                    <p:animEffect transition="in" filter="blinds(horizontal)">
                                      <p:cBhvr>
                                        <p:cTn id="27" dur="500"/>
                                        <p:tgtEl>
                                          <p:spTgt spid="2258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2583"/>
                                        </p:tgtEl>
                                        <p:attrNameLst>
                                          <p:attrName>style.visibility</p:attrName>
                                        </p:attrNameLst>
                                      </p:cBhvr>
                                      <p:to>
                                        <p:strVal val="visible"/>
                                      </p:to>
                                    </p:set>
                                    <p:animEffect transition="in" filter="blinds(horizontal)">
                                      <p:cBhvr>
                                        <p:cTn id="32" dur="500"/>
                                        <p:tgtEl>
                                          <p:spTgt spid="22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a:bodyPr>
          <a:lstStyle/>
          <a:p>
            <a:r>
              <a:rPr lang="en-GB" sz="3600" dirty="0"/>
              <a:t>Attributes and Methods</a:t>
            </a:r>
            <a:endParaRPr lang="en-US" altLang="zh-CN" sz="3600" dirty="0">
              <a:ea typeface="宋体" pitchFamily="2" charset="-122"/>
            </a:endParaRPr>
          </a:p>
        </p:txBody>
      </p:sp>
      <p:sp>
        <p:nvSpPr>
          <p:cNvPr id="26627" name="Rectangle 3"/>
          <p:cNvSpPr>
            <a:spLocks noGrp="1" noChangeArrowheads="1"/>
          </p:cNvSpPr>
          <p:nvPr>
            <p:ph type="body" idx="1"/>
          </p:nvPr>
        </p:nvSpPr>
        <p:spPr/>
        <p:txBody>
          <a:bodyPr/>
          <a:lstStyle/>
          <a:p>
            <a:pPr>
              <a:lnSpc>
                <a:spcPct val="80000"/>
              </a:lnSpc>
            </a:pPr>
            <a:r>
              <a:rPr lang="en-GB" sz="2800" b="1"/>
              <a:t>Attributes</a:t>
            </a:r>
            <a:r>
              <a:rPr lang="en-GB" sz="2800"/>
              <a:t> (also called properties) </a:t>
            </a:r>
          </a:p>
          <a:p>
            <a:pPr lvl="1">
              <a:lnSpc>
                <a:spcPct val="80000"/>
              </a:lnSpc>
            </a:pPr>
            <a:r>
              <a:rPr lang="en-GB" sz="2400"/>
              <a:t>Representation of object’s state</a:t>
            </a:r>
          </a:p>
          <a:p>
            <a:pPr lvl="1">
              <a:lnSpc>
                <a:spcPct val="80000"/>
              </a:lnSpc>
            </a:pPr>
            <a:r>
              <a:rPr lang="en-GB" sz="2400"/>
              <a:t>Similar to variables in the sense that they can store values</a:t>
            </a:r>
          </a:p>
          <a:p>
            <a:pPr>
              <a:lnSpc>
                <a:spcPct val="80000"/>
              </a:lnSpc>
            </a:pPr>
            <a:r>
              <a:rPr lang="en-GB" sz="2800" b="1"/>
              <a:t>Methods</a:t>
            </a:r>
            <a:r>
              <a:rPr lang="en-GB" sz="2800"/>
              <a:t>: ( also called operations) </a:t>
            </a:r>
          </a:p>
          <a:p>
            <a:pPr lvl="1">
              <a:lnSpc>
                <a:spcPct val="80000"/>
              </a:lnSpc>
            </a:pPr>
            <a:r>
              <a:rPr lang="en-GB" sz="2400"/>
              <a:t>Operations that can change the values of the attributes</a:t>
            </a:r>
          </a:p>
          <a:p>
            <a:pPr lvl="1">
              <a:lnSpc>
                <a:spcPct val="80000"/>
              </a:lnSpc>
            </a:pPr>
            <a:r>
              <a:rPr lang="en-GB" sz="2400"/>
              <a:t>Similar to procedures/functions</a:t>
            </a:r>
          </a:p>
          <a:p>
            <a:pPr>
              <a:lnSpc>
                <a:spcPct val="80000"/>
              </a:lnSpc>
            </a:pPr>
            <a:r>
              <a:rPr lang="en-GB" sz="2800" b="1"/>
              <a:t>Visibility</a:t>
            </a:r>
            <a:r>
              <a:rPr lang="en-GB" sz="2800"/>
              <a:t>: the level of information hiding to be enforced for the attribute/method</a:t>
            </a:r>
          </a:p>
          <a:p>
            <a:pPr lvl="1">
              <a:lnSpc>
                <a:spcPct val="80000"/>
              </a:lnSpc>
            </a:pPr>
            <a:r>
              <a:rPr lang="en-GB" sz="2400" i="1"/>
              <a:t>Public</a:t>
            </a:r>
            <a:r>
              <a:rPr lang="en-GB" sz="2400"/>
              <a:t> (+): not hidden from any object; other objects can modify its value;</a:t>
            </a:r>
          </a:p>
          <a:p>
            <a:pPr lvl="1">
              <a:lnSpc>
                <a:spcPct val="80000"/>
              </a:lnSpc>
            </a:pPr>
            <a:r>
              <a:rPr lang="en-GB" sz="2400" i="1"/>
              <a:t>Private</a:t>
            </a:r>
            <a:r>
              <a:rPr lang="en-GB" sz="2400"/>
              <a:t> (-): hidden from all other objects;</a:t>
            </a:r>
          </a:p>
          <a:p>
            <a:pPr lvl="1">
              <a:lnSpc>
                <a:spcPct val="80000"/>
              </a:lnSpc>
            </a:pPr>
            <a:r>
              <a:rPr lang="en-GB" sz="2400" i="1"/>
              <a:t>Protected</a:t>
            </a:r>
            <a:r>
              <a:rPr lang="en-GB" sz="2400"/>
              <a:t> (#): hidden from all other classes except its immediate subclasses. </a:t>
            </a:r>
            <a:endParaRPr lang="en-US" altLang="zh-CN" sz="2400">
              <a:ea typeface="宋体" pitchFamily="2" charset="-122"/>
            </a:endParaRPr>
          </a:p>
        </p:txBody>
      </p:sp>
      <p:sp>
        <p:nvSpPr>
          <p:cNvPr id="5" name="Slide Number Placeholder 4">
            <a:extLst>
              <a:ext uri="{FF2B5EF4-FFF2-40B4-BE49-F238E27FC236}">
                <a16:creationId xmlns:a16="http://schemas.microsoft.com/office/drawing/2014/main" id="{7251B5B1-77EF-CB48-9B1F-09DC1B879571}"/>
              </a:ext>
            </a:extLst>
          </p:cNvPr>
          <p:cNvSpPr>
            <a:spLocks noGrp="1"/>
          </p:cNvSpPr>
          <p:nvPr>
            <p:ph type="sldNum" sz="quarter" idx="4"/>
          </p:nvPr>
        </p:nvSpPr>
        <p:spPr/>
        <p:txBody>
          <a:bodyPr/>
          <a:lstStyle/>
          <a:p>
            <a:fld id="{D6255EFE-3ACE-DA4E-80CE-7588690A9A08}" type="slidenum">
              <a:rPr lang="en-GB" smtClean="0"/>
              <a:t>39</a:t>
            </a:fld>
            <a:endParaRPr lang="en-GB"/>
          </a:p>
        </p:txBody>
      </p:sp>
    </p:spTree>
    <p:extLst>
      <p:ext uri="{BB962C8B-B14F-4D97-AF65-F5344CB8AC3E}">
        <p14:creationId xmlns:p14="http://schemas.microsoft.com/office/powerpoint/2010/main" val="8677592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a:bodyPr>
          <a:lstStyle/>
          <a:p>
            <a:r>
              <a:rPr lang="en-GB" sz="3600" dirty="0"/>
              <a:t>Example: Attributes &amp; Methods</a:t>
            </a:r>
            <a:endParaRPr lang="en-US" altLang="zh-CN" sz="3600" dirty="0">
              <a:ea typeface="宋体" pitchFamily="2" charset="-122"/>
            </a:endParaRPr>
          </a:p>
        </p:txBody>
      </p:sp>
      <p:grpSp>
        <p:nvGrpSpPr>
          <p:cNvPr id="27656" name="Group 8"/>
          <p:cNvGrpSpPr>
            <a:grpSpLocks/>
          </p:cNvGrpSpPr>
          <p:nvPr/>
        </p:nvGrpSpPr>
        <p:grpSpPr bwMode="auto">
          <a:xfrm>
            <a:off x="941157" y="935002"/>
            <a:ext cx="1944688" cy="3786455"/>
            <a:chOff x="612" y="663"/>
            <a:chExt cx="1452" cy="2103"/>
          </a:xfrm>
        </p:grpSpPr>
        <p:sp>
          <p:nvSpPr>
            <p:cNvPr id="27653" name="Text Box 5"/>
            <p:cNvSpPr txBox="1">
              <a:spLocks noChangeArrowheads="1"/>
            </p:cNvSpPr>
            <p:nvPr/>
          </p:nvSpPr>
          <p:spPr bwMode="auto">
            <a:xfrm>
              <a:off x="612" y="663"/>
              <a:ext cx="1452" cy="2103"/>
            </a:xfrm>
            <a:prstGeom prst="rect">
              <a:avLst/>
            </a:prstGeom>
            <a:noFill/>
            <a:ln w="28575" algn="ctr">
              <a:solidFill>
                <a:schemeClr val="tx2"/>
              </a:solidFill>
              <a:miter lim="800000"/>
              <a:headEnd type="none" w="lg" len="lg"/>
              <a:tailEnd type="none" w="lg" len="lg"/>
            </a:ln>
            <a:effectLst/>
          </p:spPr>
          <p:txBody>
            <a:bodyPr>
              <a:spAutoFit/>
            </a:bodyPr>
            <a:lstStyle/>
            <a:p>
              <a:r>
                <a:rPr lang="en-GB" sz="2400" b="1" dirty="0">
                  <a:solidFill>
                    <a:schemeClr val="tx2"/>
                  </a:solidFill>
                </a:rPr>
                <a:t>Person</a:t>
              </a:r>
              <a:r>
                <a:rPr lang="en-GB" sz="2400" dirty="0">
                  <a:solidFill>
                    <a:schemeClr val="tx2"/>
                  </a:solidFill>
                </a:rPr>
                <a:t> </a:t>
              </a:r>
            </a:p>
            <a:p>
              <a:endParaRPr lang="en-GB" sz="2400" dirty="0">
                <a:solidFill>
                  <a:schemeClr val="tx2"/>
                </a:solidFill>
              </a:endParaRPr>
            </a:p>
            <a:p>
              <a:pPr algn="l"/>
              <a:r>
                <a:rPr lang="en-GB" sz="2400" dirty="0">
                  <a:solidFill>
                    <a:schemeClr val="tx2"/>
                  </a:solidFill>
                </a:rPr>
                <a:t>#surname</a:t>
              </a:r>
            </a:p>
            <a:p>
              <a:pPr algn="l"/>
              <a:r>
                <a:rPr lang="en-GB" sz="2400" dirty="0">
                  <a:solidFill>
                    <a:schemeClr val="tx2"/>
                  </a:solidFill>
                </a:rPr>
                <a:t>#first name</a:t>
              </a:r>
            </a:p>
            <a:p>
              <a:pPr algn="l"/>
              <a:r>
                <a:rPr lang="en-GB" sz="2400" dirty="0">
                  <a:solidFill>
                    <a:schemeClr val="tx2"/>
                  </a:solidFill>
                </a:rPr>
                <a:t>#address</a:t>
              </a:r>
            </a:p>
            <a:p>
              <a:pPr algn="l"/>
              <a:r>
                <a:rPr lang="en-GB" sz="2400" dirty="0">
                  <a:solidFill>
                    <a:schemeClr val="tx2"/>
                  </a:solidFill>
                </a:rPr>
                <a:t>#telephone</a:t>
              </a:r>
            </a:p>
            <a:p>
              <a:pPr algn="l"/>
              <a:r>
                <a:rPr lang="en-GB" sz="2400" dirty="0">
                  <a:solidFill>
                    <a:schemeClr val="tx2"/>
                  </a:solidFill>
                </a:rPr>
                <a:t>#date of birth</a:t>
              </a:r>
            </a:p>
            <a:p>
              <a:pPr algn="l"/>
              <a:r>
                <a:rPr lang="en-GB" sz="2400" dirty="0">
                  <a:solidFill>
                    <a:schemeClr val="tx2"/>
                  </a:solidFill>
                </a:rPr>
                <a:t>#</a:t>
              </a:r>
              <a:r>
                <a:rPr lang="en-GB" sz="2400">
                  <a:solidFill>
                    <a:schemeClr val="tx2"/>
                  </a:solidFill>
                </a:rPr>
                <a:t>/</a:t>
              </a:r>
              <a:r>
                <a:rPr lang="en-GB" sz="2400" dirty="0">
                  <a:solidFill>
                    <a:schemeClr val="tx2"/>
                  </a:solidFill>
                </a:rPr>
                <a:t>age</a:t>
              </a:r>
            </a:p>
            <a:p>
              <a:endParaRPr lang="zh-CN" altLang="en-US" sz="2400" dirty="0">
                <a:solidFill>
                  <a:schemeClr val="tx2"/>
                </a:solidFill>
              </a:endParaRPr>
            </a:p>
          </p:txBody>
        </p:sp>
        <p:sp>
          <p:nvSpPr>
            <p:cNvPr id="27654" name="Line 6"/>
            <p:cNvSpPr>
              <a:spLocks noChangeShapeType="1"/>
            </p:cNvSpPr>
            <p:nvPr/>
          </p:nvSpPr>
          <p:spPr bwMode="auto">
            <a:xfrm>
              <a:off x="612" y="981"/>
              <a:ext cx="1452" cy="0"/>
            </a:xfrm>
            <a:prstGeom prst="line">
              <a:avLst/>
            </a:prstGeom>
            <a:noFill/>
            <a:ln w="28575">
              <a:solidFill>
                <a:schemeClr val="tx2"/>
              </a:solidFill>
              <a:round/>
              <a:headEnd type="none" w="lg" len="lg"/>
              <a:tailEnd type="none" w="lg" len="lg"/>
            </a:ln>
            <a:effectLst/>
          </p:spPr>
          <p:txBody>
            <a:bodyPr>
              <a:spAutoFit/>
            </a:bodyPr>
            <a:lstStyle/>
            <a:p>
              <a:endParaRPr lang="en-US" sz="2400">
                <a:solidFill>
                  <a:schemeClr val="tx2"/>
                </a:solidFill>
              </a:endParaRPr>
            </a:p>
          </p:txBody>
        </p:sp>
        <p:sp>
          <p:nvSpPr>
            <p:cNvPr id="27655" name="Line 7"/>
            <p:cNvSpPr>
              <a:spLocks noChangeShapeType="1"/>
            </p:cNvSpPr>
            <p:nvPr/>
          </p:nvSpPr>
          <p:spPr bwMode="auto">
            <a:xfrm>
              <a:off x="612" y="2612"/>
              <a:ext cx="1452" cy="0"/>
            </a:xfrm>
            <a:prstGeom prst="line">
              <a:avLst/>
            </a:prstGeom>
            <a:noFill/>
            <a:ln w="28575">
              <a:solidFill>
                <a:schemeClr val="tx2"/>
              </a:solidFill>
              <a:round/>
              <a:headEnd type="none" w="lg" len="lg"/>
              <a:tailEnd type="none" w="lg" len="lg"/>
            </a:ln>
            <a:effectLst/>
          </p:spPr>
          <p:txBody>
            <a:bodyPr>
              <a:spAutoFit/>
            </a:bodyPr>
            <a:lstStyle/>
            <a:p>
              <a:endParaRPr lang="en-US" sz="2400">
                <a:solidFill>
                  <a:schemeClr val="tx2"/>
                </a:solidFill>
              </a:endParaRPr>
            </a:p>
          </p:txBody>
        </p:sp>
      </p:grpSp>
      <p:grpSp>
        <p:nvGrpSpPr>
          <p:cNvPr id="27660" name="Group 12"/>
          <p:cNvGrpSpPr>
            <a:grpSpLocks/>
          </p:cNvGrpSpPr>
          <p:nvPr/>
        </p:nvGrpSpPr>
        <p:grpSpPr bwMode="auto">
          <a:xfrm>
            <a:off x="4673831" y="1049895"/>
            <a:ext cx="2665412" cy="3416305"/>
            <a:chOff x="3152" y="1434"/>
            <a:chExt cx="1679" cy="2152"/>
          </a:xfrm>
        </p:grpSpPr>
        <p:sp>
          <p:nvSpPr>
            <p:cNvPr id="27657" name="Text Box 9"/>
            <p:cNvSpPr txBox="1">
              <a:spLocks noChangeArrowheads="1"/>
            </p:cNvSpPr>
            <p:nvPr/>
          </p:nvSpPr>
          <p:spPr bwMode="auto">
            <a:xfrm>
              <a:off x="3152" y="1434"/>
              <a:ext cx="1679" cy="2152"/>
            </a:xfrm>
            <a:prstGeom prst="rect">
              <a:avLst/>
            </a:prstGeom>
            <a:noFill/>
            <a:ln w="28575" algn="ctr">
              <a:solidFill>
                <a:schemeClr val="tx2"/>
              </a:solidFill>
              <a:miter lim="800000"/>
              <a:headEnd type="none" w="lg" len="lg"/>
              <a:tailEnd type="none" w="lg" len="lg"/>
            </a:ln>
            <a:effectLst/>
          </p:spPr>
          <p:txBody>
            <a:bodyPr>
              <a:spAutoFit/>
            </a:bodyPr>
            <a:lstStyle/>
            <a:p>
              <a:r>
                <a:rPr lang="en-GB" sz="2400" b="1" dirty="0">
                  <a:solidFill>
                    <a:schemeClr val="tx2"/>
                  </a:solidFill>
                </a:rPr>
                <a:t>Patient</a:t>
              </a:r>
            </a:p>
            <a:p>
              <a:endParaRPr lang="en-GB" sz="2400" b="1" dirty="0">
                <a:solidFill>
                  <a:schemeClr val="tx2"/>
                </a:solidFill>
              </a:endParaRPr>
            </a:p>
            <a:p>
              <a:pPr algn="l"/>
              <a:r>
                <a:rPr lang="en-GB" sz="2400" dirty="0">
                  <a:solidFill>
                    <a:schemeClr val="tx2"/>
                  </a:solidFill>
                </a:rPr>
                <a:t>-amount</a:t>
              </a:r>
            </a:p>
            <a:p>
              <a:pPr algn="l"/>
              <a:r>
                <a:rPr lang="en-GB" sz="2400" dirty="0">
                  <a:solidFill>
                    <a:schemeClr val="tx2"/>
                  </a:solidFill>
                </a:rPr>
                <a:t>…</a:t>
              </a:r>
            </a:p>
            <a:p>
              <a:pPr algn="l"/>
              <a:endParaRPr lang="en-GB" sz="2400" dirty="0">
                <a:solidFill>
                  <a:schemeClr val="tx2"/>
                </a:solidFill>
              </a:endParaRPr>
            </a:p>
            <a:p>
              <a:pPr algn="l"/>
              <a:endParaRPr lang="en-GB" sz="2400" dirty="0">
                <a:solidFill>
                  <a:schemeClr val="tx2"/>
                </a:solidFill>
              </a:endParaRPr>
            </a:p>
            <a:p>
              <a:pPr algn="l"/>
              <a:r>
                <a:rPr lang="en-GB" sz="2400" dirty="0">
                  <a:solidFill>
                    <a:schemeClr val="tx2"/>
                  </a:solidFill>
                </a:rPr>
                <a:t>+make appointment</a:t>
              </a:r>
            </a:p>
            <a:p>
              <a:pPr algn="l"/>
              <a:r>
                <a:rPr lang="en-GB" sz="2400" dirty="0">
                  <a:solidFill>
                    <a:schemeClr val="tx2"/>
                  </a:solidFill>
                </a:rPr>
                <a:t>…</a:t>
              </a:r>
              <a:endParaRPr lang="en-US" altLang="zh-CN" sz="2400" dirty="0">
                <a:solidFill>
                  <a:schemeClr val="tx2"/>
                </a:solidFill>
              </a:endParaRPr>
            </a:p>
          </p:txBody>
        </p:sp>
        <p:sp>
          <p:nvSpPr>
            <p:cNvPr id="27658" name="Line 10"/>
            <p:cNvSpPr>
              <a:spLocks noChangeShapeType="1"/>
            </p:cNvSpPr>
            <p:nvPr/>
          </p:nvSpPr>
          <p:spPr bwMode="auto">
            <a:xfrm>
              <a:off x="3152" y="1797"/>
              <a:ext cx="1679" cy="0"/>
            </a:xfrm>
            <a:prstGeom prst="line">
              <a:avLst/>
            </a:prstGeom>
            <a:noFill/>
            <a:ln w="28575">
              <a:solidFill>
                <a:schemeClr val="tx2"/>
              </a:solidFill>
              <a:round/>
              <a:headEnd type="none" w="lg" len="lg"/>
              <a:tailEnd type="none" w="lg" len="lg"/>
            </a:ln>
            <a:effectLst/>
          </p:spPr>
          <p:txBody>
            <a:bodyPr>
              <a:spAutoFit/>
            </a:bodyPr>
            <a:lstStyle/>
            <a:p>
              <a:endParaRPr lang="en-US" sz="2400">
                <a:solidFill>
                  <a:schemeClr val="tx2"/>
                </a:solidFill>
              </a:endParaRPr>
            </a:p>
          </p:txBody>
        </p:sp>
        <p:sp>
          <p:nvSpPr>
            <p:cNvPr id="27659" name="Line 11"/>
            <p:cNvSpPr>
              <a:spLocks noChangeShapeType="1"/>
            </p:cNvSpPr>
            <p:nvPr/>
          </p:nvSpPr>
          <p:spPr bwMode="auto">
            <a:xfrm>
              <a:off x="3152" y="2478"/>
              <a:ext cx="1679" cy="0"/>
            </a:xfrm>
            <a:prstGeom prst="line">
              <a:avLst/>
            </a:prstGeom>
            <a:noFill/>
            <a:ln w="28575">
              <a:solidFill>
                <a:schemeClr val="tx2"/>
              </a:solidFill>
              <a:round/>
              <a:headEnd type="none" w="lg" len="lg"/>
              <a:tailEnd type="none" w="lg" len="lg"/>
            </a:ln>
            <a:effectLst/>
          </p:spPr>
          <p:txBody>
            <a:bodyPr>
              <a:spAutoFit/>
            </a:bodyPr>
            <a:lstStyle/>
            <a:p>
              <a:endParaRPr lang="en-US" sz="2400">
                <a:solidFill>
                  <a:schemeClr val="tx2"/>
                </a:solidFill>
              </a:endParaRPr>
            </a:p>
          </p:txBody>
        </p:sp>
      </p:grpSp>
      <p:sp>
        <p:nvSpPr>
          <p:cNvPr id="27661" name="AutoShape 13"/>
          <p:cNvSpPr>
            <a:spLocks noChangeArrowheads="1"/>
          </p:cNvSpPr>
          <p:nvPr/>
        </p:nvSpPr>
        <p:spPr bwMode="auto">
          <a:xfrm flipH="1">
            <a:off x="2916238" y="2060575"/>
            <a:ext cx="1727200" cy="287338"/>
          </a:xfrm>
          <a:prstGeom prst="rightArrow">
            <a:avLst>
              <a:gd name="adj1" fmla="val 0"/>
              <a:gd name="adj2" fmla="val 150081"/>
            </a:avLst>
          </a:prstGeom>
          <a:noFill/>
          <a:ln w="28575" algn="ctr">
            <a:solidFill>
              <a:schemeClr val="tx2"/>
            </a:solidFill>
            <a:miter lim="800000"/>
            <a:headEnd type="none" w="lg" len="lg"/>
            <a:tailEnd type="none" w="lg" len="lg"/>
          </a:ln>
          <a:effectLst/>
        </p:spPr>
        <p:txBody>
          <a:bodyPr anchor="ctr">
            <a:spAutoFit/>
          </a:bodyPr>
          <a:lstStyle/>
          <a:p>
            <a:endParaRPr lang="en-US">
              <a:solidFill>
                <a:schemeClr val="tx2"/>
              </a:solidFill>
            </a:endParaRPr>
          </a:p>
        </p:txBody>
      </p:sp>
      <p:grpSp>
        <p:nvGrpSpPr>
          <p:cNvPr id="27664" name="Group 16"/>
          <p:cNvGrpSpPr>
            <a:grpSpLocks/>
          </p:cNvGrpSpPr>
          <p:nvPr/>
        </p:nvGrpSpPr>
        <p:grpSpPr bwMode="auto">
          <a:xfrm>
            <a:off x="1793807" y="3770082"/>
            <a:ext cx="6409036" cy="2473325"/>
            <a:chOff x="1073" y="2265"/>
            <a:chExt cx="3395" cy="1558"/>
          </a:xfrm>
        </p:grpSpPr>
        <p:sp>
          <p:nvSpPr>
            <p:cNvPr id="27662" name="Text Box 14"/>
            <p:cNvSpPr txBox="1">
              <a:spLocks noChangeArrowheads="1"/>
            </p:cNvSpPr>
            <p:nvPr/>
          </p:nvSpPr>
          <p:spPr bwMode="auto">
            <a:xfrm>
              <a:off x="1874" y="3113"/>
              <a:ext cx="2594" cy="710"/>
            </a:xfrm>
            <a:prstGeom prst="rect">
              <a:avLst/>
            </a:prstGeom>
            <a:noFill/>
            <a:ln w="28575" algn="ctr">
              <a:solidFill>
                <a:schemeClr val="accent2"/>
              </a:solidFill>
              <a:miter lim="800000"/>
              <a:headEnd type="none" w="lg" len="lg"/>
              <a:tailEnd type="none" w="lg" len="lg"/>
            </a:ln>
            <a:effectLst/>
          </p:spPr>
          <p:txBody>
            <a:bodyPr wrap="square">
              <a:spAutoFit/>
            </a:bodyPr>
            <a:lstStyle/>
            <a:p>
              <a:pPr algn="l">
                <a:lnSpc>
                  <a:spcPct val="85000"/>
                </a:lnSpc>
                <a:spcBef>
                  <a:spcPct val="25000"/>
                </a:spcBef>
              </a:pPr>
              <a:r>
                <a:rPr lang="en-GB" sz="2400" b="1" i="1">
                  <a:solidFill>
                    <a:schemeClr val="tx2"/>
                  </a:solidFill>
                </a:rPr>
                <a:t>Derived attribute:</a:t>
              </a:r>
              <a:r>
                <a:rPr lang="en-GB" sz="2400" i="1">
                  <a:solidFill>
                    <a:schemeClr val="tx2"/>
                  </a:solidFill>
                </a:rPr>
                <a:t> </a:t>
              </a:r>
            </a:p>
            <a:p>
              <a:pPr algn="l">
                <a:lnSpc>
                  <a:spcPct val="85000"/>
                </a:lnSpc>
                <a:spcBef>
                  <a:spcPct val="25000"/>
                </a:spcBef>
              </a:pPr>
              <a:r>
                <a:rPr lang="en-GB" sz="2400" i="1">
                  <a:solidFill>
                    <a:schemeClr val="tx2"/>
                  </a:solidFill>
                </a:rPr>
                <a:t>Its value is calculated from other attributes rather than stored.</a:t>
              </a:r>
              <a:endParaRPr lang="en-US" altLang="zh-CN" sz="2400" i="1">
                <a:solidFill>
                  <a:schemeClr val="tx2"/>
                </a:solidFill>
              </a:endParaRPr>
            </a:p>
          </p:txBody>
        </p:sp>
        <p:sp>
          <p:nvSpPr>
            <p:cNvPr id="27663" name="Line 15"/>
            <p:cNvSpPr>
              <a:spLocks noChangeShapeType="1"/>
            </p:cNvSpPr>
            <p:nvPr/>
          </p:nvSpPr>
          <p:spPr bwMode="auto">
            <a:xfrm flipH="1" flipV="1">
              <a:off x="1073" y="2265"/>
              <a:ext cx="915" cy="848"/>
            </a:xfrm>
            <a:prstGeom prst="line">
              <a:avLst/>
            </a:prstGeom>
            <a:noFill/>
            <a:ln w="28575">
              <a:solidFill>
                <a:schemeClr val="accent2"/>
              </a:solidFill>
              <a:round/>
              <a:headEnd type="none" w="lg" len="lg"/>
              <a:tailEnd type="triangle" w="lg" len="lg"/>
            </a:ln>
            <a:effectLst/>
          </p:spPr>
          <p:txBody>
            <a:bodyPr wrap="square">
              <a:spAutoFit/>
            </a:bodyPr>
            <a:lstStyle/>
            <a:p>
              <a:endParaRPr lang="en-US" sz="2400">
                <a:solidFill>
                  <a:schemeClr val="tx2"/>
                </a:solidFill>
              </a:endParaRPr>
            </a:p>
          </p:txBody>
        </p:sp>
      </p:grpSp>
      <p:sp>
        <p:nvSpPr>
          <p:cNvPr id="4" name="Slide Number Placeholder 3">
            <a:extLst>
              <a:ext uri="{FF2B5EF4-FFF2-40B4-BE49-F238E27FC236}">
                <a16:creationId xmlns:a16="http://schemas.microsoft.com/office/drawing/2014/main" id="{1D0C7AC8-B510-564E-A1CE-362E2C8201E5}"/>
              </a:ext>
            </a:extLst>
          </p:cNvPr>
          <p:cNvSpPr>
            <a:spLocks noGrp="1"/>
          </p:cNvSpPr>
          <p:nvPr>
            <p:ph type="sldNum" sz="quarter" idx="4"/>
          </p:nvPr>
        </p:nvSpPr>
        <p:spPr/>
        <p:txBody>
          <a:bodyPr/>
          <a:lstStyle/>
          <a:p>
            <a:fld id="{D6255EFE-3ACE-DA4E-80CE-7588690A9A08}" type="slidenum">
              <a:rPr lang="en-GB" smtClean="0"/>
              <a:t>40</a:t>
            </a:fld>
            <a:endParaRPr lang="en-GB"/>
          </a:p>
        </p:txBody>
      </p:sp>
    </p:spTree>
    <p:extLst>
      <p:ext uri="{BB962C8B-B14F-4D97-AF65-F5344CB8AC3E}">
        <p14:creationId xmlns:p14="http://schemas.microsoft.com/office/powerpoint/2010/main" val="3653696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664"/>
                                        </p:tgtEl>
                                        <p:attrNameLst>
                                          <p:attrName>style.visibility</p:attrName>
                                        </p:attrNameLst>
                                      </p:cBhvr>
                                      <p:to>
                                        <p:strVal val="visible"/>
                                      </p:to>
                                    </p:set>
                                    <p:animEffect transition="in" filter="blinds(horizontal)">
                                      <p:cBhvr>
                                        <p:cTn id="7" dur="500"/>
                                        <p:tgtEl>
                                          <p:spTgt spid="27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lide Number Placeholder 4"/>
          <p:cNvSpPr>
            <a:spLocks noGrp="1"/>
          </p:cNvSpPr>
          <p:nvPr>
            <p:ph type="sldNum" sz="quarter" idx="11"/>
          </p:nvPr>
        </p:nvSpPr>
        <p:spPr bwMode="auto">
          <a:xfrm>
            <a:off x="8421688" y="6526609"/>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41</a:t>
            </a:fld>
            <a:endParaRPr lang="en-US" altLang="en-US">
              <a:solidFill>
                <a:schemeClr val="tx1"/>
              </a:solidFill>
            </a:endParaRPr>
          </a:p>
        </p:txBody>
      </p:sp>
      <p:sp>
        <p:nvSpPr>
          <p:cNvPr id="8197" name="Rectangle 2"/>
          <p:cNvSpPr>
            <a:spLocks noGrp="1" noChangeArrowheads="1"/>
          </p:cNvSpPr>
          <p:nvPr>
            <p:ph type="title"/>
          </p:nvPr>
        </p:nvSpPr>
        <p:spPr/>
        <p:txBody>
          <a:bodyPr>
            <a:normAutofit/>
          </a:bodyPr>
          <a:lstStyle/>
          <a:p>
            <a:r>
              <a:rPr lang="en-GB" sz="3600" dirty="0"/>
              <a:t>Behavioural Models</a:t>
            </a:r>
            <a:endParaRPr lang="en-US" altLang="zh-CN" sz="3600" dirty="0">
              <a:ea typeface="SimSun" pitchFamily="2" charset="-122"/>
            </a:endParaRPr>
          </a:p>
        </p:txBody>
      </p:sp>
      <p:sp>
        <p:nvSpPr>
          <p:cNvPr id="8198" name="Rectangle 3"/>
          <p:cNvSpPr>
            <a:spLocks noGrp="1" noChangeArrowheads="1"/>
          </p:cNvSpPr>
          <p:nvPr>
            <p:ph type="body" idx="1"/>
          </p:nvPr>
        </p:nvSpPr>
        <p:spPr>
          <a:xfrm>
            <a:off x="404813" y="896938"/>
            <a:ext cx="8488362" cy="4083050"/>
          </a:xfrm>
        </p:spPr>
        <p:txBody>
          <a:bodyPr/>
          <a:lstStyle/>
          <a:p>
            <a:pPr>
              <a:lnSpc>
                <a:spcPct val="90000"/>
              </a:lnSpc>
            </a:pPr>
            <a:r>
              <a:rPr lang="en-GB" sz="2800" dirty="0"/>
              <a:t>Behavioural models describe the internal dynamic aspects of an information system that supports the business processes in an organisation</a:t>
            </a:r>
          </a:p>
          <a:p>
            <a:pPr>
              <a:lnSpc>
                <a:spcPct val="90000"/>
              </a:lnSpc>
            </a:pPr>
            <a:r>
              <a:rPr lang="en-GB" sz="2800" dirty="0"/>
              <a:t>At requirements analysis stage</a:t>
            </a:r>
          </a:p>
          <a:p>
            <a:pPr lvl="1">
              <a:lnSpc>
                <a:spcPct val="90000"/>
              </a:lnSpc>
            </a:pPr>
            <a:r>
              <a:rPr lang="en-GB" sz="2400" dirty="0"/>
              <a:t>Internal logic of the business processes</a:t>
            </a:r>
          </a:p>
          <a:p>
            <a:pPr lvl="1">
              <a:lnSpc>
                <a:spcPct val="90000"/>
              </a:lnSpc>
            </a:pPr>
            <a:r>
              <a:rPr lang="en-GB" sz="2400" dirty="0"/>
              <a:t>Without specifying how the system is implemented</a:t>
            </a:r>
          </a:p>
          <a:p>
            <a:pPr>
              <a:lnSpc>
                <a:spcPct val="90000"/>
              </a:lnSpc>
            </a:pPr>
            <a:r>
              <a:rPr lang="en-GB" sz="2800" dirty="0"/>
              <a:t>At design and implementation stage</a:t>
            </a:r>
          </a:p>
          <a:p>
            <a:pPr lvl="1">
              <a:lnSpc>
                <a:spcPct val="90000"/>
              </a:lnSpc>
            </a:pPr>
            <a:r>
              <a:rPr lang="en-GB" sz="2400" dirty="0"/>
              <a:t>Details of the designs of the system, such as</a:t>
            </a:r>
          </a:p>
          <a:p>
            <a:pPr lvl="2">
              <a:lnSpc>
                <a:spcPct val="90000"/>
              </a:lnSpc>
            </a:pPr>
            <a:r>
              <a:rPr lang="en-GB" sz="2000" dirty="0"/>
              <a:t> the data types of the attributes</a:t>
            </a:r>
          </a:p>
          <a:p>
            <a:pPr lvl="2">
              <a:lnSpc>
                <a:spcPct val="90000"/>
              </a:lnSpc>
            </a:pPr>
            <a:r>
              <a:rPr lang="en-GB" sz="2000" dirty="0"/>
              <a:t> the operations of the objects</a:t>
            </a:r>
            <a:endParaRPr lang="en-US" altLang="zh-CN" sz="2000" dirty="0">
              <a:ea typeface="SimSun" pitchFamily="2" charset="-122"/>
            </a:endParaRPr>
          </a:p>
        </p:txBody>
      </p:sp>
      <p:sp>
        <p:nvSpPr>
          <p:cNvPr id="2" name="Text Box 4"/>
          <p:cNvSpPr txBox="1">
            <a:spLocks noChangeArrowheads="1"/>
          </p:cNvSpPr>
          <p:nvPr/>
        </p:nvSpPr>
        <p:spPr bwMode="auto">
          <a:xfrm>
            <a:off x="443036" y="5170309"/>
            <a:ext cx="8366125" cy="1200329"/>
          </a:xfrm>
          <a:prstGeom prst="rect">
            <a:avLst/>
          </a:prstGeom>
          <a:noFill/>
          <a:ln w="28575" algn="ctr">
            <a:solidFill>
              <a:schemeClr val="accent2"/>
            </a:solidFill>
            <a:miter lim="800000"/>
            <a:headEnd/>
            <a:tailEnd type="none" w="lg" len="lg"/>
          </a:ln>
        </p:spPr>
        <p:txBody>
          <a:bodyPr>
            <a:spAutoFit/>
          </a:bodyPr>
          <a:lstStyle/>
          <a:p>
            <a:pPr algn="l">
              <a:spcBef>
                <a:spcPct val="50000"/>
              </a:spcBef>
            </a:pPr>
            <a:r>
              <a:rPr lang="en-GB" sz="2400">
                <a:solidFill>
                  <a:schemeClr val="accent2"/>
                </a:solidFill>
              </a:rPr>
              <a:t>Behaviour model describes the ‘journey between the towns’, i.e. the interactions between the objects to achieve the functions of use cases.  </a:t>
            </a:r>
          </a:p>
        </p:txBody>
      </p:sp>
    </p:spTree>
    <p:extLst>
      <p:ext uri="{BB962C8B-B14F-4D97-AF65-F5344CB8AC3E}">
        <p14:creationId xmlns:p14="http://schemas.microsoft.com/office/powerpoint/2010/main" val="416774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Slide Number Placeholder 4"/>
          <p:cNvSpPr>
            <a:spLocks noGrp="1"/>
          </p:cNvSpPr>
          <p:nvPr>
            <p:ph type="sldNum" sz="quarter" idx="11"/>
          </p:nvPr>
        </p:nvSpPr>
        <p:spPr bwMode="auto">
          <a:xfrm>
            <a:off x="8421688" y="6526609"/>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42</a:t>
            </a:fld>
            <a:endParaRPr lang="en-US" altLang="en-US">
              <a:solidFill>
                <a:schemeClr val="tx1"/>
              </a:solidFill>
            </a:endParaRPr>
          </a:p>
        </p:txBody>
      </p:sp>
      <p:sp>
        <p:nvSpPr>
          <p:cNvPr id="9221" name="Rectangle 2"/>
          <p:cNvSpPr>
            <a:spLocks noGrp="1" noChangeArrowheads="1"/>
          </p:cNvSpPr>
          <p:nvPr>
            <p:ph type="title"/>
          </p:nvPr>
        </p:nvSpPr>
        <p:spPr/>
        <p:txBody>
          <a:bodyPr>
            <a:normAutofit/>
          </a:bodyPr>
          <a:lstStyle/>
          <a:p>
            <a:r>
              <a:rPr lang="en-GB" sz="3600" dirty="0"/>
              <a:t>Two Types of Behaviour Models</a:t>
            </a:r>
            <a:endParaRPr lang="en-US" altLang="zh-CN" sz="3600" dirty="0">
              <a:ea typeface="SimSun" pitchFamily="2" charset="-122"/>
            </a:endParaRPr>
          </a:p>
        </p:txBody>
      </p:sp>
      <p:sp>
        <p:nvSpPr>
          <p:cNvPr id="9222" name="Rectangle 3"/>
          <p:cNvSpPr>
            <a:spLocks noGrp="1" noChangeArrowheads="1"/>
          </p:cNvSpPr>
          <p:nvPr>
            <p:ph type="body" idx="1"/>
          </p:nvPr>
        </p:nvSpPr>
        <p:spPr/>
        <p:txBody>
          <a:bodyPr/>
          <a:lstStyle/>
          <a:p>
            <a:pPr>
              <a:lnSpc>
                <a:spcPct val="90000"/>
              </a:lnSpc>
            </a:pPr>
            <a:r>
              <a:rPr lang="en-GB" sz="2800" dirty="0"/>
              <a:t>Interaction models</a:t>
            </a:r>
          </a:p>
          <a:p>
            <a:pPr lvl="1">
              <a:lnSpc>
                <a:spcPct val="90000"/>
              </a:lnSpc>
            </a:pPr>
            <a:r>
              <a:rPr lang="en-GB" sz="2400" dirty="0"/>
              <a:t>Describe the </a:t>
            </a:r>
            <a:r>
              <a:rPr lang="en-GB" sz="2400" b="1" dirty="0"/>
              <a:t>collaboration</a:t>
            </a:r>
            <a:r>
              <a:rPr lang="en-GB" sz="2400" dirty="0"/>
              <a:t> between objects and actors in the business process by describing how objects and actors in the system communicate, cooperate and coordinates with each other</a:t>
            </a:r>
          </a:p>
          <a:p>
            <a:pPr lvl="1">
              <a:lnSpc>
                <a:spcPct val="90000"/>
              </a:lnSpc>
            </a:pPr>
            <a:r>
              <a:rPr lang="en-GB" sz="2400" dirty="0"/>
              <a:t>In UML, they are described by </a:t>
            </a:r>
            <a:r>
              <a:rPr lang="en-GB" sz="2400" b="1" dirty="0"/>
              <a:t>sequence diagrams </a:t>
            </a:r>
            <a:r>
              <a:rPr lang="en-GB" sz="2400" dirty="0"/>
              <a:t>and </a:t>
            </a:r>
            <a:r>
              <a:rPr lang="en-GB" sz="2400" b="1" dirty="0"/>
              <a:t>communication diagrams</a:t>
            </a:r>
          </a:p>
          <a:p>
            <a:pPr>
              <a:lnSpc>
                <a:spcPct val="90000"/>
              </a:lnSpc>
            </a:pPr>
            <a:r>
              <a:rPr lang="en-GB" sz="2800" dirty="0"/>
              <a:t>Individual models</a:t>
            </a:r>
          </a:p>
          <a:p>
            <a:pPr lvl="1">
              <a:lnSpc>
                <a:spcPct val="90000"/>
              </a:lnSpc>
            </a:pPr>
            <a:r>
              <a:rPr lang="en-GB" sz="2400" dirty="0"/>
              <a:t>Describe the behaviour of individual objects and actors by describing how they change their states and the actions to be taken in each state and the outside condition. </a:t>
            </a:r>
          </a:p>
          <a:p>
            <a:pPr lvl="1">
              <a:lnSpc>
                <a:spcPct val="90000"/>
              </a:lnSpc>
            </a:pPr>
            <a:r>
              <a:rPr lang="en-GB" sz="2400" dirty="0"/>
              <a:t>In UML, they are described by state machines associated to classes</a:t>
            </a:r>
            <a:endParaRPr lang="en-US" altLang="zh-CN" sz="2400" dirty="0">
              <a:ea typeface="SimSun" pitchFamily="2" charset="-122"/>
            </a:endParaRPr>
          </a:p>
        </p:txBody>
      </p:sp>
    </p:spTree>
    <p:extLst>
      <p:ext uri="{BB962C8B-B14F-4D97-AF65-F5344CB8AC3E}">
        <p14:creationId xmlns:p14="http://schemas.microsoft.com/office/powerpoint/2010/main" val="15849760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7" name="Picture 2" descr="figureA"/>
          <p:cNvPicPr>
            <a:picLocks noChangeAspect="1" noChangeArrowheads="1"/>
          </p:cNvPicPr>
          <p:nvPr/>
        </p:nvPicPr>
        <p:blipFill>
          <a:blip r:embed="rId3" cstate="print"/>
          <a:srcRect/>
          <a:stretch>
            <a:fillRect/>
          </a:stretch>
        </p:blipFill>
        <p:spPr bwMode="auto">
          <a:xfrm>
            <a:off x="466725" y="687784"/>
            <a:ext cx="7032625" cy="6197600"/>
          </a:xfrm>
          <a:prstGeom prst="rect">
            <a:avLst/>
          </a:prstGeom>
          <a:solidFill>
            <a:srgbClr val="EEFAB9"/>
          </a:solidFill>
          <a:ln w="9525">
            <a:noFill/>
            <a:miter lim="800000"/>
            <a:headEnd/>
            <a:tailEnd/>
          </a:ln>
        </p:spPr>
      </p:pic>
      <p:sp>
        <p:nvSpPr>
          <p:cNvPr id="23555" name="Slide Number Placeholder 3"/>
          <p:cNvSpPr>
            <a:spLocks noGrp="1"/>
          </p:cNvSpPr>
          <p:nvPr>
            <p:ph type="sldNum" sz="quarter" idx="11"/>
          </p:nvPr>
        </p:nvSpPr>
        <p:spPr bwMode="auto">
          <a:xfrm>
            <a:off x="8421688" y="6526609"/>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81FFEF43-476E-464C-A02E-2642D2173F79}" type="slidenum">
              <a:rPr lang="en-US" altLang="en-US" smtClean="0">
                <a:solidFill>
                  <a:schemeClr val="tx1"/>
                </a:solidFill>
              </a:rPr>
              <a:pPr>
                <a:defRPr/>
              </a:pPr>
              <a:t>43</a:t>
            </a:fld>
            <a:endParaRPr lang="en-US" altLang="en-US">
              <a:solidFill>
                <a:schemeClr val="tx1"/>
              </a:solidFill>
            </a:endParaRPr>
          </a:p>
        </p:txBody>
      </p:sp>
      <p:grpSp>
        <p:nvGrpSpPr>
          <p:cNvPr id="2" name="Group 3"/>
          <p:cNvGrpSpPr>
            <a:grpSpLocks/>
          </p:cNvGrpSpPr>
          <p:nvPr/>
        </p:nvGrpSpPr>
        <p:grpSpPr bwMode="auto">
          <a:xfrm>
            <a:off x="5556250" y="5308600"/>
            <a:ext cx="1728788" cy="1295400"/>
            <a:chOff x="4176" y="3024"/>
            <a:chExt cx="1180" cy="816"/>
          </a:xfrm>
        </p:grpSpPr>
        <p:sp>
          <p:nvSpPr>
            <p:cNvPr id="23564" name="AutoShape 4"/>
            <p:cNvSpPr>
              <a:spLocks noChangeArrowheads="1"/>
            </p:cNvSpPr>
            <p:nvPr/>
          </p:nvSpPr>
          <p:spPr bwMode="auto">
            <a:xfrm>
              <a:off x="4176" y="3024"/>
              <a:ext cx="1152" cy="816"/>
            </a:xfrm>
            <a:prstGeom prst="cloudCallout">
              <a:avLst>
                <a:gd name="adj1" fmla="val -79079"/>
                <a:gd name="adj2" fmla="val -7722"/>
              </a:avLst>
            </a:prstGeom>
            <a:solidFill>
              <a:srgbClr val="00FFFF"/>
            </a:solidFill>
            <a:ln w="9525">
              <a:solidFill>
                <a:schemeClr val="tx1"/>
              </a:solidFill>
              <a:round/>
              <a:headEnd/>
              <a:tailEnd/>
            </a:ln>
          </p:spPr>
          <p:txBody>
            <a:bodyPr wrap="none" anchor="ctr"/>
            <a:lstStyle/>
            <a:p>
              <a:pPr>
                <a:lnSpc>
                  <a:spcPct val="100000"/>
                </a:lnSpc>
              </a:pPr>
              <a:endParaRPr lang="en-GB">
                <a:latin typeface="Times New Roman" pitchFamily="18" charset="0"/>
              </a:endParaRPr>
            </a:p>
          </p:txBody>
        </p:sp>
        <p:sp>
          <p:nvSpPr>
            <p:cNvPr id="23565" name="Text Box 5"/>
            <p:cNvSpPr txBox="1">
              <a:spLocks noChangeArrowheads="1"/>
            </p:cNvSpPr>
            <p:nvPr/>
          </p:nvSpPr>
          <p:spPr bwMode="auto">
            <a:xfrm>
              <a:off x="4272" y="3216"/>
              <a:ext cx="1084" cy="404"/>
            </a:xfrm>
            <a:prstGeom prst="rect">
              <a:avLst/>
            </a:prstGeom>
            <a:noFill/>
            <a:ln w="9525">
              <a:noFill/>
              <a:miter lim="800000"/>
              <a:headEnd/>
              <a:tailEnd/>
            </a:ln>
          </p:spPr>
          <p:txBody>
            <a:bodyPr wrap="none">
              <a:spAutoFit/>
            </a:bodyPr>
            <a:lstStyle/>
            <a:p>
              <a:pPr algn="l">
                <a:lnSpc>
                  <a:spcPct val="100000"/>
                </a:lnSpc>
              </a:pPr>
              <a:r>
                <a:rPr lang="en-US" altLang="zh-CN" sz="1800" b="1">
                  <a:latin typeface="Times New Roman" pitchFamily="18" charset="0"/>
                </a:rPr>
                <a:t>UML notation</a:t>
              </a:r>
            </a:p>
            <a:p>
              <a:pPr algn="l">
                <a:lnSpc>
                  <a:spcPct val="100000"/>
                </a:lnSpc>
              </a:pPr>
              <a:r>
                <a:rPr lang="en-US" altLang="zh-CN" sz="1800" b="1">
                  <a:latin typeface="Times New Roman" pitchFamily="18" charset="0"/>
                </a:rPr>
                <a:t>for a note</a:t>
              </a:r>
            </a:p>
          </p:txBody>
        </p:sp>
      </p:grpSp>
      <p:grpSp>
        <p:nvGrpSpPr>
          <p:cNvPr id="23559" name="Group 6"/>
          <p:cNvGrpSpPr>
            <a:grpSpLocks/>
          </p:cNvGrpSpPr>
          <p:nvPr/>
        </p:nvGrpSpPr>
        <p:grpSpPr bwMode="auto">
          <a:xfrm>
            <a:off x="6899275" y="735013"/>
            <a:ext cx="2244725" cy="1800225"/>
            <a:chOff x="4707" y="164"/>
            <a:chExt cx="1531" cy="1134"/>
          </a:xfrm>
        </p:grpSpPr>
        <p:sp>
          <p:nvSpPr>
            <p:cNvPr id="23562" name="AutoShape 7"/>
            <p:cNvSpPr>
              <a:spLocks noChangeArrowheads="1"/>
            </p:cNvSpPr>
            <p:nvPr/>
          </p:nvSpPr>
          <p:spPr bwMode="auto">
            <a:xfrm>
              <a:off x="4707" y="164"/>
              <a:ext cx="1531" cy="1134"/>
            </a:xfrm>
            <a:prstGeom prst="cloudCallout">
              <a:avLst>
                <a:gd name="adj1" fmla="val -103357"/>
                <a:gd name="adj2" fmla="val 25222"/>
              </a:avLst>
            </a:prstGeom>
            <a:solidFill>
              <a:srgbClr val="00FFFF"/>
            </a:solidFill>
            <a:ln w="9525">
              <a:solidFill>
                <a:schemeClr val="tx1"/>
              </a:solidFill>
              <a:round/>
              <a:headEnd/>
              <a:tailEnd/>
            </a:ln>
          </p:spPr>
          <p:txBody>
            <a:bodyPr/>
            <a:lstStyle/>
            <a:p>
              <a:pPr>
                <a:lnSpc>
                  <a:spcPct val="100000"/>
                </a:lnSpc>
              </a:pPr>
              <a:endParaRPr lang="en-GB" dirty="0">
                <a:latin typeface="Times New Roman" pitchFamily="18" charset="0"/>
              </a:endParaRPr>
            </a:p>
          </p:txBody>
        </p:sp>
        <p:sp>
          <p:nvSpPr>
            <p:cNvPr id="23563" name="Text Box 8"/>
            <p:cNvSpPr txBox="1">
              <a:spLocks noChangeArrowheads="1"/>
            </p:cNvSpPr>
            <p:nvPr/>
          </p:nvSpPr>
          <p:spPr bwMode="auto">
            <a:xfrm>
              <a:off x="4875" y="404"/>
              <a:ext cx="1347" cy="577"/>
            </a:xfrm>
            <a:prstGeom prst="rect">
              <a:avLst/>
            </a:prstGeom>
            <a:noFill/>
            <a:ln w="9525">
              <a:noFill/>
              <a:miter lim="800000"/>
              <a:headEnd/>
              <a:tailEnd/>
            </a:ln>
          </p:spPr>
          <p:txBody>
            <a:bodyPr wrap="none">
              <a:spAutoFit/>
            </a:bodyPr>
            <a:lstStyle/>
            <a:p>
              <a:pPr algn="l">
                <a:lnSpc>
                  <a:spcPct val="100000"/>
                </a:lnSpc>
              </a:pPr>
              <a:r>
                <a:rPr lang="en-GB" sz="1800">
                  <a:latin typeface="Times New Roman" pitchFamily="18" charset="0"/>
                </a:rPr>
                <a:t>notation using</a:t>
              </a:r>
            </a:p>
            <a:p>
              <a:pPr algn="l">
                <a:lnSpc>
                  <a:spcPct val="100000"/>
                </a:lnSpc>
              </a:pPr>
              <a:r>
                <a:rPr lang="en-GB" sz="1800">
                  <a:latin typeface="Times New Roman" pitchFamily="18" charset="0"/>
                </a:rPr>
                <a:t>an object constraint</a:t>
              </a:r>
            </a:p>
            <a:p>
              <a:pPr algn="l">
                <a:lnSpc>
                  <a:spcPct val="100000"/>
                </a:lnSpc>
              </a:pPr>
              <a:r>
                <a:rPr lang="en-GB" sz="1800">
                  <a:latin typeface="Times New Roman" pitchFamily="18" charset="0"/>
                </a:rPr>
                <a:t>language</a:t>
              </a:r>
            </a:p>
          </p:txBody>
        </p:sp>
      </p:grpSp>
      <p:sp>
        <p:nvSpPr>
          <p:cNvPr id="45065" name="Text Box 9"/>
          <p:cNvSpPr txBox="1">
            <a:spLocks noChangeArrowheads="1"/>
          </p:cNvSpPr>
          <p:nvPr/>
        </p:nvSpPr>
        <p:spPr bwMode="auto">
          <a:xfrm>
            <a:off x="6852965" y="3371106"/>
            <a:ext cx="2168525" cy="1644650"/>
          </a:xfrm>
          <a:prstGeom prst="rect">
            <a:avLst/>
          </a:prstGeom>
          <a:solidFill>
            <a:schemeClr val="tx1">
              <a:lumMod val="20000"/>
              <a:lumOff val="80000"/>
            </a:schemeClr>
          </a:solidFill>
          <a:ln w="28575">
            <a:solidFill>
              <a:schemeClr val="accent2"/>
            </a:solidFill>
            <a:miter lim="800000"/>
            <a:headEnd/>
            <a:tailEnd/>
          </a:ln>
        </p:spPr>
        <p:txBody>
          <a:bodyPr>
            <a:spAutoFit/>
          </a:bodyPr>
          <a:lstStyle/>
          <a:p>
            <a:pPr algn="l">
              <a:lnSpc>
                <a:spcPct val="100000"/>
              </a:lnSpc>
            </a:pPr>
            <a:r>
              <a:rPr lang="en-US" altLang="zh-CN" sz="2000" b="1" dirty="0">
                <a:solidFill>
                  <a:schemeClr val="accent2"/>
                </a:solidFill>
                <a:latin typeface="Times New Roman" pitchFamily="18" charset="0"/>
              </a:rPr>
              <a:t>The objects are:</a:t>
            </a:r>
          </a:p>
          <a:p>
            <a:pPr algn="l">
              <a:lnSpc>
                <a:spcPct val="100000"/>
              </a:lnSpc>
              <a:buFontTx/>
              <a:buChar char="•"/>
            </a:pPr>
            <a:r>
              <a:rPr lang="en-US" altLang="zh-CN" sz="2000" dirty="0">
                <a:solidFill>
                  <a:schemeClr val="accent2"/>
                </a:solidFill>
                <a:latin typeface="Times New Roman" pitchFamily="18" charset="0"/>
              </a:rPr>
              <a:t> sender (person)</a:t>
            </a:r>
          </a:p>
          <a:p>
            <a:pPr algn="l">
              <a:lnSpc>
                <a:spcPct val="100000"/>
              </a:lnSpc>
              <a:buFontTx/>
              <a:buChar char="•"/>
            </a:pPr>
            <a:r>
              <a:rPr lang="en-US" altLang="zh-CN" sz="2000" dirty="0">
                <a:solidFill>
                  <a:schemeClr val="accent2"/>
                </a:solidFill>
                <a:latin typeface="Times New Roman" pitchFamily="18" charset="0"/>
              </a:rPr>
              <a:t> receiver (person)</a:t>
            </a:r>
          </a:p>
          <a:p>
            <a:pPr algn="l">
              <a:lnSpc>
                <a:spcPct val="100000"/>
              </a:lnSpc>
              <a:buFontTx/>
              <a:buChar char="•"/>
            </a:pPr>
            <a:r>
              <a:rPr lang="en-US" altLang="zh-CN" sz="2000" dirty="0">
                <a:solidFill>
                  <a:schemeClr val="accent2"/>
                </a:solidFill>
                <a:latin typeface="Times New Roman" pitchFamily="18" charset="0"/>
              </a:rPr>
              <a:t> telecoms switch</a:t>
            </a:r>
          </a:p>
          <a:p>
            <a:pPr algn="l">
              <a:lnSpc>
                <a:spcPct val="100000"/>
              </a:lnSpc>
              <a:buFontTx/>
              <a:buChar char="•"/>
            </a:pPr>
            <a:r>
              <a:rPr lang="en-US" altLang="zh-CN" sz="2000" dirty="0">
                <a:solidFill>
                  <a:schemeClr val="accent2"/>
                </a:solidFill>
                <a:latin typeface="Times New Roman" pitchFamily="18" charset="0"/>
              </a:rPr>
              <a:t> conversation</a:t>
            </a:r>
          </a:p>
        </p:txBody>
      </p:sp>
      <p:sp>
        <p:nvSpPr>
          <p:cNvPr id="23561" name="Rectangle 10"/>
          <p:cNvSpPr>
            <a:spLocks noGrp="1" noChangeArrowheads="1"/>
          </p:cNvSpPr>
          <p:nvPr>
            <p:ph type="title"/>
          </p:nvPr>
        </p:nvSpPr>
        <p:spPr/>
        <p:txBody>
          <a:bodyPr/>
          <a:lstStyle/>
          <a:p>
            <a:r>
              <a:rPr lang="en-GB"/>
              <a:t>Example: telephone connection</a:t>
            </a:r>
          </a:p>
        </p:txBody>
      </p:sp>
    </p:spTree>
    <p:extLst>
      <p:ext uri="{BB962C8B-B14F-4D97-AF65-F5344CB8AC3E}">
        <p14:creationId xmlns:p14="http://schemas.microsoft.com/office/powerpoint/2010/main" val="34052224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0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5"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4"/>
          <p:cNvSpPr>
            <a:spLocks noGrp="1"/>
          </p:cNvSpPr>
          <p:nvPr>
            <p:ph type="sldNum" sz="quarter" idx="11"/>
          </p:nvPr>
        </p:nvSpPr>
        <p:spPr bwMode="auto">
          <a:xfrm>
            <a:off x="8388424" y="6526609"/>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44</a:t>
            </a:fld>
            <a:endParaRPr lang="en-US" altLang="en-US">
              <a:solidFill>
                <a:schemeClr val="tx1"/>
              </a:solidFill>
            </a:endParaRPr>
          </a:p>
        </p:txBody>
      </p:sp>
      <p:sp>
        <p:nvSpPr>
          <p:cNvPr id="15365" name="Rectangle 2"/>
          <p:cNvSpPr>
            <a:spLocks noGrp="1" noChangeArrowheads="1"/>
          </p:cNvSpPr>
          <p:nvPr>
            <p:ph type="title"/>
          </p:nvPr>
        </p:nvSpPr>
        <p:spPr/>
        <p:txBody>
          <a:bodyPr>
            <a:normAutofit/>
          </a:bodyPr>
          <a:lstStyle/>
          <a:p>
            <a:r>
              <a:rPr lang="en-GB" sz="3200" dirty="0"/>
              <a:t>Elements of Sequence Diagrams</a:t>
            </a:r>
            <a:endParaRPr lang="en-US" altLang="zh-CN" sz="3200" dirty="0">
              <a:ea typeface="SimSun" pitchFamily="2" charset="-122"/>
            </a:endParaRPr>
          </a:p>
        </p:txBody>
      </p:sp>
      <p:sp>
        <p:nvSpPr>
          <p:cNvPr id="15366" name="Rectangle 13"/>
          <p:cNvSpPr>
            <a:spLocks noChangeArrowheads="1"/>
          </p:cNvSpPr>
          <p:nvPr/>
        </p:nvSpPr>
        <p:spPr bwMode="auto">
          <a:xfrm>
            <a:off x="658813" y="4678363"/>
            <a:ext cx="195262" cy="1093787"/>
          </a:xfrm>
          <a:prstGeom prst="rect">
            <a:avLst/>
          </a:prstGeom>
          <a:noFill/>
          <a:ln w="28575" algn="ctr">
            <a:solidFill>
              <a:schemeClr val="accent2"/>
            </a:solidFill>
            <a:miter lim="800000"/>
            <a:headEnd/>
            <a:tailEnd/>
          </a:ln>
        </p:spPr>
        <p:txBody>
          <a:bodyPr wrap="none" anchor="ctr">
            <a:spAutoFit/>
          </a:bodyPr>
          <a:lstStyle/>
          <a:p>
            <a:endParaRPr lang="en-US"/>
          </a:p>
        </p:txBody>
      </p:sp>
      <p:grpSp>
        <p:nvGrpSpPr>
          <p:cNvPr id="15367" name="Group 34"/>
          <p:cNvGrpSpPr>
            <a:grpSpLocks/>
          </p:cNvGrpSpPr>
          <p:nvPr/>
        </p:nvGrpSpPr>
        <p:grpSpPr bwMode="auto">
          <a:xfrm>
            <a:off x="720725" y="1052131"/>
            <a:ext cx="8004175" cy="1124582"/>
            <a:chOff x="454" y="562"/>
            <a:chExt cx="5042" cy="716"/>
          </a:xfrm>
        </p:grpSpPr>
        <p:grpSp>
          <p:nvGrpSpPr>
            <p:cNvPr id="15386" name="Group 9"/>
            <p:cNvGrpSpPr>
              <a:grpSpLocks/>
            </p:cNvGrpSpPr>
            <p:nvPr/>
          </p:nvGrpSpPr>
          <p:grpSpPr bwMode="auto">
            <a:xfrm>
              <a:off x="454" y="562"/>
              <a:ext cx="311" cy="716"/>
              <a:chOff x="539" y="912"/>
              <a:chExt cx="311" cy="716"/>
            </a:xfrm>
          </p:grpSpPr>
          <p:sp>
            <p:nvSpPr>
              <p:cNvPr id="15389" name="Oval 4"/>
              <p:cNvSpPr>
                <a:spLocks noChangeArrowheads="1"/>
              </p:cNvSpPr>
              <p:nvPr/>
            </p:nvSpPr>
            <p:spPr bwMode="auto">
              <a:xfrm>
                <a:off x="565" y="912"/>
                <a:ext cx="242" cy="241"/>
              </a:xfrm>
              <a:prstGeom prst="ellipse">
                <a:avLst/>
              </a:prstGeom>
              <a:noFill/>
              <a:ln w="28575" algn="ctr">
                <a:solidFill>
                  <a:schemeClr val="accent2"/>
                </a:solidFill>
                <a:round/>
                <a:headEnd/>
                <a:tailEnd/>
              </a:ln>
            </p:spPr>
            <p:txBody>
              <a:bodyPr wrap="square" anchor="ctr">
                <a:spAutoFit/>
              </a:bodyPr>
              <a:lstStyle/>
              <a:p>
                <a:endParaRPr lang="en-US">
                  <a:solidFill>
                    <a:schemeClr val="tx2"/>
                  </a:solidFill>
                </a:endParaRPr>
              </a:p>
            </p:txBody>
          </p:sp>
          <p:sp>
            <p:nvSpPr>
              <p:cNvPr id="15390" name="Line 5"/>
              <p:cNvSpPr>
                <a:spLocks noChangeShapeType="1"/>
              </p:cNvSpPr>
              <p:nvPr/>
            </p:nvSpPr>
            <p:spPr bwMode="auto">
              <a:xfrm flipH="1">
                <a:off x="689" y="1171"/>
                <a:ext cx="0" cy="321"/>
              </a:xfrm>
              <a:prstGeom prst="line">
                <a:avLst/>
              </a:prstGeom>
              <a:noFill/>
              <a:ln w="28575">
                <a:solidFill>
                  <a:schemeClr val="accent2"/>
                </a:solidFill>
                <a:round/>
                <a:headEnd/>
                <a:tailEnd/>
              </a:ln>
            </p:spPr>
            <p:txBody>
              <a:bodyPr>
                <a:spAutoFit/>
              </a:bodyPr>
              <a:lstStyle/>
              <a:p>
                <a:endParaRPr lang="en-US">
                  <a:solidFill>
                    <a:schemeClr val="tx2"/>
                  </a:solidFill>
                </a:endParaRPr>
              </a:p>
            </p:txBody>
          </p:sp>
          <p:sp>
            <p:nvSpPr>
              <p:cNvPr id="15391" name="Line 6"/>
              <p:cNvSpPr>
                <a:spLocks noChangeShapeType="1"/>
              </p:cNvSpPr>
              <p:nvPr/>
            </p:nvSpPr>
            <p:spPr bwMode="auto">
              <a:xfrm>
                <a:off x="539" y="1275"/>
                <a:ext cx="311" cy="0"/>
              </a:xfrm>
              <a:prstGeom prst="line">
                <a:avLst/>
              </a:prstGeom>
              <a:noFill/>
              <a:ln w="28575">
                <a:solidFill>
                  <a:schemeClr val="accent2"/>
                </a:solidFill>
                <a:round/>
                <a:headEnd/>
                <a:tailEnd/>
              </a:ln>
            </p:spPr>
            <p:txBody>
              <a:bodyPr>
                <a:spAutoFit/>
              </a:bodyPr>
              <a:lstStyle/>
              <a:p>
                <a:endParaRPr lang="en-US">
                  <a:solidFill>
                    <a:schemeClr val="tx2"/>
                  </a:solidFill>
                </a:endParaRPr>
              </a:p>
            </p:txBody>
          </p:sp>
          <p:sp>
            <p:nvSpPr>
              <p:cNvPr id="15392" name="Line 7"/>
              <p:cNvSpPr>
                <a:spLocks noChangeShapeType="1"/>
              </p:cNvSpPr>
              <p:nvPr/>
            </p:nvSpPr>
            <p:spPr bwMode="auto">
              <a:xfrm flipH="1">
                <a:off x="576" y="1473"/>
                <a:ext cx="104" cy="151"/>
              </a:xfrm>
              <a:prstGeom prst="line">
                <a:avLst/>
              </a:prstGeom>
              <a:noFill/>
              <a:ln w="28575">
                <a:solidFill>
                  <a:schemeClr val="accent2"/>
                </a:solidFill>
                <a:round/>
                <a:headEnd/>
                <a:tailEnd/>
              </a:ln>
            </p:spPr>
            <p:txBody>
              <a:bodyPr>
                <a:spAutoFit/>
              </a:bodyPr>
              <a:lstStyle/>
              <a:p>
                <a:endParaRPr lang="en-US">
                  <a:solidFill>
                    <a:schemeClr val="tx2"/>
                  </a:solidFill>
                </a:endParaRPr>
              </a:p>
            </p:txBody>
          </p:sp>
          <p:sp>
            <p:nvSpPr>
              <p:cNvPr id="15393" name="Line 8"/>
              <p:cNvSpPr>
                <a:spLocks noChangeShapeType="1"/>
              </p:cNvSpPr>
              <p:nvPr/>
            </p:nvSpPr>
            <p:spPr bwMode="auto">
              <a:xfrm>
                <a:off x="703" y="1477"/>
                <a:ext cx="104" cy="151"/>
              </a:xfrm>
              <a:prstGeom prst="line">
                <a:avLst/>
              </a:prstGeom>
              <a:noFill/>
              <a:ln w="28575">
                <a:solidFill>
                  <a:schemeClr val="accent2"/>
                </a:solidFill>
                <a:round/>
                <a:headEnd/>
                <a:tailEnd/>
              </a:ln>
            </p:spPr>
            <p:txBody>
              <a:bodyPr>
                <a:spAutoFit/>
              </a:bodyPr>
              <a:lstStyle/>
              <a:p>
                <a:endParaRPr lang="en-US">
                  <a:solidFill>
                    <a:schemeClr val="tx2"/>
                  </a:solidFill>
                </a:endParaRPr>
              </a:p>
            </p:txBody>
          </p:sp>
        </p:grpSp>
        <p:sp>
          <p:nvSpPr>
            <p:cNvPr id="15387" name="Rectangle 10"/>
            <p:cNvSpPr>
              <a:spLocks noChangeArrowheads="1"/>
            </p:cNvSpPr>
            <p:nvPr/>
          </p:nvSpPr>
          <p:spPr bwMode="auto">
            <a:xfrm>
              <a:off x="991" y="732"/>
              <a:ext cx="795" cy="407"/>
            </a:xfrm>
            <a:prstGeom prst="rect">
              <a:avLst/>
            </a:prstGeom>
            <a:noFill/>
            <a:ln w="28575" algn="ctr">
              <a:solidFill>
                <a:schemeClr val="accent2"/>
              </a:solidFill>
              <a:miter lim="800000"/>
              <a:headEnd/>
              <a:tailEnd/>
            </a:ln>
          </p:spPr>
          <p:txBody>
            <a:bodyPr wrap="none" anchor="ctr">
              <a:spAutoFit/>
            </a:bodyPr>
            <a:lstStyle/>
            <a:p>
              <a:r>
                <a:rPr lang="en-GB">
                  <a:solidFill>
                    <a:schemeClr val="tx2"/>
                  </a:solidFill>
                </a:rPr>
                <a:t>&lt;&lt;actor&gt;&gt;</a:t>
              </a:r>
            </a:p>
            <a:p>
              <a:r>
                <a:rPr lang="en-GB">
                  <a:solidFill>
                    <a:schemeClr val="tx2"/>
                  </a:solidFill>
                </a:rPr>
                <a:t>Actor/Role</a:t>
              </a:r>
              <a:endParaRPr lang="en-US" altLang="zh-CN">
                <a:solidFill>
                  <a:schemeClr val="tx2"/>
                </a:solidFill>
              </a:endParaRPr>
            </a:p>
          </p:txBody>
        </p:sp>
        <p:sp>
          <p:nvSpPr>
            <p:cNvPr id="15388" name="Text Box 14"/>
            <p:cNvSpPr txBox="1">
              <a:spLocks noChangeArrowheads="1"/>
            </p:cNvSpPr>
            <p:nvPr/>
          </p:nvSpPr>
          <p:spPr bwMode="auto">
            <a:xfrm>
              <a:off x="2200" y="723"/>
              <a:ext cx="3296" cy="407"/>
            </a:xfrm>
            <a:prstGeom prst="rect">
              <a:avLst/>
            </a:prstGeom>
            <a:noFill/>
            <a:ln w="28575" algn="ctr">
              <a:noFill/>
              <a:miter lim="800000"/>
              <a:headEnd/>
              <a:tailEnd/>
            </a:ln>
          </p:spPr>
          <p:txBody>
            <a:bodyPr>
              <a:spAutoFit/>
            </a:bodyPr>
            <a:lstStyle/>
            <a:p>
              <a:pPr algn="l">
                <a:spcBef>
                  <a:spcPct val="50000"/>
                </a:spcBef>
              </a:pPr>
              <a:r>
                <a:rPr lang="en-GB" b="1" dirty="0">
                  <a:solidFill>
                    <a:schemeClr val="tx2"/>
                  </a:solidFill>
                </a:rPr>
                <a:t>Actor</a:t>
              </a:r>
              <a:r>
                <a:rPr lang="en-GB" dirty="0">
                  <a:solidFill>
                    <a:schemeClr val="tx2"/>
                  </a:solidFill>
                </a:rPr>
                <a:t>: A person or system that derives benefit from and is external to the system </a:t>
              </a:r>
              <a:endParaRPr lang="en-US" altLang="zh-CN" dirty="0">
                <a:solidFill>
                  <a:schemeClr val="tx2"/>
                </a:solidFill>
              </a:endParaRPr>
            </a:p>
          </p:txBody>
        </p:sp>
      </p:grpSp>
      <p:grpSp>
        <p:nvGrpSpPr>
          <p:cNvPr id="15368" name="Group 17"/>
          <p:cNvGrpSpPr>
            <a:grpSpLocks/>
          </p:cNvGrpSpPr>
          <p:nvPr/>
        </p:nvGrpSpPr>
        <p:grpSpPr bwMode="auto">
          <a:xfrm>
            <a:off x="608013" y="2278063"/>
            <a:ext cx="8294687" cy="654050"/>
            <a:chOff x="411" y="1718"/>
            <a:chExt cx="5225" cy="412"/>
          </a:xfrm>
        </p:grpSpPr>
        <p:sp>
          <p:nvSpPr>
            <p:cNvPr id="15384" name="Rectangle 11"/>
            <p:cNvSpPr>
              <a:spLocks noChangeArrowheads="1"/>
            </p:cNvSpPr>
            <p:nvPr/>
          </p:nvSpPr>
          <p:spPr bwMode="auto">
            <a:xfrm>
              <a:off x="411" y="1723"/>
              <a:ext cx="667" cy="407"/>
            </a:xfrm>
            <a:prstGeom prst="rect">
              <a:avLst/>
            </a:prstGeom>
            <a:noFill/>
            <a:ln w="28575" algn="ctr">
              <a:solidFill>
                <a:schemeClr val="accent2"/>
              </a:solidFill>
              <a:miter lim="800000"/>
              <a:headEnd/>
              <a:tailEnd/>
            </a:ln>
          </p:spPr>
          <p:txBody>
            <a:bodyPr anchor="ctr">
              <a:spAutoFit/>
            </a:bodyPr>
            <a:lstStyle/>
            <a:p>
              <a:r>
                <a:rPr lang="en-GB" dirty="0" err="1">
                  <a:solidFill>
                    <a:schemeClr val="tx2"/>
                  </a:solidFill>
                </a:rPr>
                <a:t>anObj</a:t>
              </a:r>
              <a:r>
                <a:rPr lang="en-GB" dirty="0">
                  <a:solidFill>
                    <a:schemeClr val="tx2"/>
                  </a:solidFill>
                </a:rPr>
                <a:t>: Class</a:t>
              </a:r>
              <a:endParaRPr lang="en-US" altLang="zh-CN" dirty="0">
                <a:solidFill>
                  <a:schemeClr val="tx2"/>
                </a:solidFill>
              </a:endParaRPr>
            </a:p>
          </p:txBody>
        </p:sp>
        <p:sp>
          <p:nvSpPr>
            <p:cNvPr id="15385" name="Text Box 15"/>
            <p:cNvSpPr txBox="1">
              <a:spLocks noChangeArrowheads="1"/>
            </p:cNvSpPr>
            <p:nvPr/>
          </p:nvSpPr>
          <p:spPr bwMode="auto">
            <a:xfrm>
              <a:off x="1159" y="1718"/>
              <a:ext cx="4477" cy="407"/>
            </a:xfrm>
            <a:prstGeom prst="rect">
              <a:avLst/>
            </a:prstGeom>
            <a:noFill/>
            <a:ln w="28575" algn="ctr">
              <a:noFill/>
              <a:miter lim="800000"/>
              <a:headEnd/>
              <a:tailEnd/>
            </a:ln>
          </p:spPr>
          <p:txBody>
            <a:bodyPr>
              <a:spAutoFit/>
            </a:bodyPr>
            <a:lstStyle/>
            <a:p>
              <a:pPr algn="l">
                <a:spcBef>
                  <a:spcPct val="50000"/>
                </a:spcBef>
              </a:pPr>
              <a:r>
                <a:rPr lang="en-GB" b="1">
                  <a:solidFill>
                    <a:schemeClr val="tx2"/>
                  </a:solidFill>
                </a:rPr>
                <a:t>Object</a:t>
              </a:r>
              <a:r>
                <a:rPr lang="en-GB">
                  <a:solidFill>
                    <a:schemeClr val="tx2"/>
                  </a:solidFill>
                </a:rPr>
                <a:t>: Participants in an interaction depicted in the sequence diagram by sending and/or receiving messages</a:t>
              </a:r>
              <a:endParaRPr lang="en-US" altLang="zh-CN">
                <a:solidFill>
                  <a:schemeClr val="tx2"/>
                </a:solidFill>
              </a:endParaRPr>
            </a:p>
          </p:txBody>
        </p:sp>
      </p:grpSp>
      <p:sp>
        <p:nvSpPr>
          <p:cNvPr id="15369" name="Line 12"/>
          <p:cNvSpPr>
            <a:spLocks noChangeShapeType="1"/>
          </p:cNvSpPr>
          <p:nvPr/>
        </p:nvSpPr>
        <p:spPr bwMode="auto">
          <a:xfrm flipH="1">
            <a:off x="762000" y="3303588"/>
            <a:ext cx="1588" cy="1049337"/>
          </a:xfrm>
          <a:prstGeom prst="line">
            <a:avLst/>
          </a:prstGeom>
          <a:noFill/>
          <a:ln w="28575">
            <a:solidFill>
              <a:schemeClr val="accent2"/>
            </a:solidFill>
            <a:prstDash val="dash"/>
            <a:round/>
            <a:headEnd/>
            <a:tailEnd/>
          </a:ln>
        </p:spPr>
        <p:txBody>
          <a:bodyPr anchor="ctr">
            <a:spAutoFit/>
          </a:bodyPr>
          <a:lstStyle/>
          <a:p>
            <a:endParaRPr lang="en-US"/>
          </a:p>
        </p:txBody>
      </p:sp>
      <p:sp>
        <p:nvSpPr>
          <p:cNvPr id="15370" name="Text Box 16"/>
          <p:cNvSpPr txBox="1">
            <a:spLocks noChangeArrowheads="1"/>
          </p:cNvSpPr>
          <p:nvPr/>
        </p:nvSpPr>
        <p:spPr bwMode="auto">
          <a:xfrm>
            <a:off x="949325" y="3198813"/>
            <a:ext cx="3209925" cy="1200329"/>
          </a:xfrm>
          <a:prstGeom prst="rect">
            <a:avLst/>
          </a:prstGeom>
          <a:noFill/>
          <a:ln w="28575" algn="ctr">
            <a:noFill/>
            <a:miter lim="800000"/>
            <a:headEnd/>
            <a:tailEnd/>
          </a:ln>
        </p:spPr>
        <p:txBody>
          <a:bodyPr>
            <a:spAutoFit/>
          </a:bodyPr>
          <a:lstStyle/>
          <a:p>
            <a:pPr algn="l">
              <a:spcBef>
                <a:spcPct val="50000"/>
              </a:spcBef>
            </a:pPr>
            <a:r>
              <a:rPr lang="en-GB" b="1" dirty="0">
                <a:solidFill>
                  <a:schemeClr val="tx2"/>
                </a:solidFill>
              </a:rPr>
              <a:t>Lifeline</a:t>
            </a:r>
            <a:r>
              <a:rPr lang="en-GB" dirty="0">
                <a:solidFill>
                  <a:schemeClr val="tx2"/>
                </a:solidFill>
              </a:rPr>
              <a:t>: denotes the life of an object during the interaction depicted in the sequence diagram</a:t>
            </a:r>
            <a:endParaRPr lang="en-US" altLang="zh-CN" dirty="0">
              <a:solidFill>
                <a:schemeClr val="tx2"/>
              </a:solidFill>
            </a:endParaRPr>
          </a:p>
        </p:txBody>
      </p:sp>
      <p:sp>
        <p:nvSpPr>
          <p:cNvPr id="15371" name="Text Box 20"/>
          <p:cNvSpPr txBox="1">
            <a:spLocks noChangeArrowheads="1"/>
          </p:cNvSpPr>
          <p:nvPr/>
        </p:nvSpPr>
        <p:spPr bwMode="auto">
          <a:xfrm>
            <a:off x="962025" y="4586288"/>
            <a:ext cx="3327400" cy="1200329"/>
          </a:xfrm>
          <a:prstGeom prst="rect">
            <a:avLst/>
          </a:prstGeom>
          <a:noFill/>
          <a:ln w="28575" algn="ctr">
            <a:noFill/>
            <a:miter lim="800000"/>
            <a:headEnd/>
            <a:tailEnd/>
          </a:ln>
        </p:spPr>
        <p:txBody>
          <a:bodyPr>
            <a:spAutoFit/>
          </a:bodyPr>
          <a:lstStyle/>
          <a:p>
            <a:pPr algn="l">
              <a:spcBef>
                <a:spcPct val="50000"/>
              </a:spcBef>
            </a:pPr>
            <a:r>
              <a:rPr lang="en-GB" b="1" dirty="0">
                <a:solidFill>
                  <a:schemeClr val="tx2"/>
                </a:solidFill>
              </a:rPr>
              <a:t>Execution occurrence</a:t>
            </a:r>
            <a:r>
              <a:rPr lang="en-GB" dirty="0">
                <a:solidFill>
                  <a:schemeClr val="tx2"/>
                </a:solidFill>
              </a:rPr>
              <a:t>: denotes when an object is sending and/or receiving messages</a:t>
            </a:r>
            <a:endParaRPr lang="en-US" altLang="zh-CN" dirty="0">
              <a:solidFill>
                <a:schemeClr val="tx2"/>
              </a:solidFill>
            </a:endParaRPr>
          </a:p>
        </p:txBody>
      </p:sp>
      <p:grpSp>
        <p:nvGrpSpPr>
          <p:cNvPr id="15372" name="Group 29"/>
          <p:cNvGrpSpPr>
            <a:grpSpLocks/>
          </p:cNvGrpSpPr>
          <p:nvPr/>
        </p:nvGrpSpPr>
        <p:grpSpPr bwMode="auto">
          <a:xfrm>
            <a:off x="4208463" y="3270248"/>
            <a:ext cx="1946275" cy="1035050"/>
            <a:chOff x="3202" y="1974"/>
            <a:chExt cx="1226" cy="652"/>
          </a:xfrm>
        </p:grpSpPr>
        <p:grpSp>
          <p:nvGrpSpPr>
            <p:cNvPr id="15378" name="Group 23"/>
            <p:cNvGrpSpPr>
              <a:grpSpLocks/>
            </p:cNvGrpSpPr>
            <p:nvPr/>
          </p:nvGrpSpPr>
          <p:grpSpPr bwMode="auto">
            <a:xfrm>
              <a:off x="3239" y="1974"/>
              <a:ext cx="1104" cy="292"/>
              <a:chOff x="3305" y="1955"/>
              <a:chExt cx="1104" cy="292"/>
            </a:xfrm>
          </p:grpSpPr>
          <p:sp>
            <p:nvSpPr>
              <p:cNvPr id="15382" name="Line 21"/>
              <p:cNvSpPr>
                <a:spLocks noChangeShapeType="1"/>
              </p:cNvSpPr>
              <p:nvPr/>
            </p:nvSpPr>
            <p:spPr bwMode="auto">
              <a:xfrm>
                <a:off x="3456" y="2247"/>
                <a:ext cx="746" cy="0"/>
              </a:xfrm>
              <a:prstGeom prst="line">
                <a:avLst/>
              </a:prstGeom>
              <a:noFill/>
              <a:ln w="28575">
                <a:solidFill>
                  <a:schemeClr val="accent2"/>
                </a:solidFill>
                <a:round/>
                <a:headEnd/>
                <a:tailEnd type="triangle" w="lg" len="lg"/>
              </a:ln>
            </p:spPr>
            <p:txBody>
              <a:bodyPr wrap="none" anchor="ctr">
                <a:spAutoFit/>
              </a:bodyPr>
              <a:lstStyle/>
              <a:p>
                <a:endParaRPr lang="en-US">
                  <a:solidFill>
                    <a:schemeClr val="tx2"/>
                  </a:solidFill>
                </a:endParaRPr>
              </a:p>
            </p:txBody>
          </p:sp>
          <p:sp>
            <p:nvSpPr>
              <p:cNvPr id="15383" name="Text Box 22"/>
              <p:cNvSpPr txBox="1">
                <a:spLocks noChangeArrowheads="1"/>
              </p:cNvSpPr>
              <p:nvPr/>
            </p:nvSpPr>
            <p:spPr bwMode="auto">
              <a:xfrm>
                <a:off x="3305" y="1955"/>
                <a:ext cx="1104" cy="233"/>
              </a:xfrm>
              <a:prstGeom prst="rect">
                <a:avLst/>
              </a:prstGeom>
              <a:noFill/>
              <a:ln w="28575" algn="ctr">
                <a:noFill/>
                <a:miter lim="800000"/>
                <a:headEnd/>
                <a:tailEnd/>
              </a:ln>
            </p:spPr>
            <p:txBody>
              <a:bodyPr>
                <a:spAutoFit/>
              </a:bodyPr>
              <a:lstStyle/>
              <a:p>
                <a:pPr>
                  <a:spcBef>
                    <a:spcPct val="50000"/>
                  </a:spcBef>
                </a:pPr>
                <a:r>
                  <a:rPr lang="en-GB" dirty="0" err="1">
                    <a:solidFill>
                      <a:schemeClr val="tx2"/>
                    </a:solidFill>
                  </a:rPr>
                  <a:t>aMessage</a:t>
                </a:r>
                <a:r>
                  <a:rPr lang="en-GB" dirty="0">
                    <a:solidFill>
                      <a:schemeClr val="tx2"/>
                    </a:solidFill>
                  </a:rPr>
                  <a:t>()</a:t>
                </a:r>
                <a:endParaRPr lang="en-US" altLang="zh-CN" dirty="0">
                  <a:solidFill>
                    <a:schemeClr val="tx2"/>
                  </a:solidFill>
                </a:endParaRPr>
              </a:p>
            </p:txBody>
          </p:sp>
        </p:grpSp>
        <p:grpSp>
          <p:nvGrpSpPr>
            <p:cNvPr id="15379" name="Group 26"/>
            <p:cNvGrpSpPr>
              <a:grpSpLocks/>
            </p:cNvGrpSpPr>
            <p:nvPr/>
          </p:nvGrpSpPr>
          <p:grpSpPr bwMode="auto">
            <a:xfrm>
              <a:off x="3202" y="2389"/>
              <a:ext cx="1226" cy="237"/>
              <a:chOff x="3268" y="2370"/>
              <a:chExt cx="1226" cy="237"/>
            </a:xfrm>
          </p:grpSpPr>
          <p:sp>
            <p:nvSpPr>
              <p:cNvPr id="15380" name="Line 24"/>
              <p:cNvSpPr>
                <a:spLocks noChangeShapeType="1"/>
              </p:cNvSpPr>
              <p:nvPr/>
            </p:nvSpPr>
            <p:spPr bwMode="auto">
              <a:xfrm flipH="1">
                <a:off x="3456" y="2607"/>
                <a:ext cx="774" cy="0"/>
              </a:xfrm>
              <a:prstGeom prst="line">
                <a:avLst/>
              </a:prstGeom>
              <a:noFill/>
              <a:ln w="28575">
                <a:solidFill>
                  <a:schemeClr val="accent2"/>
                </a:solidFill>
                <a:prstDash val="dash"/>
                <a:round/>
                <a:headEnd/>
                <a:tailEnd type="triangle" w="lg" len="lg"/>
              </a:ln>
            </p:spPr>
            <p:txBody>
              <a:bodyPr wrap="none" anchor="ctr">
                <a:spAutoFit/>
              </a:bodyPr>
              <a:lstStyle/>
              <a:p>
                <a:endParaRPr lang="en-US">
                  <a:solidFill>
                    <a:schemeClr val="tx2"/>
                  </a:solidFill>
                </a:endParaRPr>
              </a:p>
            </p:txBody>
          </p:sp>
          <p:sp>
            <p:nvSpPr>
              <p:cNvPr id="15381" name="Text Box 25"/>
              <p:cNvSpPr txBox="1">
                <a:spLocks noChangeArrowheads="1"/>
              </p:cNvSpPr>
              <p:nvPr/>
            </p:nvSpPr>
            <p:spPr bwMode="auto">
              <a:xfrm>
                <a:off x="3268" y="2370"/>
                <a:ext cx="1226" cy="233"/>
              </a:xfrm>
              <a:prstGeom prst="rect">
                <a:avLst/>
              </a:prstGeom>
              <a:noFill/>
              <a:ln w="28575" algn="ctr">
                <a:noFill/>
                <a:miter lim="800000"/>
                <a:headEnd/>
                <a:tailEnd type="none" w="lg" len="lg"/>
              </a:ln>
            </p:spPr>
            <p:txBody>
              <a:bodyPr>
                <a:spAutoFit/>
              </a:bodyPr>
              <a:lstStyle/>
              <a:p>
                <a:pPr>
                  <a:spcBef>
                    <a:spcPct val="50000"/>
                  </a:spcBef>
                </a:pPr>
                <a:r>
                  <a:rPr lang="en-GB">
                    <a:solidFill>
                      <a:schemeClr val="tx2"/>
                    </a:solidFill>
                  </a:rPr>
                  <a:t>Return value</a:t>
                </a:r>
                <a:endParaRPr lang="en-US" altLang="zh-CN">
                  <a:solidFill>
                    <a:schemeClr val="tx2"/>
                  </a:solidFill>
                </a:endParaRPr>
              </a:p>
            </p:txBody>
          </p:sp>
        </p:grpSp>
      </p:grpSp>
      <p:sp>
        <p:nvSpPr>
          <p:cNvPr id="15373" name="Text Box 27"/>
          <p:cNvSpPr txBox="1">
            <a:spLocks noChangeArrowheads="1"/>
          </p:cNvSpPr>
          <p:nvPr/>
        </p:nvSpPr>
        <p:spPr bwMode="auto">
          <a:xfrm>
            <a:off x="6007100" y="3343275"/>
            <a:ext cx="2951163" cy="923330"/>
          </a:xfrm>
          <a:prstGeom prst="rect">
            <a:avLst/>
          </a:prstGeom>
          <a:noFill/>
          <a:ln w="28575" algn="ctr">
            <a:noFill/>
            <a:miter lim="800000"/>
            <a:headEnd/>
            <a:tailEnd type="none" w="lg" len="lg"/>
          </a:ln>
        </p:spPr>
        <p:txBody>
          <a:bodyPr>
            <a:spAutoFit/>
          </a:bodyPr>
          <a:lstStyle/>
          <a:p>
            <a:pPr algn="l">
              <a:spcBef>
                <a:spcPct val="50000"/>
              </a:spcBef>
            </a:pPr>
            <a:r>
              <a:rPr lang="en-GB" b="1" dirty="0">
                <a:solidFill>
                  <a:schemeClr val="tx2"/>
                </a:solidFill>
              </a:rPr>
              <a:t>Message</a:t>
            </a:r>
            <a:r>
              <a:rPr lang="en-GB" dirty="0">
                <a:solidFill>
                  <a:schemeClr val="tx2"/>
                </a:solidFill>
              </a:rPr>
              <a:t>: conveys information from one object to another one</a:t>
            </a:r>
            <a:endParaRPr lang="en-US" altLang="zh-CN" dirty="0">
              <a:solidFill>
                <a:schemeClr val="tx2"/>
              </a:solidFill>
            </a:endParaRPr>
          </a:p>
        </p:txBody>
      </p:sp>
      <p:grpSp>
        <p:nvGrpSpPr>
          <p:cNvPr id="15374" name="Group 32"/>
          <p:cNvGrpSpPr>
            <a:grpSpLocks/>
          </p:cNvGrpSpPr>
          <p:nvPr/>
        </p:nvGrpSpPr>
        <p:grpSpPr bwMode="auto">
          <a:xfrm rot="-321074">
            <a:off x="4748213" y="5000625"/>
            <a:ext cx="374650" cy="374650"/>
            <a:chOff x="2991" y="3150"/>
            <a:chExt cx="236" cy="236"/>
          </a:xfrm>
        </p:grpSpPr>
        <p:sp>
          <p:nvSpPr>
            <p:cNvPr id="15376" name="Line 30"/>
            <p:cNvSpPr>
              <a:spLocks noChangeShapeType="1"/>
            </p:cNvSpPr>
            <p:nvPr/>
          </p:nvSpPr>
          <p:spPr bwMode="auto">
            <a:xfrm>
              <a:off x="3019" y="3150"/>
              <a:ext cx="179" cy="236"/>
            </a:xfrm>
            <a:prstGeom prst="line">
              <a:avLst/>
            </a:prstGeom>
            <a:noFill/>
            <a:ln w="38100">
              <a:solidFill>
                <a:schemeClr val="accent2"/>
              </a:solidFill>
              <a:round/>
              <a:headEnd/>
              <a:tailEnd type="none" w="lg" len="lg"/>
            </a:ln>
          </p:spPr>
          <p:txBody>
            <a:bodyPr wrap="none" anchor="ctr">
              <a:spAutoFit/>
            </a:bodyPr>
            <a:lstStyle/>
            <a:p>
              <a:endParaRPr lang="en-US"/>
            </a:p>
          </p:txBody>
        </p:sp>
        <p:sp>
          <p:nvSpPr>
            <p:cNvPr id="15377" name="Line 31"/>
            <p:cNvSpPr>
              <a:spLocks noChangeShapeType="1"/>
            </p:cNvSpPr>
            <p:nvPr/>
          </p:nvSpPr>
          <p:spPr bwMode="auto">
            <a:xfrm rot="5400000">
              <a:off x="3019" y="3151"/>
              <a:ext cx="179" cy="236"/>
            </a:xfrm>
            <a:prstGeom prst="line">
              <a:avLst/>
            </a:prstGeom>
            <a:noFill/>
            <a:ln w="38100">
              <a:solidFill>
                <a:schemeClr val="accent2"/>
              </a:solidFill>
              <a:round/>
              <a:headEnd/>
              <a:tailEnd type="none" w="lg" len="lg"/>
            </a:ln>
          </p:spPr>
          <p:txBody>
            <a:bodyPr wrap="none" anchor="ctr">
              <a:spAutoFit/>
            </a:bodyPr>
            <a:lstStyle/>
            <a:p>
              <a:endParaRPr lang="en-US"/>
            </a:p>
          </p:txBody>
        </p:sp>
      </p:grpSp>
      <p:sp>
        <p:nvSpPr>
          <p:cNvPr id="15375" name="Text Box 33"/>
          <p:cNvSpPr txBox="1">
            <a:spLocks noChangeArrowheads="1"/>
          </p:cNvSpPr>
          <p:nvPr/>
        </p:nvSpPr>
        <p:spPr bwMode="auto">
          <a:xfrm>
            <a:off x="5472113" y="4759325"/>
            <a:ext cx="2951162" cy="923330"/>
          </a:xfrm>
          <a:prstGeom prst="rect">
            <a:avLst/>
          </a:prstGeom>
          <a:noFill/>
          <a:ln w="28575" algn="ctr">
            <a:noFill/>
            <a:miter lim="800000"/>
            <a:headEnd/>
            <a:tailEnd type="none" w="lg" len="lg"/>
          </a:ln>
        </p:spPr>
        <p:txBody>
          <a:bodyPr>
            <a:spAutoFit/>
          </a:bodyPr>
          <a:lstStyle/>
          <a:p>
            <a:pPr algn="l">
              <a:spcBef>
                <a:spcPct val="50000"/>
              </a:spcBef>
            </a:pPr>
            <a:r>
              <a:rPr lang="en-GB" b="1" dirty="0">
                <a:solidFill>
                  <a:schemeClr val="tx2"/>
                </a:solidFill>
              </a:rPr>
              <a:t>Object destruction</a:t>
            </a:r>
            <a:r>
              <a:rPr lang="en-GB" dirty="0">
                <a:solidFill>
                  <a:schemeClr val="tx2"/>
                </a:solidFill>
              </a:rPr>
              <a:t>: shows an object is going out of existence </a:t>
            </a:r>
            <a:endParaRPr lang="en-US" altLang="zh-CN" dirty="0">
              <a:solidFill>
                <a:schemeClr val="tx2"/>
              </a:solidFill>
            </a:endParaRPr>
          </a:p>
        </p:txBody>
      </p:sp>
    </p:spTree>
    <p:extLst>
      <p:ext uri="{BB962C8B-B14F-4D97-AF65-F5344CB8AC3E}">
        <p14:creationId xmlns:p14="http://schemas.microsoft.com/office/powerpoint/2010/main" val="12789301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sz="quarter" idx="11"/>
          </p:nvPr>
        </p:nvSpPr>
        <p:spPr bwMode="auto">
          <a:xfrm>
            <a:off x="8421688" y="6526609"/>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81FFEF43-476E-464C-A02E-2642D2173F79}" type="slidenum">
              <a:rPr lang="en-US" altLang="en-US" smtClean="0">
                <a:solidFill>
                  <a:schemeClr val="tx1"/>
                </a:solidFill>
              </a:rPr>
              <a:pPr>
                <a:defRPr/>
              </a:pPr>
              <a:t>45</a:t>
            </a:fld>
            <a:endParaRPr lang="en-US" altLang="en-US">
              <a:solidFill>
                <a:schemeClr val="tx1"/>
              </a:solidFill>
            </a:endParaRPr>
          </a:p>
        </p:txBody>
      </p:sp>
      <p:sp>
        <p:nvSpPr>
          <p:cNvPr id="21509" name="Text Box 2"/>
          <p:cNvSpPr txBox="1">
            <a:spLocks noChangeArrowheads="1"/>
          </p:cNvSpPr>
          <p:nvPr/>
        </p:nvSpPr>
        <p:spPr bwMode="auto">
          <a:xfrm>
            <a:off x="514350" y="1224508"/>
            <a:ext cx="2698175" cy="369332"/>
          </a:xfrm>
          <a:prstGeom prst="rect">
            <a:avLst/>
          </a:prstGeom>
          <a:noFill/>
          <a:ln w="9525">
            <a:noFill/>
            <a:miter lim="800000"/>
            <a:headEnd/>
            <a:tailEnd/>
          </a:ln>
        </p:spPr>
        <p:txBody>
          <a:bodyPr wrap="none">
            <a:spAutoFit/>
          </a:bodyPr>
          <a:lstStyle/>
          <a:p>
            <a:pPr algn="l">
              <a:lnSpc>
                <a:spcPct val="100000"/>
              </a:lnSpc>
            </a:pPr>
            <a:r>
              <a:rPr lang="en-US" altLang="zh-CN" b="1">
                <a:solidFill>
                  <a:schemeClr val="tx2"/>
                </a:solidFill>
                <a:latin typeface="Times New Roman" pitchFamily="18" charset="0"/>
              </a:rPr>
              <a:t>Message flow annotation:</a:t>
            </a:r>
          </a:p>
        </p:txBody>
      </p:sp>
      <p:sp>
        <p:nvSpPr>
          <p:cNvPr id="34819" name="Line 3"/>
          <p:cNvSpPr>
            <a:spLocks noChangeShapeType="1"/>
          </p:cNvSpPr>
          <p:nvPr/>
        </p:nvSpPr>
        <p:spPr bwMode="auto">
          <a:xfrm>
            <a:off x="563563" y="1951583"/>
            <a:ext cx="1195387" cy="0"/>
          </a:xfrm>
          <a:prstGeom prst="line">
            <a:avLst/>
          </a:prstGeom>
          <a:noFill/>
          <a:ln w="28575">
            <a:solidFill>
              <a:srgbClr val="002060"/>
            </a:solidFill>
            <a:round/>
            <a:headEnd/>
            <a:tailEnd type="triangle" w="lg" len="lg"/>
          </a:ln>
        </p:spPr>
        <p:txBody>
          <a:bodyPr wrap="none" anchor="ctr"/>
          <a:lstStyle/>
          <a:p>
            <a:endParaRPr lang="en-US">
              <a:solidFill>
                <a:schemeClr val="tx2"/>
              </a:solidFill>
              <a:highlight>
                <a:srgbClr val="000000"/>
              </a:highlight>
            </a:endParaRPr>
          </a:p>
        </p:txBody>
      </p:sp>
      <p:sp>
        <p:nvSpPr>
          <p:cNvPr id="34820" name="Text Box 4"/>
          <p:cNvSpPr txBox="1">
            <a:spLocks noChangeArrowheads="1"/>
          </p:cNvSpPr>
          <p:nvPr/>
        </p:nvSpPr>
        <p:spPr bwMode="auto">
          <a:xfrm>
            <a:off x="1900238" y="1722983"/>
            <a:ext cx="6945312" cy="1006475"/>
          </a:xfrm>
          <a:prstGeom prst="rect">
            <a:avLst/>
          </a:prstGeom>
          <a:noFill/>
          <a:ln w="9525">
            <a:noFill/>
            <a:miter lim="800000"/>
            <a:headEnd/>
            <a:tailEnd/>
          </a:ln>
        </p:spPr>
        <p:txBody>
          <a:bodyPr>
            <a:spAutoFit/>
          </a:bodyPr>
          <a:lstStyle/>
          <a:p>
            <a:pPr algn="l">
              <a:lnSpc>
                <a:spcPct val="100000"/>
              </a:lnSpc>
            </a:pPr>
            <a:r>
              <a:rPr lang="en-US" altLang="zh-CN" sz="2000" b="1" dirty="0">
                <a:solidFill>
                  <a:schemeClr val="tx2"/>
                </a:solidFill>
                <a:latin typeface="Times New Roman" pitchFamily="18" charset="0"/>
              </a:rPr>
              <a:t>Procedural or synchronous</a:t>
            </a:r>
            <a:r>
              <a:rPr lang="en-US" altLang="zh-CN" sz="2000" dirty="0">
                <a:solidFill>
                  <a:schemeClr val="tx2"/>
                </a:solidFill>
                <a:latin typeface="Times New Roman" pitchFamily="18" charset="0"/>
              </a:rPr>
              <a:t> - a message is sent by one object to another, and the first object WAITS until the resulting action has completed.</a:t>
            </a:r>
          </a:p>
        </p:txBody>
      </p:sp>
      <p:sp>
        <p:nvSpPr>
          <p:cNvPr id="34821" name="Line 5"/>
          <p:cNvSpPr>
            <a:spLocks noChangeShapeType="1"/>
          </p:cNvSpPr>
          <p:nvPr/>
        </p:nvSpPr>
        <p:spPr bwMode="auto">
          <a:xfrm>
            <a:off x="614363" y="3975646"/>
            <a:ext cx="1125537" cy="0"/>
          </a:xfrm>
          <a:prstGeom prst="line">
            <a:avLst/>
          </a:prstGeom>
          <a:noFill/>
          <a:ln w="28575">
            <a:solidFill>
              <a:srgbClr val="002060"/>
            </a:solidFill>
            <a:round/>
            <a:headEnd/>
            <a:tailEnd type="arrow" w="lg" len="lg"/>
          </a:ln>
        </p:spPr>
        <p:txBody>
          <a:bodyPr wrap="none" anchor="ctr"/>
          <a:lstStyle/>
          <a:p>
            <a:endParaRPr lang="en-US">
              <a:solidFill>
                <a:schemeClr val="tx2"/>
              </a:solidFill>
              <a:highlight>
                <a:srgbClr val="000000"/>
              </a:highlight>
            </a:endParaRPr>
          </a:p>
        </p:txBody>
      </p:sp>
      <p:sp>
        <p:nvSpPr>
          <p:cNvPr id="34822" name="Text Box 6"/>
          <p:cNvSpPr txBox="1">
            <a:spLocks noChangeArrowheads="1"/>
          </p:cNvSpPr>
          <p:nvPr/>
        </p:nvSpPr>
        <p:spPr bwMode="auto">
          <a:xfrm>
            <a:off x="1889125" y="3797846"/>
            <a:ext cx="6899275" cy="1006475"/>
          </a:xfrm>
          <a:prstGeom prst="rect">
            <a:avLst/>
          </a:prstGeom>
          <a:noFill/>
          <a:ln w="9525">
            <a:noFill/>
            <a:miter lim="800000"/>
            <a:headEnd/>
            <a:tailEnd/>
          </a:ln>
        </p:spPr>
        <p:txBody>
          <a:bodyPr>
            <a:spAutoFit/>
          </a:bodyPr>
          <a:lstStyle/>
          <a:p>
            <a:pPr algn="l">
              <a:lnSpc>
                <a:spcPct val="100000"/>
              </a:lnSpc>
            </a:pPr>
            <a:r>
              <a:rPr lang="en-US" altLang="zh-CN" sz="2000" b="1">
                <a:solidFill>
                  <a:schemeClr val="tx2"/>
                </a:solidFill>
                <a:latin typeface="Times New Roman" pitchFamily="18" charset="0"/>
              </a:rPr>
              <a:t>Flat</a:t>
            </a:r>
            <a:r>
              <a:rPr lang="en-US" altLang="zh-CN" sz="2000">
                <a:solidFill>
                  <a:schemeClr val="tx2"/>
                </a:solidFill>
                <a:latin typeface="Times New Roman" pitchFamily="18" charset="0"/>
              </a:rPr>
              <a:t> - each arrow shows a progression from one step to the next in a sequence. Normally the message is asynchronous, but can be used for both (sync. and async. modes)</a:t>
            </a:r>
          </a:p>
        </p:txBody>
      </p:sp>
      <p:grpSp>
        <p:nvGrpSpPr>
          <p:cNvPr id="2" name="Group 11"/>
          <p:cNvGrpSpPr>
            <a:grpSpLocks/>
          </p:cNvGrpSpPr>
          <p:nvPr/>
        </p:nvGrpSpPr>
        <p:grpSpPr bwMode="auto">
          <a:xfrm>
            <a:off x="581025" y="2885033"/>
            <a:ext cx="1079500" cy="152400"/>
            <a:chOff x="384" y="2880"/>
            <a:chExt cx="680" cy="96"/>
          </a:xfrm>
        </p:grpSpPr>
        <p:sp>
          <p:nvSpPr>
            <p:cNvPr id="21525" name="Line 7"/>
            <p:cNvSpPr>
              <a:spLocks noChangeShapeType="1"/>
            </p:cNvSpPr>
            <p:nvPr/>
          </p:nvSpPr>
          <p:spPr bwMode="auto">
            <a:xfrm>
              <a:off x="384" y="2968"/>
              <a:ext cx="665" cy="0"/>
            </a:xfrm>
            <a:prstGeom prst="line">
              <a:avLst/>
            </a:prstGeom>
            <a:noFill/>
            <a:ln w="28575">
              <a:solidFill>
                <a:srgbClr val="002060"/>
              </a:solidFill>
              <a:round/>
              <a:headEnd/>
              <a:tailEnd/>
            </a:ln>
          </p:spPr>
          <p:txBody>
            <a:bodyPr wrap="none" anchor="ctr"/>
            <a:lstStyle/>
            <a:p>
              <a:endParaRPr lang="en-US">
                <a:solidFill>
                  <a:schemeClr val="tx2"/>
                </a:solidFill>
                <a:highlight>
                  <a:srgbClr val="000000"/>
                </a:highlight>
              </a:endParaRPr>
            </a:p>
          </p:txBody>
        </p:sp>
        <p:sp>
          <p:nvSpPr>
            <p:cNvPr id="21526" name="Line 8"/>
            <p:cNvSpPr>
              <a:spLocks noChangeShapeType="1"/>
            </p:cNvSpPr>
            <p:nvPr/>
          </p:nvSpPr>
          <p:spPr bwMode="auto">
            <a:xfrm>
              <a:off x="931" y="2880"/>
              <a:ext cx="133" cy="96"/>
            </a:xfrm>
            <a:prstGeom prst="line">
              <a:avLst/>
            </a:prstGeom>
            <a:noFill/>
            <a:ln w="28575">
              <a:solidFill>
                <a:srgbClr val="002060"/>
              </a:solidFill>
              <a:round/>
              <a:headEnd/>
              <a:tailEnd/>
            </a:ln>
          </p:spPr>
          <p:txBody>
            <a:bodyPr wrap="none" anchor="ctr"/>
            <a:lstStyle/>
            <a:p>
              <a:endParaRPr lang="en-US">
                <a:solidFill>
                  <a:schemeClr val="tx2"/>
                </a:solidFill>
                <a:highlight>
                  <a:srgbClr val="000000"/>
                </a:highlight>
              </a:endParaRPr>
            </a:p>
          </p:txBody>
        </p:sp>
      </p:grpSp>
      <p:sp>
        <p:nvSpPr>
          <p:cNvPr id="34825" name="Text Box 9"/>
          <p:cNvSpPr txBox="1">
            <a:spLocks noChangeArrowheads="1"/>
          </p:cNvSpPr>
          <p:nvPr/>
        </p:nvSpPr>
        <p:spPr bwMode="auto">
          <a:xfrm>
            <a:off x="1860550" y="2761208"/>
            <a:ext cx="7013575" cy="1006475"/>
          </a:xfrm>
          <a:prstGeom prst="rect">
            <a:avLst/>
          </a:prstGeom>
          <a:noFill/>
          <a:ln w="9525">
            <a:noFill/>
            <a:miter lim="800000"/>
            <a:headEnd/>
            <a:tailEnd/>
          </a:ln>
        </p:spPr>
        <p:txBody>
          <a:bodyPr>
            <a:spAutoFit/>
          </a:bodyPr>
          <a:lstStyle/>
          <a:p>
            <a:pPr algn="l">
              <a:lnSpc>
                <a:spcPct val="100000"/>
              </a:lnSpc>
            </a:pPr>
            <a:r>
              <a:rPr lang="en-US" altLang="zh-CN" sz="2000" b="1">
                <a:solidFill>
                  <a:schemeClr val="tx2"/>
                </a:solidFill>
                <a:latin typeface="Times New Roman" pitchFamily="18" charset="0"/>
              </a:rPr>
              <a:t>Asynchronous</a:t>
            </a:r>
            <a:r>
              <a:rPr lang="en-US" altLang="zh-CN" sz="2000">
                <a:solidFill>
                  <a:schemeClr val="tx2"/>
                </a:solidFill>
                <a:latin typeface="Times New Roman" pitchFamily="18" charset="0"/>
              </a:rPr>
              <a:t> - a message is sent by one object to another but the first object does NOT wait until the resulting action has completed, it carries on with the next step in its own sequence of actions.</a:t>
            </a:r>
          </a:p>
        </p:txBody>
      </p:sp>
      <p:sp>
        <p:nvSpPr>
          <p:cNvPr id="21516" name="Rectangle 10"/>
          <p:cNvSpPr>
            <a:spLocks noGrp="1" noChangeArrowheads="1"/>
          </p:cNvSpPr>
          <p:nvPr>
            <p:ph type="title"/>
          </p:nvPr>
        </p:nvSpPr>
        <p:spPr/>
        <p:txBody>
          <a:bodyPr>
            <a:normAutofit/>
          </a:bodyPr>
          <a:lstStyle/>
          <a:p>
            <a:r>
              <a:rPr lang="en-GB" sz="3600" dirty="0"/>
              <a:t>Message flows</a:t>
            </a:r>
          </a:p>
        </p:txBody>
      </p:sp>
      <p:sp>
        <p:nvSpPr>
          <p:cNvPr id="34828" name="Line 12"/>
          <p:cNvSpPr>
            <a:spLocks noChangeShapeType="1"/>
          </p:cNvSpPr>
          <p:nvPr/>
        </p:nvSpPr>
        <p:spPr bwMode="auto">
          <a:xfrm>
            <a:off x="700088" y="5034508"/>
            <a:ext cx="995362" cy="0"/>
          </a:xfrm>
          <a:prstGeom prst="line">
            <a:avLst/>
          </a:prstGeom>
          <a:noFill/>
          <a:ln w="28575">
            <a:solidFill>
              <a:srgbClr val="002060"/>
            </a:solidFill>
            <a:prstDash val="dash"/>
            <a:round/>
            <a:headEnd/>
            <a:tailEnd type="arrow" w="med" len="med"/>
          </a:ln>
        </p:spPr>
        <p:txBody>
          <a:bodyPr wrap="none" anchor="ctr"/>
          <a:lstStyle/>
          <a:p>
            <a:endParaRPr lang="en-US">
              <a:solidFill>
                <a:schemeClr val="tx2"/>
              </a:solidFill>
              <a:highlight>
                <a:srgbClr val="000000"/>
              </a:highlight>
            </a:endParaRPr>
          </a:p>
        </p:txBody>
      </p:sp>
      <p:sp>
        <p:nvSpPr>
          <p:cNvPr id="34829" name="Text Box 13"/>
          <p:cNvSpPr txBox="1">
            <a:spLocks noChangeArrowheads="1"/>
          </p:cNvSpPr>
          <p:nvPr/>
        </p:nvSpPr>
        <p:spPr bwMode="auto">
          <a:xfrm>
            <a:off x="1893888" y="4829721"/>
            <a:ext cx="6529387" cy="701675"/>
          </a:xfrm>
          <a:prstGeom prst="rect">
            <a:avLst/>
          </a:prstGeom>
          <a:noFill/>
          <a:ln w="9525">
            <a:noFill/>
            <a:miter lim="800000"/>
            <a:headEnd/>
            <a:tailEnd/>
          </a:ln>
        </p:spPr>
        <p:txBody>
          <a:bodyPr>
            <a:spAutoFit/>
          </a:bodyPr>
          <a:lstStyle/>
          <a:p>
            <a:pPr algn="l">
              <a:lnSpc>
                <a:spcPct val="100000"/>
              </a:lnSpc>
            </a:pPr>
            <a:r>
              <a:rPr lang="en-US" altLang="zh-CN" sz="2000" b="1">
                <a:solidFill>
                  <a:schemeClr val="tx2"/>
                </a:solidFill>
                <a:latin typeface="Times New Roman" pitchFamily="18" charset="0"/>
              </a:rPr>
              <a:t>Return</a:t>
            </a:r>
            <a:r>
              <a:rPr lang="en-US" altLang="zh-CN" sz="2000">
                <a:solidFill>
                  <a:schemeClr val="tx2"/>
                </a:solidFill>
                <a:latin typeface="Times New Roman" pitchFamily="18" charset="0"/>
              </a:rPr>
              <a:t> - represents the explicit return of control from the object to which the message was sent (optional).</a:t>
            </a:r>
          </a:p>
        </p:txBody>
      </p:sp>
      <p:grpSp>
        <p:nvGrpSpPr>
          <p:cNvPr id="3" name="Group 18"/>
          <p:cNvGrpSpPr>
            <a:grpSpLocks/>
          </p:cNvGrpSpPr>
          <p:nvPr/>
        </p:nvGrpSpPr>
        <p:grpSpPr bwMode="auto">
          <a:xfrm>
            <a:off x="4213225" y="692696"/>
            <a:ext cx="4773613" cy="1146175"/>
            <a:chOff x="2654" y="215"/>
            <a:chExt cx="3007" cy="722"/>
          </a:xfrm>
        </p:grpSpPr>
        <p:sp>
          <p:nvSpPr>
            <p:cNvPr id="21523" name="Text Box 14"/>
            <p:cNvSpPr txBox="1">
              <a:spLocks noChangeArrowheads="1"/>
            </p:cNvSpPr>
            <p:nvPr/>
          </p:nvSpPr>
          <p:spPr bwMode="auto">
            <a:xfrm>
              <a:off x="2654" y="215"/>
              <a:ext cx="3007" cy="460"/>
            </a:xfrm>
            <a:prstGeom prst="rect">
              <a:avLst/>
            </a:prstGeom>
            <a:noFill/>
            <a:ln w="28575">
              <a:solidFill>
                <a:schemeClr val="accent2"/>
              </a:solidFill>
              <a:miter lim="800000"/>
              <a:headEnd/>
              <a:tailEnd/>
            </a:ln>
          </p:spPr>
          <p:txBody>
            <a:bodyPr>
              <a:spAutoFit/>
            </a:bodyPr>
            <a:lstStyle/>
            <a:p>
              <a:pPr algn="l">
                <a:lnSpc>
                  <a:spcPct val="100000"/>
                </a:lnSpc>
              </a:pPr>
              <a:r>
                <a:rPr lang="en-US" altLang="zh-CN" sz="2000">
                  <a:solidFill>
                    <a:schemeClr val="accent2"/>
                  </a:solidFill>
                  <a:latin typeface="Times New Roman" pitchFamily="18" charset="0"/>
                </a:rPr>
                <a:t>There is only ONE thread of execution, and activity passes from one object to another.</a:t>
              </a:r>
            </a:p>
          </p:txBody>
        </p:sp>
        <p:sp>
          <p:nvSpPr>
            <p:cNvPr id="21524" name="Line 15"/>
            <p:cNvSpPr>
              <a:spLocks noChangeShapeType="1"/>
            </p:cNvSpPr>
            <p:nvPr/>
          </p:nvSpPr>
          <p:spPr bwMode="auto">
            <a:xfrm flipH="1">
              <a:off x="2911" y="676"/>
              <a:ext cx="238" cy="261"/>
            </a:xfrm>
            <a:prstGeom prst="line">
              <a:avLst/>
            </a:prstGeom>
            <a:noFill/>
            <a:ln w="28575">
              <a:solidFill>
                <a:schemeClr val="accent2"/>
              </a:solidFill>
              <a:round/>
              <a:headEnd/>
              <a:tailEnd type="arrow" w="med" len="med"/>
            </a:ln>
          </p:spPr>
          <p:txBody>
            <a:bodyPr wrap="none" anchor="ctr">
              <a:spAutoFit/>
            </a:bodyPr>
            <a:lstStyle/>
            <a:p>
              <a:endParaRPr lang="en-US"/>
            </a:p>
          </p:txBody>
        </p:sp>
      </p:grpSp>
      <p:grpSp>
        <p:nvGrpSpPr>
          <p:cNvPr id="4" name="Group 20"/>
          <p:cNvGrpSpPr>
            <a:grpSpLocks/>
          </p:cNvGrpSpPr>
          <p:nvPr/>
        </p:nvGrpSpPr>
        <p:grpSpPr bwMode="auto">
          <a:xfrm>
            <a:off x="3392488" y="3697833"/>
            <a:ext cx="5494337" cy="2727325"/>
            <a:chOff x="2137" y="2108"/>
            <a:chExt cx="3461" cy="1718"/>
          </a:xfrm>
        </p:grpSpPr>
        <p:sp>
          <p:nvSpPr>
            <p:cNvPr id="21521" name="Text Box 16"/>
            <p:cNvSpPr txBox="1">
              <a:spLocks noChangeArrowheads="1"/>
            </p:cNvSpPr>
            <p:nvPr/>
          </p:nvSpPr>
          <p:spPr bwMode="auto">
            <a:xfrm>
              <a:off x="2137" y="3366"/>
              <a:ext cx="3461" cy="460"/>
            </a:xfrm>
            <a:prstGeom prst="rect">
              <a:avLst/>
            </a:prstGeom>
            <a:noFill/>
            <a:ln w="28575">
              <a:solidFill>
                <a:schemeClr val="accent2"/>
              </a:solidFill>
              <a:miter lim="800000"/>
              <a:headEnd/>
              <a:tailEnd/>
            </a:ln>
          </p:spPr>
          <p:txBody>
            <a:bodyPr>
              <a:spAutoFit/>
            </a:bodyPr>
            <a:lstStyle/>
            <a:p>
              <a:pPr algn="l">
                <a:lnSpc>
                  <a:spcPct val="100000"/>
                </a:lnSpc>
              </a:pPr>
              <a:r>
                <a:rPr lang="en-US" altLang="zh-CN" sz="2000">
                  <a:solidFill>
                    <a:schemeClr val="accent2"/>
                  </a:solidFill>
                  <a:latin typeface="Times New Roman" pitchFamily="18" charset="0"/>
                </a:rPr>
                <a:t>More than one object can be active at any one time. This would be the case in a multi-threaded system.</a:t>
              </a:r>
            </a:p>
          </p:txBody>
        </p:sp>
        <p:sp>
          <p:nvSpPr>
            <p:cNvPr id="21522" name="Line 17"/>
            <p:cNvSpPr>
              <a:spLocks noChangeShapeType="1"/>
            </p:cNvSpPr>
            <p:nvPr/>
          </p:nvSpPr>
          <p:spPr bwMode="auto">
            <a:xfrm flipH="1" flipV="1">
              <a:off x="4267" y="2108"/>
              <a:ext cx="1031" cy="1233"/>
            </a:xfrm>
            <a:prstGeom prst="line">
              <a:avLst/>
            </a:prstGeom>
            <a:noFill/>
            <a:ln w="28575">
              <a:solidFill>
                <a:schemeClr val="accent2"/>
              </a:solidFill>
              <a:round/>
              <a:headEnd/>
              <a:tailEnd type="arrow" w="med" len="med"/>
            </a:ln>
          </p:spPr>
          <p:txBody>
            <a:bodyPr anchor="ctr">
              <a:spAutoFit/>
            </a:bodyPr>
            <a:lstStyle/>
            <a:p>
              <a:endParaRPr lang="en-US"/>
            </a:p>
          </p:txBody>
        </p:sp>
      </p:grpSp>
    </p:spTree>
    <p:extLst>
      <p:ext uri="{BB962C8B-B14F-4D97-AF65-F5344CB8AC3E}">
        <p14:creationId xmlns:p14="http://schemas.microsoft.com/office/powerpoint/2010/main" val="3299470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8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8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ox(in)">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ox(in)">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48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box(in)">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3482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3482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4828"/>
                                        </p:tgtEl>
                                        <p:attrNameLst>
                                          <p:attrName>style.visibility</p:attrName>
                                        </p:attrNameLst>
                                      </p:cBhvr>
                                      <p:to>
                                        <p:strVal val="visible"/>
                                      </p:to>
                                    </p:set>
                                    <p:animEffect transition="in" filter="box(in)">
                                      <p:cBhvr>
                                        <p:cTn id="42" dur="500"/>
                                        <p:tgtEl>
                                          <p:spTgt spid="34828"/>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34829"/>
                                        </p:tgtEl>
                                        <p:attrNameLst>
                                          <p:attrName>style.visibility</p:attrName>
                                        </p:attrNameLst>
                                      </p:cBhvr>
                                      <p:to>
                                        <p:strVal val="visible"/>
                                      </p:to>
                                    </p:set>
                                    <p:animEffect transition="in" filter="box(in)">
                                      <p:cBhvr>
                                        <p:cTn id="47" dur="500"/>
                                        <p:tgtEl>
                                          <p:spTgt spid="34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nimBg="1"/>
      <p:bldP spid="34820" grpId="0" autoUpdateAnimBg="0"/>
      <p:bldP spid="34821" grpId="0" animBg="1"/>
      <p:bldP spid="34822" grpId="0" autoUpdateAnimBg="0"/>
      <p:bldP spid="34825" grpId="0" autoUpdateAnimBg="0"/>
      <p:bldP spid="34828" grpId="0" animBg="1"/>
      <p:bldP spid="3482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lide Number Placeholder 4"/>
          <p:cNvSpPr>
            <a:spLocks noGrp="1"/>
          </p:cNvSpPr>
          <p:nvPr>
            <p:ph type="sldNum" sz="quarter" idx="11"/>
          </p:nvPr>
        </p:nvSpPr>
        <p:spPr bwMode="auto">
          <a:xfrm>
            <a:off x="8421688" y="6526609"/>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46</a:t>
            </a:fld>
            <a:endParaRPr lang="en-US" altLang="en-US">
              <a:solidFill>
                <a:schemeClr val="tx1"/>
              </a:solidFill>
            </a:endParaRPr>
          </a:p>
        </p:txBody>
      </p:sp>
      <p:sp>
        <p:nvSpPr>
          <p:cNvPr id="25605" name="Rectangle 2"/>
          <p:cNvSpPr>
            <a:spLocks noGrp="1" noChangeArrowheads="1"/>
          </p:cNvSpPr>
          <p:nvPr>
            <p:ph type="title"/>
          </p:nvPr>
        </p:nvSpPr>
        <p:spPr>
          <a:xfrm>
            <a:off x="204788" y="160338"/>
            <a:ext cx="8772525" cy="655637"/>
          </a:xfrm>
        </p:spPr>
        <p:txBody>
          <a:bodyPr>
            <a:normAutofit fontScale="90000"/>
          </a:bodyPr>
          <a:lstStyle/>
          <a:p>
            <a:r>
              <a:rPr lang="en-GB" sz="3600" dirty="0"/>
              <a:t>Generic vs Instance Sequence Diagrams</a:t>
            </a:r>
            <a:endParaRPr lang="en-US" altLang="zh-CN" sz="3600" dirty="0">
              <a:ea typeface="SimSun" pitchFamily="2" charset="-122"/>
            </a:endParaRPr>
          </a:p>
        </p:txBody>
      </p:sp>
      <p:sp>
        <p:nvSpPr>
          <p:cNvPr id="25606" name="Rectangle 3"/>
          <p:cNvSpPr>
            <a:spLocks noGrp="1" noChangeArrowheads="1"/>
          </p:cNvSpPr>
          <p:nvPr>
            <p:ph type="body" idx="1"/>
          </p:nvPr>
        </p:nvSpPr>
        <p:spPr>
          <a:xfrm>
            <a:off x="371475" y="871538"/>
            <a:ext cx="8607425" cy="5221758"/>
          </a:xfrm>
        </p:spPr>
        <p:txBody>
          <a:bodyPr/>
          <a:lstStyle/>
          <a:p>
            <a:r>
              <a:rPr lang="en-GB" sz="2800" dirty="0"/>
              <a:t>For each use case, there may be a </a:t>
            </a:r>
            <a:r>
              <a:rPr lang="en-GB" sz="2800" i="1" dirty="0"/>
              <a:t>collection</a:t>
            </a:r>
            <a:r>
              <a:rPr lang="en-GB" sz="2800" dirty="0"/>
              <a:t> of sequence diagrams that describes the behaviour of the system. </a:t>
            </a:r>
          </a:p>
          <a:p>
            <a:pPr lvl="1"/>
            <a:r>
              <a:rPr lang="en-GB" sz="2400" i="1" dirty="0"/>
              <a:t>One</a:t>
            </a:r>
            <a:r>
              <a:rPr lang="en-GB" sz="2400" dirty="0"/>
              <a:t> </a:t>
            </a:r>
            <a:r>
              <a:rPr lang="en-GB" sz="2400" b="1" dirty="0"/>
              <a:t>generic sequence</a:t>
            </a:r>
            <a:r>
              <a:rPr lang="en-GB" sz="2400" dirty="0"/>
              <a:t> diagram</a:t>
            </a:r>
          </a:p>
          <a:p>
            <a:pPr lvl="2"/>
            <a:r>
              <a:rPr lang="en-GB" sz="2400" dirty="0"/>
              <a:t>Shows all possible interactions (i.e. all scenarios) between the objects/actors in a use case</a:t>
            </a:r>
          </a:p>
          <a:p>
            <a:pPr lvl="2"/>
            <a:r>
              <a:rPr lang="en-GB" sz="2400" dirty="0"/>
              <a:t>May contains conditionals, loops, etc. </a:t>
            </a:r>
          </a:p>
          <a:p>
            <a:pPr lvl="1"/>
            <a:r>
              <a:rPr lang="en-GB" sz="2400" dirty="0"/>
              <a:t>A </a:t>
            </a:r>
            <a:r>
              <a:rPr lang="en-GB" sz="2400" i="1" dirty="0"/>
              <a:t>number</a:t>
            </a:r>
            <a:r>
              <a:rPr lang="en-GB" sz="2400" dirty="0"/>
              <a:t> of </a:t>
            </a:r>
            <a:r>
              <a:rPr lang="en-GB" sz="2400" b="1" dirty="0"/>
              <a:t>instance sequence</a:t>
            </a:r>
            <a:r>
              <a:rPr lang="en-GB" sz="2400" dirty="0"/>
              <a:t> diagrams. </a:t>
            </a:r>
          </a:p>
          <a:p>
            <a:pPr lvl="2"/>
            <a:r>
              <a:rPr lang="en-GB" sz="2400" dirty="0"/>
              <a:t>Depicts a single scenario (i.e. one linear sequence of message passing) of the interactions between the objects/actors of the use case.</a:t>
            </a:r>
          </a:p>
          <a:p>
            <a:pPr lvl="2"/>
            <a:r>
              <a:rPr lang="en-GB" sz="2400" dirty="0"/>
              <a:t>Does not contain any conditionals, loops, etc. </a:t>
            </a:r>
          </a:p>
        </p:txBody>
      </p:sp>
    </p:spTree>
    <p:extLst>
      <p:ext uri="{BB962C8B-B14F-4D97-AF65-F5344CB8AC3E}">
        <p14:creationId xmlns:p14="http://schemas.microsoft.com/office/powerpoint/2010/main" val="34474266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Slide Number Placeholder 4"/>
          <p:cNvSpPr>
            <a:spLocks noGrp="1"/>
          </p:cNvSpPr>
          <p:nvPr>
            <p:ph type="sldNum" sz="quarter" idx="11"/>
          </p:nvPr>
        </p:nvSpPr>
        <p:spPr bwMode="auto">
          <a:xfrm>
            <a:off x="8421688" y="6526609"/>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47</a:t>
            </a:fld>
            <a:endParaRPr lang="en-US" altLang="en-US">
              <a:solidFill>
                <a:schemeClr val="tx1"/>
              </a:solidFill>
            </a:endParaRPr>
          </a:p>
        </p:txBody>
      </p:sp>
      <p:sp>
        <p:nvSpPr>
          <p:cNvPr id="28677" name="Rectangle 2"/>
          <p:cNvSpPr>
            <a:spLocks noGrp="1" noChangeArrowheads="1"/>
          </p:cNvSpPr>
          <p:nvPr>
            <p:ph type="title"/>
          </p:nvPr>
        </p:nvSpPr>
        <p:spPr>
          <a:xfrm>
            <a:off x="204788" y="0"/>
            <a:ext cx="8772525" cy="569913"/>
          </a:xfrm>
        </p:spPr>
        <p:txBody>
          <a:bodyPr>
            <a:normAutofit fontScale="90000"/>
          </a:bodyPr>
          <a:lstStyle/>
          <a:p>
            <a:r>
              <a:rPr lang="en-GB" altLang="zh-CN" sz="3200" dirty="0">
                <a:ea typeface="SimSun" pitchFamily="2" charset="-122"/>
              </a:rPr>
              <a:t>Example of Frames</a:t>
            </a:r>
            <a:endParaRPr lang="en-US" altLang="zh-CN" sz="3200" dirty="0">
              <a:ea typeface="SimSun" pitchFamily="2" charset="-122"/>
            </a:endParaRPr>
          </a:p>
        </p:txBody>
      </p:sp>
      <p:pic>
        <p:nvPicPr>
          <p:cNvPr id="28678" name="Picture 4"/>
          <p:cNvPicPr>
            <a:picLocks noChangeAspect="1" noChangeArrowheads="1"/>
          </p:cNvPicPr>
          <p:nvPr/>
        </p:nvPicPr>
        <p:blipFill>
          <a:blip r:embed="rId2" cstate="print"/>
          <a:srcRect l="1451" t="3065" r="4216" b="2151"/>
          <a:stretch>
            <a:fillRect/>
          </a:stretch>
        </p:blipFill>
        <p:spPr bwMode="auto">
          <a:xfrm>
            <a:off x="434181" y="788988"/>
            <a:ext cx="8313738" cy="5557837"/>
          </a:xfrm>
          <a:prstGeom prst="rect">
            <a:avLst/>
          </a:prstGeom>
          <a:noFill/>
          <a:ln w="9525">
            <a:noFill/>
            <a:miter lim="800000"/>
            <a:headEnd/>
            <a:tailEnd/>
          </a:ln>
        </p:spPr>
      </p:pic>
    </p:spTree>
    <p:extLst>
      <p:ext uri="{BB962C8B-B14F-4D97-AF65-F5344CB8AC3E}">
        <p14:creationId xmlns:p14="http://schemas.microsoft.com/office/powerpoint/2010/main" val="22929305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Slide Number Placeholder 4"/>
          <p:cNvSpPr>
            <a:spLocks noGrp="1"/>
          </p:cNvSpPr>
          <p:nvPr>
            <p:ph type="sldNum" sz="quarter" idx="11"/>
          </p:nvPr>
        </p:nvSpPr>
        <p:spPr bwMode="auto">
          <a:xfrm>
            <a:off x="8421688" y="6454601"/>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48</a:t>
            </a:fld>
            <a:endParaRPr lang="en-US" altLang="en-US">
              <a:solidFill>
                <a:schemeClr val="tx1"/>
              </a:solidFill>
            </a:endParaRPr>
          </a:p>
        </p:txBody>
      </p:sp>
      <p:sp>
        <p:nvSpPr>
          <p:cNvPr id="29701" name="Rectangle 2"/>
          <p:cNvSpPr>
            <a:spLocks noGrp="1" noChangeArrowheads="1"/>
          </p:cNvSpPr>
          <p:nvPr>
            <p:ph type="title"/>
          </p:nvPr>
        </p:nvSpPr>
        <p:spPr>
          <a:xfrm>
            <a:off x="398463" y="160338"/>
            <a:ext cx="8578850" cy="452437"/>
          </a:xfrm>
        </p:spPr>
        <p:txBody>
          <a:bodyPr>
            <a:noAutofit/>
          </a:bodyPr>
          <a:lstStyle/>
          <a:p>
            <a:r>
              <a:rPr lang="en-US" altLang="zh-CN" sz="3200" dirty="0">
                <a:ea typeface="SimSun" pitchFamily="2" charset="-122"/>
              </a:rPr>
              <a:t>Common Operators for Interaction Frames </a:t>
            </a:r>
            <a:endParaRPr lang="zh-CN" altLang="en-US" sz="3200" dirty="0">
              <a:ea typeface="SimSun" pitchFamily="2" charset="-122"/>
            </a:endParaRPr>
          </a:p>
        </p:txBody>
      </p:sp>
      <p:grpSp>
        <p:nvGrpSpPr>
          <p:cNvPr id="29702" name="Group 119"/>
          <p:cNvGrpSpPr>
            <a:grpSpLocks/>
          </p:cNvGrpSpPr>
          <p:nvPr/>
        </p:nvGrpSpPr>
        <p:grpSpPr bwMode="auto">
          <a:xfrm>
            <a:off x="405456" y="915941"/>
            <a:ext cx="8575675" cy="5210175"/>
            <a:chOff x="256" y="540"/>
            <a:chExt cx="5402" cy="3350"/>
          </a:xfrm>
        </p:grpSpPr>
        <p:sp>
          <p:nvSpPr>
            <p:cNvPr id="29703" name="Rectangle 40"/>
            <p:cNvSpPr>
              <a:spLocks noChangeArrowheads="1"/>
            </p:cNvSpPr>
            <p:nvPr/>
          </p:nvSpPr>
          <p:spPr bwMode="auto">
            <a:xfrm>
              <a:off x="938" y="3600"/>
              <a:ext cx="4720" cy="290"/>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Sequence diagram; used to surround an entire sequence diagram, if you wish.</a:t>
              </a:r>
              <a:endParaRPr lang="en-US" altLang="zh-CN" sz="3600">
                <a:latin typeface="Arial" charset="0"/>
                <a:cs typeface="Times New Roman" pitchFamily="18" charset="0"/>
              </a:endParaRPr>
            </a:p>
          </p:txBody>
        </p:sp>
        <p:sp>
          <p:nvSpPr>
            <p:cNvPr id="29704" name="Rectangle 39"/>
            <p:cNvSpPr>
              <a:spLocks noChangeArrowheads="1"/>
            </p:cNvSpPr>
            <p:nvPr/>
          </p:nvSpPr>
          <p:spPr bwMode="auto">
            <a:xfrm>
              <a:off x="256" y="3600"/>
              <a:ext cx="682" cy="290"/>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sd</a:t>
              </a:r>
              <a:endParaRPr lang="en-US" altLang="zh-CN" sz="3600">
                <a:latin typeface="Arial" charset="0"/>
                <a:cs typeface="Times New Roman" pitchFamily="18" charset="0"/>
              </a:endParaRPr>
            </a:p>
          </p:txBody>
        </p:sp>
        <p:sp>
          <p:nvSpPr>
            <p:cNvPr id="29705" name="Rectangle 38"/>
            <p:cNvSpPr>
              <a:spLocks noChangeArrowheads="1"/>
            </p:cNvSpPr>
            <p:nvPr/>
          </p:nvSpPr>
          <p:spPr bwMode="auto">
            <a:xfrm>
              <a:off x="938" y="3024"/>
              <a:ext cx="4720" cy="576"/>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Reference; refers to an interaction defined on another diagram. The frame is drawn to cover the lifelines involved in the interaction. You can define parameters and a return value.</a:t>
              </a:r>
              <a:endParaRPr lang="en-US" altLang="zh-CN" sz="3600">
                <a:latin typeface="Arial" charset="0"/>
                <a:cs typeface="Times New Roman" pitchFamily="18" charset="0"/>
              </a:endParaRPr>
            </a:p>
          </p:txBody>
        </p:sp>
        <p:sp>
          <p:nvSpPr>
            <p:cNvPr id="29706" name="Rectangle 37"/>
            <p:cNvSpPr>
              <a:spLocks noChangeArrowheads="1"/>
            </p:cNvSpPr>
            <p:nvPr/>
          </p:nvSpPr>
          <p:spPr bwMode="auto">
            <a:xfrm>
              <a:off x="256" y="3024"/>
              <a:ext cx="682" cy="576"/>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ref</a:t>
              </a:r>
              <a:endParaRPr lang="en-US" altLang="zh-CN" sz="3600">
                <a:latin typeface="Arial" charset="0"/>
                <a:cs typeface="Times New Roman" pitchFamily="18" charset="0"/>
              </a:endParaRPr>
            </a:p>
          </p:txBody>
        </p:sp>
        <p:sp>
          <p:nvSpPr>
            <p:cNvPr id="29707" name="Rectangle 36"/>
            <p:cNvSpPr>
              <a:spLocks noChangeArrowheads="1"/>
            </p:cNvSpPr>
            <p:nvPr/>
          </p:nvSpPr>
          <p:spPr bwMode="auto">
            <a:xfrm>
              <a:off x="938" y="2734"/>
              <a:ext cx="4720" cy="290"/>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Negative; the fragment shows an invalid interaction.</a:t>
              </a:r>
              <a:endParaRPr lang="en-US" altLang="zh-CN" sz="3600">
                <a:latin typeface="Arial" charset="0"/>
                <a:cs typeface="Times New Roman" pitchFamily="18" charset="0"/>
              </a:endParaRPr>
            </a:p>
          </p:txBody>
        </p:sp>
        <p:sp>
          <p:nvSpPr>
            <p:cNvPr id="29708" name="Rectangle 35"/>
            <p:cNvSpPr>
              <a:spLocks noChangeArrowheads="1"/>
            </p:cNvSpPr>
            <p:nvPr/>
          </p:nvSpPr>
          <p:spPr bwMode="auto">
            <a:xfrm>
              <a:off x="256" y="2734"/>
              <a:ext cx="682" cy="290"/>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neg</a:t>
              </a:r>
              <a:endParaRPr lang="en-US" altLang="zh-CN" sz="3600">
                <a:latin typeface="Arial" charset="0"/>
                <a:cs typeface="Times New Roman" pitchFamily="18" charset="0"/>
              </a:endParaRPr>
            </a:p>
          </p:txBody>
        </p:sp>
        <p:sp>
          <p:nvSpPr>
            <p:cNvPr id="29709" name="Rectangle 34"/>
            <p:cNvSpPr>
              <a:spLocks noChangeArrowheads="1"/>
            </p:cNvSpPr>
            <p:nvPr/>
          </p:nvSpPr>
          <p:spPr bwMode="auto">
            <a:xfrm>
              <a:off x="938" y="2445"/>
              <a:ext cx="4720" cy="289"/>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Critical region; the fragment can have only one thread executing it at once.</a:t>
              </a:r>
              <a:endParaRPr lang="en-US" altLang="zh-CN" sz="3600">
                <a:latin typeface="Arial" charset="0"/>
                <a:cs typeface="Times New Roman" pitchFamily="18" charset="0"/>
              </a:endParaRPr>
            </a:p>
          </p:txBody>
        </p:sp>
        <p:sp>
          <p:nvSpPr>
            <p:cNvPr id="29710" name="Rectangle 33"/>
            <p:cNvSpPr>
              <a:spLocks noChangeArrowheads="1"/>
            </p:cNvSpPr>
            <p:nvPr/>
          </p:nvSpPr>
          <p:spPr bwMode="auto">
            <a:xfrm>
              <a:off x="256" y="2445"/>
              <a:ext cx="682" cy="289"/>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region</a:t>
              </a:r>
              <a:endParaRPr lang="en-US" altLang="zh-CN" sz="3600">
                <a:latin typeface="Arial" charset="0"/>
                <a:cs typeface="Times New Roman" pitchFamily="18" charset="0"/>
              </a:endParaRPr>
            </a:p>
          </p:txBody>
        </p:sp>
        <p:sp>
          <p:nvSpPr>
            <p:cNvPr id="29711" name="Rectangle 32"/>
            <p:cNvSpPr>
              <a:spLocks noChangeArrowheads="1"/>
            </p:cNvSpPr>
            <p:nvPr/>
          </p:nvSpPr>
          <p:spPr bwMode="auto">
            <a:xfrm>
              <a:off x="938" y="1984"/>
              <a:ext cx="4720" cy="461"/>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Loop; the fragment may execute multiple times, and the guard indicates the basis of iteration.</a:t>
              </a:r>
              <a:endParaRPr lang="en-US" altLang="zh-CN" sz="3600">
                <a:latin typeface="Arial" charset="0"/>
                <a:cs typeface="Times New Roman" pitchFamily="18" charset="0"/>
              </a:endParaRPr>
            </a:p>
          </p:txBody>
        </p:sp>
        <p:sp>
          <p:nvSpPr>
            <p:cNvPr id="29712" name="Rectangle 31"/>
            <p:cNvSpPr>
              <a:spLocks noChangeArrowheads="1"/>
            </p:cNvSpPr>
            <p:nvPr/>
          </p:nvSpPr>
          <p:spPr bwMode="auto">
            <a:xfrm>
              <a:off x="256" y="1984"/>
              <a:ext cx="682" cy="461"/>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loop</a:t>
              </a:r>
              <a:endParaRPr lang="en-US" altLang="zh-CN" sz="3600">
                <a:latin typeface="Arial" charset="0"/>
                <a:cs typeface="Times New Roman" pitchFamily="18" charset="0"/>
              </a:endParaRPr>
            </a:p>
          </p:txBody>
        </p:sp>
        <p:sp>
          <p:nvSpPr>
            <p:cNvPr id="29713" name="Rectangle 30"/>
            <p:cNvSpPr>
              <a:spLocks noChangeArrowheads="1"/>
            </p:cNvSpPr>
            <p:nvPr/>
          </p:nvSpPr>
          <p:spPr bwMode="auto">
            <a:xfrm>
              <a:off x="938" y="1695"/>
              <a:ext cx="4720" cy="289"/>
            </a:xfrm>
            <a:prstGeom prst="rect">
              <a:avLst/>
            </a:prstGeom>
            <a:noFill/>
            <a:ln w="28575" algn="ctr">
              <a:noFill/>
              <a:miter lim="800000"/>
              <a:headEnd/>
              <a:tailEnd/>
            </a:ln>
          </p:spPr>
          <p:txBody>
            <a:bodyPr/>
            <a:lstStyle/>
            <a:p>
              <a:pPr algn="l" eaLnBrk="1" hangingPunct="1">
                <a:lnSpc>
                  <a:spcPct val="100000"/>
                </a:lnSpc>
              </a:pPr>
              <a:r>
                <a:rPr lang="en-US" altLang="zh-CN" sz="1800" dirty="0">
                  <a:solidFill>
                    <a:srgbClr val="000000"/>
                  </a:solidFill>
                  <a:latin typeface="Times New Roman" pitchFamily="18" charset="0"/>
                  <a:cs typeface="Times New Roman" pitchFamily="18" charset="0"/>
                </a:rPr>
                <a:t>Parallel; each fragment is run in parallel.</a:t>
              </a:r>
              <a:endParaRPr lang="en-US" altLang="zh-CN" sz="3600" dirty="0">
                <a:latin typeface="Arial" charset="0"/>
                <a:cs typeface="Times New Roman" pitchFamily="18" charset="0"/>
              </a:endParaRPr>
            </a:p>
          </p:txBody>
        </p:sp>
        <p:sp>
          <p:nvSpPr>
            <p:cNvPr id="29714" name="Rectangle 29"/>
            <p:cNvSpPr>
              <a:spLocks noChangeArrowheads="1"/>
            </p:cNvSpPr>
            <p:nvPr/>
          </p:nvSpPr>
          <p:spPr bwMode="auto">
            <a:xfrm>
              <a:off x="256" y="1695"/>
              <a:ext cx="682" cy="289"/>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par</a:t>
              </a:r>
              <a:endParaRPr lang="en-US" altLang="zh-CN" sz="3600">
                <a:latin typeface="Arial" charset="0"/>
                <a:cs typeface="Times New Roman" pitchFamily="18" charset="0"/>
              </a:endParaRPr>
            </a:p>
          </p:txBody>
        </p:sp>
        <p:sp>
          <p:nvSpPr>
            <p:cNvPr id="29715" name="Rectangle 28"/>
            <p:cNvSpPr>
              <a:spLocks noChangeArrowheads="1"/>
            </p:cNvSpPr>
            <p:nvPr/>
          </p:nvSpPr>
          <p:spPr bwMode="auto">
            <a:xfrm>
              <a:off x="938" y="1233"/>
              <a:ext cx="4720" cy="462"/>
            </a:xfrm>
            <a:prstGeom prst="rect">
              <a:avLst/>
            </a:prstGeom>
            <a:noFill/>
            <a:ln w="28575" algn="ctr">
              <a:noFill/>
              <a:miter lim="800000"/>
              <a:headEnd/>
              <a:tailEnd/>
            </a:ln>
          </p:spPr>
          <p:txBody>
            <a:bodyPr/>
            <a:lstStyle/>
            <a:p>
              <a:pPr algn="l" eaLnBrk="1" hangingPunct="1">
                <a:lnSpc>
                  <a:spcPct val="100000"/>
                </a:lnSpc>
              </a:pPr>
              <a:r>
                <a:rPr lang="en-US" altLang="zh-CN" sz="1800" dirty="0">
                  <a:solidFill>
                    <a:srgbClr val="000000"/>
                  </a:solidFill>
                  <a:latin typeface="Times New Roman" pitchFamily="18" charset="0"/>
                  <a:cs typeface="Times New Roman" pitchFamily="18" charset="0"/>
                </a:rPr>
                <a:t>Optional; the fragment executes only if the supplied condition is true. Equivalent to an alt with only one trace.</a:t>
              </a:r>
              <a:endParaRPr lang="en-US" altLang="zh-CN" sz="3600" dirty="0">
                <a:latin typeface="Arial" charset="0"/>
                <a:cs typeface="Times New Roman" pitchFamily="18" charset="0"/>
              </a:endParaRPr>
            </a:p>
          </p:txBody>
        </p:sp>
        <p:sp>
          <p:nvSpPr>
            <p:cNvPr id="29716" name="Rectangle 27"/>
            <p:cNvSpPr>
              <a:spLocks noChangeArrowheads="1"/>
            </p:cNvSpPr>
            <p:nvPr/>
          </p:nvSpPr>
          <p:spPr bwMode="auto">
            <a:xfrm>
              <a:off x="256" y="1233"/>
              <a:ext cx="682" cy="462"/>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opt</a:t>
              </a:r>
              <a:endParaRPr lang="en-US" altLang="zh-CN" sz="3600">
                <a:latin typeface="Arial" charset="0"/>
                <a:cs typeface="Times New Roman" pitchFamily="18" charset="0"/>
              </a:endParaRPr>
            </a:p>
          </p:txBody>
        </p:sp>
        <p:sp>
          <p:nvSpPr>
            <p:cNvPr id="29717" name="Rectangle 26"/>
            <p:cNvSpPr>
              <a:spLocks noChangeArrowheads="1"/>
            </p:cNvSpPr>
            <p:nvPr/>
          </p:nvSpPr>
          <p:spPr bwMode="auto">
            <a:xfrm>
              <a:off x="938" y="830"/>
              <a:ext cx="4720" cy="403"/>
            </a:xfrm>
            <a:prstGeom prst="rect">
              <a:avLst/>
            </a:prstGeom>
            <a:noFill/>
            <a:ln w="28575" algn="ctr">
              <a:noFill/>
              <a:miter lim="800000"/>
              <a:headEnd/>
              <a:tailEnd/>
            </a:ln>
          </p:spPr>
          <p:txBody>
            <a:bodyPr/>
            <a:lstStyle/>
            <a:p>
              <a:pPr algn="l" eaLnBrk="1" hangingPunct="1">
                <a:lnSpc>
                  <a:spcPct val="100000"/>
                </a:lnSpc>
              </a:pPr>
              <a:r>
                <a:rPr lang="en-US" altLang="zh-CN" sz="1800" dirty="0">
                  <a:solidFill>
                    <a:srgbClr val="000000"/>
                  </a:solidFill>
                  <a:latin typeface="Times New Roman" pitchFamily="18" charset="0"/>
                  <a:cs typeface="Times New Roman" pitchFamily="18" charset="0"/>
                </a:rPr>
                <a:t>Alternative multiple fragments; only the one whose condition is true will execute.</a:t>
              </a:r>
              <a:endParaRPr lang="en-US" altLang="zh-CN" sz="3600" dirty="0">
                <a:latin typeface="Arial" charset="0"/>
                <a:cs typeface="Times New Roman" pitchFamily="18" charset="0"/>
              </a:endParaRPr>
            </a:p>
          </p:txBody>
        </p:sp>
        <p:sp>
          <p:nvSpPr>
            <p:cNvPr id="29718" name="Rectangle 25"/>
            <p:cNvSpPr>
              <a:spLocks noChangeArrowheads="1"/>
            </p:cNvSpPr>
            <p:nvPr/>
          </p:nvSpPr>
          <p:spPr bwMode="auto">
            <a:xfrm>
              <a:off x="256" y="830"/>
              <a:ext cx="682" cy="403"/>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alt</a:t>
              </a:r>
              <a:endParaRPr lang="en-US" altLang="zh-CN" sz="3600">
                <a:latin typeface="Arial" charset="0"/>
                <a:cs typeface="Times New Roman" pitchFamily="18" charset="0"/>
              </a:endParaRPr>
            </a:p>
          </p:txBody>
        </p:sp>
        <p:sp>
          <p:nvSpPr>
            <p:cNvPr id="29719" name="Rectangle 24"/>
            <p:cNvSpPr>
              <a:spLocks noChangeArrowheads="1"/>
            </p:cNvSpPr>
            <p:nvPr/>
          </p:nvSpPr>
          <p:spPr bwMode="auto">
            <a:xfrm>
              <a:off x="938" y="540"/>
              <a:ext cx="4720" cy="290"/>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Meaning</a:t>
              </a:r>
              <a:endParaRPr lang="en-US" altLang="zh-CN" sz="3600">
                <a:latin typeface="Arial" charset="0"/>
                <a:cs typeface="Times New Roman" pitchFamily="18" charset="0"/>
              </a:endParaRPr>
            </a:p>
          </p:txBody>
        </p:sp>
        <p:sp>
          <p:nvSpPr>
            <p:cNvPr id="29720" name="Rectangle 23"/>
            <p:cNvSpPr>
              <a:spLocks noChangeArrowheads="1"/>
            </p:cNvSpPr>
            <p:nvPr/>
          </p:nvSpPr>
          <p:spPr bwMode="auto">
            <a:xfrm>
              <a:off x="256" y="540"/>
              <a:ext cx="682" cy="290"/>
            </a:xfrm>
            <a:prstGeom prst="rect">
              <a:avLst/>
            </a:prstGeom>
            <a:noFill/>
            <a:ln w="28575" algn="ctr">
              <a:noFill/>
              <a:miter lim="800000"/>
              <a:headEnd/>
              <a:tailEnd/>
            </a:ln>
          </p:spPr>
          <p:txBody>
            <a:bodyPr/>
            <a:lstStyle/>
            <a:p>
              <a:pPr algn="l" eaLnBrk="1" hangingPunct="1">
                <a:lnSpc>
                  <a:spcPct val="100000"/>
                </a:lnSpc>
              </a:pPr>
              <a:r>
                <a:rPr lang="en-US" altLang="zh-CN" sz="1800">
                  <a:solidFill>
                    <a:srgbClr val="000000"/>
                  </a:solidFill>
                  <a:latin typeface="Times New Roman" pitchFamily="18" charset="0"/>
                  <a:cs typeface="Times New Roman" pitchFamily="18" charset="0"/>
                </a:rPr>
                <a:t>Operator</a:t>
              </a:r>
              <a:endParaRPr lang="en-US" altLang="zh-CN" sz="3600">
                <a:latin typeface="Arial" charset="0"/>
                <a:cs typeface="Times New Roman" pitchFamily="18" charset="0"/>
              </a:endParaRPr>
            </a:p>
          </p:txBody>
        </p:sp>
        <p:sp>
          <p:nvSpPr>
            <p:cNvPr id="29721" name="Line 41"/>
            <p:cNvSpPr>
              <a:spLocks noChangeShapeType="1"/>
            </p:cNvSpPr>
            <p:nvPr/>
          </p:nvSpPr>
          <p:spPr bwMode="auto">
            <a:xfrm>
              <a:off x="256" y="540"/>
              <a:ext cx="5402" cy="0"/>
            </a:xfrm>
            <a:prstGeom prst="line">
              <a:avLst/>
            </a:prstGeom>
            <a:noFill/>
            <a:ln w="25400" cap="rnd">
              <a:solidFill>
                <a:srgbClr val="000000"/>
              </a:solidFill>
              <a:round/>
              <a:headEnd/>
              <a:tailEnd/>
            </a:ln>
          </p:spPr>
          <p:txBody>
            <a:bodyPr wrap="none" anchor="ctr">
              <a:spAutoFit/>
            </a:bodyPr>
            <a:lstStyle/>
            <a:p>
              <a:endParaRPr lang="en-US"/>
            </a:p>
          </p:txBody>
        </p:sp>
        <p:sp>
          <p:nvSpPr>
            <p:cNvPr id="29722" name="Line 42"/>
            <p:cNvSpPr>
              <a:spLocks noChangeShapeType="1"/>
            </p:cNvSpPr>
            <p:nvPr/>
          </p:nvSpPr>
          <p:spPr bwMode="auto">
            <a:xfrm>
              <a:off x="256" y="3890"/>
              <a:ext cx="5402" cy="0"/>
            </a:xfrm>
            <a:prstGeom prst="line">
              <a:avLst/>
            </a:prstGeom>
            <a:noFill/>
            <a:ln w="12700" cap="rnd">
              <a:solidFill>
                <a:srgbClr val="000000"/>
              </a:solidFill>
              <a:round/>
              <a:headEnd/>
              <a:tailEnd/>
            </a:ln>
          </p:spPr>
          <p:txBody>
            <a:bodyPr wrap="none" anchor="ctr">
              <a:spAutoFit/>
            </a:bodyPr>
            <a:lstStyle/>
            <a:p>
              <a:endParaRPr lang="en-US"/>
            </a:p>
          </p:txBody>
        </p:sp>
        <p:sp>
          <p:nvSpPr>
            <p:cNvPr id="29723" name="Line 43"/>
            <p:cNvSpPr>
              <a:spLocks noChangeShapeType="1"/>
            </p:cNvSpPr>
            <p:nvPr/>
          </p:nvSpPr>
          <p:spPr bwMode="auto">
            <a:xfrm>
              <a:off x="256" y="540"/>
              <a:ext cx="0" cy="3350"/>
            </a:xfrm>
            <a:prstGeom prst="line">
              <a:avLst/>
            </a:prstGeom>
            <a:noFill/>
            <a:ln w="28575" cap="rnd">
              <a:solidFill>
                <a:srgbClr val="000000"/>
              </a:solidFill>
              <a:round/>
              <a:headEnd/>
              <a:tailEnd/>
            </a:ln>
          </p:spPr>
          <p:txBody>
            <a:bodyPr wrap="none" anchor="ctr">
              <a:spAutoFit/>
            </a:bodyPr>
            <a:lstStyle/>
            <a:p>
              <a:endParaRPr lang="en-US"/>
            </a:p>
          </p:txBody>
        </p:sp>
        <p:sp>
          <p:nvSpPr>
            <p:cNvPr id="29724" name="Line 44"/>
            <p:cNvSpPr>
              <a:spLocks noChangeShapeType="1"/>
            </p:cNvSpPr>
            <p:nvPr/>
          </p:nvSpPr>
          <p:spPr bwMode="auto">
            <a:xfrm>
              <a:off x="5658" y="540"/>
              <a:ext cx="0" cy="3350"/>
            </a:xfrm>
            <a:prstGeom prst="line">
              <a:avLst/>
            </a:prstGeom>
            <a:noFill/>
            <a:ln w="28575" cap="rnd">
              <a:solidFill>
                <a:srgbClr val="000000"/>
              </a:solidFill>
              <a:round/>
              <a:headEnd/>
              <a:tailEnd/>
            </a:ln>
          </p:spPr>
          <p:txBody>
            <a:bodyPr wrap="none" anchor="ctr">
              <a:spAutoFit/>
            </a:bodyPr>
            <a:lstStyle/>
            <a:p>
              <a:endParaRPr lang="en-US"/>
            </a:p>
          </p:txBody>
        </p:sp>
        <p:sp>
          <p:nvSpPr>
            <p:cNvPr id="29725" name="Line 47"/>
            <p:cNvSpPr>
              <a:spLocks noChangeShapeType="1"/>
            </p:cNvSpPr>
            <p:nvPr/>
          </p:nvSpPr>
          <p:spPr bwMode="auto">
            <a:xfrm>
              <a:off x="256" y="830"/>
              <a:ext cx="5402" cy="0"/>
            </a:xfrm>
            <a:prstGeom prst="line">
              <a:avLst/>
            </a:prstGeom>
            <a:noFill/>
            <a:ln w="25400" cap="rnd">
              <a:solidFill>
                <a:srgbClr val="000000"/>
              </a:solidFill>
              <a:round/>
              <a:headEnd/>
              <a:tailEnd/>
            </a:ln>
          </p:spPr>
          <p:txBody>
            <a:bodyPr wrap="none" anchor="ctr">
              <a:spAutoFit/>
            </a:bodyPr>
            <a:lstStyle/>
            <a:p>
              <a:endParaRPr lang="en-US"/>
            </a:p>
          </p:txBody>
        </p:sp>
        <p:sp>
          <p:nvSpPr>
            <p:cNvPr id="29726" name="Line 49"/>
            <p:cNvSpPr>
              <a:spLocks noChangeShapeType="1"/>
            </p:cNvSpPr>
            <p:nvPr/>
          </p:nvSpPr>
          <p:spPr bwMode="auto">
            <a:xfrm>
              <a:off x="938" y="540"/>
              <a:ext cx="0" cy="3350"/>
            </a:xfrm>
            <a:prstGeom prst="line">
              <a:avLst/>
            </a:prstGeom>
            <a:noFill/>
            <a:ln w="28575" cap="rnd">
              <a:solidFill>
                <a:srgbClr val="000000"/>
              </a:solidFill>
              <a:round/>
              <a:headEnd/>
              <a:tailEnd/>
            </a:ln>
          </p:spPr>
          <p:txBody>
            <a:bodyPr wrap="none" anchor="ctr">
              <a:spAutoFit/>
            </a:bodyPr>
            <a:lstStyle/>
            <a:p>
              <a:endParaRPr lang="en-US"/>
            </a:p>
          </p:txBody>
        </p:sp>
        <p:sp>
          <p:nvSpPr>
            <p:cNvPr id="29727" name="Line 53"/>
            <p:cNvSpPr>
              <a:spLocks noChangeShapeType="1"/>
            </p:cNvSpPr>
            <p:nvPr/>
          </p:nvSpPr>
          <p:spPr bwMode="auto">
            <a:xfrm>
              <a:off x="256" y="1233"/>
              <a:ext cx="5402" cy="0"/>
            </a:xfrm>
            <a:prstGeom prst="line">
              <a:avLst/>
            </a:prstGeom>
            <a:noFill/>
            <a:ln w="12700" cap="rnd">
              <a:solidFill>
                <a:srgbClr val="000000"/>
              </a:solidFill>
              <a:round/>
              <a:headEnd/>
              <a:tailEnd/>
            </a:ln>
          </p:spPr>
          <p:txBody>
            <a:bodyPr wrap="none" anchor="ctr">
              <a:spAutoFit/>
            </a:bodyPr>
            <a:lstStyle/>
            <a:p>
              <a:endParaRPr lang="en-US"/>
            </a:p>
          </p:txBody>
        </p:sp>
        <p:sp>
          <p:nvSpPr>
            <p:cNvPr id="29728" name="Line 61"/>
            <p:cNvSpPr>
              <a:spLocks noChangeShapeType="1"/>
            </p:cNvSpPr>
            <p:nvPr/>
          </p:nvSpPr>
          <p:spPr bwMode="auto">
            <a:xfrm>
              <a:off x="256" y="1695"/>
              <a:ext cx="5402" cy="0"/>
            </a:xfrm>
            <a:prstGeom prst="line">
              <a:avLst/>
            </a:prstGeom>
            <a:noFill/>
            <a:ln w="12700" cap="rnd">
              <a:solidFill>
                <a:srgbClr val="000000"/>
              </a:solidFill>
              <a:round/>
              <a:headEnd/>
              <a:tailEnd/>
            </a:ln>
          </p:spPr>
          <p:txBody>
            <a:bodyPr wrap="none" anchor="ctr">
              <a:spAutoFit/>
            </a:bodyPr>
            <a:lstStyle/>
            <a:p>
              <a:endParaRPr lang="en-US"/>
            </a:p>
          </p:txBody>
        </p:sp>
        <p:sp>
          <p:nvSpPr>
            <p:cNvPr id="29729" name="Line 69"/>
            <p:cNvSpPr>
              <a:spLocks noChangeShapeType="1"/>
            </p:cNvSpPr>
            <p:nvPr/>
          </p:nvSpPr>
          <p:spPr bwMode="auto">
            <a:xfrm>
              <a:off x="256" y="1984"/>
              <a:ext cx="5402" cy="0"/>
            </a:xfrm>
            <a:prstGeom prst="line">
              <a:avLst/>
            </a:prstGeom>
            <a:noFill/>
            <a:ln w="12700" cap="rnd">
              <a:solidFill>
                <a:srgbClr val="000000"/>
              </a:solidFill>
              <a:round/>
              <a:headEnd/>
              <a:tailEnd/>
            </a:ln>
          </p:spPr>
          <p:txBody>
            <a:bodyPr wrap="none" anchor="ctr">
              <a:spAutoFit/>
            </a:bodyPr>
            <a:lstStyle/>
            <a:p>
              <a:endParaRPr lang="en-US"/>
            </a:p>
          </p:txBody>
        </p:sp>
        <p:sp>
          <p:nvSpPr>
            <p:cNvPr id="29730" name="Line 77"/>
            <p:cNvSpPr>
              <a:spLocks noChangeShapeType="1"/>
            </p:cNvSpPr>
            <p:nvPr/>
          </p:nvSpPr>
          <p:spPr bwMode="auto">
            <a:xfrm>
              <a:off x="256" y="2445"/>
              <a:ext cx="5402" cy="0"/>
            </a:xfrm>
            <a:prstGeom prst="line">
              <a:avLst/>
            </a:prstGeom>
            <a:noFill/>
            <a:ln w="12700" cap="rnd">
              <a:solidFill>
                <a:srgbClr val="000000"/>
              </a:solidFill>
              <a:round/>
              <a:headEnd/>
              <a:tailEnd/>
            </a:ln>
          </p:spPr>
          <p:txBody>
            <a:bodyPr wrap="none" anchor="ctr">
              <a:spAutoFit/>
            </a:bodyPr>
            <a:lstStyle/>
            <a:p>
              <a:endParaRPr lang="en-US"/>
            </a:p>
          </p:txBody>
        </p:sp>
        <p:sp>
          <p:nvSpPr>
            <p:cNvPr id="29731" name="Line 85"/>
            <p:cNvSpPr>
              <a:spLocks noChangeShapeType="1"/>
            </p:cNvSpPr>
            <p:nvPr/>
          </p:nvSpPr>
          <p:spPr bwMode="auto">
            <a:xfrm>
              <a:off x="256" y="2734"/>
              <a:ext cx="5402" cy="0"/>
            </a:xfrm>
            <a:prstGeom prst="line">
              <a:avLst/>
            </a:prstGeom>
            <a:noFill/>
            <a:ln w="12700" cap="rnd">
              <a:solidFill>
                <a:srgbClr val="000000"/>
              </a:solidFill>
              <a:round/>
              <a:headEnd/>
              <a:tailEnd/>
            </a:ln>
          </p:spPr>
          <p:txBody>
            <a:bodyPr wrap="none" anchor="ctr">
              <a:spAutoFit/>
            </a:bodyPr>
            <a:lstStyle/>
            <a:p>
              <a:endParaRPr lang="en-US"/>
            </a:p>
          </p:txBody>
        </p:sp>
        <p:sp>
          <p:nvSpPr>
            <p:cNvPr id="29732" name="Line 93"/>
            <p:cNvSpPr>
              <a:spLocks noChangeShapeType="1"/>
            </p:cNvSpPr>
            <p:nvPr/>
          </p:nvSpPr>
          <p:spPr bwMode="auto">
            <a:xfrm>
              <a:off x="256" y="3024"/>
              <a:ext cx="5402" cy="0"/>
            </a:xfrm>
            <a:prstGeom prst="line">
              <a:avLst/>
            </a:prstGeom>
            <a:noFill/>
            <a:ln w="12700" cap="rnd">
              <a:solidFill>
                <a:srgbClr val="000000"/>
              </a:solidFill>
              <a:round/>
              <a:headEnd/>
              <a:tailEnd/>
            </a:ln>
          </p:spPr>
          <p:txBody>
            <a:bodyPr wrap="none" anchor="ctr">
              <a:spAutoFit/>
            </a:bodyPr>
            <a:lstStyle/>
            <a:p>
              <a:endParaRPr lang="en-US"/>
            </a:p>
          </p:txBody>
        </p:sp>
        <p:sp>
          <p:nvSpPr>
            <p:cNvPr id="29733" name="Line 101"/>
            <p:cNvSpPr>
              <a:spLocks noChangeShapeType="1"/>
            </p:cNvSpPr>
            <p:nvPr/>
          </p:nvSpPr>
          <p:spPr bwMode="auto">
            <a:xfrm>
              <a:off x="256" y="3600"/>
              <a:ext cx="5402" cy="0"/>
            </a:xfrm>
            <a:prstGeom prst="line">
              <a:avLst/>
            </a:prstGeom>
            <a:noFill/>
            <a:ln w="12700" cap="rnd">
              <a:solidFill>
                <a:srgbClr val="000000"/>
              </a:solidFill>
              <a:round/>
              <a:headEnd/>
              <a:tailEnd/>
            </a:ln>
          </p:spPr>
          <p:txBody>
            <a:bodyPr wrap="none" anchor="ctr">
              <a:spAutoFit/>
            </a:bodyPr>
            <a:lstStyle/>
            <a:p>
              <a:endParaRPr lang="en-US"/>
            </a:p>
          </p:txBody>
        </p:sp>
      </p:grpSp>
    </p:spTree>
    <p:extLst>
      <p:ext uri="{BB962C8B-B14F-4D97-AF65-F5344CB8AC3E}">
        <p14:creationId xmlns:p14="http://schemas.microsoft.com/office/powerpoint/2010/main" val="24150797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Slide Number Placeholder 4"/>
          <p:cNvSpPr>
            <a:spLocks noGrp="1"/>
          </p:cNvSpPr>
          <p:nvPr>
            <p:ph type="sldNum" sz="quarter" idx="11"/>
          </p:nvPr>
        </p:nvSpPr>
        <p:spPr bwMode="auto">
          <a:xfrm>
            <a:off x="8421688" y="6454601"/>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49</a:t>
            </a:fld>
            <a:endParaRPr lang="en-US" altLang="en-US">
              <a:solidFill>
                <a:schemeClr val="tx1"/>
              </a:solidFill>
            </a:endParaRPr>
          </a:p>
        </p:txBody>
      </p:sp>
      <p:sp>
        <p:nvSpPr>
          <p:cNvPr id="39941" name="Rectangle 2"/>
          <p:cNvSpPr>
            <a:spLocks noGrp="1" noChangeArrowheads="1"/>
          </p:cNvSpPr>
          <p:nvPr>
            <p:ph type="title"/>
          </p:nvPr>
        </p:nvSpPr>
        <p:spPr/>
        <p:txBody>
          <a:bodyPr/>
          <a:lstStyle/>
          <a:p>
            <a:r>
              <a:rPr lang="en-GB" dirty="0"/>
              <a:t>Behavioural State Machines</a:t>
            </a:r>
          </a:p>
        </p:txBody>
      </p:sp>
      <p:sp>
        <p:nvSpPr>
          <p:cNvPr id="39942" name="Rectangle 3"/>
          <p:cNvSpPr>
            <a:spLocks noGrp="1" noChangeArrowheads="1"/>
          </p:cNvSpPr>
          <p:nvPr>
            <p:ph type="body" idx="1"/>
          </p:nvPr>
        </p:nvSpPr>
        <p:spPr>
          <a:xfrm>
            <a:off x="490538" y="933450"/>
            <a:ext cx="8488362" cy="1503363"/>
          </a:xfrm>
        </p:spPr>
        <p:txBody>
          <a:bodyPr/>
          <a:lstStyle/>
          <a:p>
            <a:pPr>
              <a:lnSpc>
                <a:spcPct val="90000"/>
              </a:lnSpc>
            </a:pPr>
            <a:r>
              <a:rPr lang="en-GB" sz="2400" dirty="0"/>
              <a:t>A dynamic model that shows </a:t>
            </a:r>
          </a:p>
          <a:p>
            <a:pPr lvl="1">
              <a:lnSpc>
                <a:spcPct val="90000"/>
              </a:lnSpc>
            </a:pPr>
            <a:r>
              <a:rPr lang="en-GB" sz="2000" dirty="0"/>
              <a:t>the different states that a single object passes through during its life </a:t>
            </a:r>
          </a:p>
          <a:p>
            <a:pPr lvl="1">
              <a:lnSpc>
                <a:spcPct val="90000"/>
              </a:lnSpc>
            </a:pPr>
            <a:r>
              <a:rPr lang="en-GB" sz="2000" dirty="0"/>
              <a:t>its response to events with changes on its state and the actions. </a:t>
            </a:r>
          </a:p>
          <a:p>
            <a:pPr>
              <a:lnSpc>
                <a:spcPct val="90000"/>
              </a:lnSpc>
            </a:pPr>
            <a:r>
              <a:rPr lang="en-GB" sz="2400" dirty="0"/>
              <a:t>Used for further definition of the behaviour of objects</a:t>
            </a:r>
          </a:p>
        </p:txBody>
      </p:sp>
      <p:grpSp>
        <p:nvGrpSpPr>
          <p:cNvPr id="39943" name="Group 28"/>
          <p:cNvGrpSpPr>
            <a:grpSpLocks/>
          </p:cNvGrpSpPr>
          <p:nvPr/>
        </p:nvGrpSpPr>
        <p:grpSpPr bwMode="auto">
          <a:xfrm>
            <a:off x="490539" y="2690019"/>
            <a:ext cx="8047644" cy="3462338"/>
            <a:chOff x="678" y="1591"/>
            <a:chExt cx="4212" cy="2181"/>
          </a:xfrm>
        </p:grpSpPr>
        <p:sp>
          <p:nvSpPr>
            <p:cNvPr id="39944" name="Oval 4"/>
            <p:cNvSpPr>
              <a:spLocks noChangeArrowheads="1"/>
            </p:cNvSpPr>
            <p:nvPr/>
          </p:nvSpPr>
          <p:spPr bwMode="auto">
            <a:xfrm>
              <a:off x="1220" y="1636"/>
              <a:ext cx="254" cy="254"/>
            </a:xfrm>
            <a:prstGeom prst="ellipse">
              <a:avLst/>
            </a:prstGeom>
            <a:solidFill>
              <a:schemeClr val="accent2"/>
            </a:solidFill>
            <a:ln w="28575" algn="ctr">
              <a:solidFill>
                <a:schemeClr val="accent2"/>
              </a:solidFill>
              <a:round/>
              <a:headEnd/>
              <a:tailEnd/>
            </a:ln>
          </p:spPr>
          <p:txBody>
            <a:bodyPr wrap="none" anchor="ctr">
              <a:spAutoFit/>
            </a:bodyPr>
            <a:lstStyle/>
            <a:p>
              <a:endParaRPr lang="en-US"/>
            </a:p>
          </p:txBody>
        </p:sp>
        <p:sp>
          <p:nvSpPr>
            <p:cNvPr id="39945" name="AutoShape 5"/>
            <p:cNvSpPr>
              <a:spLocks noChangeArrowheads="1"/>
            </p:cNvSpPr>
            <p:nvPr/>
          </p:nvSpPr>
          <p:spPr bwMode="auto">
            <a:xfrm>
              <a:off x="988" y="2453"/>
              <a:ext cx="688" cy="279"/>
            </a:xfrm>
            <a:prstGeom prst="roundRect">
              <a:avLst>
                <a:gd name="adj" fmla="val 16667"/>
              </a:avLst>
            </a:prstGeom>
            <a:noFill/>
            <a:ln w="28575" algn="ctr">
              <a:solidFill>
                <a:schemeClr val="accent2"/>
              </a:solidFill>
              <a:round/>
              <a:headEnd/>
              <a:tailEnd/>
            </a:ln>
          </p:spPr>
          <p:txBody>
            <a:bodyPr anchor="ctr">
              <a:spAutoFit/>
            </a:bodyPr>
            <a:lstStyle/>
            <a:p>
              <a:pPr algn="ctr"/>
              <a:r>
                <a:rPr lang="en-GB" sz="2000" dirty="0">
                  <a:solidFill>
                    <a:schemeClr val="tx2"/>
                  </a:solidFill>
                </a:rPr>
                <a:t>Waiting</a:t>
              </a:r>
            </a:p>
          </p:txBody>
        </p:sp>
        <p:grpSp>
          <p:nvGrpSpPr>
            <p:cNvPr id="39946" name="Group 6"/>
            <p:cNvGrpSpPr>
              <a:grpSpLocks/>
            </p:cNvGrpSpPr>
            <p:nvPr/>
          </p:nvGrpSpPr>
          <p:grpSpPr bwMode="auto">
            <a:xfrm>
              <a:off x="4347" y="1591"/>
              <a:ext cx="284" cy="291"/>
              <a:chOff x="653" y="2243"/>
              <a:chExt cx="284" cy="291"/>
            </a:xfrm>
          </p:grpSpPr>
          <p:sp>
            <p:nvSpPr>
              <p:cNvPr id="39962" name="Oval 7"/>
              <p:cNvSpPr>
                <a:spLocks noChangeArrowheads="1"/>
              </p:cNvSpPr>
              <p:nvPr/>
            </p:nvSpPr>
            <p:spPr bwMode="auto">
              <a:xfrm>
                <a:off x="653" y="2243"/>
                <a:ext cx="284" cy="291"/>
              </a:xfrm>
              <a:prstGeom prst="ellipse">
                <a:avLst/>
              </a:prstGeom>
              <a:solidFill>
                <a:srgbClr val="FFFFFF"/>
              </a:solidFill>
              <a:ln w="28575" algn="ctr">
                <a:solidFill>
                  <a:schemeClr val="accent2"/>
                </a:solidFill>
                <a:round/>
                <a:headEnd/>
                <a:tailEnd/>
              </a:ln>
            </p:spPr>
            <p:txBody>
              <a:bodyPr wrap="none" anchor="ctr">
                <a:spAutoFit/>
              </a:bodyPr>
              <a:lstStyle/>
              <a:p>
                <a:endParaRPr lang="en-US"/>
              </a:p>
            </p:txBody>
          </p:sp>
          <p:sp>
            <p:nvSpPr>
              <p:cNvPr id="39963" name="Oval 8"/>
              <p:cNvSpPr>
                <a:spLocks noChangeArrowheads="1"/>
              </p:cNvSpPr>
              <p:nvPr/>
            </p:nvSpPr>
            <p:spPr bwMode="auto">
              <a:xfrm>
                <a:off x="722" y="2308"/>
                <a:ext cx="146" cy="162"/>
              </a:xfrm>
              <a:prstGeom prst="ellipse">
                <a:avLst/>
              </a:prstGeom>
              <a:solidFill>
                <a:schemeClr val="accent2"/>
              </a:solidFill>
              <a:ln w="28575" algn="ctr">
                <a:solidFill>
                  <a:schemeClr val="accent2"/>
                </a:solidFill>
                <a:round/>
                <a:headEnd/>
                <a:tailEnd/>
              </a:ln>
            </p:spPr>
            <p:txBody>
              <a:bodyPr anchor="ctr">
                <a:spAutoFit/>
              </a:bodyPr>
              <a:lstStyle/>
              <a:p>
                <a:endParaRPr lang="en-US"/>
              </a:p>
            </p:txBody>
          </p:sp>
        </p:grpSp>
        <p:sp>
          <p:nvSpPr>
            <p:cNvPr id="39947" name="Line 10"/>
            <p:cNvSpPr>
              <a:spLocks noChangeShapeType="1"/>
            </p:cNvSpPr>
            <p:nvPr/>
          </p:nvSpPr>
          <p:spPr bwMode="auto">
            <a:xfrm rot="5400000">
              <a:off x="1063" y="2171"/>
              <a:ext cx="554" cy="0"/>
            </a:xfrm>
            <a:prstGeom prst="line">
              <a:avLst/>
            </a:prstGeom>
            <a:noFill/>
            <a:ln w="28575">
              <a:solidFill>
                <a:schemeClr val="accent2"/>
              </a:solidFill>
              <a:round/>
              <a:headEnd/>
              <a:tailEnd type="arrow" w="med" len="med"/>
            </a:ln>
          </p:spPr>
          <p:txBody>
            <a:bodyPr anchor="ctr">
              <a:spAutoFit/>
            </a:bodyPr>
            <a:lstStyle/>
            <a:p>
              <a:endParaRPr lang="en-US"/>
            </a:p>
          </p:txBody>
        </p:sp>
        <p:sp>
          <p:nvSpPr>
            <p:cNvPr id="39948" name="Text Box 11"/>
            <p:cNvSpPr txBox="1">
              <a:spLocks noChangeArrowheads="1"/>
            </p:cNvSpPr>
            <p:nvPr/>
          </p:nvSpPr>
          <p:spPr bwMode="auto">
            <a:xfrm>
              <a:off x="678" y="1947"/>
              <a:ext cx="707" cy="446"/>
            </a:xfrm>
            <a:prstGeom prst="rect">
              <a:avLst/>
            </a:prstGeom>
            <a:noFill/>
            <a:ln w="28575" algn="ctr">
              <a:noFill/>
              <a:miter lim="800000"/>
              <a:headEnd/>
              <a:tailEnd/>
            </a:ln>
          </p:spPr>
          <p:txBody>
            <a:bodyPr>
              <a:spAutoFit/>
            </a:bodyPr>
            <a:lstStyle/>
            <a:p>
              <a:pPr>
                <a:spcBef>
                  <a:spcPct val="50000"/>
                </a:spcBef>
              </a:pPr>
              <a:r>
                <a:rPr lang="en-GB" sz="2000" dirty="0">
                  <a:solidFill>
                    <a:schemeClr val="tx2"/>
                  </a:solidFill>
                </a:rPr>
                <a:t>Enters Hospital</a:t>
              </a:r>
            </a:p>
          </p:txBody>
        </p:sp>
        <p:sp>
          <p:nvSpPr>
            <p:cNvPr id="39949" name="Line 13"/>
            <p:cNvSpPr>
              <a:spLocks noChangeShapeType="1"/>
            </p:cNvSpPr>
            <p:nvPr/>
          </p:nvSpPr>
          <p:spPr bwMode="auto">
            <a:xfrm>
              <a:off x="1692" y="2596"/>
              <a:ext cx="807" cy="0"/>
            </a:xfrm>
            <a:prstGeom prst="line">
              <a:avLst/>
            </a:prstGeom>
            <a:noFill/>
            <a:ln w="28575">
              <a:solidFill>
                <a:schemeClr val="accent2"/>
              </a:solidFill>
              <a:round/>
              <a:headEnd/>
              <a:tailEnd type="arrow" w="med" len="med"/>
            </a:ln>
          </p:spPr>
          <p:txBody>
            <a:bodyPr anchor="ctr">
              <a:spAutoFit/>
            </a:bodyPr>
            <a:lstStyle/>
            <a:p>
              <a:endParaRPr lang="en-US"/>
            </a:p>
          </p:txBody>
        </p:sp>
        <p:sp>
          <p:nvSpPr>
            <p:cNvPr id="39950" name="Text Box 14"/>
            <p:cNvSpPr txBox="1">
              <a:spLocks noChangeArrowheads="1"/>
            </p:cNvSpPr>
            <p:nvPr/>
          </p:nvSpPr>
          <p:spPr bwMode="auto">
            <a:xfrm>
              <a:off x="1673" y="2343"/>
              <a:ext cx="805" cy="252"/>
            </a:xfrm>
            <a:prstGeom prst="rect">
              <a:avLst/>
            </a:prstGeom>
            <a:noFill/>
            <a:ln w="28575" algn="ctr">
              <a:noFill/>
              <a:miter lim="800000"/>
              <a:headEnd/>
              <a:tailEnd/>
            </a:ln>
          </p:spPr>
          <p:txBody>
            <a:bodyPr wrap="square">
              <a:spAutoFit/>
            </a:bodyPr>
            <a:lstStyle/>
            <a:p>
              <a:pPr>
                <a:spcBef>
                  <a:spcPct val="50000"/>
                </a:spcBef>
              </a:pPr>
              <a:r>
                <a:rPr lang="en-GB" sz="2000" dirty="0">
                  <a:solidFill>
                    <a:schemeClr val="tx2"/>
                  </a:solidFill>
                </a:rPr>
                <a:t>Checks in</a:t>
              </a:r>
            </a:p>
          </p:txBody>
        </p:sp>
        <p:sp>
          <p:nvSpPr>
            <p:cNvPr id="39951" name="AutoShape 15"/>
            <p:cNvSpPr>
              <a:spLocks noChangeArrowheads="1"/>
            </p:cNvSpPr>
            <p:nvPr/>
          </p:nvSpPr>
          <p:spPr bwMode="auto">
            <a:xfrm>
              <a:off x="2486" y="2444"/>
              <a:ext cx="791" cy="279"/>
            </a:xfrm>
            <a:prstGeom prst="roundRect">
              <a:avLst>
                <a:gd name="adj" fmla="val 16667"/>
              </a:avLst>
            </a:prstGeom>
            <a:noFill/>
            <a:ln w="28575" algn="ctr">
              <a:solidFill>
                <a:schemeClr val="accent2"/>
              </a:solidFill>
              <a:round/>
              <a:headEnd/>
              <a:tailEnd/>
            </a:ln>
          </p:spPr>
          <p:txBody>
            <a:bodyPr anchor="ctr">
              <a:spAutoFit/>
            </a:bodyPr>
            <a:lstStyle/>
            <a:p>
              <a:pPr algn="ctr"/>
              <a:r>
                <a:rPr lang="en-GB" sz="2000" dirty="0">
                  <a:solidFill>
                    <a:schemeClr val="tx2"/>
                  </a:solidFill>
                </a:rPr>
                <a:t>Admitted</a:t>
              </a:r>
            </a:p>
          </p:txBody>
        </p:sp>
        <p:sp>
          <p:nvSpPr>
            <p:cNvPr id="39952" name="Line 17"/>
            <p:cNvSpPr>
              <a:spLocks noChangeShapeType="1"/>
            </p:cNvSpPr>
            <p:nvPr/>
          </p:nvSpPr>
          <p:spPr bwMode="auto">
            <a:xfrm>
              <a:off x="2880" y="2709"/>
              <a:ext cx="1" cy="591"/>
            </a:xfrm>
            <a:prstGeom prst="line">
              <a:avLst/>
            </a:prstGeom>
            <a:noFill/>
            <a:ln w="28575">
              <a:solidFill>
                <a:schemeClr val="accent2"/>
              </a:solidFill>
              <a:round/>
              <a:headEnd/>
              <a:tailEnd type="arrow" w="med" len="med"/>
            </a:ln>
          </p:spPr>
          <p:txBody>
            <a:bodyPr anchor="ctr">
              <a:spAutoFit/>
            </a:bodyPr>
            <a:lstStyle/>
            <a:p>
              <a:endParaRPr lang="en-US"/>
            </a:p>
          </p:txBody>
        </p:sp>
        <p:sp>
          <p:nvSpPr>
            <p:cNvPr id="39953" name="Text Box 18"/>
            <p:cNvSpPr txBox="1">
              <a:spLocks noChangeArrowheads="1"/>
            </p:cNvSpPr>
            <p:nvPr/>
          </p:nvSpPr>
          <p:spPr bwMode="auto">
            <a:xfrm>
              <a:off x="1933" y="2827"/>
              <a:ext cx="939" cy="446"/>
            </a:xfrm>
            <a:prstGeom prst="rect">
              <a:avLst/>
            </a:prstGeom>
            <a:noFill/>
            <a:ln w="28575" algn="ctr">
              <a:noFill/>
              <a:miter lim="800000"/>
              <a:headEnd/>
              <a:tailEnd/>
            </a:ln>
          </p:spPr>
          <p:txBody>
            <a:bodyPr>
              <a:spAutoFit/>
            </a:bodyPr>
            <a:lstStyle/>
            <a:p>
              <a:pPr algn="ctr">
                <a:spcBef>
                  <a:spcPct val="50000"/>
                </a:spcBef>
              </a:pPr>
              <a:r>
                <a:rPr lang="en-GB" sz="2000" dirty="0">
                  <a:solidFill>
                    <a:schemeClr val="tx2"/>
                  </a:solidFill>
                </a:rPr>
                <a:t>[Diagnosis =Unhealthy]</a:t>
              </a:r>
            </a:p>
          </p:txBody>
        </p:sp>
        <p:sp>
          <p:nvSpPr>
            <p:cNvPr id="39954" name="AutoShape 19"/>
            <p:cNvSpPr>
              <a:spLocks noChangeArrowheads="1"/>
            </p:cNvSpPr>
            <p:nvPr/>
          </p:nvSpPr>
          <p:spPr bwMode="auto">
            <a:xfrm>
              <a:off x="4099" y="2426"/>
              <a:ext cx="791" cy="279"/>
            </a:xfrm>
            <a:prstGeom prst="roundRect">
              <a:avLst>
                <a:gd name="adj" fmla="val 16667"/>
              </a:avLst>
            </a:prstGeom>
            <a:noFill/>
            <a:ln w="28575" algn="ctr">
              <a:solidFill>
                <a:schemeClr val="accent2"/>
              </a:solidFill>
              <a:round/>
              <a:headEnd/>
              <a:tailEnd/>
            </a:ln>
          </p:spPr>
          <p:txBody>
            <a:bodyPr anchor="ctr">
              <a:spAutoFit/>
            </a:bodyPr>
            <a:lstStyle/>
            <a:p>
              <a:pPr algn="ctr"/>
              <a:r>
                <a:rPr lang="en-GB" sz="2000" dirty="0">
                  <a:solidFill>
                    <a:schemeClr val="tx2"/>
                  </a:solidFill>
                </a:rPr>
                <a:t>Released</a:t>
              </a:r>
            </a:p>
          </p:txBody>
        </p:sp>
        <p:sp>
          <p:nvSpPr>
            <p:cNvPr id="39955" name="Line 21"/>
            <p:cNvSpPr>
              <a:spLocks noChangeShapeType="1"/>
            </p:cNvSpPr>
            <p:nvPr/>
          </p:nvSpPr>
          <p:spPr bwMode="auto">
            <a:xfrm>
              <a:off x="3286" y="2577"/>
              <a:ext cx="799" cy="0"/>
            </a:xfrm>
            <a:prstGeom prst="line">
              <a:avLst/>
            </a:prstGeom>
            <a:noFill/>
            <a:ln w="28575">
              <a:solidFill>
                <a:schemeClr val="accent2"/>
              </a:solidFill>
              <a:round/>
              <a:headEnd/>
              <a:tailEnd type="arrow" w="med" len="med"/>
            </a:ln>
          </p:spPr>
          <p:txBody>
            <a:bodyPr anchor="ctr">
              <a:spAutoFit/>
            </a:bodyPr>
            <a:lstStyle/>
            <a:p>
              <a:endParaRPr lang="en-US"/>
            </a:p>
          </p:txBody>
        </p:sp>
        <p:sp>
          <p:nvSpPr>
            <p:cNvPr id="39956" name="Text Box 22"/>
            <p:cNvSpPr txBox="1">
              <a:spLocks noChangeArrowheads="1"/>
            </p:cNvSpPr>
            <p:nvPr/>
          </p:nvSpPr>
          <p:spPr bwMode="auto">
            <a:xfrm>
              <a:off x="3244" y="2147"/>
              <a:ext cx="927" cy="446"/>
            </a:xfrm>
            <a:prstGeom prst="rect">
              <a:avLst/>
            </a:prstGeom>
            <a:noFill/>
            <a:ln w="28575" algn="ctr">
              <a:noFill/>
              <a:miter lim="800000"/>
              <a:headEnd/>
              <a:tailEnd/>
            </a:ln>
          </p:spPr>
          <p:txBody>
            <a:bodyPr wrap="square">
              <a:spAutoFit/>
            </a:bodyPr>
            <a:lstStyle/>
            <a:p>
              <a:pPr algn="ctr">
                <a:spcBef>
                  <a:spcPct val="50000"/>
                </a:spcBef>
              </a:pPr>
              <a:r>
                <a:rPr lang="en-GB" sz="2000" dirty="0">
                  <a:solidFill>
                    <a:schemeClr val="tx2"/>
                  </a:solidFill>
                </a:rPr>
                <a:t>[Diagnosis = healthy]</a:t>
              </a:r>
            </a:p>
          </p:txBody>
        </p:sp>
        <p:sp>
          <p:nvSpPr>
            <p:cNvPr id="39957" name="AutoShape 23"/>
            <p:cNvSpPr>
              <a:spLocks noChangeArrowheads="1"/>
            </p:cNvSpPr>
            <p:nvPr/>
          </p:nvSpPr>
          <p:spPr bwMode="auto">
            <a:xfrm>
              <a:off x="2377" y="3279"/>
              <a:ext cx="973" cy="493"/>
            </a:xfrm>
            <a:prstGeom prst="roundRect">
              <a:avLst>
                <a:gd name="adj" fmla="val 16667"/>
              </a:avLst>
            </a:prstGeom>
            <a:noFill/>
            <a:ln w="28575" algn="ctr">
              <a:solidFill>
                <a:schemeClr val="accent2"/>
              </a:solidFill>
              <a:round/>
              <a:headEnd/>
              <a:tailEnd/>
            </a:ln>
          </p:spPr>
          <p:txBody>
            <a:bodyPr anchor="ctr">
              <a:spAutoFit/>
            </a:bodyPr>
            <a:lstStyle/>
            <a:p>
              <a:pPr algn="ctr"/>
              <a:r>
                <a:rPr lang="en-GB" sz="2000" dirty="0">
                  <a:solidFill>
                    <a:schemeClr val="tx2"/>
                  </a:solidFill>
                </a:rPr>
                <a:t>Under observation</a:t>
              </a:r>
            </a:p>
          </p:txBody>
        </p:sp>
        <p:sp>
          <p:nvSpPr>
            <p:cNvPr id="39958" name="Freeform 24"/>
            <p:cNvSpPr>
              <a:spLocks/>
            </p:cNvSpPr>
            <p:nvPr/>
          </p:nvSpPr>
          <p:spPr bwMode="auto">
            <a:xfrm>
              <a:off x="3356" y="2697"/>
              <a:ext cx="1129" cy="845"/>
            </a:xfrm>
            <a:custGeom>
              <a:avLst/>
              <a:gdLst>
                <a:gd name="T0" fmla="*/ 0 w 760"/>
                <a:gd name="T1" fmla="*/ 845 h 653"/>
                <a:gd name="T2" fmla="*/ 1129 w 760"/>
                <a:gd name="T3" fmla="*/ 842 h 653"/>
                <a:gd name="T4" fmla="*/ 1129 w 760"/>
                <a:gd name="T5" fmla="*/ 0 h 653"/>
                <a:gd name="T6" fmla="*/ 0 60000 65536"/>
                <a:gd name="T7" fmla="*/ 0 60000 65536"/>
                <a:gd name="T8" fmla="*/ 0 60000 65536"/>
                <a:gd name="T9" fmla="*/ 0 w 760"/>
                <a:gd name="T10" fmla="*/ 0 h 653"/>
                <a:gd name="T11" fmla="*/ 760 w 760"/>
                <a:gd name="T12" fmla="*/ 653 h 653"/>
              </a:gdLst>
              <a:ahLst/>
              <a:cxnLst>
                <a:cxn ang="T6">
                  <a:pos x="T0" y="T1"/>
                </a:cxn>
                <a:cxn ang="T7">
                  <a:pos x="T2" y="T3"/>
                </a:cxn>
                <a:cxn ang="T8">
                  <a:pos x="T4" y="T5"/>
                </a:cxn>
              </a:cxnLst>
              <a:rect l="T9" t="T10" r="T11" b="T12"/>
              <a:pathLst>
                <a:path w="760" h="653">
                  <a:moveTo>
                    <a:pt x="0" y="653"/>
                  </a:moveTo>
                  <a:lnTo>
                    <a:pt x="760" y="651"/>
                  </a:lnTo>
                  <a:lnTo>
                    <a:pt x="760" y="0"/>
                  </a:lnTo>
                </a:path>
              </a:pathLst>
            </a:custGeom>
            <a:noFill/>
            <a:ln w="28575" cap="flat" cmpd="sng">
              <a:solidFill>
                <a:schemeClr val="accent2"/>
              </a:solidFill>
              <a:prstDash val="solid"/>
              <a:round/>
              <a:headEnd type="none" w="med" len="med"/>
              <a:tailEnd type="arrow" w="med" len="med"/>
            </a:ln>
          </p:spPr>
          <p:txBody>
            <a:bodyPr anchor="ctr">
              <a:spAutoFit/>
            </a:bodyPr>
            <a:lstStyle/>
            <a:p>
              <a:endParaRPr lang="en-US"/>
            </a:p>
          </p:txBody>
        </p:sp>
        <p:sp>
          <p:nvSpPr>
            <p:cNvPr id="39959" name="Text Box 25"/>
            <p:cNvSpPr txBox="1">
              <a:spLocks noChangeArrowheads="1"/>
            </p:cNvSpPr>
            <p:nvPr/>
          </p:nvSpPr>
          <p:spPr bwMode="auto">
            <a:xfrm>
              <a:off x="3511" y="3152"/>
              <a:ext cx="869" cy="446"/>
            </a:xfrm>
            <a:prstGeom prst="rect">
              <a:avLst/>
            </a:prstGeom>
            <a:noFill/>
            <a:ln w="28575" algn="ctr">
              <a:noFill/>
              <a:miter lim="800000"/>
              <a:headEnd/>
              <a:tailEnd/>
            </a:ln>
          </p:spPr>
          <p:txBody>
            <a:bodyPr>
              <a:spAutoFit/>
            </a:bodyPr>
            <a:lstStyle/>
            <a:p>
              <a:pPr algn="ctr">
                <a:spcBef>
                  <a:spcPct val="50000"/>
                </a:spcBef>
              </a:pPr>
              <a:r>
                <a:rPr lang="en-GB" sz="2000" dirty="0">
                  <a:solidFill>
                    <a:schemeClr val="tx2"/>
                  </a:solidFill>
                </a:rPr>
                <a:t>[Diagnosis = healthy]</a:t>
              </a:r>
            </a:p>
          </p:txBody>
        </p:sp>
        <p:sp>
          <p:nvSpPr>
            <p:cNvPr id="39960" name="Line 26"/>
            <p:cNvSpPr>
              <a:spLocks noChangeShapeType="1"/>
            </p:cNvSpPr>
            <p:nvPr/>
          </p:nvSpPr>
          <p:spPr bwMode="auto">
            <a:xfrm flipV="1">
              <a:off x="4492" y="1897"/>
              <a:ext cx="0" cy="553"/>
            </a:xfrm>
            <a:prstGeom prst="line">
              <a:avLst/>
            </a:prstGeom>
            <a:noFill/>
            <a:ln w="28575">
              <a:solidFill>
                <a:schemeClr val="accent2"/>
              </a:solidFill>
              <a:round/>
              <a:headEnd/>
              <a:tailEnd type="arrow" w="med" len="med"/>
            </a:ln>
          </p:spPr>
          <p:txBody>
            <a:bodyPr anchor="ctr">
              <a:spAutoFit/>
            </a:bodyPr>
            <a:lstStyle/>
            <a:p>
              <a:endParaRPr lang="en-US"/>
            </a:p>
          </p:txBody>
        </p:sp>
        <p:sp>
          <p:nvSpPr>
            <p:cNvPr id="39961" name="Text Box 27"/>
            <p:cNvSpPr txBox="1">
              <a:spLocks noChangeArrowheads="1"/>
            </p:cNvSpPr>
            <p:nvPr/>
          </p:nvSpPr>
          <p:spPr bwMode="auto">
            <a:xfrm>
              <a:off x="3788" y="1912"/>
              <a:ext cx="766" cy="252"/>
            </a:xfrm>
            <a:prstGeom prst="rect">
              <a:avLst/>
            </a:prstGeom>
            <a:noFill/>
            <a:ln w="28575" algn="ctr">
              <a:noFill/>
              <a:miter lim="800000"/>
              <a:headEnd/>
              <a:tailEnd/>
            </a:ln>
          </p:spPr>
          <p:txBody>
            <a:bodyPr>
              <a:spAutoFit/>
            </a:bodyPr>
            <a:lstStyle/>
            <a:p>
              <a:pPr algn="ctr">
                <a:spcBef>
                  <a:spcPct val="50000"/>
                </a:spcBef>
              </a:pPr>
              <a:r>
                <a:rPr lang="en-GB" sz="2000" dirty="0">
                  <a:solidFill>
                    <a:schemeClr val="tx2"/>
                  </a:solidFill>
                </a:rPr>
                <a:t>&gt; 2 weeks</a:t>
              </a:r>
            </a:p>
          </p:txBody>
        </p:sp>
      </p:grpSp>
    </p:spTree>
    <p:extLst>
      <p:ext uri="{BB962C8B-B14F-4D97-AF65-F5344CB8AC3E}">
        <p14:creationId xmlns:p14="http://schemas.microsoft.com/office/powerpoint/2010/main" val="33344220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Slide Number Placeholder 4"/>
          <p:cNvSpPr>
            <a:spLocks noGrp="1"/>
          </p:cNvSpPr>
          <p:nvPr>
            <p:ph type="sldNum" sz="quarter" idx="11"/>
          </p:nvPr>
        </p:nvSpPr>
        <p:spPr bwMode="auto">
          <a:xfrm>
            <a:off x="8421688" y="6454601"/>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50</a:t>
            </a:fld>
            <a:endParaRPr lang="en-US" altLang="en-US">
              <a:solidFill>
                <a:schemeClr val="tx1"/>
              </a:solidFill>
            </a:endParaRPr>
          </a:p>
        </p:txBody>
      </p:sp>
      <p:sp>
        <p:nvSpPr>
          <p:cNvPr id="40965" name="Rectangle 2"/>
          <p:cNvSpPr>
            <a:spLocks noGrp="1" noChangeArrowheads="1"/>
          </p:cNvSpPr>
          <p:nvPr>
            <p:ph type="title"/>
          </p:nvPr>
        </p:nvSpPr>
        <p:spPr/>
        <p:txBody>
          <a:bodyPr>
            <a:normAutofit/>
          </a:bodyPr>
          <a:lstStyle/>
          <a:p>
            <a:r>
              <a:rPr lang="en-GB" sz="3200" dirty="0"/>
              <a:t>Basic Concepts of State Machines</a:t>
            </a:r>
          </a:p>
        </p:txBody>
      </p:sp>
      <p:sp>
        <p:nvSpPr>
          <p:cNvPr id="40966" name="Rectangle 3"/>
          <p:cNvSpPr>
            <a:spLocks noGrp="1" noChangeArrowheads="1"/>
          </p:cNvSpPr>
          <p:nvPr>
            <p:ph type="body" idx="1"/>
          </p:nvPr>
        </p:nvSpPr>
        <p:spPr>
          <a:xfrm>
            <a:off x="327025" y="944294"/>
            <a:ext cx="8621712" cy="5357812"/>
          </a:xfrm>
        </p:spPr>
        <p:txBody>
          <a:bodyPr/>
          <a:lstStyle/>
          <a:p>
            <a:pPr>
              <a:lnSpc>
                <a:spcPct val="80000"/>
              </a:lnSpc>
            </a:pPr>
            <a:r>
              <a:rPr lang="en-GB" sz="2000" b="1" dirty="0"/>
              <a:t>State</a:t>
            </a:r>
            <a:r>
              <a:rPr lang="en-GB" sz="2000" dirty="0"/>
              <a:t>: </a:t>
            </a:r>
          </a:p>
          <a:p>
            <a:pPr lvl="1">
              <a:lnSpc>
                <a:spcPct val="80000"/>
              </a:lnSpc>
            </a:pPr>
            <a:r>
              <a:rPr lang="en-GB" sz="1800" dirty="0"/>
              <a:t>The state of an object is defined by the values of its attributes and its relationships with other objects at a particular point in time. </a:t>
            </a:r>
          </a:p>
          <a:p>
            <a:pPr lvl="1">
              <a:lnSpc>
                <a:spcPct val="80000"/>
              </a:lnSpc>
            </a:pPr>
            <a:r>
              <a:rPr lang="en-GB" sz="1800" dirty="0"/>
              <a:t>E.g. a patient can be new, current, or former. </a:t>
            </a:r>
          </a:p>
          <a:p>
            <a:pPr>
              <a:lnSpc>
                <a:spcPct val="80000"/>
              </a:lnSpc>
            </a:pPr>
            <a:r>
              <a:rPr lang="en-GB" sz="2000" b="1" dirty="0"/>
              <a:t>Event</a:t>
            </a:r>
            <a:r>
              <a:rPr lang="en-GB" sz="2000" dirty="0"/>
              <a:t>: </a:t>
            </a:r>
          </a:p>
          <a:p>
            <a:pPr lvl="1">
              <a:lnSpc>
                <a:spcPct val="80000"/>
              </a:lnSpc>
            </a:pPr>
            <a:r>
              <a:rPr lang="en-GB" sz="1800" dirty="0"/>
              <a:t>Something that takes place at a certain point in time and changes a value of an attribute. </a:t>
            </a:r>
          </a:p>
          <a:p>
            <a:pPr lvl="1">
              <a:lnSpc>
                <a:spcPct val="80000"/>
              </a:lnSpc>
            </a:pPr>
            <a:r>
              <a:rPr lang="en-GB" sz="1800" dirty="0"/>
              <a:t>For example:  </a:t>
            </a:r>
          </a:p>
          <a:p>
            <a:pPr lvl="2">
              <a:lnSpc>
                <a:spcPct val="80000"/>
              </a:lnSpc>
            </a:pPr>
            <a:r>
              <a:rPr lang="en-GB" sz="1800" dirty="0"/>
              <a:t>A designated condition becoming true</a:t>
            </a:r>
          </a:p>
          <a:p>
            <a:pPr lvl="2">
              <a:lnSpc>
                <a:spcPct val="80000"/>
              </a:lnSpc>
            </a:pPr>
            <a:r>
              <a:rPr lang="en-GB" sz="1800" dirty="0"/>
              <a:t>The receipt of a call for a method by an object</a:t>
            </a:r>
          </a:p>
          <a:p>
            <a:pPr lvl="2">
              <a:lnSpc>
                <a:spcPct val="80000"/>
              </a:lnSpc>
            </a:pPr>
            <a:r>
              <a:rPr lang="en-GB" sz="1800" dirty="0"/>
              <a:t>Passage of a designated period of time </a:t>
            </a:r>
          </a:p>
          <a:p>
            <a:pPr>
              <a:lnSpc>
                <a:spcPct val="80000"/>
              </a:lnSpc>
            </a:pPr>
            <a:r>
              <a:rPr lang="en-GB" sz="2000" b="1" dirty="0"/>
              <a:t>Transition:</a:t>
            </a:r>
            <a:r>
              <a:rPr lang="en-GB" sz="2000" dirty="0"/>
              <a:t> </a:t>
            </a:r>
          </a:p>
          <a:p>
            <a:pPr lvl="1">
              <a:lnSpc>
                <a:spcPct val="80000"/>
              </a:lnSpc>
            </a:pPr>
            <a:r>
              <a:rPr lang="en-GB" sz="1800" dirty="0"/>
              <a:t>A relationship that represents the movement of an object from one state to another state. </a:t>
            </a:r>
          </a:p>
          <a:p>
            <a:pPr lvl="1">
              <a:lnSpc>
                <a:spcPct val="80000"/>
              </a:lnSpc>
            </a:pPr>
            <a:r>
              <a:rPr lang="en-GB" sz="1800" dirty="0"/>
              <a:t>A transition is trigger by an event;</a:t>
            </a:r>
          </a:p>
          <a:p>
            <a:pPr lvl="1">
              <a:lnSpc>
                <a:spcPct val="80000"/>
              </a:lnSpc>
            </a:pPr>
            <a:r>
              <a:rPr lang="en-GB" sz="1800" dirty="0"/>
              <a:t>A transition may be associated with an action/activity. The action/activity takes place when the state transition happens</a:t>
            </a:r>
          </a:p>
          <a:p>
            <a:pPr lvl="1">
              <a:lnSpc>
                <a:spcPct val="80000"/>
              </a:lnSpc>
            </a:pPr>
            <a:r>
              <a:rPr lang="en-GB" sz="1800" dirty="0"/>
              <a:t>A transition may have a guard condition, which is a Boolean expression. The transition happens only when the guard condition is true</a:t>
            </a:r>
          </a:p>
        </p:txBody>
      </p:sp>
    </p:spTree>
    <p:extLst>
      <p:ext uri="{BB962C8B-B14F-4D97-AF65-F5344CB8AC3E}">
        <p14:creationId xmlns:p14="http://schemas.microsoft.com/office/powerpoint/2010/main" val="12286018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Slide Number Placeholder 4"/>
          <p:cNvSpPr>
            <a:spLocks noGrp="1"/>
          </p:cNvSpPr>
          <p:nvPr>
            <p:ph type="sldNum" sz="quarter" idx="11"/>
          </p:nvPr>
        </p:nvSpPr>
        <p:spPr bwMode="auto">
          <a:xfrm>
            <a:off x="8421688" y="6346825"/>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51</a:t>
            </a:fld>
            <a:endParaRPr lang="en-US" altLang="en-US">
              <a:solidFill>
                <a:schemeClr val="tx1"/>
              </a:solidFill>
            </a:endParaRPr>
          </a:p>
        </p:txBody>
      </p:sp>
      <p:sp>
        <p:nvSpPr>
          <p:cNvPr id="41989" name="Rectangle 2"/>
          <p:cNvSpPr>
            <a:spLocks noGrp="1" noChangeArrowheads="1"/>
          </p:cNvSpPr>
          <p:nvPr>
            <p:ph type="title"/>
          </p:nvPr>
        </p:nvSpPr>
        <p:spPr/>
        <p:txBody>
          <a:bodyPr/>
          <a:lstStyle/>
          <a:p>
            <a:r>
              <a:rPr lang="en-GB" dirty="0"/>
              <a:t>Notation of State Machines</a:t>
            </a:r>
          </a:p>
        </p:txBody>
      </p:sp>
      <p:sp>
        <p:nvSpPr>
          <p:cNvPr id="41990" name="AutoShape 4"/>
          <p:cNvSpPr>
            <a:spLocks noChangeArrowheads="1"/>
          </p:cNvSpPr>
          <p:nvPr/>
        </p:nvSpPr>
        <p:spPr bwMode="auto">
          <a:xfrm>
            <a:off x="995363" y="1362552"/>
            <a:ext cx="717917" cy="408623"/>
          </a:xfrm>
          <a:prstGeom prst="roundRect">
            <a:avLst>
              <a:gd name="adj" fmla="val 16667"/>
            </a:avLst>
          </a:prstGeom>
          <a:solidFill>
            <a:srgbClr val="FFFFFF"/>
          </a:solidFill>
          <a:ln w="28575" algn="ctr">
            <a:solidFill>
              <a:schemeClr val="accent2"/>
            </a:solidFill>
            <a:round/>
            <a:headEnd/>
            <a:tailEnd/>
          </a:ln>
        </p:spPr>
        <p:txBody>
          <a:bodyPr wrap="none" anchor="ctr">
            <a:spAutoFit/>
          </a:bodyPr>
          <a:lstStyle/>
          <a:p>
            <a:pPr algn="ctr"/>
            <a:r>
              <a:rPr lang="en-GB" dirty="0">
                <a:solidFill>
                  <a:schemeClr val="tx2"/>
                </a:solidFill>
              </a:rPr>
              <a:t>state</a:t>
            </a:r>
          </a:p>
        </p:txBody>
      </p:sp>
      <p:sp>
        <p:nvSpPr>
          <p:cNvPr id="41991" name="Oval 5"/>
          <p:cNvSpPr>
            <a:spLocks noChangeArrowheads="1"/>
          </p:cNvSpPr>
          <p:nvPr/>
        </p:nvSpPr>
        <p:spPr bwMode="auto">
          <a:xfrm>
            <a:off x="1181100" y="2376488"/>
            <a:ext cx="403225" cy="403225"/>
          </a:xfrm>
          <a:prstGeom prst="ellipse">
            <a:avLst/>
          </a:prstGeom>
          <a:solidFill>
            <a:schemeClr val="accent2"/>
          </a:solidFill>
          <a:ln w="28575" algn="ctr">
            <a:solidFill>
              <a:schemeClr val="accent2"/>
            </a:solidFill>
            <a:round/>
            <a:headEnd/>
            <a:tailEnd/>
          </a:ln>
        </p:spPr>
        <p:txBody>
          <a:bodyPr wrap="none" anchor="ctr">
            <a:spAutoFit/>
          </a:bodyPr>
          <a:lstStyle/>
          <a:p>
            <a:endParaRPr lang="en-US"/>
          </a:p>
        </p:txBody>
      </p:sp>
      <p:sp>
        <p:nvSpPr>
          <p:cNvPr id="41992" name="Text Box 6"/>
          <p:cNvSpPr txBox="1">
            <a:spLocks noChangeArrowheads="1"/>
          </p:cNvSpPr>
          <p:nvPr/>
        </p:nvSpPr>
        <p:spPr bwMode="auto">
          <a:xfrm>
            <a:off x="1852613" y="2387600"/>
            <a:ext cx="1695450" cy="369332"/>
          </a:xfrm>
          <a:prstGeom prst="rect">
            <a:avLst/>
          </a:prstGeom>
          <a:noFill/>
          <a:ln w="28575" algn="ctr">
            <a:noFill/>
            <a:miter lim="800000"/>
            <a:headEnd/>
            <a:tailEnd/>
          </a:ln>
        </p:spPr>
        <p:txBody>
          <a:bodyPr>
            <a:spAutoFit/>
          </a:bodyPr>
          <a:lstStyle/>
          <a:p>
            <a:pPr algn="ctr">
              <a:spcBef>
                <a:spcPct val="50000"/>
              </a:spcBef>
            </a:pPr>
            <a:r>
              <a:rPr lang="en-GB" dirty="0">
                <a:solidFill>
                  <a:schemeClr val="tx2"/>
                </a:solidFill>
              </a:rPr>
              <a:t>Initial state</a:t>
            </a:r>
          </a:p>
        </p:txBody>
      </p:sp>
      <p:grpSp>
        <p:nvGrpSpPr>
          <p:cNvPr id="41993" name="Group 9"/>
          <p:cNvGrpSpPr>
            <a:grpSpLocks/>
          </p:cNvGrpSpPr>
          <p:nvPr/>
        </p:nvGrpSpPr>
        <p:grpSpPr bwMode="auto">
          <a:xfrm>
            <a:off x="1195388" y="3425825"/>
            <a:ext cx="450850" cy="449263"/>
            <a:chOff x="653" y="2243"/>
            <a:chExt cx="284" cy="291"/>
          </a:xfrm>
        </p:grpSpPr>
        <p:sp>
          <p:nvSpPr>
            <p:cNvPr id="42000" name="Oval 7"/>
            <p:cNvSpPr>
              <a:spLocks noChangeArrowheads="1"/>
            </p:cNvSpPr>
            <p:nvPr/>
          </p:nvSpPr>
          <p:spPr bwMode="auto">
            <a:xfrm>
              <a:off x="653" y="2243"/>
              <a:ext cx="284" cy="291"/>
            </a:xfrm>
            <a:prstGeom prst="ellipse">
              <a:avLst/>
            </a:prstGeom>
            <a:solidFill>
              <a:srgbClr val="FFFFFF"/>
            </a:solidFill>
            <a:ln w="28575" algn="ctr">
              <a:solidFill>
                <a:schemeClr val="accent2"/>
              </a:solidFill>
              <a:round/>
              <a:headEnd/>
              <a:tailEnd/>
            </a:ln>
          </p:spPr>
          <p:txBody>
            <a:bodyPr wrap="none" anchor="ctr">
              <a:spAutoFit/>
            </a:bodyPr>
            <a:lstStyle/>
            <a:p>
              <a:endParaRPr lang="en-US"/>
            </a:p>
          </p:txBody>
        </p:sp>
        <p:sp>
          <p:nvSpPr>
            <p:cNvPr id="42001" name="Oval 8"/>
            <p:cNvSpPr>
              <a:spLocks noChangeArrowheads="1"/>
            </p:cNvSpPr>
            <p:nvPr/>
          </p:nvSpPr>
          <p:spPr bwMode="auto">
            <a:xfrm>
              <a:off x="722" y="2308"/>
              <a:ext cx="146" cy="162"/>
            </a:xfrm>
            <a:prstGeom prst="ellipse">
              <a:avLst/>
            </a:prstGeom>
            <a:solidFill>
              <a:schemeClr val="accent2"/>
            </a:solidFill>
            <a:ln w="28575" algn="ctr">
              <a:solidFill>
                <a:schemeClr val="accent2"/>
              </a:solidFill>
              <a:round/>
              <a:headEnd/>
              <a:tailEnd/>
            </a:ln>
          </p:spPr>
          <p:txBody>
            <a:bodyPr anchor="ctr">
              <a:spAutoFit/>
            </a:bodyPr>
            <a:lstStyle/>
            <a:p>
              <a:endParaRPr lang="en-US"/>
            </a:p>
          </p:txBody>
        </p:sp>
      </p:grpSp>
      <p:sp>
        <p:nvSpPr>
          <p:cNvPr id="41994" name="Text Box 10"/>
          <p:cNvSpPr txBox="1">
            <a:spLocks noChangeArrowheads="1"/>
          </p:cNvSpPr>
          <p:nvPr/>
        </p:nvSpPr>
        <p:spPr bwMode="auto">
          <a:xfrm>
            <a:off x="1787525" y="3481388"/>
            <a:ext cx="1695450" cy="369332"/>
          </a:xfrm>
          <a:prstGeom prst="rect">
            <a:avLst/>
          </a:prstGeom>
          <a:noFill/>
          <a:ln w="28575" algn="ctr">
            <a:noFill/>
            <a:miter lim="800000"/>
            <a:headEnd/>
            <a:tailEnd/>
          </a:ln>
        </p:spPr>
        <p:txBody>
          <a:bodyPr>
            <a:spAutoFit/>
          </a:bodyPr>
          <a:lstStyle/>
          <a:p>
            <a:pPr algn="ctr">
              <a:spcBef>
                <a:spcPct val="50000"/>
              </a:spcBef>
            </a:pPr>
            <a:r>
              <a:rPr lang="en-GB" dirty="0">
                <a:solidFill>
                  <a:schemeClr val="tx2"/>
                </a:solidFill>
              </a:rPr>
              <a:t>Final state</a:t>
            </a:r>
          </a:p>
        </p:txBody>
      </p:sp>
      <p:grpSp>
        <p:nvGrpSpPr>
          <p:cNvPr id="41995" name="Group 13"/>
          <p:cNvGrpSpPr>
            <a:grpSpLocks/>
          </p:cNvGrpSpPr>
          <p:nvPr/>
        </p:nvGrpSpPr>
        <p:grpSpPr bwMode="auto">
          <a:xfrm>
            <a:off x="816769" y="4443413"/>
            <a:ext cx="2293938" cy="856218"/>
            <a:chOff x="241" y="2683"/>
            <a:chExt cx="1445" cy="374"/>
          </a:xfrm>
        </p:grpSpPr>
        <p:sp>
          <p:nvSpPr>
            <p:cNvPr id="41998" name="Line 11"/>
            <p:cNvSpPr>
              <a:spLocks noChangeShapeType="1"/>
            </p:cNvSpPr>
            <p:nvPr/>
          </p:nvSpPr>
          <p:spPr bwMode="auto">
            <a:xfrm>
              <a:off x="437" y="3057"/>
              <a:ext cx="1053" cy="0"/>
            </a:xfrm>
            <a:prstGeom prst="line">
              <a:avLst/>
            </a:prstGeom>
            <a:noFill/>
            <a:ln w="28575">
              <a:solidFill>
                <a:schemeClr val="accent2"/>
              </a:solidFill>
              <a:round/>
              <a:headEnd/>
              <a:tailEnd type="arrow" w="med" len="med"/>
            </a:ln>
          </p:spPr>
          <p:txBody>
            <a:bodyPr anchor="ctr">
              <a:spAutoFit/>
            </a:bodyPr>
            <a:lstStyle/>
            <a:p>
              <a:pPr algn="ctr"/>
              <a:endParaRPr lang="en-US">
                <a:solidFill>
                  <a:schemeClr val="tx2"/>
                </a:solidFill>
              </a:endParaRPr>
            </a:p>
          </p:txBody>
        </p:sp>
        <p:sp>
          <p:nvSpPr>
            <p:cNvPr id="41999" name="Text Box 12"/>
            <p:cNvSpPr txBox="1">
              <a:spLocks noChangeArrowheads="1"/>
            </p:cNvSpPr>
            <p:nvPr/>
          </p:nvSpPr>
          <p:spPr bwMode="auto">
            <a:xfrm>
              <a:off x="241" y="2683"/>
              <a:ext cx="1445" cy="309"/>
            </a:xfrm>
            <a:prstGeom prst="rect">
              <a:avLst/>
            </a:prstGeom>
            <a:noFill/>
            <a:ln w="28575" algn="ctr">
              <a:noFill/>
              <a:miter lim="800000"/>
              <a:headEnd/>
              <a:tailEnd/>
            </a:ln>
          </p:spPr>
          <p:txBody>
            <a:bodyPr>
              <a:spAutoFit/>
            </a:bodyPr>
            <a:lstStyle/>
            <a:p>
              <a:pPr algn="ctr">
                <a:spcBef>
                  <a:spcPct val="50000"/>
                </a:spcBef>
              </a:pPr>
              <a:r>
                <a:rPr lang="en-GB" sz="2000" dirty="0">
                  <a:solidFill>
                    <a:schemeClr val="tx2"/>
                  </a:solidFill>
                </a:rPr>
                <a:t>[guard condition] Event/Action</a:t>
              </a:r>
            </a:p>
          </p:txBody>
        </p:sp>
      </p:grpSp>
      <p:sp>
        <p:nvSpPr>
          <p:cNvPr id="41996" name="Text Box 14"/>
          <p:cNvSpPr txBox="1">
            <a:spLocks noChangeArrowheads="1"/>
          </p:cNvSpPr>
          <p:nvPr/>
        </p:nvSpPr>
        <p:spPr bwMode="auto">
          <a:xfrm>
            <a:off x="3275856" y="5024242"/>
            <a:ext cx="2141266" cy="369332"/>
          </a:xfrm>
          <a:prstGeom prst="rect">
            <a:avLst/>
          </a:prstGeom>
          <a:noFill/>
          <a:ln w="28575" algn="ctr">
            <a:noFill/>
            <a:miter lim="800000"/>
            <a:headEnd/>
            <a:tailEnd/>
          </a:ln>
        </p:spPr>
        <p:txBody>
          <a:bodyPr wrap="square">
            <a:spAutoFit/>
          </a:bodyPr>
          <a:lstStyle/>
          <a:p>
            <a:pPr>
              <a:spcBef>
                <a:spcPct val="50000"/>
              </a:spcBef>
            </a:pPr>
            <a:r>
              <a:rPr lang="en-GB" dirty="0">
                <a:solidFill>
                  <a:schemeClr val="tx2"/>
                </a:solidFill>
              </a:rPr>
              <a:t>State transition</a:t>
            </a:r>
          </a:p>
        </p:txBody>
      </p:sp>
      <p:sp>
        <p:nvSpPr>
          <p:cNvPr id="41997" name="Text Box 15"/>
          <p:cNvSpPr txBox="1">
            <a:spLocks noChangeArrowheads="1"/>
          </p:cNvSpPr>
          <p:nvPr/>
        </p:nvSpPr>
        <p:spPr bwMode="auto">
          <a:xfrm>
            <a:off x="1963738" y="1389063"/>
            <a:ext cx="1476375" cy="369332"/>
          </a:xfrm>
          <a:prstGeom prst="rect">
            <a:avLst/>
          </a:prstGeom>
          <a:noFill/>
          <a:ln w="28575" algn="ctr">
            <a:noFill/>
            <a:miter lim="800000"/>
            <a:headEnd/>
            <a:tailEnd/>
          </a:ln>
        </p:spPr>
        <p:txBody>
          <a:bodyPr>
            <a:spAutoFit/>
          </a:bodyPr>
          <a:lstStyle/>
          <a:p>
            <a:pPr algn="ctr">
              <a:spcBef>
                <a:spcPct val="50000"/>
              </a:spcBef>
            </a:pPr>
            <a:r>
              <a:rPr lang="en-GB" dirty="0">
                <a:solidFill>
                  <a:schemeClr val="tx2"/>
                </a:solidFill>
              </a:rPr>
              <a:t>State node</a:t>
            </a:r>
          </a:p>
        </p:txBody>
      </p:sp>
    </p:spTree>
    <p:extLst>
      <p:ext uri="{BB962C8B-B14F-4D97-AF65-F5344CB8AC3E}">
        <p14:creationId xmlns:p14="http://schemas.microsoft.com/office/powerpoint/2010/main" val="12661048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Slide Number Placeholder 4"/>
          <p:cNvSpPr>
            <a:spLocks noGrp="1"/>
          </p:cNvSpPr>
          <p:nvPr>
            <p:ph type="sldNum" sz="quarter" idx="11"/>
          </p:nvPr>
        </p:nvSpPr>
        <p:spPr bwMode="auto">
          <a:xfrm>
            <a:off x="8421688" y="6346825"/>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52</a:t>
            </a:fld>
            <a:endParaRPr lang="en-US" altLang="en-US">
              <a:solidFill>
                <a:schemeClr val="tx1"/>
              </a:solidFill>
            </a:endParaRPr>
          </a:p>
        </p:txBody>
      </p:sp>
      <p:sp>
        <p:nvSpPr>
          <p:cNvPr id="43013" name="Rectangle 2"/>
          <p:cNvSpPr>
            <a:spLocks noGrp="1" noChangeArrowheads="1"/>
          </p:cNvSpPr>
          <p:nvPr>
            <p:ph type="title"/>
          </p:nvPr>
        </p:nvSpPr>
        <p:spPr/>
        <p:txBody>
          <a:bodyPr/>
          <a:lstStyle/>
          <a:p>
            <a:r>
              <a:rPr lang="en-GB" altLang="zh-CN">
                <a:ea typeface="SimSun" pitchFamily="2" charset="-122"/>
              </a:rPr>
              <a:t>Internal activities</a:t>
            </a:r>
            <a:endParaRPr lang="en-US" altLang="zh-CN">
              <a:ea typeface="SimSun" pitchFamily="2" charset="-122"/>
            </a:endParaRPr>
          </a:p>
        </p:txBody>
      </p:sp>
      <p:sp>
        <p:nvSpPr>
          <p:cNvPr id="43014" name="Rectangle 3"/>
          <p:cNvSpPr>
            <a:spLocks noGrp="1" noChangeArrowheads="1"/>
          </p:cNvSpPr>
          <p:nvPr>
            <p:ph type="body" idx="1"/>
          </p:nvPr>
        </p:nvSpPr>
        <p:spPr>
          <a:xfrm>
            <a:off x="490538" y="933450"/>
            <a:ext cx="8488362" cy="960438"/>
          </a:xfrm>
        </p:spPr>
        <p:txBody>
          <a:bodyPr/>
          <a:lstStyle/>
          <a:p>
            <a:r>
              <a:rPr lang="en-GB" altLang="zh-CN" sz="2800">
                <a:ea typeface="SimSun" pitchFamily="2" charset="-122"/>
              </a:rPr>
              <a:t>Event, guard and activities can be put inside the state box to represent reactions to events without transitions. </a:t>
            </a:r>
            <a:endParaRPr lang="en-US" altLang="zh-CN" sz="2800">
              <a:ea typeface="SimSun" pitchFamily="2" charset="-122"/>
            </a:endParaRPr>
          </a:p>
        </p:txBody>
      </p:sp>
      <p:grpSp>
        <p:nvGrpSpPr>
          <p:cNvPr id="43015" name="Group 6"/>
          <p:cNvGrpSpPr>
            <a:grpSpLocks/>
          </p:cNvGrpSpPr>
          <p:nvPr/>
        </p:nvGrpSpPr>
        <p:grpSpPr bwMode="auto">
          <a:xfrm>
            <a:off x="3840163" y="3233739"/>
            <a:ext cx="4252912" cy="2247900"/>
            <a:chOff x="2027" y="1970"/>
            <a:chExt cx="2679" cy="1416"/>
          </a:xfrm>
        </p:grpSpPr>
        <p:sp>
          <p:nvSpPr>
            <p:cNvPr id="43023" name="AutoShape 4"/>
            <p:cNvSpPr>
              <a:spLocks noChangeArrowheads="1"/>
            </p:cNvSpPr>
            <p:nvPr/>
          </p:nvSpPr>
          <p:spPr bwMode="auto">
            <a:xfrm>
              <a:off x="2027" y="1970"/>
              <a:ext cx="2260" cy="1416"/>
            </a:xfrm>
            <a:prstGeom prst="roundRect">
              <a:avLst>
                <a:gd name="adj" fmla="val 16667"/>
              </a:avLst>
            </a:prstGeom>
            <a:solidFill>
              <a:schemeClr val="tx1">
                <a:lumMod val="40000"/>
                <a:lumOff val="60000"/>
              </a:schemeClr>
            </a:solidFill>
            <a:ln w="28575" algn="ctr">
              <a:solidFill>
                <a:schemeClr val="accent2"/>
              </a:solidFill>
              <a:round/>
              <a:headEnd/>
              <a:tailEnd/>
            </a:ln>
          </p:spPr>
          <p:txBody>
            <a:bodyPr wrap="none" anchor="ctr">
              <a:spAutoFit/>
            </a:bodyPr>
            <a:lstStyle/>
            <a:p>
              <a:pPr algn="l"/>
              <a:r>
                <a:rPr lang="en-GB" altLang="zh-CN" dirty="0">
                  <a:solidFill>
                    <a:schemeClr val="tx2"/>
                  </a:solidFill>
                </a:rPr>
                <a:t>Typing</a:t>
              </a:r>
            </a:p>
            <a:p>
              <a:pPr algn="l"/>
              <a:endParaRPr lang="en-GB" altLang="zh-CN" dirty="0">
                <a:solidFill>
                  <a:schemeClr val="tx2"/>
                </a:solidFill>
              </a:endParaRPr>
            </a:p>
            <a:p>
              <a:pPr algn="l"/>
              <a:r>
                <a:rPr lang="en-GB" altLang="zh-CN" dirty="0">
                  <a:solidFill>
                    <a:schemeClr val="tx2"/>
                  </a:solidFill>
                </a:rPr>
                <a:t>Entry/ highlight all</a:t>
              </a:r>
            </a:p>
            <a:p>
              <a:pPr algn="l"/>
              <a:r>
                <a:rPr lang="en-GB" altLang="zh-CN" dirty="0">
                  <a:solidFill>
                    <a:schemeClr val="tx2"/>
                  </a:solidFill>
                </a:rPr>
                <a:t>Exit/ update field</a:t>
              </a:r>
            </a:p>
            <a:p>
              <a:pPr algn="l"/>
              <a:r>
                <a:rPr lang="en-GB" altLang="zh-CN" dirty="0">
                  <a:solidFill>
                    <a:schemeClr val="tx2"/>
                  </a:solidFill>
                </a:rPr>
                <a:t>Character/ process character</a:t>
              </a:r>
            </a:p>
            <a:p>
              <a:pPr algn="l"/>
              <a:r>
                <a:rPr lang="en-GB" altLang="zh-CN" dirty="0">
                  <a:solidFill>
                    <a:schemeClr val="tx2"/>
                  </a:solidFill>
                </a:rPr>
                <a:t>Help [verbose]/ open help page</a:t>
              </a:r>
            </a:p>
            <a:p>
              <a:pPr algn="l"/>
              <a:r>
                <a:rPr lang="en-GB" altLang="zh-CN" dirty="0">
                  <a:solidFill>
                    <a:schemeClr val="tx2"/>
                  </a:solidFill>
                </a:rPr>
                <a:t>Help [quiet]/ update status bar</a:t>
              </a:r>
              <a:endParaRPr lang="en-US" altLang="zh-CN" dirty="0">
                <a:solidFill>
                  <a:schemeClr val="tx2"/>
                </a:solidFill>
              </a:endParaRPr>
            </a:p>
          </p:txBody>
        </p:sp>
        <p:sp>
          <p:nvSpPr>
            <p:cNvPr id="43024" name="Line 5"/>
            <p:cNvSpPr>
              <a:spLocks noChangeShapeType="1"/>
            </p:cNvSpPr>
            <p:nvPr/>
          </p:nvSpPr>
          <p:spPr bwMode="auto">
            <a:xfrm flipV="1">
              <a:off x="2034" y="2318"/>
              <a:ext cx="2672" cy="0"/>
            </a:xfrm>
            <a:prstGeom prst="line">
              <a:avLst/>
            </a:prstGeom>
            <a:noFill/>
            <a:ln w="28575">
              <a:solidFill>
                <a:schemeClr val="accent2"/>
              </a:solidFill>
              <a:round/>
              <a:headEnd/>
              <a:tailEnd/>
            </a:ln>
          </p:spPr>
          <p:txBody>
            <a:bodyPr anchor="ctr">
              <a:spAutoFit/>
            </a:bodyPr>
            <a:lstStyle/>
            <a:p>
              <a:endParaRPr lang="en-US">
                <a:solidFill>
                  <a:schemeClr val="tx2"/>
                </a:solidFill>
              </a:endParaRPr>
            </a:p>
          </p:txBody>
        </p:sp>
      </p:grpSp>
      <p:sp>
        <p:nvSpPr>
          <p:cNvPr id="80903" name="AutoShape 7"/>
          <p:cNvSpPr>
            <a:spLocks/>
          </p:cNvSpPr>
          <p:nvPr/>
        </p:nvSpPr>
        <p:spPr bwMode="auto">
          <a:xfrm>
            <a:off x="6021388" y="2879725"/>
            <a:ext cx="1838325" cy="414338"/>
          </a:xfrm>
          <a:prstGeom prst="borderCallout1">
            <a:avLst>
              <a:gd name="adj1" fmla="val 27588"/>
              <a:gd name="adj2" fmla="val -4144"/>
              <a:gd name="adj3" fmla="val 144829"/>
              <a:gd name="adj4" fmla="val -55009"/>
            </a:avLst>
          </a:prstGeom>
          <a:noFill/>
          <a:ln w="28575" algn="ctr">
            <a:solidFill>
              <a:srgbClr val="A50021"/>
            </a:solidFill>
            <a:miter lim="800000"/>
            <a:headEnd/>
            <a:tailEnd/>
          </a:ln>
        </p:spPr>
        <p:txBody>
          <a:bodyPr anchor="ctr"/>
          <a:lstStyle/>
          <a:p>
            <a:r>
              <a:rPr lang="en-GB" altLang="zh-CN" i="1">
                <a:solidFill>
                  <a:srgbClr val="A50021"/>
                </a:solidFill>
              </a:rPr>
              <a:t>State name</a:t>
            </a:r>
            <a:endParaRPr lang="en-US" altLang="zh-CN" i="1">
              <a:solidFill>
                <a:srgbClr val="A50021"/>
              </a:solidFill>
            </a:endParaRPr>
          </a:p>
        </p:txBody>
      </p:sp>
      <p:sp>
        <p:nvSpPr>
          <p:cNvPr id="80904" name="AutoShape 8"/>
          <p:cNvSpPr>
            <a:spLocks/>
          </p:cNvSpPr>
          <p:nvPr/>
        </p:nvSpPr>
        <p:spPr bwMode="auto">
          <a:xfrm>
            <a:off x="6354763" y="5646738"/>
            <a:ext cx="2597150" cy="414337"/>
          </a:xfrm>
          <a:prstGeom prst="borderCallout1">
            <a:avLst>
              <a:gd name="adj1" fmla="val 27588"/>
              <a:gd name="adj2" fmla="val -2935"/>
              <a:gd name="adj3" fmla="val -45593"/>
              <a:gd name="adj4" fmla="val -19926"/>
            </a:avLst>
          </a:prstGeom>
          <a:noFill/>
          <a:ln w="28575" algn="ctr">
            <a:solidFill>
              <a:srgbClr val="A50021"/>
            </a:solidFill>
            <a:miter lim="800000"/>
            <a:headEnd/>
            <a:tailEnd/>
          </a:ln>
        </p:spPr>
        <p:txBody>
          <a:bodyPr anchor="ctr"/>
          <a:lstStyle/>
          <a:p>
            <a:r>
              <a:rPr lang="en-GB" altLang="zh-CN" i="1" dirty="0">
                <a:solidFill>
                  <a:srgbClr val="A50021"/>
                </a:solidFill>
              </a:rPr>
              <a:t>Internal activities</a:t>
            </a:r>
            <a:endParaRPr lang="en-US" altLang="zh-CN" i="1" dirty="0">
              <a:solidFill>
                <a:srgbClr val="A50021"/>
              </a:solidFill>
            </a:endParaRPr>
          </a:p>
        </p:txBody>
      </p:sp>
      <p:sp>
        <p:nvSpPr>
          <p:cNvPr id="80905" name="AutoShape 9"/>
          <p:cNvSpPr>
            <a:spLocks/>
          </p:cNvSpPr>
          <p:nvPr/>
        </p:nvSpPr>
        <p:spPr bwMode="auto">
          <a:xfrm>
            <a:off x="439738" y="2579688"/>
            <a:ext cx="2889250" cy="414337"/>
          </a:xfrm>
          <a:prstGeom prst="borderCallout1">
            <a:avLst>
              <a:gd name="adj1" fmla="val 27588"/>
              <a:gd name="adj2" fmla="val 102639"/>
              <a:gd name="adj3" fmla="val 337167"/>
              <a:gd name="adj4" fmla="val 125495"/>
            </a:avLst>
          </a:prstGeom>
          <a:noFill/>
          <a:ln w="28575" algn="ctr">
            <a:solidFill>
              <a:srgbClr val="A50021"/>
            </a:solidFill>
            <a:miter lim="800000"/>
            <a:headEnd/>
            <a:tailEnd/>
          </a:ln>
        </p:spPr>
        <p:txBody>
          <a:bodyPr anchor="ctr"/>
          <a:lstStyle/>
          <a:p>
            <a:r>
              <a:rPr lang="en-GB" altLang="zh-CN" i="1">
                <a:solidFill>
                  <a:srgbClr val="A50021"/>
                </a:solidFill>
              </a:rPr>
              <a:t>When enters the state</a:t>
            </a:r>
            <a:endParaRPr lang="en-US" altLang="zh-CN" i="1">
              <a:solidFill>
                <a:srgbClr val="A50021"/>
              </a:solidFill>
            </a:endParaRPr>
          </a:p>
        </p:txBody>
      </p:sp>
      <p:sp>
        <p:nvSpPr>
          <p:cNvPr id="80906" name="AutoShape 10"/>
          <p:cNvSpPr>
            <a:spLocks/>
          </p:cNvSpPr>
          <p:nvPr/>
        </p:nvSpPr>
        <p:spPr bwMode="auto">
          <a:xfrm>
            <a:off x="460375" y="3252788"/>
            <a:ext cx="2889250" cy="414337"/>
          </a:xfrm>
          <a:prstGeom prst="borderCallout1">
            <a:avLst>
              <a:gd name="adj1" fmla="val 27588"/>
              <a:gd name="adj2" fmla="val 102639"/>
              <a:gd name="adj3" fmla="val 247894"/>
              <a:gd name="adj4" fmla="val 123519"/>
            </a:avLst>
          </a:prstGeom>
          <a:noFill/>
          <a:ln w="28575" algn="ctr">
            <a:solidFill>
              <a:srgbClr val="A50021"/>
            </a:solidFill>
            <a:miter lim="800000"/>
            <a:headEnd/>
            <a:tailEnd/>
          </a:ln>
        </p:spPr>
        <p:txBody>
          <a:bodyPr anchor="ctr"/>
          <a:lstStyle/>
          <a:p>
            <a:r>
              <a:rPr lang="en-GB" altLang="zh-CN" i="1" dirty="0">
                <a:solidFill>
                  <a:srgbClr val="A50021"/>
                </a:solidFill>
              </a:rPr>
              <a:t>When exits the state</a:t>
            </a:r>
            <a:endParaRPr lang="en-US" altLang="zh-CN" i="1" dirty="0">
              <a:solidFill>
                <a:srgbClr val="A50021"/>
              </a:solidFill>
            </a:endParaRPr>
          </a:p>
        </p:txBody>
      </p:sp>
      <p:sp>
        <p:nvSpPr>
          <p:cNvPr id="80907" name="AutoShape 11"/>
          <p:cNvSpPr>
            <a:spLocks/>
          </p:cNvSpPr>
          <p:nvPr/>
        </p:nvSpPr>
        <p:spPr bwMode="auto">
          <a:xfrm>
            <a:off x="363538" y="3963988"/>
            <a:ext cx="3259137" cy="1103312"/>
          </a:xfrm>
          <a:prstGeom prst="borderCallout1">
            <a:avLst>
              <a:gd name="adj1" fmla="val 10361"/>
              <a:gd name="adj2" fmla="val 102338"/>
              <a:gd name="adj3" fmla="val 52662"/>
              <a:gd name="adj4" fmla="val 112713"/>
            </a:avLst>
          </a:prstGeom>
          <a:noFill/>
          <a:ln w="28575" algn="ctr">
            <a:solidFill>
              <a:srgbClr val="A50021"/>
            </a:solidFill>
            <a:miter lim="800000"/>
            <a:headEnd/>
            <a:tailEnd/>
          </a:ln>
        </p:spPr>
        <p:txBody>
          <a:bodyPr anchor="ctr"/>
          <a:lstStyle/>
          <a:p>
            <a:pPr algn="l"/>
            <a:r>
              <a:rPr lang="en-GB" altLang="zh-CN" i="1" dirty="0">
                <a:solidFill>
                  <a:srgbClr val="A50021"/>
                </a:solidFill>
              </a:rPr>
              <a:t>When the event happens (</a:t>
            </a:r>
            <a:r>
              <a:rPr lang="en-GB" altLang="zh-CN" sz="2000" i="1" dirty="0">
                <a:solidFill>
                  <a:srgbClr val="A50021"/>
                </a:solidFill>
              </a:rPr>
              <a:t>in this case when the user types in a character</a:t>
            </a:r>
            <a:r>
              <a:rPr lang="en-GB" altLang="zh-CN" i="1" dirty="0">
                <a:solidFill>
                  <a:srgbClr val="A50021"/>
                </a:solidFill>
              </a:rPr>
              <a:t>)</a:t>
            </a:r>
            <a:endParaRPr lang="en-US" altLang="zh-CN" i="1" dirty="0">
              <a:solidFill>
                <a:srgbClr val="A50021"/>
              </a:solidFill>
            </a:endParaRPr>
          </a:p>
        </p:txBody>
      </p:sp>
      <p:sp>
        <p:nvSpPr>
          <p:cNvPr id="80908" name="AutoShape 12"/>
          <p:cNvSpPr>
            <a:spLocks/>
          </p:cNvSpPr>
          <p:nvPr/>
        </p:nvSpPr>
        <p:spPr bwMode="auto">
          <a:xfrm>
            <a:off x="441325" y="5305425"/>
            <a:ext cx="3181350" cy="852488"/>
          </a:xfrm>
          <a:prstGeom prst="borderCallout1">
            <a:avLst>
              <a:gd name="adj1" fmla="val 13407"/>
              <a:gd name="adj2" fmla="val 102394"/>
              <a:gd name="adj3" fmla="val -33519"/>
              <a:gd name="adj4" fmla="val 140917"/>
            </a:avLst>
          </a:prstGeom>
          <a:noFill/>
          <a:ln w="28575" algn="ctr">
            <a:solidFill>
              <a:srgbClr val="A50021"/>
            </a:solidFill>
            <a:miter lim="800000"/>
            <a:headEnd/>
            <a:tailEnd/>
          </a:ln>
        </p:spPr>
        <p:txBody>
          <a:bodyPr anchor="ctr"/>
          <a:lstStyle/>
          <a:p>
            <a:r>
              <a:rPr lang="en-GB" altLang="zh-CN" i="1" dirty="0">
                <a:solidFill>
                  <a:schemeClr val="accent2"/>
                </a:solidFill>
              </a:rPr>
              <a:t>Guard </a:t>
            </a:r>
            <a:r>
              <a:rPr lang="en-GB" altLang="zh-CN" i="1" dirty="0">
                <a:solidFill>
                  <a:srgbClr val="A50021"/>
                </a:solidFill>
              </a:rPr>
              <a:t>condition</a:t>
            </a:r>
          </a:p>
          <a:p>
            <a:r>
              <a:rPr lang="en-GB" altLang="zh-CN" i="1" dirty="0">
                <a:solidFill>
                  <a:schemeClr val="accent2"/>
                </a:solidFill>
              </a:rPr>
              <a:t> </a:t>
            </a:r>
            <a:r>
              <a:rPr lang="en-GB" altLang="zh-CN" sz="2000" i="1" dirty="0">
                <a:solidFill>
                  <a:schemeClr val="accent2"/>
                </a:solidFill>
              </a:rPr>
              <a:t>(i.e. the activity is taken only if the condition is true)</a:t>
            </a:r>
            <a:endParaRPr lang="en-US" altLang="zh-CN" sz="2000" i="1" dirty="0">
              <a:solidFill>
                <a:schemeClr val="accent2"/>
              </a:solidFill>
            </a:endParaRPr>
          </a:p>
        </p:txBody>
      </p:sp>
      <p:sp>
        <p:nvSpPr>
          <p:cNvPr id="43022" name="AutoShape 13"/>
          <p:cNvSpPr>
            <a:spLocks/>
          </p:cNvSpPr>
          <p:nvPr/>
        </p:nvSpPr>
        <p:spPr bwMode="auto">
          <a:xfrm>
            <a:off x="4706938" y="1919288"/>
            <a:ext cx="4302125" cy="655637"/>
          </a:xfrm>
          <a:prstGeom prst="borderCallout1">
            <a:avLst>
              <a:gd name="adj1" fmla="val 17435"/>
              <a:gd name="adj2" fmla="val -1773"/>
              <a:gd name="adj3" fmla="val 169977"/>
              <a:gd name="adj4" fmla="val -8560"/>
            </a:avLst>
          </a:prstGeom>
          <a:noFill/>
          <a:ln w="28575" algn="ctr">
            <a:solidFill>
              <a:srgbClr val="A50021"/>
            </a:solidFill>
            <a:miter lim="800000"/>
            <a:headEnd/>
            <a:tailEnd/>
          </a:ln>
        </p:spPr>
        <p:txBody>
          <a:bodyPr anchor="ctr"/>
          <a:lstStyle/>
          <a:p>
            <a:r>
              <a:rPr lang="en-GB" altLang="zh-CN" b="1" i="1" dirty="0">
                <a:solidFill>
                  <a:srgbClr val="A50021"/>
                </a:solidFill>
              </a:rPr>
              <a:t>Example</a:t>
            </a:r>
            <a:r>
              <a:rPr lang="en-GB" altLang="zh-CN" i="1" dirty="0">
                <a:solidFill>
                  <a:srgbClr val="A50021"/>
                </a:solidFill>
              </a:rPr>
              <a:t>: A state of a text field object on a user interface.</a:t>
            </a:r>
            <a:endParaRPr lang="en-US" altLang="zh-CN" i="1" dirty="0">
              <a:solidFill>
                <a:srgbClr val="A50021"/>
              </a:solidFill>
            </a:endParaRPr>
          </a:p>
        </p:txBody>
      </p:sp>
    </p:spTree>
    <p:extLst>
      <p:ext uri="{BB962C8B-B14F-4D97-AF65-F5344CB8AC3E}">
        <p14:creationId xmlns:p14="http://schemas.microsoft.com/office/powerpoint/2010/main" val="138803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0903"/>
                                        </p:tgtEl>
                                        <p:attrNameLst>
                                          <p:attrName>style.visibility</p:attrName>
                                        </p:attrNameLst>
                                      </p:cBhvr>
                                      <p:to>
                                        <p:strVal val="visible"/>
                                      </p:to>
                                    </p:set>
                                    <p:animEffect transition="in" filter="blinds(horizontal)">
                                      <p:cBhvr>
                                        <p:cTn id="7" dur="500"/>
                                        <p:tgtEl>
                                          <p:spTgt spid="8090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0904"/>
                                        </p:tgtEl>
                                        <p:attrNameLst>
                                          <p:attrName>style.visibility</p:attrName>
                                        </p:attrNameLst>
                                      </p:cBhvr>
                                      <p:to>
                                        <p:strVal val="visible"/>
                                      </p:to>
                                    </p:set>
                                    <p:animEffect transition="in" filter="blinds(horizontal)">
                                      <p:cBhvr>
                                        <p:cTn id="12" dur="500"/>
                                        <p:tgtEl>
                                          <p:spTgt spid="8090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0905"/>
                                        </p:tgtEl>
                                        <p:attrNameLst>
                                          <p:attrName>style.visibility</p:attrName>
                                        </p:attrNameLst>
                                      </p:cBhvr>
                                      <p:to>
                                        <p:strVal val="visible"/>
                                      </p:to>
                                    </p:set>
                                    <p:animEffect transition="in" filter="blinds(horizontal)">
                                      <p:cBhvr>
                                        <p:cTn id="17" dur="500"/>
                                        <p:tgtEl>
                                          <p:spTgt spid="8090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0906"/>
                                        </p:tgtEl>
                                        <p:attrNameLst>
                                          <p:attrName>style.visibility</p:attrName>
                                        </p:attrNameLst>
                                      </p:cBhvr>
                                      <p:to>
                                        <p:strVal val="visible"/>
                                      </p:to>
                                    </p:set>
                                    <p:animEffect transition="in" filter="blinds(horizontal)">
                                      <p:cBhvr>
                                        <p:cTn id="22" dur="500"/>
                                        <p:tgtEl>
                                          <p:spTgt spid="8090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0907"/>
                                        </p:tgtEl>
                                        <p:attrNameLst>
                                          <p:attrName>style.visibility</p:attrName>
                                        </p:attrNameLst>
                                      </p:cBhvr>
                                      <p:to>
                                        <p:strVal val="visible"/>
                                      </p:to>
                                    </p:set>
                                    <p:animEffect transition="in" filter="blinds(horizontal)">
                                      <p:cBhvr>
                                        <p:cTn id="27" dur="500"/>
                                        <p:tgtEl>
                                          <p:spTgt spid="8090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0908"/>
                                        </p:tgtEl>
                                        <p:attrNameLst>
                                          <p:attrName>style.visibility</p:attrName>
                                        </p:attrNameLst>
                                      </p:cBhvr>
                                      <p:to>
                                        <p:strVal val="visible"/>
                                      </p:to>
                                    </p:set>
                                    <p:animEffect transition="in" filter="blinds(horizontal)">
                                      <p:cBhvr>
                                        <p:cTn id="32" dur="500"/>
                                        <p:tgtEl>
                                          <p:spTgt spid="80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3" grpId="0" animBg="1"/>
      <p:bldP spid="80904" grpId="0" animBg="1"/>
      <p:bldP spid="80905" grpId="0" animBg="1"/>
      <p:bldP spid="80906" grpId="0" animBg="1"/>
      <p:bldP spid="80907" grpId="0" animBg="1"/>
      <p:bldP spid="8090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Slide Number Placeholder 4"/>
          <p:cNvSpPr>
            <a:spLocks noGrp="1"/>
          </p:cNvSpPr>
          <p:nvPr>
            <p:ph type="sldNum" sz="quarter" idx="11"/>
          </p:nvPr>
        </p:nvSpPr>
        <p:spPr bwMode="auto">
          <a:xfrm>
            <a:off x="8421688" y="6526609"/>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53</a:t>
            </a:fld>
            <a:endParaRPr lang="en-US" altLang="en-US">
              <a:solidFill>
                <a:schemeClr val="tx1"/>
              </a:solidFill>
            </a:endParaRPr>
          </a:p>
        </p:txBody>
      </p:sp>
      <p:sp>
        <p:nvSpPr>
          <p:cNvPr id="44037" name="Rectangle 2"/>
          <p:cNvSpPr>
            <a:spLocks noGrp="1" noChangeArrowheads="1"/>
          </p:cNvSpPr>
          <p:nvPr>
            <p:ph type="title"/>
          </p:nvPr>
        </p:nvSpPr>
        <p:spPr/>
        <p:txBody>
          <a:bodyPr>
            <a:normAutofit/>
          </a:bodyPr>
          <a:lstStyle/>
          <a:p>
            <a:r>
              <a:rPr lang="en-GB" altLang="zh-CN" sz="3600" dirty="0">
                <a:ea typeface="SimSun" pitchFamily="2" charset="-122"/>
              </a:rPr>
              <a:t>Activity State</a:t>
            </a:r>
            <a:endParaRPr lang="en-US" altLang="zh-CN" sz="3600" dirty="0">
              <a:ea typeface="SimSun" pitchFamily="2" charset="-122"/>
            </a:endParaRPr>
          </a:p>
        </p:txBody>
      </p:sp>
      <p:sp>
        <p:nvSpPr>
          <p:cNvPr id="44038" name="Rectangle 3"/>
          <p:cNvSpPr>
            <a:spLocks noGrp="1" noChangeArrowheads="1"/>
          </p:cNvSpPr>
          <p:nvPr>
            <p:ph type="body" idx="1"/>
          </p:nvPr>
        </p:nvSpPr>
        <p:spPr>
          <a:xfrm>
            <a:off x="490538" y="933450"/>
            <a:ext cx="8488362" cy="1535113"/>
          </a:xfrm>
        </p:spPr>
        <p:txBody>
          <a:bodyPr/>
          <a:lstStyle/>
          <a:p>
            <a:pPr>
              <a:lnSpc>
                <a:spcPct val="90000"/>
              </a:lnSpc>
            </a:pPr>
            <a:r>
              <a:rPr lang="en-GB" altLang="zh-CN" sz="2400">
                <a:ea typeface="SimSun" pitchFamily="2" charset="-122"/>
              </a:rPr>
              <a:t>An </a:t>
            </a:r>
            <a:r>
              <a:rPr lang="en-GB" altLang="zh-CN" sz="2400" i="1">
                <a:ea typeface="SimSun" pitchFamily="2" charset="-122"/>
              </a:rPr>
              <a:t>activity state</a:t>
            </a:r>
            <a:r>
              <a:rPr lang="en-GB" altLang="zh-CN" sz="2400">
                <a:ea typeface="SimSun" pitchFamily="2" charset="-122"/>
              </a:rPr>
              <a:t> is a state in which the object is performing an ongoing activity. It transits the state when the activity terminates. </a:t>
            </a:r>
          </a:p>
          <a:p>
            <a:pPr>
              <a:lnSpc>
                <a:spcPct val="90000"/>
              </a:lnSpc>
            </a:pPr>
            <a:r>
              <a:rPr lang="en-GB" altLang="zh-CN" sz="2400">
                <a:ea typeface="SimSun" pitchFamily="2" charset="-122"/>
              </a:rPr>
              <a:t>The activity state is represented by the mark “</a:t>
            </a:r>
            <a:r>
              <a:rPr lang="en-GB" altLang="zh-CN" sz="2400">
                <a:solidFill>
                  <a:schemeClr val="accent2"/>
                </a:solidFill>
                <a:ea typeface="SimSun" pitchFamily="2" charset="-122"/>
              </a:rPr>
              <a:t>do/ activity</a:t>
            </a:r>
            <a:r>
              <a:rPr lang="en-GB" altLang="zh-CN" sz="2400">
                <a:ea typeface="SimSun" pitchFamily="2" charset="-122"/>
              </a:rPr>
              <a:t>” in the state. </a:t>
            </a:r>
            <a:endParaRPr lang="en-US" altLang="zh-CN" sz="2400">
              <a:ea typeface="SimSun" pitchFamily="2" charset="-122"/>
            </a:endParaRPr>
          </a:p>
        </p:txBody>
      </p:sp>
      <p:sp>
        <p:nvSpPr>
          <p:cNvPr id="44039" name="AutoShape 4"/>
          <p:cNvSpPr>
            <a:spLocks noChangeArrowheads="1"/>
          </p:cNvSpPr>
          <p:nvPr/>
        </p:nvSpPr>
        <p:spPr bwMode="auto">
          <a:xfrm>
            <a:off x="938213" y="3359249"/>
            <a:ext cx="1849437" cy="1021556"/>
          </a:xfrm>
          <a:prstGeom prst="roundRect">
            <a:avLst>
              <a:gd name="adj" fmla="val 16667"/>
            </a:avLst>
          </a:prstGeom>
          <a:solidFill>
            <a:schemeClr val="tx1">
              <a:lumMod val="40000"/>
              <a:lumOff val="60000"/>
            </a:schemeClr>
          </a:solidFill>
          <a:ln w="28575" algn="ctr">
            <a:solidFill>
              <a:schemeClr val="accent2"/>
            </a:solidFill>
            <a:round/>
            <a:headEnd/>
            <a:tailEnd/>
          </a:ln>
        </p:spPr>
        <p:txBody>
          <a:bodyPr anchor="ctr">
            <a:spAutoFit/>
          </a:bodyPr>
          <a:lstStyle/>
          <a:p>
            <a:pPr algn="ctr"/>
            <a:r>
              <a:rPr lang="en-GB" altLang="zh-CN" dirty="0">
                <a:solidFill>
                  <a:schemeClr val="tx2"/>
                </a:solidFill>
              </a:rPr>
              <a:t>Updating hardware window</a:t>
            </a:r>
            <a:endParaRPr lang="en-US" altLang="zh-CN" dirty="0">
              <a:solidFill>
                <a:schemeClr val="tx2"/>
              </a:solidFill>
            </a:endParaRPr>
          </a:p>
        </p:txBody>
      </p:sp>
      <p:sp>
        <p:nvSpPr>
          <p:cNvPr id="44040" name="AutoShape 5"/>
          <p:cNvSpPr>
            <a:spLocks noChangeArrowheads="1"/>
          </p:cNvSpPr>
          <p:nvPr/>
        </p:nvSpPr>
        <p:spPr bwMode="auto">
          <a:xfrm>
            <a:off x="5651500" y="3277452"/>
            <a:ext cx="2279650" cy="1328023"/>
          </a:xfrm>
          <a:prstGeom prst="roundRect">
            <a:avLst>
              <a:gd name="adj" fmla="val 16667"/>
            </a:avLst>
          </a:prstGeom>
          <a:solidFill>
            <a:schemeClr val="tx1">
              <a:lumMod val="40000"/>
              <a:lumOff val="60000"/>
            </a:schemeClr>
          </a:solidFill>
          <a:ln w="28575" algn="ctr">
            <a:solidFill>
              <a:schemeClr val="accent2"/>
            </a:solidFill>
            <a:round/>
            <a:headEnd/>
            <a:tailEnd/>
          </a:ln>
        </p:spPr>
        <p:txBody>
          <a:bodyPr anchor="ctr">
            <a:spAutoFit/>
          </a:bodyPr>
          <a:lstStyle/>
          <a:p>
            <a:pPr algn="ctr"/>
            <a:r>
              <a:rPr lang="en-GB" altLang="zh-CN">
                <a:solidFill>
                  <a:schemeClr val="tx2"/>
                </a:solidFill>
              </a:rPr>
              <a:t>Searching </a:t>
            </a:r>
          </a:p>
          <a:p>
            <a:pPr algn="ctr"/>
            <a:endParaRPr lang="en-GB" altLang="zh-CN">
              <a:solidFill>
                <a:schemeClr val="tx2"/>
              </a:solidFill>
            </a:endParaRPr>
          </a:p>
          <a:p>
            <a:pPr algn="ctr"/>
            <a:r>
              <a:rPr lang="en-GB" altLang="zh-CN">
                <a:solidFill>
                  <a:schemeClr val="tx2"/>
                </a:solidFill>
              </a:rPr>
              <a:t>do/ search for new hardware</a:t>
            </a:r>
            <a:endParaRPr lang="en-US" altLang="zh-CN">
              <a:solidFill>
                <a:schemeClr val="tx2"/>
              </a:solidFill>
            </a:endParaRPr>
          </a:p>
        </p:txBody>
      </p:sp>
      <p:sp>
        <p:nvSpPr>
          <p:cNvPr id="44041" name="AutoShape 6"/>
          <p:cNvSpPr>
            <a:spLocks noChangeArrowheads="1"/>
          </p:cNvSpPr>
          <p:nvPr/>
        </p:nvSpPr>
        <p:spPr bwMode="auto">
          <a:xfrm>
            <a:off x="5881688" y="5373216"/>
            <a:ext cx="1849437" cy="1021556"/>
          </a:xfrm>
          <a:prstGeom prst="roundRect">
            <a:avLst>
              <a:gd name="adj" fmla="val 16667"/>
            </a:avLst>
          </a:prstGeom>
          <a:solidFill>
            <a:schemeClr val="tx1">
              <a:lumMod val="40000"/>
              <a:lumOff val="60000"/>
            </a:schemeClr>
          </a:solidFill>
          <a:ln w="28575" algn="ctr">
            <a:solidFill>
              <a:schemeClr val="accent2"/>
            </a:solidFill>
            <a:round/>
            <a:headEnd/>
            <a:tailEnd/>
          </a:ln>
        </p:spPr>
        <p:txBody>
          <a:bodyPr anchor="ctr">
            <a:spAutoFit/>
          </a:bodyPr>
          <a:lstStyle/>
          <a:p>
            <a:pPr algn="ctr"/>
            <a:r>
              <a:rPr lang="en-GB" altLang="zh-CN" dirty="0">
                <a:solidFill>
                  <a:schemeClr val="tx2"/>
                </a:solidFill>
              </a:rPr>
              <a:t>Displaying new hardware window</a:t>
            </a:r>
            <a:endParaRPr lang="en-US" altLang="zh-CN" dirty="0">
              <a:solidFill>
                <a:schemeClr val="tx2"/>
              </a:solidFill>
            </a:endParaRPr>
          </a:p>
        </p:txBody>
      </p:sp>
      <p:sp>
        <p:nvSpPr>
          <p:cNvPr id="44042" name="Line 7"/>
          <p:cNvSpPr>
            <a:spLocks noChangeShapeType="1"/>
          </p:cNvSpPr>
          <p:nvPr/>
        </p:nvSpPr>
        <p:spPr bwMode="auto">
          <a:xfrm>
            <a:off x="2782888" y="3860502"/>
            <a:ext cx="2840037" cy="0"/>
          </a:xfrm>
          <a:prstGeom prst="line">
            <a:avLst/>
          </a:prstGeom>
          <a:noFill/>
          <a:ln w="28575">
            <a:solidFill>
              <a:schemeClr val="accent2"/>
            </a:solidFill>
            <a:round/>
            <a:headEnd/>
            <a:tailEnd type="arrow" w="med" len="med"/>
          </a:ln>
        </p:spPr>
        <p:txBody>
          <a:bodyPr wrap="none" anchor="ctr">
            <a:spAutoFit/>
          </a:bodyPr>
          <a:lstStyle/>
          <a:p>
            <a:pPr algn="ctr"/>
            <a:endParaRPr lang="en-US">
              <a:solidFill>
                <a:schemeClr val="tx2"/>
              </a:solidFill>
            </a:endParaRPr>
          </a:p>
        </p:txBody>
      </p:sp>
      <p:sp>
        <p:nvSpPr>
          <p:cNvPr id="44043" name="Freeform 8"/>
          <p:cNvSpPr>
            <a:spLocks/>
          </p:cNvSpPr>
          <p:nvPr/>
        </p:nvSpPr>
        <p:spPr bwMode="auto">
          <a:xfrm>
            <a:off x="957832" y="4368800"/>
            <a:ext cx="1069971" cy="369332"/>
          </a:xfrm>
          <a:custGeom>
            <a:avLst/>
            <a:gdLst>
              <a:gd name="T0" fmla="*/ 4105275 w 2586"/>
              <a:gd name="T1" fmla="*/ 223837 h 441"/>
              <a:gd name="T2" fmla="*/ 4105275 w 2586"/>
              <a:gd name="T3" fmla="*/ 700087 h 441"/>
              <a:gd name="T4" fmla="*/ 0 w 2586"/>
              <a:gd name="T5" fmla="*/ 700087 h 441"/>
              <a:gd name="T6" fmla="*/ 0 w 2586"/>
              <a:gd name="T7" fmla="*/ 0 h 441"/>
              <a:gd name="T8" fmla="*/ 0 60000 65536"/>
              <a:gd name="T9" fmla="*/ 0 60000 65536"/>
              <a:gd name="T10" fmla="*/ 0 60000 65536"/>
              <a:gd name="T11" fmla="*/ 0 60000 65536"/>
              <a:gd name="T12" fmla="*/ 0 w 2586"/>
              <a:gd name="T13" fmla="*/ 0 h 441"/>
              <a:gd name="T14" fmla="*/ 2586 w 2586"/>
              <a:gd name="T15" fmla="*/ 441 h 441"/>
            </a:gdLst>
            <a:ahLst/>
            <a:cxnLst>
              <a:cxn ang="T8">
                <a:pos x="T0" y="T1"/>
              </a:cxn>
              <a:cxn ang="T9">
                <a:pos x="T2" y="T3"/>
              </a:cxn>
              <a:cxn ang="T10">
                <a:pos x="T4" y="T5"/>
              </a:cxn>
              <a:cxn ang="T11">
                <a:pos x="T6" y="T7"/>
              </a:cxn>
            </a:cxnLst>
            <a:rect l="T12" t="T13" r="T14" b="T15"/>
            <a:pathLst>
              <a:path w="2586" h="441">
                <a:moveTo>
                  <a:pt x="2586" y="141"/>
                </a:moveTo>
                <a:lnTo>
                  <a:pt x="2586" y="441"/>
                </a:lnTo>
                <a:lnTo>
                  <a:pt x="0" y="441"/>
                </a:lnTo>
                <a:lnTo>
                  <a:pt x="0" y="0"/>
                </a:lnTo>
              </a:path>
            </a:pathLst>
          </a:custGeom>
          <a:noFill/>
          <a:ln w="28575" cap="flat" cmpd="sng">
            <a:solidFill>
              <a:schemeClr val="accent2"/>
            </a:solidFill>
            <a:prstDash val="solid"/>
            <a:round/>
            <a:headEnd type="none" w="med" len="med"/>
            <a:tailEnd type="arrow" w="med" len="med"/>
          </a:ln>
        </p:spPr>
        <p:txBody>
          <a:bodyPr wrap="square" anchor="ctr">
            <a:spAutoFit/>
          </a:bodyPr>
          <a:lstStyle/>
          <a:p>
            <a:pPr algn="ctr"/>
            <a:endParaRPr lang="en-US">
              <a:solidFill>
                <a:schemeClr val="tx2"/>
              </a:solidFill>
            </a:endParaRPr>
          </a:p>
        </p:txBody>
      </p:sp>
      <p:sp>
        <p:nvSpPr>
          <p:cNvPr id="44044" name="Line 9"/>
          <p:cNvSpPr>
            <a:spLocks noChangeShapeType="1"/>
          </p:cNvSpPr>
          <p:nvPr/>
        </p:nvSpPr>
        <p:spPr bwMode="auto">
          <a:xfrm>
            <a:off x="6791325" y="4594212"/>
            <a:ext cx="0" cy="815975"/>
          </a:xfrm>
          <a:prstGeom prst="line">
            <a:avLst/>
          </a:prstGeom>
          <a:noFill/>
          <a:ln w="28575">
            <a:solidFill>
              <a:schemeClr val="accent2"/>
            </a:solidFill>
            <a:round/>
            <a:headEnd/>
            <a:tailEnd type="arrow" w="med" len="med"/>
          </a:ln>
        </p:spPr>
        <p:txBody>
          <a:bodyPr anchor="ctr">
            <a:spAutoFit/>
          </a:bodyPr>
          <a:lstStyle/>
          <a:p>
            <a:pPr algn="ctr"/>
            <a:endParaRPr lang="en-US">
              <a:solidFill>
                <a:schemeClr val="tx2"/>
              </a:solidFill>
            </a:endParaRPr>
          </a:p>
        </p:txBody>
      </p:sp>
      <p:sp>
        <p:nvSpPr>
          <p:cNvPr id="44045" name="Line 10"/>
          <p:cNvSpPr>
            <a:spLocks noChangeShapeType="1"/>
          </p:cNvSpPr>
          <p:nvPr/>
        </p:nvSpPr>
        <p:spPr bwMode="auto">
          <a:xfrm>
            <a:off x="5651500" y="3765252"/>
            <a:ext cx="2286000" cy="0"/>
          </a:xfrm>
          <a:prstGeom prst="line">
            <a:avLst/>
          </a:prstGeom>
          <a:noFill/>
          <a:ln w="28575">
            <a:solidFill>
              <a:schemeClr val="accent2"/>
            </a:solidFill>
            <a:round/>
            <a:headEnd/>
            <a:tailEnd/>
          </a:ln>
        </p:spPr>
        <p:txBody>
          <a:bodyPr wrap="none" anchor="ctr">
            <a:spAutoFit/>
          </a:bodyPr>
          <a:lstStyle/>
          <a:p>
            <a:pPr algn="ctr"/>
            <a:endParaRPr lang="en-US">
              <a:solidFill>
                <a:schemeClr val="tx2"/>
              </a:solidFill>
            </a:endParaRPr>
          </a:p>
        </p:txBody>
      </p:sp>
      <p:sp>
        <p:nvSpPr>
          <p:cNvPr id="44046" name="Text Box 11"/>
          <p:cNvSpPr txBox="1">
            <a:spLocks noChangeArrowheads="1"/>
          </p:cNvSpPr>
          <p:nvPr/>
        </p:nvSpPr>
        <p:spPr bwMode="auto">
          <a:xfrm>
            <a:off x="2722563" y="3454102"/>
            <a:ext cx="1244600" cy="369332"/>
          </a:xfrm>
          <a:prstGeom prst="rect">
            <a:avLst/>
          </a:prstGeom>
          <a:noFill/>
          <a:ln w="28575" algn="ctr">
            <a:noFill/>
            <a:miter lim="800000"/>
            <a:headEnd/>
            <a:tailEnd/>
          </a:ln>
        </p:spPr>
        <p:txBody>
          <a:bodyPr>
            <a:spAutoFit/>
          </a:bodyPr>
          <a:lstStyle/>
          <a:p>
            <a:pPr algn="ctr">
              <a:spcBef>
                <a:spcPct val="50000"/>
              </a:spcBef>
            </a:pPr>
            <a:r>
              <a:rPr lang="en-GB" altLang="zh-CN">
                <a:solidFill>
                  <a:schemeClr val="tx2"/>
                </a:solidFill>
              </a:rPr>
              <a:t>search</a:t>
            </a:r>
            <a:endParaRPr lang="en-US" altLang="zh-CN">
              <a:solidFill>
                <a:schemeClr val="tx2"/>
              </a:solidFill>
            </a:endParaRPr>
          </a:p>
        </p:txBody>
      </p:sp>
      <p:sp>
        <p:nvSpPr>
          <p:cNvPr id="44047" name="Text Box 12"/>
          <p:cNvSpPr txBox="1">
            <a:spLocks noChangeArrowheads="1"/>
          </p:cNvSpPr>
          <p:nvPr/>
        </p:nvSpPr>
        <p:spPr bwMode="auto">
          <a:xfrm>
            <a:off x="5671689" y="4746239"/>
            <a:ext cx="1069975" cy="369332"/>
          </a:xfrm>
          <a:prstGeom prst="rect">
            <a:avLst/>
          </a:prstGeom>
          <a:noFill/>
          <a:ln w="28575" algn="ctr">
            <a:noFill/>
            <a:miter lim="800000"/>
            <a:headEnd/>
            <a:tailEnd/>
          </a:ln>
        </p:spPr>
        <p:txBody>
          <a:bodyPr>
            <a:spAutoFit/>
          </a:bodyPr>
          <a:lstStyle/>
          <a:p>
            <a:pPr algn="ctr">
              <a:spcBef>
                <a:spcPct val="50000"/>
              </a:spcBef>
            </a:pPr>
            <a:r>
              <a:rPr lang="en-GB" altLang="zh-CN" dirty="0">
                <a:solidFill>
                  <a:schemeClr val="tx2"/>
                </a:solidFill>
              </a:rPr>
              <a:t>cancel</a:t>
            </a:r>
            <a:endParaRPr lang="en-US" altLang="zh-CN" dirty="0">
              <a:solidFill>
                <a:schemeClr val="tx2"/>
              </a:solidFill>
            </a:endParaRPr>
          </a:p>
        </p:txBody>
      </p:sp>
      <p:sp>
        <p:nvSpPr>
          <p:cNvPr id="44048" name="AutoShape 13"/>
          <p:cNvSpPr>
            <a:spLocks/>
          </p:cNvSpPr>
          <p:nvPr/>
        </p:nvSpPr>
        <p:spPr bwMode="auto">
          <a:xfrm>
            <a:off x="3376613" y="2636541"/>
            <a:ext cx="1538287" cy="679448"/>
          </a:xfrm>
          <a:prstGeom prst="borderCallout2">
            <a:avLst>
              <a:gd name="adj1" fmla="val 18750"/>
              <a:gd name="adj2" fmla="val 104954"/>
              <a:gd name="adj3" fmla="val 18750"/>
              <a:gd name="adj4" fmla="val 131579"/>
              <a:gd name="adj5" fmla="val 109634"/>
              <a:gd name="adj6" fmla="val 159338"/>
            </a:avLst>
          </a:prstGeom>
          <a:noFill/>
          <a:ln w="28575" algn="ctr">
            <a:solidFill>
              <a:srgbClr val="A50021"/>
            </a:solidFill>
            <a:miter lim="800000"/>
            <a:headEnd/>
            <a:tailEnd/>
          </a:ln>
        </p:spPr>
        <p:txBody>
          <a:bodyPr anchor="ctr"/>
          <a:lstStyle/>
          <a:p>
            <a:r>
              <a:rPr lang="en-GB" altLang="zh-CN" i="1" dirty="0">
                <a:solidFill>
                  <a:srgbClr val="A50021"/>
                </a:solidFill>
              </a:rPr>
              <a:t>Activity state</a:t>
            </a:r>
            <a:endParaRPr lang="en-US" altLang="zh-CN" i="1" dirty="0">
              <a:solidFill>
                <a:srgbClr val="A50021"/>
              </a:solidFill>
            </a:endParaRPr>
          </a:p>
        </p:txBody>
      </p:sp>
    </p:spTree>
    <p:extLst>
      <p:ext uri="{BB962C8B-B14F-4D97-AF65-F5344CB8AC3E}">
        <p14:creationId xmlns:p14="http://schemas.microsoft.com/office/powerpoint/2010/main" val="32343822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Slide Number Placeholder 4"/>
          <p:cNvSpPr>
            <a:spLocks noGrp="1"/>
          </p:cNvSpPr>
          <p:nvPr>
            <p:ph type="sldNum" sz="quarter" idx="11"/>
          </p:nvPr>
        </p:nvSpPr>
        <p:spPr bwMode="auto">
          <a:xfrm>
            <a:off x="8421688" y="6346825"/>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54</a:t>
            </a:fld>
            <a:endParaRPr lang="en-US" altLang="en-US">
              <a:solidFill>
                <a:schemeClr val="tx1"/>
              </a:solidFill>
            </a:endParaRPr>
          </a:p>
        </p:txBody>
      </p:sp>
      <p:sp>
        <p:nvSpPr>
          <p:cNvPr id="45061" name="Rectangle 2"/>
          <p:cNvSpPr>
            <a:spLocks noGrp="1" noChangeArrowheads="1"/>
          </p:cNvSpPr>
          <p:nvPr>
            <p:ph type="title"/>
          </p:nvPr>
        </p:nvSpPr>
        <p:spPr/>
        <p:txBody>
          <a:bodyPr>
            <a:normAutofit/>
          </a:bodyPr>
          <a:lstStyle/>
          <a:p>
            <a:r>
              <a:rPr lang="en-GB" altLang="zh-CN" sz="3600" dirty="0">
                <a:ea typeface="SimSun" pitchFamily="2" charset="-122"/>
              </a:rPr>
              <a:t>Superstate</a:t>
            </a:r>
            <a:endParaRPr lang="en-US" altLang="zh-CN" sz="3600" dirty="0">
              <a:ea typeface="SimSun" pitchFamily="2" charset="-122"/>
            </a:endParaRPr>
          </a:p>
        </p:txBody>
      </p:sp>
      <p:sp>
        <p:nvSpPr>
          <p:cNvPr id="45062" name="Rectangle 3"/>
          <p:cNvSpPr>
            <a:spLocks noGrp="1" noChangeArrowheads="1"/>
          </p:cNvSpPr>
          <p:nvPr>
            <p:ph type="body" idx="1"/>
          </p:nvPr>
        </p:nvSpPr>
        <p:spPr>
          <a:xfrm>
            <a:off x="490538" y="933450"/>
            <a:ext cx="8488362" cy="1476375"/>
          </a:xfrm>
        </p:spPr>
        <p:txBody>
          <a:bodyPr/>
          <a:lstStyle/>
          <a:p>
            <a:r>
              <a:rPr lang="en-GB" altLang="zh-CN" dirty="0">
                <a:ea typeface="SimSun" pitchFamily="2" charset="-122"/>
              </a:rPr>
              <a:t>A </a:t>
            </a:r>
            <a:r>
              <a:rPr lang="en-GB" altLang="zh-CN" i="1" dirty="0">
                <a:ea typeface="SimSun" pitchFamily="2" charset="-122"/>
              </a:rPr>
              <a:t>superstate</a:t>
            </a:r>
            <a:r>
              <a:rPr lang="en-GB" altLang="zh-CN" dirty="0">
                <a:ea typeface="SimSun" pitchFamily="2" charset="-122"/>
              </a:rPr>
              <a:t> is a state that inside is a state machine.</a:t>
            </a:r>
          </a:p>
          <a:p>
            <a:r>
              <a:rPr lang="en-GB" altLang="zh-CN" dirty="0">
                <a:ea typeface="SimSun" pitchFamily="2" charset="-122"/>
              </a:rPr>
              <a:t>It can be used to express shared behaviours, and to represent behaviours in a hierarchical manner. </a:t>
            </a:r>
            <a:endParaRPr lang="en-US" altLang="zh-CN" dirty="0">
              <a:ea typeface="SimSun" pitchFamily="2" charset="-122"/>
            </a:endParaRPr>
          </a:p>
        </p:txBody>
      </p:sp>
      <p:sp>
        <p:nvSpPr>
          <p:cNvPr id="45063" name="AutoShape 4"/>
          <p:cNvSpPr>
            <a:spLocks noChangeArrowheads="1"/>
          </p:cNvSpPr>
          <p:nvPr/>
        </p:nvSpPr>
        <p:spPr bwMode="auto">
          <a:xfrm>
            <a:off x="3332163" y="2609493"/>
            <a:ext cx="1987550" cy="715089"/>
          </a:xfrm>
          <a:prstGeom prst="roundRect">
            <a:avLst>
              <a:gd name="adj" fmla="val 16667"/>
            </a:avLst>
          </a:prstGeom>
          <a:solidFill>
            <a:srgbClr val="FFFF00"/>
          </a:solidFill>
          <a:ln w="28575" algn="ctr">
            <a:solidFill>
              <a:schemeClr val="accent2"/>
            </a:solidFill>
            <a:round/>
            <a:headEnd/>
            <a:tailEnd/>
          </a:ln>
        </p:spPr>
        <p:txBody>
          <a:bodyPr anchor="ctr">
            <a:spAutoFit/>
          </a:bodyPr>
          <a:lstStyle/>
          <a:p>
            <a:pPr algn="ctr"/>
            <a:r>
              <a:rPr lang="en-GB" altLang="zh-CN">
                <a:solidFill>
                  <a:schemeClr val="tx2"/>
                </a:solidFill>
              </a:rPr>
              <a:t>Show Connections</a:t>
            </a:r>
            <a:endParaRPr lang="en-US" altLang="zh-CN">
              <a:solidFill>
                <a:schemeClr val="tx2"/>
              </a:solidFill>
            </a:endParaRPr>
          </a:p>
        </p:txBody>
      </p:sp>
      <p:sp>
        <p:nvSpPr>
          <p:cNvPr id="45064" name="AutoShape 5"/>
          <p:cNvSpPr>
            <a:spLocks noChangeArrowheads="1"/>
          </p:cNvSpPr>
          <p:nvPr/>
        </p:nvSpPr>
        <p:spPr bwMode="auto">
          <a:xfrm>
            <a:off x="612775" y="4212749"/>
            <a:ext cx="8305800" cy="1634490"/>
          </a:xfrm>
          <a:prstGeom prst="roundRect">
            <a:avLst>
              <a:gd name="adj" fmla="val 16667"/>
            </a:avLst>
          </a:prstGeom>
          <a:noFill/>
          <a:ln w="28575" algn="ctr">
            <a:solidFill>
              <a:schemeClr val="accent2"/>
            </a:solidFill>
            <a:round/>
            <a:headEnd/>
            <a:tailEnd/>
          </a:ln>
        </p:spPr>
        <p:txBody>
          <a:bodyPr anchor="ctr">
            <a:spAutoFit/>
          </a:bodyPr>
          <a:lstStyle/>
          <a:p>
            <a:pPr algn="ctr"/>
            <a:r>
              <a:rPr lang="en-GB" altLang="zh-CN">
                <a:solidFill>
                  <a:schemeClr val="tx2"/>
                </a:solidFill>
              </a:rPr>
              <a:t>Enter Connections Details</a:t>
            </a:r>
          </a:p>
          <a:p>
            <a:pPr algn="ctr"/>
            <a:endParaRPr lang="en-GB" altLang="zh-CN">
              <a:solidFill>
                <a:schemeClr val="tx2"/>
              </a:solidFill>
            </a:endParaRPr>
          </a:p>
          <a:p>
            <a:pPr algn="ctr"/>
            <a:endParaRPr lang="en-GB" altLang="zh-CN">
              <a:solidFill>
                <a:schemeClr val="tx2"/>
              </a:solidFill>
            </a:endParaRPr>
          </a:p>
          <a:p>
            <a:pPr algn="ctr"/>
            <a:endParaRPr lang="en-GB" altLang="zh-CN">
              <a:solidFill>
                <a:schemeClr val="tx2"/>
              </a:solidFill>
            </a:endParaRPr>
          </a:p>
          <a:p>
            <a:pPr algn="ctr"/>
            <a:endParaRPr lang="en-US" altLang="zh-CN">
              <a:solidFill>
                <a:schemeClr val="tx2"/>
              </a:solidFill>
            </a:endParaRPr>
          </a:p>
        </p:txBody>
      </p:sp>
      <p:sp>
        <p:nvSpPr>
          <p:cNvPr id="45065" name="Line 6"/>
          <p:cNvSpPr>
            <a:spLocks noChangeShapeType="1"/>
          </p:cNvSpPr>
          <p:nvPr/>
        </p:nvSpPr>
        <p:spPr bwMode="auto">
          <a:xfrm flipV="1">
            <a:off x="593725" y="4643438"/>
            <a:ext cx="8288338" cy="9525"/>
          </a:xfrm>
          <a:prstGeom prst="line">
            <a:avLst/>
          </a:prstGeom>
          <a:noFill/>
          <a:ln w="28575">
            <a:solidFill>
              <a:schemeClr val="accent2"/>
            </a:solidFill>
            <a:round/>
            <a:headEnd/>
            <a:tailEnd/>
          </a:ln>
        </p:spPr>
        <p:txBody>
          <a:bodyPr anchor="ctr">
            <a:spAutoFit/>
          </a:bodyPr>
          <a:lstStyle/>
          <a:p>
            <a:endParaRPr lang="en-US"/>
          </a:p>
        </p:txBody>
      </p:sp>
      <p:sp>
        <p:nvSpPr>
          <p:cNvPr id="45066" name="Oval 7"/>
          <p:cNvSpPr>
            <a:spLocks noChangeArrowheads="1"/>
          </p:cNvSpPr>
          <p:nvPr/>
        </p:nvSpPr>
        <p:spPr bwMode="auto">
          <a:xfrm>
            <a:off x="749300" y="5156200"/>
            <a:ext cx="282575" cy="271463"/>
          </a:xfrm>
          <a:prstGeom prst="ellipse">
            <a:avLst/>
          </a:prstGeom>
          <a:solidFill>
            <a:schemeClr val="tx2"/>
          </a:solidFill>
          <a:ln w="28575" algn="ctr">
            <a:solidFill>
              <a:schemeClr val="tx1"/>
            </a:solidFill>
            <a:round/>
            <a:headEnd/>
            <a:tailEnd/>
          </a:ln>
        </p:spPr>
        <p:txBody>
          <a:bodyPr wrap="none" anchor="ctr">
            <a:spAutoFit/>
          </a:bodyPr>
          <a:lstStyle/>
          <a:p>
            <a:endParaRPr lang="en-US" dirty="0"/>
          </a:p>
        </p:txBody>
      </p:sp>
      <p:sp>
        <p:nvSpPr>
          <p:cNvPr id="45067" name="AutoShape 8"/>
          <p:cNvSpPr>
            <a:spLocks noChangeArrowheads="1"/>
          </p:cNvSpPr>
          <p:nvPr/>
        </p:nvSpPr>
        <p:spPr bwMode="auto">
          <a:xfrm>
            <a:off x="1389063" y="4916130"/>
            <a:ext cx="1782762" cy="715089"/>
          </a:xfrm>
          <a:prstGeom prst="roundRect">
            <a:avLst>
              <a:gd name="adj" fmla="val 16667"/>
            </a:avLst>
          </a:prstGeom>
          <a:solidFill>
            <a:srgbClr val="FFFF00"/>
          </a:solidFill>
          <a:ln w="28575" algn="ctr">
            <a:solidFill>
              <a:schemeClr val="accent2"/>
            </a:solidFill>
            <a:round/>
            <a:headEnd/>
            <a:tailEnd/>
          </a:ln>
        </p:spPr>
        <p:txBody>
          <a:bodyPr anchor="ctr">
            <a:spAutoFit/>
          </a:bodyPr>
          <a:lstStyle/>
          <a:p>
            <a:pPr algn="ctr"/>
            <a:r>
              <a:rPr lang="en-GB" altLang="zh-CN">
                <a:solidFill>
                  <a:schemeClr val="tx2"/>
                </a:solidFill>
              </a:rPr>
              <a:t>Enter Phone Number</a:t>
            </a:r>
            <a:endParaRPr lang="en-US" altLang="zh-CN">
              <a:solidFill>
                <a:schemeClr val="tx2"/>
              </a:solidFill>
            </a:endParaRPr>
          </a:p>
        </p:txBody>
      </p:sp>
      <p:sp>
        <p:nvSpPr>
          <p:cNvPr id="45068" name="AutoShape 9"/>
          <p:cNvSpPr>
            <a:spLocks noChangeArrowheads="1"/>
          </p:cNvSpPr>
          <p:nvPr/>
        </p:nvSpPr>
        <p:spPr bwMode="auto">
          <a:xfrm>
            <a:off x="4348163" y="4889143"/>
            <a:ext cx="2181225" cy="715089"/>
          </a:xfrm>
          <a:prstGeom prst="roundRect">
            <a:avLst>
              <a:gd name="adj" fmla="val 16667"/>
            </a:avLst>
          </a:prstGeom>
          <a:solidFill>
            <a:srgbClr val="FFFF00"/>
          </a:solidFill>
          <a:ln w="28575" algn="ctr">
            <a:solidFill>
              <a:schemeClr val="accent2"/>
            </a:solidFill>
            <a:round/>
            <a:headEnd/>
            <a:tailEnd/>
          </a:ln>
        </p:spPr>
        <p:txBody>
          <a:bodyPr anchor="ctr">
            <a:spAutoFit/>
          </a:bodyPr>
          <a:lstStyle/>
          <a:p>
            <a:pPr algn="ctr"/>
            <a:r>
              <a:rPr lang="en-GB" altLang="zh-CN" dirty="0">
                <a:solidFill>
                  <a:schemeClr val="tx2"/>
                </a:solidFill>
              </a:rPr>
              <a:t>Choose Shared or Solo</a:t>
            </a:r>
            <a:endParaRPr lang="en-US" altLang="zh-CN" dirty="0">
              <a:solidFill>
                <a:schemeClr val="tx2"/>
              </a:solidFill>
            </a:endParaRPr>
          </a:p>
        </p:txBody>
      </p:sp>
      <p:sp>
        <p:nvSpPr>
          <p:cNvPr id="45069" name="AutoShape 10"/>
          <p:cNvSpPr>
            <a:spLocks noChangeArrowheads="1"/>
          </p:cNvSpPr>
          <p:nvPr/>
        </p:nvSpPr>
        <p:spPr bwMode="auto">
          <a:xfrm>
            <a:off x="7646988" y="4887555"/>
            <a:ext cx="1062037" cy="715089"/>
          </a:xfrm>
          <a:prstGeom prst="roundRect">
            <a:avLst>
              <a:gd name="adj" fmla="val 16667"/>
            </a:avLst>
          </a:prstGeom>
          <a:solidFill>
            <a:srgbClr val="FFFF00"/>
          </a:solidFill>
          <a:ln w="28575" algn="ctr">
            <a:solidFill>
              <a:schemeClr val="accent2"/>
            </a:solidFill>
            <a:round/>
            <a:headEnd/>
            <a:tailEnd/>
          </a:ln>
        </p:spPr>
        <p:txBody>
          <a:bodyPr anchor="ctr">
            <a:spAutoFit/>
          </a:bodyPr>
          <a:lstStyle/>
          <a:p>
            <a:pPr algn="ctr"/>
            <a:r>
              <a:rPr lang="en-GB" altLang="zh-CN" dirty="0">
                <a:solidFill>
                  <a:schemeClr val="tx2"/>
                </a:solidFill>
              </a:rPr>
              <a:t>Enter Name</a:t>
            </a:r>
            <a:endParaRPr lang="en-US" altLang="zh-CN" dirty="0">
              <a:solidFill>
                <a:schemeClr val="tx2"/>
              </a:solidFill>
            </a:endParaRPr>
          </a:p>
        </p:txBody>
      </p:sp>
      <p:sp>
        <p:nvSpPr>
          <p:cNvPr id="45070" name="Line 11"/>
          <p:cNvSpPr>
            <a:spLocks noChangeShapeType="1"/>
          </p:cNvSpPr>
          <p:nvPr/>
        </p:nvSpPr>
        <p:spPr bwMode="auto">
          <a:xfrm>
            <a:off x="1031875" y="5281613"/>
            <a:ext cx="339725" cy="0"/>
          </a:xfrm>
          <a:prstGeom prst="line">
            <a:avLst/>
          </a:prstGeom>
          <a:noFill/>
          <a:ln w="28575">
            <a:solidFill>
              <a:schemeClr val="accent2"/>
            </a:solidFill>
            <a:round/>
            <a:headEnd/>
            <a:tailEnd type="arrow" w="med" len="med"/>
          </a:ln>
        </p:spPr>
        <p:txBody>
          <a:bodyPr wrap="none" anchor="ctr">
            <a:spAutoFit/>
          </a:bodyPr>
          <a:lstStyle/>
          <a:p>
            <a:endParaRPr lang="en-US"/>
          </a:p>
        </p:txBody>
      </p:sp>
      <p:sp>
        <p:nvSpPr>
          <p:cNvPr id="45071" name="Line 12"/>
          <p:cNvSpPr>
            <a:spLocks noChangeShapeType="1"/>
          </p:cNvSpPr>
          <p:nvPr/>
        </p:nvSpPr>
        <p:spPr bwMode="auto">
          <a:xfrm>
            <a:off x="3190875" y="5154613"/>
            <a:ext cx="1166813" cy="0"/>
          </a:xfrm>
          <a:prstGeom prst="line">
            <a:avLst/>
          </a:prstGeom>
          <a:noFill/>
          <a:ln w="28575">
            <a:solidFill>
              <a:schemeClr val="accent2"/>
            </a:solidFill>
            <a:round/>
            <a:headEnd/>
            <a:tailEnd type="arrow" w="med" len="med"/>
          </a:ln>
        </p:spPr>
        <p:txBody>
          <a:bodyPr anchor="ctr">
            <a:spAutoFit/>
          </a:bodyPr>
          <a:lstStyle/>
          <a:p>
            <a:endParaRPr lang="en-US"/>
          </a:p>
        </p:txBody>
      </p:sp>
      <p:sp>
        <p:nvSpPr>
          <p:cNvPr id="45072" name="Line 13"/>
          <p:cNvSpPr>
            <a:spLocks noChangeShapeType="1"/>
          </p:cNvSpPr>
          <p:nvPr/>
        </p:nvSpPr>
        <p:spPr bwMode="auto">
          <a:xfrm flipH="1">
            <a:off x="3152775" y="5332413"/>
            <a:ext cx="1204913" cy="0"/>
          </a:xfrm>
          <a:prstGeom prst="line">
            <a:avLst/>
          </a:prstGeom>
          <a:noFill/>
          <a:ln w="28575">
            <a:solidFill>
              <a:schemeClr val="accent2"/>
            </a:solidFill>
            <a:round/>
            <a:headEnd/>
            <a:tailEnd type="arrow" w="med" len="med"/>
          </a:ln>
        </p:spPr>
        <p:txBody>
          <a:bodyPr anchor="ctr">
            <a:spAutoFit/>
          </a:bodyPr>
          <a:lstStyle/>
          <a:p>
            <a:endParaRPr lang="en-US"/>
          </a:p>
        </p:txBody>
      </p:sp>
      <p:sp>
        <p:nvSpPr>
          <p:cNvPr id="45073" name="Line 14"/>
          <p:cNvSpPr>
            <a:spLocks noChangeShapeType="1"/>
          </p:cNvSpPr>
          <p:nvPr/>
        </p:nvSpPr>
        <p:spPr bwMode="auto">
          <a:xfrm>
            <a:off x="6538913" y="5143500"/>
            <a:ext cx="1089025" cy="0"/>
          </a:xfrm>
          <a:prstGeom prst="line">
            <a:avLst/>
          </a:prstGeom>
          <a:noFill/>
          <a:ln w="28575">
            <a:solidFill>
              <a:schemeClr val="accent2"/>
            </a:solidFill>
            <a:round/>
            <a:headEnd/>
            <a:tailEnd type="arrow" w="med" len="med"/>
          </a:ln>
        </p:spPr>
        <p:txBody>
          <a:bodyPr anchor="ctr">
            <a:spAutoFit/>
          </a:bodyPr>
          <a:lstStyle/>
          <a:p>
            <a:endParaRPr lang="en-US"/>
          </a:p>
        </p:txBody>
      </p:sp>
      <p:sp>
        <p:nvSpPr>
          <p:cNvPr id="45074" name="Line 15"/>
          <p:cNvSpPr>
            <a:spLocks noChangeShapeType="1"/>
          </p:cNvSpPr>
          <p:nvPr/>
        </p:nvSpPr>
        <p:spPr bwMode="auto">
          <a:xfrm flipH="1">
            <a:off x="6529388" y="5322888"/>
            <a:ext cx="1098550" cy="0"/>
          </a:xfrm>
          <a:prstGeom prst="line">
            <a:avLst/>
          </a:prstGeom>
          <a:noFill/>
          <a:ln w="28575">
            <a:solidFill>
              <a:schemeClr val="accent2"/>
            </a:solidFill>
            <a:round/>
            <a:headEnd/>
            <a:tailEnd type="arrow" w="med" len="med"/>
          </a:ln>
        </p:spPr>
        <p:txBody>
          <a:bodyPr anchor="ctr">
            <a:spAutoFit/>
          </a:bodyPr>
          <a:lstStyle/>
          <a:p>
            <a:endParaRPr lang="en-US"/>
          </a:p>
        </p:txBody>
      </p:sp>
      <p:sp>
        <p:nvSpPr>
          <p:cNvPr id="45075" name="Text Box 16"/>
          <p:cNvSpPr txBox="1">
            <a:spLocks noChangeArrowheads="1"/>
          </p:cNvSpPr>
          <p:nvPr/>
        </p:nvSpPr>
        <p:spPr bwMode="auto">
          <a:xfrm>
            <a:off x="3316288" y="4776788"/>
            <a:ext cx="798512" cy="369332"/>
          </a:xfrm>
          <a:prstGeom prst="rect">
            <a:avLst/>
          </a:prstGeom>
          <a:noFill/>
          <a:ln w="28575" algn="ctr">
            <a:noFill/>
            <a:miter lim="800000"/>
            <a:headEnd/>
            <a:tailEnd/>
          </a:ln>
        </p:spPr>
        <p:txBody>
          <a:bodyPr>
            <a:spAutoFit/>
          </a:bodyPr>
          <a:lstStyle/>
          <a:p>
            <a:pPr algn="ctr">
              <a:spcBef>
                <a:spcPct val="50000"/>
              </a:spcBef>
            </a:pPr>
            <a:r>
              <a:rPr lang="en-GB" altLang="zh-CN">
                <a:solidFill>
                  <a:schemeClr val="tx2"/>
                </a:solidFill>
              </a:rPr>
              <a:t>next</a:t>
            </a:r>
            <a:endParaRPr lang="en-US" altLang="zh-CN">
              <a:solidFill>
                <a:schemeClr val="tx2"/>
              </a:solidFill>
            </a:endParaRPr>
          </a:p>
        </p:txBody>
      </p:sp>
      <p:sp>
        <p:nvSpPr>
          <p:cNvPr id="45076" name="Text Box 17"/>
          <p:cNvSpPr txBox="1">
            <a:spLocks noChangeArrowheads="1"/>
          </p:cNvSpPr>
          <p:nvPr/>
        </p:nvSpPr>
        <p:spPr bwMode="auto">
          <a:xfrm>
            <a:off x="6654800" y="4789488"/>
            <a:ext cx="798513" cy="369332"/>
          </a:xfrm>
          <a:prstGeom prst="rect">
            <a:avLst/>
          </a:prstGeom>
          <a:noFill/>
          <a:ln w="28575" algn="ctr">
            <a:noFill/>
            <a:miter lim="800000"/>
            <a:headEnd/>
            <a:tailEnd/>
          </a:ln>
        </p:spPr>
        <p:txBody>
          <a:bodyPr>
            <a:spAutoFit/>
          </a:bodyPr>
          <a:lstStyle/>
          <a:p>
            <a:pPr algn="ctr">
              <a:spcBef>
                <a:spcPct val="50000"/>
              </a:spcBef>
            </a:pPr>
            <a:r>
              <a:rPr lang="en-GB" altLang="zh-CN">
                <a:solidFill>
                  <a:schemeClr val="tx2"/>
                </a:solidFill>
              </a:rPr>
              <a:t>next</a:t>
            </a:r>
            <a:endParaRPr lang="en-US" altLang="zh-CN">
              <a:solidFill>
                <a:schemeClr val="tx2"/>
              </a:solidFill>
            </a:endParaRPr>
          </a:p>
        </p:txBody>
      </p:sp>
      <p:sp>
        <p:nvSpPr>
          <p:cNvPr id="45077" name="Text Box 18"/>
          <p:cNvSpPr txBox="1">
            <a:spLocks noChangeArrowheads="1"/>
          </p:cNvSpPr>
          <p:nvPr/>
        </p:nvSpPr>
        <p:spPr bwMode="auto">
          <a:xfrm>
            <a:off x="3386138" y="5313363"/>
            <a:ext cx="798512" cy="369332"/>
          </a:xfrm>
          <a:prstGeom prst="rect">
            <a:avLst/>
          </a:prstGeom>
          <a:noFill/>
          <a:ln w="28575" algn="ctr">
            <a:noFill/>
            <a:miter lim="800000"/>
            <a:headEnd/>
            <a:tailEnd/>
          </a:ln>
        </p:spPr>
        <p:txBody>
          <a:bodyPr>
            <a:spAutoFit/>
          </a:bodyPr>
          <a:lstStyle/>
          <a:p>
            <a:pPr algn="ctr">
              <a:spcBef>
                <a:spcPct val="50000"/>
              </a:spcBef>
            </a:pPr>
            <a:r>
              <a:rPr lang="en-GB" altLang="zh-CN">
                <a:solidFill>
                  <a:schemeClr val="tx2"/>
                </a:solidFill>
              </a:rPr>
              <a:t>back</a:t>
            </a:r>
            <a:endParaRPr lang="en-US" altLang="zh-CN">
              <a:solidFill>
                <a:schemeClr val="tx2"/>
              </a:solidFill>
            </a:endParaRPr>
          </a:p>
        </p:txBody>
      </p:sp>
      <p:sp>
        <p:nvSpPr>
          <p:cNvPr id="45078" name="Text Box 19"/>
          <p:cNvSpPr txBox="1">
            <a:spLocks noChangeArrowheads="1"/>
          </p:cNvSpPr>
          <p:nvPr/>
        </p:nvSpPr>
        <p:spPr bwMode="auto">
          <a:xfrm>
            <a:off x="6724650" y="5316538"/>
            <a:ext cx="798513" cy="369332"/>
          </a:xfrm>
          <a:prstGeom prst="rect">
            <a:avLst/>
          </a:prstGeom>
          <a:noFill/>
          <a:ln w="28575" algn="ctr">
            <a:noFill/>
            <a:miter lim="800000"/>
            <a:headEnd/>
            <a:tailEnd/>
          </a:ln>
        </p:spPr>
        <p:txBody>
          <a:bodyPr>
            <a:spAutoFit/>
          </a:bodyPr>
          <a:lstStyle/>
          <a:p>
            <a:pPr algn="ctr">
              <a:spcBef>
                <a:spcPct val="50000"/>
              </a:spcBef>
            </a:pPr>
            <a:r>
              <a:rPr lang="en-GB" altLang="zh-CN">
                <a:solidFill>
                  <a:schemeClr val="tx2"/>
                </a:solidFill>
              </a:rPr>
              <a:t>back</a:t>
            </a:r>
            <a:endParaRPr lang="en-US" altLang="zh-CN">
              <a:solidFill>
                <a:schemeClr val="tx2"/>
              </a:solidFill>
            </a:endParaRPr>
          </a:p>
        </p:txBody>
      </p:sp>
      <p:sp>
        <p:nvSpPr>
          <p:cNvPr id="45079" name="Line 20"/>
          <p:cNvSpPr>
            <a:spLocks noChangeShapeType="1"/>
          </p:cNvSpPr>
          <p:nvPr/>
        </p:nvSpPr>
        <p:spPr bwMode="auto">
          <a:xfrm flipH="1">
            <a:off x="3697288" y="3346450"/>
            <a:ext cx="9525" cy="808038"/>
          </a:xfrm>
          <a:prstGeom prst="line">
            <a:avLst/>
          </a:prstGeom>
          <a:noFill/>
          <a:ln w="28575">
            <a:solidFill>
              <a:schemeClr val="accent2"/>
            </a:solidFill>
            <a:round/>
            <a:headEnd/>
            <a:tailEnd type="arrow" w="med" len="med"/>
          </a:ln>
        </p:spPr>
        <p:txBody>
          <a:bodyPr anchor="ctr">
            <a:spAutoFit/>
          </a:bodyPr>
          <a:lstStyle/>
          <a:p>
            <a:endParaRPr lang="en-US"/>
          </a:p>
        </p:txBody>
      </p:sp>
      <p:sp>
        <p:nvSpPr>
          <p:cNvPr id="45080" name="Line 21"/>
          <p:cNvSpPr>
            <a:spLocks noChangeShapeType="1"/>
          </p:cNvSpPr>
          <p:nvPr/>
        </p:nvSpPr>
        <p:spPr bwMode="auto">
          <a:xfrm flipV="1">
            <a:off x="4960938" y="3375025"/>
            <a:ext cx="9525" cy="769938"/>
          </a:xfrm>
          <a:prstGeom prst="line">
            <a:avLst/>
          </a:prstGeom>
          <a:noFill/>
          <a:ln w="28575">
            <a:solidFill>
              <a:schemeClr val="accent2"/>
            </a:solidFill>
            <a:round/>
            <a:headEnd/>
            <a:tailEnd type="arrow" w="med" len="med"/>
          </a:ln>
        </p:spPr>
        <p:txBody>
          <a:bodyPr anchor="ctr">
            <a:spAutoFit/>
          </a:bodyPr>
          <a:lstStyle/>
          <a:p>
            <a:endParaRPr lang="en-US"/>
          </a:p>
        </p:txBody>
      </p:sp>
      <p:sp>
        <p:nvSpPr>
          <p:cNvPr id="45081" name="Freeform 22"/>
          <p:cNvSpPr>
            <a:spLocks/>
          </p:cNvSpPr>
          <p:nvPr/>
        </p:nvSpPr>
        <p:spPr bwMode="auto">
          <a:xfrm>
            <a:off x="5340350" y="2976563"/>
            <a:ext cx="2840038" cy="1878012"/>
          </a:xfrm>
          <a:custGeom>
            <a:avLst/>
            <a:gdLst>
              <a:gd name="T0" fmla="*/ 2840038 w 1789"/>
              <a:gd name="T1" fmla="*/ 1878012 h 1183"/>
              <a:gd name="T2" fmla="*/ 2840038 w 1789"/>
              <a:gd name="T3" fmla="*/ 0 h 1183"/>
              <a:gd name="T4" fmla="*/ 0 w 1789"/>
              <a:gd name="T5" fmla="*/ 0 h 1183"/>
              <a:gd name="T6" fmla="*/ 0 60000 65536"/>
              <a:gd name="T7" fmla="*/ 0 60000 65536"/>
              <a:gd name="T8" fmla="*/ 0 60000 65536"/>
              <a:gd name="T9" fmla="*/ 0 w 1789"/>
              <a:gd name="T10" fmla="*/ 0 h 1183"/>
              <a:gd name="T11" fmla="*/ 1789 w 1789"/>
              <a:gd name="T12" fmla="*/ 1183 h 1183"/>
            </a:gdLst>
            <a:ahLst/>
            <a:cxnLst>
              <a:cxn ang="T6">
                <a:pos x="T0" y="T1"/>
              </a:cxn>
              <a:cxn ang="T7">
                <a:pos x="T2" y="T3"/>
              </a:cxn>
              <a:cxn ang="T8">
                <a:pos x="T4" y="T5"/>
              </a:cxn>
            </a:cxnLst>
            <a:rect l="T9" t="T10" r="T11" b="T12"/>
            <a:pathLst>
              <a:path w="1789" h="1183">
                <a:moveTo>
                  <a:pt x="1789" y="1183"/>
                </a:moveTo>
                <a:lnTo>
                  <a:pt x="1789" y="0"/>
                </a:lnTo>
                <a:lnTo>
                  <a:pt x="0" y="0"/>
                </a:lnTo>
              </a:path>
            </a:pathLst>
          </a:custGeom>
          <a:noFill/>
          <a:ln w="28575" cap="flat" cmpd="sng">
            <a:solidFill>
              <a:schemeClr val="accent2"/>
            </a:solidFill>
            <a:prstDash val="solid"/>
            <a:round/>
            <a:headEnd type="none" w="med" len="med"/>
            <a:tailEnd type="arrow" w="med" len="med"/>
          </a:ln>
        </p:spPr>
        <p:txBody>
          <a:bodyPr wrap="none" anchor="ctr">
            <a:spAutoFit/>
          </a:bodyPr>
          <a:lstStyle/>
          <a:p>
            <a:endParaRPr lang="en-US"/>
          </a:p>
        </p:txBody>
      </p:sp>
      <p:sp>
        <p:nvSpPr>
          <p:cNvPr id="45082" name="Text Box 23"/>
          <p:cNvSpPr txBox="1">
            <a:spLocks noChangeArrowheads="1"/>
          </p:cNvSpPr>
          <p:nvPr/>
        </p:nvSpPr>
        <p:spPr bwMode="auto">
          <a:xfrm>
            <a:off x="2930525" y="3398838"/>
            <a:ext cx="798513" cy="369332"/>
          </a:xfrm>
          <a:prstGeom prst="rect">
            <a:avLst/>
          </a:prstGeom>
          <a:noFill/>
          <a:ln w="28575" algn="ctr">
            <a:noFill/>
            <a:miter lim="800000"/>
            <a:headEnd/>
            <a:tailEnd/>
          </a:ln>
        </p:spPr>
        <p:txBody>
          <a:bodyPr>
            <a:spAutoFit/>
          </a:bodyPr>
          <a:lstStyle/>
          <a:p>
            <a:pPr algn="ctr">
              <a:spcBef>
                <a:spcPct val="50000"/>
              </a:spcBef>
            </a:pPr>
            <a:r>
              <a:rPr lang="en-GB" altLang="zh-CN">
                <a:solidFill>
                  <a:schemeClr val="tx2"/>
                </a:solidFill>
              </a:rPr>
              <a:t>new</a:t>
            </a:r>
            <a:endParaRPr lang="en-US" altLang="zh-CN">
              <a:solidFill>
                <a:schemeClr val="tx2"/>
              </a:solidFill>
            </a:endParaRPr>
          </a:p>
        </p:txBody>
      </p:sp>
      <p:sp>
        <p:nvSpPr>
          <p:cNvPr id="45083" name="Text Box 24"/>
          <p:cNvSpPr txBox="1">
            <a:spLocks noChangeArrowheads="1"/>
          </p:cNvSpPr>
          <p:nvPr/>
        </p:nvSpPr>
        <p:spPr bwMode="auto">
          <a:xfrm>
            <a:off x="4973638" y="3632200"/>
            <a:ext cx="982662" cy="369332"/>
          </a:xfrm>
          <a:prstGeom prst="rect">
            <a:avLst/>
          </a:prstGeom>
          <a:noFill/>
          <a:ln w="28575" algn="ctr">
            <a:noFill/>
            <a:miter lim="800000"/>
            <a:headEnd/>
            <a:tailEnd/>
          </a:ln>
        </p:spPr>
        <p:txBody>
          <a:bodyPr>
            <a:spAutoFit/>
          </a:bodyPr>
          <a:lstStyle/>
          <a:p>
            <a:pPr algn="ctr">
              <a:spcBef>
                <a:spcPct val="50000"/>
              </a:spcBef>
            </a:pPr>
            <a:r>
              <a:rPr lang="en-GB" altLang="zh-CN">
                <a:solidFill>
                  <a:schemeClr val="tx2"/>
                </a:solidFill>
              </a:rPr>
              <a:t>cancel</a:t>
            </a:r>
            <a:endParaRPr lang="en-US" altLang="zh-CN">
              <a:solidFill>
                <a:schemeClr val="tx2"/>
              </a:solidFill>
            </a:endParaRPr>
          </a:p>
        </p:txBody>
      </p:sp>
      <p:sp>
        <p:nvSpPr>
          <p:cNvPr id="45084" name="Text Box 25"/>
          <p:cNvSpPr txBox="1">
            <a:spLocks noChangeArrowheads="1"/>
          </p:cNvSpPr>
          <p:nvPr/>
        </p:nvSpPr>
        <p:spPr bwMode="auto">
          <a:xfrm>
            <a:off x="7337425" y="3544888"/>
            <a:ext cx="798513" cy="369332"/>
          </a:xfrm>
          <a:prstGeom prst="rect">
            <a:avLst/>
          </a:prstGeom>
          <a:noFill/>
          <a:ln w="28575" algn="ctr">
            <a:noFill/>
            <a:miter lim="800000"/>
            <a:headEnd/>
            <a:tailEnd/>
          </a:ln>
        </p:spPr>
        <p:txBody>
          <a:bodyPr>
            <a:spAutoFit/>
          </a:bodyPr>
          <a:lstStyle/>
          <a:p>
            <a:pPr algn="ctr">
              <a:spcBef>
                <a:spcPct val="50000"/>
              </a:spcBef>
            </a:pPr>
            <a:r>
              <a:rPr lang="en-GB" altLang="zh-CN">
                <a:solidFill>
                  <a:schemeClr val="tx2"/>
                </a:solidFill>
              </a:rPr>
              <a:t>save</a:t>
            </a:r>
            <a:endParaRPr lang="en-US" altLang="zh-CN">
              <a:solidFill>
                <a:schemeClr val="tx2"/>
              </a:solidFill>
            </a:endParaRPr>
          </a:p>
        </p:txBody>
      </p:sp>
      <p:sp>
        <p:nvSpPr>
          <p:cNvPr id="45085" name="AutoShape 26"/>
          <p:cNvSpPr>
            <a:spLocks/>
          </p:cNvSpPr>
          <p:nvPr/>
        </p:nvSpPr>
        <p:spPr bwMode="auto">
          <a:xfrm>
            <a:off x="442913" y="2765425"/>
            <a:ext cx="1771650" cy="465138"/>
          </a:xfrm>
          <a:prstGeom prst="borderCallout2">
            <a:avLst>
              <a:gd name="adj1" fmla="val 24574"/>
              <a:gd name="adj2" fmla="val 104301"/>
              <a:gd name="adj3" fmla="val 24574"/>
              <a:gd name="adj4" fmla="val 128676"/>
              <a:gd name="adj5" fmla="val 322185"/>
              <a:gd name="adj6" fmla="val 149282"/>
            </a:avLst>
          </a:prstGeom>
          <a:noFill/>
          <a:ln w="28575" algn="ctr">
            <a:solidFill>
              <a:srgbClr val="A50021"/>
            </a:solidFill>
            <a:miter lim="800000"/>
            <a:headEnd/>
            <a:tailEnd/>
          </a:ln>
        </p:spPr>
        <p:txBody>
          <a:bodyPr anchor="ctr"/>
          <a:lstStyle/>
          <a:p>
            <a:r>
              <a:rPr lang="en-GB" altLang="zh-CN" i="1">
                <a:solidFill>
                  <a:srgbClr val="A50021"/>
                </a:solidFill>
              </a:rPr>
              <a:t>Superstate</a:t>
            </a:r>
            <a:endParaRPr lang="en-US" altLang="zh-CN" i="1">
              <a:solidFill>
                <a:srgbClr val="A50021"/>
              </a:solidFill>
            </a:endParaRPr>
          </a:p>
        </p:txBody>
      </p:sp>
      <p:sp>
        <p:nvSpPr>
          <p:cNvPr id="45086" name="AutoShape 27"/>
          <p:cNvSpPr>
            <a:spLocks/>
          </p:cNvSpPr>
          <p:nvPr/>
        </p:nvSpPr>
        <p:spPr bwMode="auto">
          <a:xfrm>
            <a:off x="455613" y="3576638"/>
            <a:ext cx="1450975" cy="465137"/>
          </a:xfrm>
          <a:prstGeom prst="borderCallout2">
            <a:avLst>
              <a:gd name="adj1" fmla="val 24574"/>
              <a:gd name="adj2" fmla="val 105250"/>
              <a:gd name="adj3" fmla="val 24574"/>
              <a:gd name="adj4" fmla="val 132495"/>
              <a:gd name="adj5" fmla="val 292148"/>
              <a:gd name="adj6" fmla="val 149343"/>
            </a:avLst>
          </a:prstGeom>
          <a:noFill/>
          <a:ln w="28575" algn="ctr">
            <a:solidFill>
              <a:srgbClr val="A50021"/>
            </a:solidFill>
            <a:miter lim="800000"/>
            <a:headEnd/>
            <a:tailEnd/>
          </a:ln>
        </p:spPr>
        <p:txBody>
          <a:bodyPr anchor="ctr"/>
          <a:lstStyle/>
          <a:p>
            <a:r>
              <a:rPr lang="en-GB" altLang="zh-CN" i="1">
                <a:solidFill>
                  <a:srgbClr val="A50021"/>
                </a:solidFill>
              </a:rPr>
              <a:t>Substate</a:t>
            </a:r>
            <a:endParaRPr lang="en-US" altLang="zh-CN" i="1">
              <a:solidFill>
                <a:srgbClr val="A50021"/>
              </a:solidFill>
            </a:endParaRPr>
          </a:p>
        </p:txBody>
      </p:sp>
    </p:spTree>
    <p:extLst>
      <p:ext uri="{BB962C8B-B14F-4D97-AF65-F5344CB8AC3E}">
        <p14:creationId xmlns:p14="http://schemas.microsoft.com/office/powerpoint/2010/main" val="21220165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Slide Number Placeholder 4"/>
          <p:cNvSpPr>
            <a:spLocks noGrp="1"/>
          </p:cNvSpPr>
          <p:nvPr>
            <p:ph type="sldNum" sz="quarter" idx="11"/>
          </p:nvPr>
        </p:nvSpPr>
        <p:spPr bwMode="auto">
          <a:xfrm>
            <a:off x="8421688" y="6346825"/>
            <a:ext cx="523875"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lnSpc>
                <a:spcPct val="100000"/>
              </a:lnSpc>
              <a:spcBef>
                <a:spcPct val="0"/>
              </a:spcBef>
              <a:spcAft>
                <a:spcPct val="0"/>
              </a:spcAft>
              <a:defRPr sz="1400" b="1" kern="1200">
                <a:solidFill>
                  <a:srgbClr val="FFFFFF"/>
                </a:solidFill>
                <a:latin typeface="Arial" charset="0"/>
                <a:ea typeface="SimSun" pitchFamily="2" charset="-122"/>
                <a:cs typeface="+mn-cs"/>
              </a:defRPr>
            </a:lvl1pPr>
            <a:lvl2pPr marL="4572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2pPr>
            <a:lvl3pPr marL="9144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3pPr>
            <a:lvl4pPr marL="13716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4pPr>
            <a:lvl5pPr marL="1828800" algn="ctr" rtl="0" eaLnBrk="0" fontAlgn="base" hangingPunct="0">
              <a:lnSpc>
                <a:spcPct val="80000"/>
              </a:lnSpc>
              <a:spcBef>
                <a:spcPct val="0"/>
              </a:spcBef>
              <a:spcAft>
                <a:spcPct val="0"/>
              </a:spcAft>
              <a:defRPr sz="2400" kern="1200">
                <a:solidFill>
                  <a:schemeClr val="tx1"/>
                </a:solidFill>
                <a:latin typeface="Times" charset="0"/>
                <a:ea typeface="SimSun" pitchFamily="2" charset="-122"/>
                <a:cs typeface="+mn-cs"/>
              </a:defRPr>
            </a:lvl5pPr>
            <a:lvl6pPr marL="2286000" algn="l" defTabSz="914400" rtl="0" eaLnBrk="1" latinLnBrk="0" hangingPunct="1">
              <a:defRPr sz="2400" kern="1200">
                <a:solidFill>
                  <a:schemeClr val="tx1"/>
                </a:solidFill>
                <a:latin typeface="Times" charset="0"/>
                <a:ea typeface="SimSun" pitchFamily="2" charset="-122"/>
                <a:cs typeface="+mn-cs"/>
              </a:defRPr>
            </a:lvl6pPr>
            <a:lvl7pPr marL="2743200" algn="l" defTabSz="914400" rtl="0" eaLnBrk="1" latinLnBrk="0" hangingPunct="1">
              <a:defRPr sz="2400" kern="1200">
                <a:solidFill>
                  <a:schemeClr val="tx1"/>
                </a:solidFill>
                <a:latin typeface="Times" charset="0"/>
                <a:ea typeface="SimSun" pitchFamily="2" charset="-122"/>
                <a:cs typeface="+mn-cs"/>
              </a:defRPr>
            </a:lvl7pPr>
            <a:lvl8pPr marL="3200400" algn="l" defTabSz="914400" rtl="0" eaLnBrk="1" latinLnBrk="0" hangingPunct="1">
              <a:defRPr sz="2400" kern="1200">
                <a:solidFill>
                  <a:schemeClr val="tx1"/>
                </a:solidFill>
                <a:latin typeface="Times" charset="0"/>
                <a:ea typeface="SimSun" pitchFamily="2" charset="-122"/>
                <a:cs typeface="+mn-cs"/>
              </a:defRPr>
            </a:lvl8pPr>
            <a:lvl9pPr marL="3657600" algn="l" defTabSz="914400" rtl="0" eaLnBrk="1" latinLnBrk="0" hangingPunct="1">
              <a:defRPr sz="2400" kern="1200">
                <a:solidFill>
                  <a:schemeClr val="tx1"/>
                </a:solidFill>
                <a:latin typeface="Times" charset="0"/>
                <a:ea typeface="SimSun" pitchFamily="2" charset="-122"/>
                <a:cs typeface="+mn-cs"/>
              </a:defRPr>
            </a:lvl9pPr>
          </a:lstStyle>
          <a:p>
            <a:pPr>
              <a:defRPr/>
            </a:pPr>
            <a:fld id="{9CD2D1F8-E0C2-435D-9B98-161DE033B3E1}" type="slidenum">
              <a:rPr lang="en-US" altLang="en-US" smtClean="0">
                <a:solidFill>
                  <a:schemeClr val="tx1"/>
                </a:solidFill>
              </a:rPr>
              <a:pPr>
                <a:defRPr/>
              </a:pPr>
              <a:t>55</a:t>
            </a:fld>
            <a:endParaRPr lang="en-US" altLang="en-US">
              <a:solidFill>
                <a:schemeClr val="tx1"/>
              </a:solidFill>
            </a:endParaRPr>
          </a:p>
        </p:txBody>
      </p:sp>
      <p:sp>
        <p:nvSpPr>
          <p:cNvPr id="46085" name="Rectangle 2"/>
          <p:cNvSpPr>
            <a:spLocks noGrp="1" noChangeArrowheads="1"/>
          </p:cNvSpPr>
          <p:nvPr>
            <p:ph type="title"/>
          </p:nvPr>
        </p:nvSpPr>
        <p:spPr/>
        <p:txBody>
          <a:bodyPr>
            <a:normAutofit/>
          </a:bodyPr>
          <a:lstStyle/>
          <a:p>
            <a:r>
              <a:rPr lang="en-GB" altLang="zh-CN" sz="3600" dirty="0">
                <a:ea typeface="SimSun" pitchFamily="2" charset="-122"/>
              </a:rPr>
              <a:t>Concurrent States</a:t>
            </a:r>
            <a:endParaRPr lang="en-US" altLang="zh-CN" sz="3600" dirty="0">
              <a:ea typeface="SimSun" pitchFamily="2" charset="-122"/>
            </a:endParaRPr>
          </a:p>
        </p:txBody>
      </p:sp>
      <p:sp>
        <p:nvSpPr>
          <p:cNvPr id="46086" name="Rectangle 3"/>
          <p:cNvSpPr>
            <a:spLocks noGrp="1" noChangeArrowheads="1"/>
          </p:cNvSpPr>
          <p:nvPr>
            <p:ph type="body" idx="1"/>
          </p:nvPr>
        </p:nvSpPr>
        <p:spPr>
          <a:xfrm>
            <a:off x="490538" y="933450"/>
            <a:ext cx="8488362" cy="844550"/>
          </a:xfrm>
        </p:spPr>
        <p:txBody>
          <a:bodyPr/>
          <a:lstStyle/>
          <a:p>
            <a:pPr>
              <a:lnSpc>
                <a:spcPct val="80000"/>
              </a:lnSpc>
            </a:pPr>
            <a:r>
              <a:rPr lang="en-GB" altLang="zh-CN" sz="2800">
                <a:ea typeface="SimSun" pitchFamily="2" charset="-122"/>
              </a:rPr>
              <a:t>States can be broken into several orthogonal state diagrams that run concurrently. </a:t>
            </a:r>
            <a:endParaRPr lang="en-US" altLang="zh-CN" sz="2800">
              <a:ea typeface="SimSun" pitchFamily="2" charset="-122"/>
            </a:endParaRPr>
          </a:p>
        </p:txBody>
      </p:sp>
      <p:sp>
        <p:nvSpPr>
          <p:cNvPr id="46087" name="AutoShape 4"/>
          <p:cNvSpPr>
            <a:spLocks noChangeArrowheads="1"/>
          </p:cNvSpPr>
          <p:nvPr/>
        </p:nvSpPr>
        <p:spPr bwMode="auto">
          <a:xfrm>
            <a:off x="3036888" y="1858248"/>
            <a:ext cx="5854700" cy="3230404"/>
          </a:xfrm>
          <a:prstGeom prst="roundRect">
            <a:avLst>
              <a:gd name="adj" fmla="val 5829"/>
            </a:avLst>
          </a:prstGeom>
          <a:solidFill>
            <a:srgbClr val="FFFF00"/>
          </a:solidFill>
          <a:ln w="28575" algn="ctr">
            <a:solidFill>
              <a:schemeClr val="accent2"/>
            </a:solidFill>
            <a:round/>
            <a:headEnd/>
            <a:tailEnd/>
          </a:ln>
        </p:spPr>
        <p:txBody>
          <a:bodyPr anchor="ctr">
            <a:spAutoFit/>
          </a:bodyPr>
          <a:lstStyle/>
          <a:p>
            <a:pPr algn="ctr"/>
            <a:r>
              <a:rPr lang="en-GB" altLang="zh-CN" dirty="0">
                <a:solidFill>
                  <a:schemeClr val="tx2"/>
                </a:solidFill>
              </a:rPr>
              <a:t>On</a:t>
            </a:r>
            <a:r>
              <a:rPr lang="en-GB" altLang="zh-CN" dirty="0"/>
              <a:t> </a:t>
            </a:r>
          </a:p>
          <a:p>
            <a:endParaRPr lang="en-GB" altLang="zh-CN" dirty="0"/>
          </a:p>
          <a:p>
            <a:endParaRPr lang="en-GB" altLang="zh-CN" dirty="0"/>
          </a:p>
          <a:p>
            <a:endParaRPr lang="en-GB" altLang="zh-CN" dirty="0"/>
          </a:p>
          <a:p>
            <a:endParaRPr lang="en-GB" altLang="zh-CN" dirty="0"/>
          </a:p>
          <a:p>
            <a:endParaRPr lang="en-GB" altLang="zh-CN" dirty="0"/>
          </a:p>
          <a:p>
            <a:endParaRPr lang="en-GB" altLang="zh-CN" dirty="0"/>
          </a:p>
          <a:p>
            <a:endParaRPr lang="en-GB" altLang="zh-CN" dirty="0"/>
          </a:p>
          <a:p>
            <a:endParaRPr lang="en-GB" altLang="zh-CN" dirty="0"/>
          </a:p>
          <a:p>
            <a:endParaRPr lang="en-GB" altLang="zh-CN" dirty="0"/>
          </a:p>
          <a:p>
            <a:endParaRPr lang="en-US" altLang="zh-CN" dirty="0"/>
          </a:p>
        </p:txBody>
      </p:sp>
      <p:sp>
        <p:nvSpPr>
          <p:cNvPr id="46088" name="Line 5"/>
          <p:cNvSpPr>
            <a:spLocks noChangeShapeType="1"/>
          </p:cNvSpPr>
          <p:nvPr/>
        </p:nvSpPr>
        <p:spPr bwMode="auto">
          <a:xfrm>
            <a:off x="3024188" y="2212975"/>
            <a:ext cx="5865812" cy="9525"/>
          </a:xfrm>
          <a:prstGeom prst="line">
            <a:avLst/>
          </a:prstGeom>
          <a:noFill/>
          <a:ln w="28575">
            <a:solidFill>
              <a:schemeClr val="accent2"/>
            </a:solidFill>
            <a:round/>
            <a:headEnd/>
            <a:tailEnd/>
          </a:ln>
        </p:spPr>
        <p:txBody>
          <a:bodyPr wrap="none" anchor="ctr">
            <a:spAutoFit/>
          </a:bodyPr>
          <a:lstStyle/>
          <a:p>
            <a:endParaRPr lang="en-US"/>
          </a:p>
        </p:txBody>
      </p:sp>
      <p:sp>
        <p:nvSpPr>
          <p:cNvPr id="46089" name="AutoShape 6"/>
          <p:cNvSpPr>
            <a:spLocks noChangeArrowheads="1"/>
          </p:cNvSpPr>
          <p:nvPr/>
        </p:nvSpPr>
        <p:spPr bwMode="auto">
          <a:xfrm>
            <a:off x="3940175" y="2441218"/>
            <a:ext cx="1965325" cy="715089"/>
          </a:xfrm>
          <a:prstGeom prst="roundRect">
            <a:avLst>
              <a:gd name="adj" fmla="val 16667"/>
            </a:avLst>
          </a:prstGeom>
          <a:solidFill>
            <a:srgbClr val="EEFAB9"/>
          </a:solidFill>
          <a:ln w="28575" algn="ctr">
            <a:solidFill>
              <a:schemeClr val="accent2"/>
            </a:solidFill>
            <a:round/>
            <a:headEnd/>
            <a:tailEnd/>
          </a:ln>
        </p:spPr>
        <p:txBody>
          <a:bodyPr anchor="ctr">
            <a:spAutoFit/>
          </a:bodyPr>
          <a:lstStyle/>
          <a:p>
            <a:pPr algn="ctr"/>
            <a:r>
              <a:rPr lang="en-GB" altLang="zh-CN">
                <a:solidFill>
                  <a:schemeClr val="tx2"/>
                </a:solidFill>
              </a:rPr>
              <a:t>Display Current Time</a:t>
            </a:r>
            <a:endParaRPr lang="en-US" altLang="zh-CN">
              <a:solidFill>
                <a:schemeClr val="tx2"/>
              </a:solidFill>
            </a:endParaRPr>
          </a:p>
        </p:txBody>
      </p:sp>
      <p:sp>
        <p:nvSpPr>
          <p:cNvPr id="46090" name="AutoShape 7"/>
          <p:cNvSpPr>
            <a:spLocks noChangeArrowheads="1"/>
          </p:cNvSpPr>
          <p:nvPr/>
        </p:nvSpPr>
        <p:spPr bwMode="auto">
          <a:xfrm>
            <a:off x="6188075" y="2452330"/>
            <a:ext cx="1965325" cy="715089"/>
          </a:xfrm>
          <a:prstGeom prst="roundRect">
            <a:avLst>
              <a:gd name="adj" fmla="val 16667"/>
            </a:avLst>
          </a:prstGeom>
          <a:solidFill>
            <a:srgbClr val="EEFAB9"/>
          </a:solidFill>
          <a:ln w="28575" algn="ctr">
            <a:solidFill>
              <a:schemeClr val="accent2"/>
            </a:solidFill>
            <a:round/>
            <a:headEnd/>
            <a:tailEnd/>
          </a:ln>
        </p:spPr>
        <p:txBody>
          <a:bodyPr anchor="ctr">
            <a:spAutoFit/>
          </a:bodyPr>
          <a:lstStyle/>
          <a:p>
            <a:pPr algn="ctr"/>
            <a:r>
              <a:rPr lang="en-GB" altLang="zh-CN" dirty="0">
                <a:solidFill>
                  <a:schemeClr val="tx2"/>
                </a:solidFill>
              </a:rPr>
              <a:t>Display Alarm Time</a:t>
            </a:r>
            <a:endParaRPr lang="en-US" altLang="zh-CN" dirty="0">
              <a:solidFill>
                <a:schemeClr val="tx2"/>
              </a:solidFill>
            </a:endParaRPr>
          </a:p>
        </p:txBody>
      </p:sp>
      <p:sp>
        <p:nvSpPr>
          <p:cNvPr id="46091" name="Line 8"/>
          <p:cNvSpPr>
            <a:spLocks noChangeShapeType="1"/>
          </p:cNvSpPr>
          <p:nvPr/>
        </p:nvSpPr>
        <p:spPr bwMode="auto">
          <a:xfrm>
            <a:off x="3033713" y="2628900"/>
            <a:ext cx="885825" cy="0"/>
          </a:xfrm>
          <a:prstGeom prst="line">
            <a:avLst/>
          </a:prstGeom>
          <a:noFill/>
          <a:ln w="28575">
            <a:solidFill>
              <a:schemeClr val="accent2"/>
            </a:solidFill>
            <a:round/>
            <a:headEnd/>
            <a:tailEnd type="arrow" w="med" len="med"/>
          </a:ln>
        </p:spPr>
        <p:txBody>
          <a:bodyPr wrap="none" anchor="ctr">
            <a:spAutoFit/>
          </a:bodyPr>
          <a:lstStyle/>
          <a:p>
            <a:endParaRPr lang="en-US"/>
          </a:p>
        </p:txBody>
      </p:sp>
      <p:sp>
        <p:nvSpPr>
          <p:cNvPr id="46092" name="Line 9"/>
          <p:cNvSpPr>
            <a:spLocks noChangeShapeType="1"/>
          </p:cNvSpPr>
          <p:nvPr/>
        </p:nvSpPr>
        <p:spPr bwMode="auto">
          <a:xfrm flipH="1">
            <a:off x="8161338" y="2589213"/>
            <a:ext cx="719137" cy="0"/>
          </a:xfrm>
          <a:prstGeom prst="line">
            <a:avLst/>
          </a:prstGeom>
          <a:noFill/>
          <a:ln w="28575">
            <a:solidFill>
              <a:schemeClr val="accent2"/>
            </a:solidFill>
            <a:round/>
            <a:headEnd/>
            <a:tailEnd type="arrow" w="med" len="med"/>
          </a:ln>
        </p:spPr>
        <p:txBody>
          <a:bodyPr wrap="none" anchor="ctr">
            <a:spAutoFit/>
          </a:bodyPr>
          <a:lstStyle/>
          <a:p>
            <a:endParaRPr lang="en-US"/>
          </a:p>
        </p:txBody>
      </p:sp>
      <p:sp>
        <p:nvSpPr>
          <p:cNvPr id="46093" name="Oval 10"/>
          <p:cNvSpPr>
            <a:spLocks noChangeArrowheads="1"/>
          </p:cNvSpPr>
          <p:nvPr/>
        </p:nvSpPr>
        <p:spPr bwMode="auto">
          <a:xfrm>
            <a:off x="3200400" y="2778125"/>
            <a:ext cx="233363" cy="233363"/>
          </a:xfrm>
          <a:prstGeom prst="ellipse">
            <a:avLst/>
          </a:prstGeom>
          <a:solidFill>
            <a:schemeClr val="tx1"/>
          </a:solidFill>
          <a:ln w="28575" algn="ctr">
            <a:solidFill>
              <a:schemeClr val="tx1"/>
            </a:solidFill>
            <a:round/>
            <a:headEnd/>
            <a:tailEnd/>
          </a:ln>
        </p:spPr>
        <p:txBody>
          <a:bodyPr wrap="none" anchor="ctr">
            <a:spAutoFit/>
          </a:bodyPr>
          <a:lstStyle/>
          <a:p>
            <a:endParaRPr lang="en-US"/>
          </a:p>
        </p:txBody>
      </p:sp>
      <p:sp>
        <p:nvSpPr>
          <p:cNvPr id="46094" name="Line 11"/>
          <p:cNvSpPr>
            <a:spLocks noChangeShapeType="1"/>
          </p:cNvSpPr>
          <p:nvPr/>
        </p:nvSpPr>
        <p:spPr bwMode="auto">
          <a:xfrm>
            <a:off x="3443288" y="2892425"/>
            <a:ext cx="466725" cy="0"/>
          </a:xfrm>
          <a:prstGeom prst="line">
            <a:avLst/>
          </a:prstGeom>
          <a:noFill/>
          <a:ln w="28575">
            <a:solidFill>
              <a:schemeClr val="accent2"/>
            </a:solidFill>
            <a:round/>
            <a:headEnd/>
            <a:tailEnd type="arrow" w="med" len="med"/>
          </a:ln>
        </p:spPr>
        <p:txBody>
          <a:bodyPr wrap="none" anchor="ctr">
            <a:spAutoFit/>
          </a:bodyPr>
          <a:lstStyle/>
          <a:p>
            <a:endParaRPr lang="en-US"/>
          </a:p>
        </p:txBody>
      </p:sp>
      <p:sp>
        <p:nvSpPr>
          <p:cNvPr id="46095" name="Line 12"/>
          <p:cNvSpPr>
            <a:spLocks noChangeShapeType="1"/>
          </p:cNvSpPr>
          <p:nvPr/>
        </p:nvSpPr>
        <p:spPr bwMode="auto">
          <a:xfrm>
            <a:off x="3033713" y="3436938"/>
            <a:ext cx="5846762" cy="0"/>
          </a:xfrm>
          <a:prstGeom prst="line">
            <a:avLst/>
          </a:prstGeom>
          <a:noFill/>
          <a:ln w="28575">
            <a:solidFill>
              <a:schemeClr val="accent2"/>
            </a:solidFill>
            <a:prstDash val="dash"/>
            <a:round/>
            <a:headEnd/>
            <a:tailEnd/>
          </a:ln>
        </p:spPr>
        <p:txBody>
          <a:bodyPr wrap="none" anchor="ctr">
            <a:spAutoFit/>
          </a:bodyPr>
          <a:lstStyle/>
          <a:p>
            <a:endParaRPr lang="en-US"/>
          </a:p>
        </p:txBody>
      </p:sp>
      <p:sp>
        <p:nvSpPr>
          <p:cNvPr id="46096" name="AutoShape 13"/>
          <p:cNvSpPr>
            <a:spLocks noChangeArrowheads="1"/>
          </p:cNvSpPr>
          <p:nvPr/>
        </p:nvSpPr>
        <p:spPr bwMode="auto">
          <a:xfrm>
            <a:off x="4073524" y="3786008"/>
            <a:ext cx="1400175" cy="715089"/>
          </a:xfrm>
          <a:prstGeom prst="roundRect">
            <a:avLst>
              <a:gd name="adj" fmla="val 16667"/>
            </a:avLst>
          </a:prstGeom>
          <a:solidFill>
            <a:srgbClr val="EEFAB9"/>
          </a:solidFill>
          <a:ln w="28575" algn="ctr">
            <a:solidFill>
              <a:schemeClr val="accent2"/>
            </a:solidFill>
            <a:round/>
            <a:headEnd/>
            <a:tailEnd/>
          </a:ln>
        </p:spPr>
        <p:txBody>
          <a:bodyPr anchor="ctr">
            <a:spAutoFit/>
          </a:bodyPr>
          <a:lstStyle/>
          <a:p>
            <a:pPr algn="ctr"/>
            <a:r>
              <a:rPr lang="en-GB" altLang="zh-CN" dirty="0">
                <a:solidFill>
                  <a:schemeClr val="tx2"/>
                </a:solidFill>
              </a:rPr>
              <a:t>Playing radio</a:t>
            </a:r>
            <a:endParaRPr lang="en-US" altLang="zh-CN" dirty="0">
              <a:solidFill>
                <a:schemeClr val="tx2"/>
              </a:solidFill>
            </a:endParaRPr>
          </a:p>
        </p:txBody>
      </p:sp>
      <p:sp>
        <p:nvSpPr>
          <p:cNvPr id="46097" name="AutoShape 14"/>
          <p:cNvSpPr>
            <a:spLocks noChangeArrowheads="1"/>
          </p:cNvSpPr>
          <p:nvPr/>
        </p:nvSpPr>
        <p:spPr bwMode="auto">
          <a:xfrm>
            <a:off x="6535177" y="3715005"/>
            <a:ext cx="1400175" cy="715089"/>
          </a:xfrm>
          <a:prstGeom prst="roundRect">
            <a:avLst>
              <a:gd name="adj" fmla="val 16667"/>
            </a:avLst>
          </a:prstGeom>
          <a:solidFill>
            <a:srgbClr val="EEFAB9"/>
          </a:solidFill>
          <a:ln w="28575" algn="ctr">
            <a:solidFill>
              <a:schemeClr val="accent2"/>
            </a:solidFill>
            <a:round/>
            <a:headEnd/>
            <a:tailEnd/>
          </a:ln>
        </p:spPr>
        <p:txBody>
          <a:bodyPr anchor="ctr">
            <a:spAutoFit/>
          </a:bodyPr>
          <a:lstStyle/>
          <a:p>
            <a:pPr algn="ctr"/>
            <a:r>
              <a:rPr lang="en-GB" altLang="zh-CN" dirty="0">
                <a:solidFill>
                  <a:schemeClr val="tx2"/>
                </a:solidFill>
              </a:rPr>
              <a:t>Playing  CD</a:t>
            </a:r>
            <a:endParaRPr lang="en-US" altLang="zh-CN" dirty="0">
              <a:solidFill>
                <a:schemeClr val="tx2"/>
              </a:solidFill>
            </a:endParaRPr>
          </a:p>
        </p:txBody>
      </p:sp>
      <p:sp>
        <p:nvSpPr>
          <p:cNvPr id="46098" name="Line 15"/>
          <p:cNvSpPr>
            <a:spLocks noChangeShapeType="1"/>
          </p:cNvSpPr>
          <p:nvPr/>
        </p:nvSpPr>
        <p:spPr bwMode="auto">
          <a:xfrm flipV="1">
            <a:off x="4831884" y="4476751"/>
            <a:ext cx="0" cy="623887"/>
          </a:xfrm>
          <a:prstGeom prst="line">
            <a:avLst/>
          </a:prstGeom>
          <a:noFill/>
          <a:ln w="28575">
            <a:solidFill>
              <a:schemeClr val="accent2"/>
            </a:solidFill>
            <a:round/>
            <a:headEnd/>
            <a:tailEnd type="arrow" w="med" len="med"/>
          </a:ln>
        </p:spPr>
        <p:txBody>
          <a:bodyPr wrap="none" anchor="ctr">
            <a:spAutoFit/>
          </a:bodyPr>
          <a:lstStyle/>
          <a:p>
            <a:endParaRPr lang="en-US"/>
          </a:p>
        </p:txBody>
      </p:sp>
      <p:sp>
        <p:nvSpPr>
          <p:cNvPr id="46099" name="Line 16"/>
          <p:cNvSpPr>
            <a:spLocks noChangeShapeType="1"/>
          </p:cNvSpPr>
          <p:nvPr/>
        </p:nvSpPr>
        <p:spPr bwMode="auto">
          <a:xfrm flipV="1">
            <a:off x="7257676" y="4439683"/>
            <a:ext cx="0" cy="642937"/>
          </a:xfrm>
          <a:prstGeom prst="line">
            <a:avLst/>
          </a:prstGeom>
          <a:noFill/>
          <a:ln w="28575">
            <a:solidFill>
              <a:schemeClr val="accent2"/>
            </a:solidFill>
            <a:round/>
            <a:headEnd/>
            <a:tailEnd type="arrow" w="med" len="med"/>
          </a:ln>
        </p:spPr>
        <p:txBody>
          <a:bodyPr wrap="none" anchor="ctr">
            <a:spAutoFit/>
          </a:bodyPr>
          <a:lstStyle/>
          <a:p>
            <a:endParaRPr lang="en-US"/>
          </a:p>
        </p:txBody>
      </p:sp>
      <p:sp>
        <p:nvSpPr>
          <p:cNvPr id="46100" name="Text Box 17"/>
          <p:cNvSpPr txBox="1">
            <a:spLocks noChangeArrowheads="1"/>
          </p:cNvSpPr>
          <p:nvPr/>
        </p:nvSpPr>
        <p:spPr bwMode="auto">
          <a:xfrm>
            <a:off x="3092450" y="2289175"/>
            <a:ext cx="730250" cy="369332"/>
          </a:xfrm>
          <a:prstGeom prst="rect">
            <a:avLst/>
          </a:prstGeom>
          <a:noFill/>
          <a:ln w="28575" algn="ctr">
            <a:noFill/>
            <a:miter lim="800000"/>
            <a:headEnd/>
            <a:tailEnd/>
          </a:ln>
        </p:spPr>
        <p:txBody>
          <a:bodyPr>
            <a:spAutoFit/>
          </a:bodyPr>
          <a:lstStyle/>
          <a:p>
            <a:pPr algn="ctr">
              <a:spcBef>
                <a:spcPct val="50000"/>
              </a:spcBef>
            </a:pPr>
            <a:r>
              <a:rPr lang="en-GB" altLang="zh-CN" dirty="0">
                <a:solidFill>
                  <a:schemeClr val="tx2"/>
                </a:solidFill>
              </a:rPr>
              <a:t>time</a:t>
            </a:r>
            <a:endParaRPr lang="en-US" altLang="zh-CN" dirty="0">
              <a:solidFill>
                <a:schemeClr val="tx2"/>
              </a:solidFill>
            </a:endParaRPr>
          </a:p>
        </p:txBody>
      </p:sp>
      <p:sp>
        <p:nvSpPr>
          <p:cNvPr id="46101" name="Text Box 18"/>
          <p:cNvSpPr txBox="1">
            <a:spLocks noChangeArrowheads="1"/>
          </p:cNvSpPr>
          <p:nvPr/>
        </p:nvSpPr>
        <p:spPr bwMode="auto">
          <a:xfrm>
            <a:off x="8075613" y="2212975"/>
            <a:ext cx="885825" cy="369332"/>
          </a:xfrm>
          <a:prstGeom prst="rect">
            <a:avLst/>
          </a:prstGeom>
          <a:noFill/>
          <a:ln w="28575" algn="ctr">
            <a:noFill/>
            <a:miter lim="800000"/>
            <a:headEnd/>
            <a:tailEnd/>
          </a:ln>
        </p:spPr>
        <p:txBody>
          <a:bodyPr>
            <a:spAutoFit/>
          </a:bodyPr>
          <a:lstStyle/>
          <a:p>
            <a:pPr algn="ctr">
              <a:spcBef>
                <a:spcPct val="50000"/>
              </a:spcBef>
            </a:pPr>
            <a:r>
              <a:rPr lang="en-GB" altLang="zh-CN">
                <a:solidFill>
                  <a:schemeClr val="tx2"/>
                </a:solidFill>
              </a:rPr>
              <a:t>alarm</a:t>
            </a:r>
            <a:endParaRPr lang="en-US" altLang="zh-CN">
              <a:solidFill>
                <a:schemeClr val="tx2"/>
              </a:solidFill>
            </a:endParaRPr>
          </a:p>
        </p:txBody>
      </p:sp>
      <p:sp>
        <p:nvSpPr>
          <p:cNvPr id="46102" name="Text Box 19"/>
          <p:cNvSpPr txBox="1">
            <a:spLocks noChangeArrowheads="1"/>
          </p:cNvSpPr>
          <p:nvPr/>
        </p:nvSpPr>
        <p:spPr bwMode="auto">
          <a:xfrm>
            <a:off x="3979863" y="4713288"/>
            <a:ext cx="847725" cy="369332"/>
          </a:xfrm>
          <a:prstGeom prst="rect">
            <a:avLst/>
          </a:prstGeom>
          <a:noFill/>
          <a:ln w="28575" algn="ctr">
            <a:noFill/>
            <a:miter lim="800000"/>
            <a:headEnd/>
            <a:tailEnd/>
          </a:ln>
        </p:spPr>
        <p:txBody>
          <a:bodyPr>
            <a:spAutoFit/>
          </a:bodyPr>
          <a:lstStyle/>
          <a:p>
            <a:pPr algn="ctr">
              <a:spcBef>
                <a:spcPct val="50000"/>
              </a:spcBef>
            </a:pPr>
            <a:r>
              <a:rPr lang="en-GB" altLang="zh-CN">
                <a:solidFill>
                  <a:schemeClr val="tx2"/>
                </a:solidFill>
              </a:rPr>
              <a:t>radio</a:t>
            </a:r>
            <a:endParaRPr lang="en-US" altLang="zh-CN">
              <a:solidFill>
                <a:schemeClr val="tx2"/>
              </a:solidFill>
            </a:endParaRPr>
          </a:p>
        </p:txBody>
      </p:sp>
      <p:sp>
        <p:nvSpPr>
          <p:cNvPr id="46103" name="Text Box 20"/>
          <p:cNvSpPr txBox="1">
            <a:spLocks noChangeArrowheads="1"/>
          </p:cNvSpPr>
          <p:nvPr/>
        </p:nvSpPr>
        <p:spPr bwMode="auto">
          <a:xfrm>
            <a:off x="7267575" y="4703763"/>
            <a:ext cx="730250" cy="369332"/>
          </a:xfrm>
          <a:prstGeom prst="rect">
            <a:avLst/>
          </a:prstGeom>
          <a:noFill/>
          <a:ln w="28575" algn="ctr">
            <a:noFill/>
            <a:miter lim="800000"/>
            <a:headEnd/>
            <a:tailEnd/>
          </a:ln>
        </p:spPr>
        <p:txBody>
          <a:bodyPr>
            <a:spAutoFit/>
          </a:bodyPr>
          <a:lstStyle/>
          <a:p>
            <a:pPr algn="ctr">
              <a:spcBef>
                <a:spcPct val="50000"/>
              </a:spcBef>
            </a:pPr>
            <a:r>
              <a:rPr lang="en-GB" altLang="zh-CN">
                <a:solidFill>
                  <a:schemeClr val="tx2"/>
                </a:solidFill>
              </a:rPr>
              <a:t>CD</a:t>
            </a:r>
            <a:endParaRPr lang="en-US" altLang="zh-CN">
              <a:solidFill>
                <a:schemeClr val="tx2"/>
              </a:solidFill>
            </a:endParaRPr>
          </a:p>
        </p:txBody>
      </p:sp>
      <p:sp>
        <p:nvSpPr>
          <p:cNvPr id="46104" name="AutoShape 21"/>
          <p:cNvSpPr>
            <a:spLocks noChangeArrowheads="1"/>
          </p:cNvSpPr>
          <p:nvPr/>
        </p:nvSpPr>
        <p:spPr bwMode="auto">
          <a:xfrm>
            <a:off x="5272881" y="5566449"/>
            <a:ext cx="1368425" cy="408623"/>
          </a:xfrm>
          <a:prstGeom prst="roundRect">
            <a:avLst>
              <a:gd name="adj" fmla="val 16667"/>
            </a:avLst>
          </a:prstGeom>
          <a:solidFill>
            <a:srgbClr val="FFFF00"/>
          </a:solidFill>
          <a:ln w="28575" algn="ctr">
            <a:solidFill>
              <a:schemeClr val="accent2"/>
            </a:solidFill>
            <a:round/>
            <a:headEnd/>
            <a:tailEnd/>
          </a:ln>
        </p:spPr>
        <p:txBody>
          <a:bodyPr anchor="ctr">
            <a:spAutoFit/>
          </a:bodyPr>
          <a:lstStyle/>
          <a:p>
            <a:pPr algn="ctr"/>
            <a:r>
              <a:rPr lang="en-GB" altLang="zh-CN">
                <a:solidFill>
                  <a:schemeClr val="tx2"/>
                </a:solidFill>
              </a:rPr>
              <a:t>Off</a:t>
            </a:r>
            <a:endParaRPr lang="en-US" altLang="zh-CN">
              <a:solidFill>
                <a:schemeClr val="tx2"/>
              </a:solidFill>
            </a:endParaRPr>
          </a:p>
        </p:txBody>
      </p:sp>
      <p:sp>
        <p:nvSpPr>
          <p:cNvPr id="46105" name="Line 22"/>
          <p:cNvSpPr>
            <a:spLocks noChangeShapeType="1"/>
          </p:cNvSpPr>
          <p:nvPr/>
        </p:nvSpPr>
        <p:spPr bwMode="auto">
          <a:xfrm flipV="1">
            <a:off x="5475380" y="5082620"/>
            <a:ext cx="0" cy="496888"/>
          </a:xfrm>
          <a:prstGeom prst="line">
            <a:avLst/>
          </a:prstGeom>
          <a:noFill/>
          <a:ln w="28575">
            <a:solidFill>
              <a:schemeClr val="accent2"/>
            </a:solidFill>
            <a:round/>
            <a:headEnd/>
            <a:tailEnd type="arrow" w="med" len="med"/>
          </a:ln>
        </p:spPr>
        <p:txBody>
          <a:bodyPr wrap="none" anchor="ctr">
            <a:spAutoFit/>
          </a:bodyPr>
          <a:lstStyle/>
          <a:p>
            <a:endParaRPr lang="en-US"/>
          </a:p>
        </p:txBody>
      </p:sp>
      <p:sp>
        <p:nvSpPr>
          <p:cNvPr id="46106" name="Line 23"/>
          <p:cNvSpPr>
            <a:spLocks noChangeShapeType="1"/>
          </p:cNvSpPr>
          <p:nvPr/>
        </p:nvSpPr>
        <p:spPr bwMode="auto">
          <a:xfrm>
            <a:off x="6445344" y="5082620"/>
            <a:ext cx="0" cy="477838"/>
          </a:xfrm>
          <a:prstGeom prst="line">
            <a:avLst/>
          </a:prstGeom>
          <a:noFill/>
          <a:ln w="28575">
            <a:solidFill>
              <a:schemeClr val="accent2"/>
            </a:solidFill>
            <a:round/>
            <a:headEnd/>
            <a:tailEnd type="arrow" w="med" len="med"/>
          </a:ln>
        </p:spPr>
        <p:txBody>
          <a:bodyPr wrap="none" anchor="ctr">
            <a:spAutoFit/>
          </a:bodyPr>
          <a:lstStyle/>
          <a:p>
            <a:endParaRPr lang="en-US"/>
          </a:p>
        </p:txBody>
      </p:sp>
      <p:sp>
        <p:nvSpPr>
          <p:cNvPr id="46107" name="Text Box 24"/>
          <p:cNvSpPr txBox="1">
            <a:spLocks noChangeArrowheads="1"/>
          </p:cNvSpPr>
          <p:nvPr/>
        </p:nvSpPr>
        <p:spPr bwMode="auto">
          <a:xfrm>
            <a:off x="4933203" y="5136873"/>
            <a:ext cx="546100" cy="369332"/>
          </a:xfrm>
          <a:prstGeom prst="rect">
            <a:avLst/>
          </a:prstGeom>
          <a:noFill/>
          <a:ln w="28575" algn="ctr">
            <a:noFill/>
            <a:miter lim="800000"/>
            <a:headEnd/>
            <a:tailEnd/>
          </a:ln>
        </p:spPr>
        <p:txBody>
          <a:bodyPr>
            <a:spAutoFit/>
          </a:bodyPr>
          <a:lstStyle/>
          <a:p>
            <a:pPr algn="ctr">
              <a:spcBef>
                <a:spcPct val="50000"/>
              </a:spcBef>
            </a:pPr>
            <a:r>
              <a:rPr lang="en-GB" altLang="zh-CN" dirty="0">
                <a:solidFill>
                  <a:schemeClr val="tx2"/>
                </a:solidFill>
              </a:rPr>
              <a:t>on</a:t>
            </a:r>
            <a:endParaRPr lang="en-US" altLang="zh-CN" dirty="0">
              <a:solidFill>
                <a:schemeClr val="tx2"/>
              </a:solidFill>
            </a:endParaRPr>
          </a:p>
        </p:txBody>
      </p:sp>
      <p:sp>
        <p:nvSpPr>
          <p:cNvPr id="46108" name="Text Box 25"/>
          <p:cNvSpPr txBox="1">
            <a:spLocks noChangeArrowheads="1"/>
          </p:cNvSpPr>
          <p:nvPr/>
        </p:nvSpPr>
        <p:spPr bwMode="auto">
          <a:xfrm>
            <a:off x="6449266" y="5133816"/>
            <a:ext cx="546100" cy="369332"/>
          </a:xfrm>
          <a:prstGeom prst="rect">
            <a:avLst/>
          </a:prstGeom>
          <a:noFill/>
          <a:ln w="28575" algn="ctr">
            <a:noFill/>
            <a:miter lim="800000"/>
            <a:headEnd/>
            <a:tailEnd/>
          </a:ln>
        </p:spPr>
        <p:txBody>
          <a:bodyPr>
            <a:spAutoFit/>
          </a:bodyPr>
          <a:lstStyle/>
          <a:p>
            <a:pPr algn="ctr">
              <a:spcBef>
                <a:spcPct val="50000"/>
              </a:spcBef>
            </a:pPr>
            <a:r>
              <a:rPr lang="en-GB" altLang="zh-CN" dirty="0">
                <a:solidFill>
                  <a:schemeClr val="tx2"/>
                </a:solidFill>
              </a:rPr>
              <a:t>off</a:t>
            </a:r>
            <a:endParaRPr lang="en-US" altLang="zh-CN" dirty="0">
              <a:solidFill>
                <a:schemeClr val="tx2"/>
              </a:solidFill>
            </a:endParaRPr>
          </a:p>
        </p:txBody>
      </p:sp>
      <p:sp>
        <p:nvSpPr>
          <p:cNvPr id="46109" name="Oval 26"/>
          <p:cNvSpPr>
            <a:spLocks noChangeArrowheads="1"/>
          </p:cNvSpPr>
          <p:nvPr/>
        </p:nvSpPr>
        <p:spPr bwMode="auto">
          <a:xfrm>
            <a:off x="3165475" y="4371062"/>
            <a:ext cx="494104" cy="519351"/>
          </a:xfrm>
          <a:prstGeom prst="ellipse">
            <a:avLst/>
          </a:prstGeom>
          <a:noFill/>
          <a:ln w="28575" algn="ctr">
            <a:solidFill>
              <a:schemeClr val="accent2"/>
            </a:solidFill>
            <a:round/>
            <a:headEnd/>
            <a:tailEnd/>
          </a:ln>
        </p:spPr>
        <p:txBody>
          <a:bodyPr wrap="none" anchor="ctr">
            <a:spAutoFit/>
          </a:bodyPr>
          <a:lstStyle/>
          <a:p>
            <a:pPr algn="ctr"/>
            <a:r>
              <a:rPr lang="en-GB" altLang="zh-CN">
                <a:solidFill>
                  <a:schemeClr val="tx2"/>
                </a:solidFill>
              </a:rPr>
              <a:t>H</a:t>
            </a:r>
            <a:endParaRPr lang="en-US" altLang="zh-CN">
              <a:solidFill>
                <a:schemeClr val="tx2"/>
              </a:solidFill>
            </a:endParaRPr>
          </a:p>
        </p:txBody>
      </p:sp>
      <p:sp>
        <p:nvSpPr>
          <p:cNvPr id="46110" name="Line 27"/>
          <p:cNvSpPr>
            <a:spLocks noChangeShapeType="1"/>
          </p:cNvSpPr>
          <p:nvPr/>
        </p:nvSpPr>
        <p:spPr bwMode="auto">
          <a:xfrm flipV="1">
            <a:off x="3667125" y="4215370"/>
            <a:ext cx="406392" cy="328055"/>
          </a:xfrm>
          <a:prstGeom prst="line">
            <a:avLst/>
          </a:prstGeom>
          <a:noFill/>
          <a:ln w="28575">
            <a:solidFill>
              <a:schemeClr val="accent2"/>
            </a:solidFill>
            <a:round/>
            <a:headEnd/>
            <a:tailEnd type="arrow" w="med" len="med"/>
          </a:ln>
        </p:spPr>
        <p:txBody>
          <a:bodyPr wrap="square" anchor="ctr">
            <a:spAutoFit/>
          </a:bodyPr>
          <a:lstStyle/>
          <a:p>
            <a:endParaRPr lang="en-US"/>
          </a:p>
        </p:txBody>
      </p:sp>
      <p:sp>
        <p:nvSpPr>
          <p:cNvPr id="46111" name="AutoShape 28"/>
          <p:cNvSpPr>
            <a:spLocks/>
          </p:cNvSpPr>
          <p:nvPr/>
        </p:nvSpPr>
        <p:spPr bwMode="auto">
          <a:xfrm>
            <a:off x="527050" y="5243513"/>
            <a:ext cx="1771650" cy="776287"/>
          </a:xfrm>
          <a:prstGeom prst="borderCallout2">
            <a:avLst>
              <a:gd name="adj1" fmla="val 14722"/>
              <a:gd name="adj2" fmla="val 104301"/>
              <a:gd name="adj3" fmla="val 14722"/>
              <a:gd name="adj4" fmla="val 131898"/>
              <a:gd name="adj5" fmla="val -61556"/>
              <a:gd name="adj6" fmla="val 161917"/>
            </a:avLst>
          </a:prstGeom>
          <a:noFill/>
          <a:ln w="28575" algn="ctr">
            <a:solidFill>
              <a:srgbClr val="A50021"/>
            </a:solidFill>
            <a:miter lim="800000"/>
            <a:headEnd/>
            <a:tailEnd/>
          </a:ln>
        </p:spPr>
        <p:txBody>
          <a:bodyPr anchor="ctr"/>
          <a:lstStyle/>
          <a:p>
            <a:pPr algn="ctr"/>
            <a:r>
              <a:rPr lang="en-GB" altLang="zh-CN" i="1" dirty="0">
                <a:solidFill>
                  <a:srgbClr val="A50021"/>
                </a:solidFill>
              </a:rPr>
              <a:t>History </a:t>
            </a:r>
            <a:r>
              <a:rPr lang="en-GB" altLang="zh-CN" i="1" dirty="0" err="1">
                <a:solidFill>
                  <a:srgbClr val="A50021"/>
                </a:solidFill>
              </a:rPr>
              <a:t>pseudostate</a:t>
            </a:r>
            <a:endParaRPr lang="en-US" altLang="zh-CN" i="1" dirty="0">
              <a:solidFill>
                <a:srgbClr val="A50021"/>
              </a:solidFill>
            </a:endParaRPr>
          </a:p>
        </p:txBody>
      </p:sp>
      <p:sp>
        <p:nvSpPr>
          <p:cNvPr id="46112" name="AutoShape 29"/>
          <p:cNvSpPr>
            <a:spLocks/>
          </p:cNvSpPr>
          <p:nvPr/>
        </p:nvSpPr>
        <p:spPr bwMode="auto">
          <a:xfrm>
            <a:off x="490538" y="2454275"/>
            <a:ext cx="1771650" cy="776288"/>
          </a:xfrm>
          <a:prstGeom prst="borderCallout2">
            <a:avLst>
              <a:gd name="adj1" fmla="val 14722"/>
              <a:gd name="adj2" fmla="val 104301"/>
              <a:gd name="adj3" fmla="val 14722"/>
              <a:gd name="adj4" fmla="val 128764"/>
              <a:gd name="adj5" fmla="val 125153"/>
              <a:gd name="adj6" fmla="val 155375"/>
            </a:avLst>
          </a:prstGeom>
          <a:noFill/>
          <a:ln w="28575" algn="ctr">
            <a:solidFill>
              <a:srgbClr val="A50021"/>
            </a:solidFill>
            <a:miter lim="800000"/>
            <a:headEnd/>
            <a:tailEnd/>
          </a:ln>
        </p:spPr>
        <p:txBody>
          <a:bodyPr anchor="ctr"/>
          <a:lstStyle/>
          <a:p>
            <a:pPr algn="ctr"/>
            <a:r>
              <a:rPr lang="en-GB" altLang="zh-CN" i="1" dirty="0">
                <a:solidFill>
                  <a:srgbClr val="A50021"/>
                </a:solidFill>
              </a:rPr>
              <a:t>Concurrent boundary</a:t>
            </a:r>
            <a:endParaRPr lang="en-US" altLang="zh-CN" i="1" dirty="0">
              <a:solidFill>
                <a:srgbClr val="A50021"/>
              </a:solidFill>
            </a:endParaRPr>
          </a:p>
        </p:txBody>
      </p:sp>
    </p:spTree>
    <p:extLst>
      <p:ext uri="{BB962C8B-B14F-4D97-AF65-F5344CB8AC3E}">
        <p14:creationId xmlns:p14="http://schemas.microsoft.com/office/powerpoint/2010/main" val="34130676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Guide to Study</a:t>
            </a:r>
            <a:endParaRPr lang="en-US" sz="3600" dirty="0"/>
          </a:p>
        </p:txBody>
      </p:sp>
      <p:sp>
        <p:nvSpPr>
          <p:cNvPr id="3" name="Content Placeholder 2"/>
          <p:cNvSpPr>
            <a:spLocks noGrp="1"/>
          </p:cNvSpPr>
          <p:nvPr>
            <p:ph idx="1"/>
          </p:nvPr>
        </p:nvSpPr>
        <p:spPr/>
        <p:txBody>
          <a:bodyPr/>
          <a:lstStyle/>
          <a:p>
            <a:r>
              <a:rPr lang="en-US" altLang="zh-CN" sz="2800" dirty="0"/>
              <a:t>Further Readings</a:t>
            </a:r>
            <a:endParaRPr lang="en-GB" sz="2800" dirty="0"/>
          </a:p>
          <a:p>
            <a:pPr marL="627063" lvl="1" indent="-355600"/>
            <a:r>
              <a:rPr lang="en-GB" sz="2400" dirty="0"/>
              <a:t>Alan Dennis, Barbara Haley Wixom, and David </a:t>
            </a:r>
            <a:r>
              <a:rPr lang="en-GB" sz="2400" dirty="0" err="1"/>
              <a:t>Tegarden</a:t>
            </a:r>
            <a:r>
              <a:rPr lang="en-GB" sz="2400" dirty="0"/>
              <a:t>, </a:t>
            </a:r>
            <a:r>
              <a:rPr lang="en-GB" sz="2400" b="1" dirty="0"/>
              <a:t>Systems Analysis and Design with UML: An Object-Oriented Approach</a:t>
            </a:r>
            <a:r>
              <a:rPr lang="en-GB" sz="2400" dirty="0"/>
              <a:t>, 3</a:t>
            </a:r>
            <a:r>
              <a:rPr lang="en-GB" sz="2400" baseline="30000" dirty="0"/>
              <a:t>rd</a:t>
            </a:r>
            <a:r>
              <a:rPr lang="en-GB" sz="2400" dirty="0"/>
              <a:t> Edition, Wiley, 2010 </a:t>
            </a:r>
          </a:p>
          <a:p>
            <a:pPr marL="893763" lvl="2" indent="-355600"/>
            <a:r>
              <a:rPr lang="en-GB" sz="2400" dirty="0"/>
              <a:t>Chapter 6, pp207~237</a:t>
            </a:r>
          </a:p>
          <a:p>
            <a:pPr marL="893763" lvl="2" indent="-355600"/>
            <a:r>
              <a:rPr lang="en-GB" sz="2400" dirty="0"/>
              <a:t>Chapter 7, pp238-268</a:t>
            </a:r>
          </a:p>
          <a:p>
            <a:pPr marL="627063" lvl="1" indent="-355600"/>
            <a:r>
              <a:rPr lang="en-GB" sz="2400" dirty="0"/>
              <a:t>Martin Fowler, </a:t>
            </a:r>
            <a:r>
              <a:rPr lang="en-GB" sz="2400" b="1" dirty="0"/>
              <a:t>UML Distilled </a:t>
            </a:r>
            <a:r>
              <a:rPr lang="en-GB" sz="2400" dirty="0"/>
              <a:t>(3</a:t>
            </a:r>
            <a:r>
              <a:rPr lang="en-GB" sz="2400" baseline="30000" dirty="0"/>
              <a:t>rd</a:t>
            </a:r>
            <a:r>
              <a:rPr lang="en-GB" sz="2400" dirty="0"/>
              <a:t> Edition), Addison-Wesley, 2004. </a:t>
            </a:r>
          </a:p>
          <a:p>
            <a:pPr marL="893763" lvl="2" indent="-355600"/>
            <a:r>
              <a:rPr lang="en-GB" sz="2400" dirty="0"/>
              <a:t>Chapter 4: Sequence Diagrams, pp53-64, </a:t>
            </a:r>
          </a:p>
          <a:p>
            <a:pPr marL="893763" lvl="2" indent="-355600"/>
            <a:r>
              <a:rPr lang="en-GB" sz="2400" dirty="0"/>
              <a:t>Chapter 10: State Machine Diagrams, pp109-116</a:t>
            </a:r>
          </a:p>
          <a:p>
            <a:pPr marL="627063" lvl="1" indent="-355600"/>
            <a:r>
              <a:rPr lang="en-GB" sz="2400" dirty="0" err="1"/>
              <a:t>Bhuvan</a:t>
            </a:r>
            <a:r>
              <a:rPr lang="en-GB" sz="2400" dirty="0"/>
              <a:t> </a:t>
            </a:r>
            <a:r>
              <a:rPr lang="en-GB" sz="2400" dirty="0" err="1"/>
              <a:t>Unhelkar</a:t>
            </a:r>
            <a:r>
              <a:rPr lang="en-GB" sz="2400" dirty="0"/>
              <a:t>, </a:t>
            </a:r>
            <a:r>
              <a:rPr lang="en-GB" sz="2400" b="1" dirty="0"/>
              <a:t>Software Engineering with UML</a:t>
            </a:r>
            <a:r>
              <a:rPr lang="en-GB" sz="2400" dirty="0"/>
              <a:t>, Taylor &amp; Francis, 2017</a:t>
            </a:r>
          </a:p>
          <a:p>
            <a:pPr marL="627063" lvl="1" indent="-355600"/>
            <a:r>
              <a:rPr lang="en-GB" sz="2400" dirty="0"/>
              <a:t>Kevin </a:t>
            </a:r>
            <a:r>
              <a:rPr lang="en-GB" sz="2400" dirty="0" err="1"/>
              <a:t>Lano</a:t>
            </a:r>
            <a:r>
              <a:rPr lang="en-GB" sz="2400" dirty="0"/>
              <a:t>, </a:t>
            </a:r>
            <a:r>
              <a:rPr lang="en-GB" sz="2400" b="1" dirty="0"/>
              <a:t>Model-Driven Software Development with UML and Java</a:t>
            </a:r>
            <a:r>
              <a:rPr lang="en-GB" sz="2400" dirty="0"/>
              <a:t>, Cengage Learning </a:t>
            </a:r>
            <a:r>
              <a:rPr lang="en-GB" sz="2400" dirty="0" err="1"/>
              <a:t>Emea</a:t>
            </a:r>
            <a:r>
              <a:rPr lang="en-GB" dirty="0"/>
              <a:t>, </a:t>
            </a:r>
            <a:r>
              <a:rPr lang="en-GB" sz="2400" dirty="0"/>
              <a:t>2009</a:t>
            </a:r>
            <a:endParaRPr lang="en-GB" sz="2400" b="1" dirty="0"/>
          </a:p>
          <a:p>
            <a:pPr marL="627063" lvl="1" indent="-355600"/>
            <a:endParaRPr lang="en-US" sz="2400" dirty="0"/>
          </a:p>
        </p:txBody>
      </p:sp>
      <p:sp>
        <p:nvSpPr>
          <p:cNvPr id="6" name="Slide Number Placeholder 5">
            <a:extLst>
              <a:ext uri="{FF2B5EF4-FFF2-40B4-BE49-F238E27FC236}">
                <a16:creationId xmlns:a16="http://schemas.microsoft.com/office/drawing/2014/main" id="{C4CA5565-E4F0-E546-B312-05CB78D77702}"/>
              </a:ext>
            </a:extLst>
          </p:cNvPr>
          <p:cNvSpPr>
            <a:spLocks noGrp="1"/>
          </p:cNvSpPr>
          <p:nvPr>
            <p:ph type="sldNum" sz="quarter" idx="4"/>
          </p:nvPr>
        </p:nvSpPr>
        <p:spPr/>
        <p:txBody>
          <a:bodyPr/>
          <a:lstStyle/>
          <a:p>
            <a:fld id="{D6255EFE-3ACE-DA4E-80CE-7588690A9A08}" type="slidenum">
              <a:rPr lang="en-GB" smtClean="0"/>
              <a:t>56</a:t>
            </a:fld>
            <a:endParaRPr lang="en-GB"/>
          </a:p>
        </p:txBody>
      </p:sp>
    </p:spTree>
    <p:extLst>
      <p:ext uri="{BB962C8B-B14F-4D97-AF65-F5344CB8AC3E}">
        <p14:creationId xmlns:p14="http://schemas.microsoft.com/office/powerpoint/2010/main" val="67356178"/>
      </p:ext>
    </p:extLst>
  </p:cSld>
  <p:clrMapOvr>
    <a:masterClrMapping/>
  </p:clrMapOvr>
</p:sld>
</file>

<file path=ppt/theme/theme1.xml><?xml version="1.0" encoding="utf-8"?>
<a:theme xmlns:a="http://schemas.openxmlformats.org/drawingml/2006/main" name="OB-ppt-white">
  <a:themeElements>
    <a:clrScheme name="Custom 18">
      <a:dk1>
        <a:srgbClr val="A2AD00"/>
      </a:dk1>
      <a:lt1>
        <a:srgbClr val="FFFFFF"/>
      </a:lt1>
      <a:dk2>
        <a:srgbClr val="000000"/>
      </a:dk2>
      <a:lt2>
        <a:srgbClr val="36424A"/>
      </a:lt2>
      <a:accent1>
        <a:srgbClr val="A2AD00"/>
      </a:accent1>
      <a:accent2>
        <a:srgbClr val="970074"/>
      </a:accent2>
      <a:accent3>
        <a:srgbClr val="C90044"/>
      </a:accent3>
      <a:accent4>
        <a:srgbClr val="EDB700"/>
      </a:accent4>
      <a:accent5>
        <a:srgbClr val="00338E"/>
      </a:accent5>
      <a:accent6>
        <a:srgbClr val="00693E"/>
      </a:accent6>
      <a:hlink>
        <a:srgbClr val="A2AD00"/>
      </a:hlink>
      <a:folHlink>
        <a:srgbClr val="36424A"/>
      </a:folHlink>
    </a:clrScheme>
    <a:fontScheme name="Custom 6">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0">
          <a:solidFill>
            <a:srgbClr val="FF0000">
              <a:alpha val="30000"/>
            </a:srgbClr>
          </a:solidFill>
          <a:prstDash val="dash"/>
          <a:tailEnd type="stealth"/>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25400">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OB-ppt-white.potx</Template>
  <TotalTime>26181</TotalTime>
  <Words>4640</Words>
  <Application>Microsoft Office PowerPoint</Application>
  <PresentationFormat>On-screen Show (4:3)</PresentationFormat>
  <Paragraphs>779</Paragraphs>
  <Slides>56</Slides>
  <Notes>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56</vt:i4>
      </vt:variant>
    </vt:vector>
  </HeadingPairs>
  <TitlesOfParts>
    <vt:vector size="67" baseType="lpstr">
      <vt:lpstr>Lucida Grande</vt:lpstr>
      <vt:lpstr>SimSun</vt:lpstr>
      <vt:lpstr>SimSun</vt:lpstr>
      <vt:lpstr>Arial</vt:lpstr>
      <vt:lpstr>Calibri</vt:lpstr>
      <vt:lpstr>Courier New</vt:lpstr>
      <vt:lpstr>Helvetica</vt:lpstr>
      <vt:lpstr>Tahoma</vt:lpstr>
      <vt:lpstr>Times New Roman</vt:lpstr>
      <vt:lpstr>Wingdings</vt:lpstr>
      <vt:lpstr>OB-ppt-white</vt:lpstr>
      <vt:lpstr>CHC6173  Software Engineering</vt:lpstr>
      <vt:lpstr>Learning Outcomes</vt:lpstr>
      <vt:lpstr>Software Modelling</vt:lpstr>
      <vt:lpstr>Software Modelling Languages</vt:lpstr>
      <vt:lpstr>Aspects of Modelling Languages</vt:lpstr>
      <vt:lpstr>Model-Driven SW Development</vt:lpstr>
      <vt:lpstr>Holistic Approach to Modelling</vt:lpstr>
      <vt:lpstr>Multiple-Views Approach to Modelling </vt:lpstr>
      <vt:lpstr>Types of SW Models (as in UML)</vt:lpstr>
      <vt:lpstr>Use Case and Scenarios Analysis</vt:lpstr>
      <vt:lpstr>What Is A Use Case</vt:lpstr>
      <vt:lpstr>Description of a Use Case</vt:lpstr>
      <vt:lpstr>Use Case Description: Example</vt:lpstr>
      <vt:lpstr>What Is A Scenario</vt:lpstr>
      <vt:lpstr>Types of Scenarios</vt:lpstr>
      <vt:lpstr>Concrete Scenarios</vt:lpstr>
      <vt:lpstr>Generic Scenarios</vt:lpstr>
      <vt:lpstr>Format of Scenario Descriptions</vt:lpstr>
      <vt:lpstr>UML Use Case Models </vt:lpstr>
      <vt:lpstr>UML Use Case Diagram Notation </vt:lpstr>
      <vt:lpstr>UML Activity Diagrams</vt:lpstr>
      <vt:lpstr>Concepts of Activity Diagrams</vt:lpstr>
      <vt:lpstr>Control Flow and Object Flow</vt:lpstr>
      <vt:lpstr>Example: Make an Appointment</vt:lpstr>
      <vt:lpstr>Swim Lane</vt:lpstr>
      <vt:lpstr>Example: Make a School Lunch Box</vt:lpstr>
      <vt:lpstr>Principles of OO Methodology (1)</vt:lpstr>
      <vt:lpstr>Principles of OO Methodology (2)</vt:lpstr>
      <vt:lpstr>Object-Orientation</vt:lpstr>
      <vt:lpstr>PowerPoint Presentation</vt:lpstr>
      <vt:lpstr>Relationships between Classes</vt:lpstr>
      <vt:lpstr>PowerPoint Presentation</vt:lpstr>
      <vt:lpstr>Read, think then answer</vt:lpstr>
      <vt:lpstr>PowerPoint Presentation</vt:lpstr>
      <vt:lpstr>UML Class Diagram </vt:lpstr>
      <vt:lpstr>Example: Inheritance Relation</vt:lpstr>
      <vt:lpstr>Examples: Multiplicity</vt:lpstr>
      <vt:lpstr>Example: Hospital</vt:lpstr>
      <vt:lpstr>Attributes and Methods</vt:lpstr>
      <vt:lpstr>Example: Attributes &amp; Methods</vt:lpstr>
      <vt:lpstr>Behavioural Models</vt:lpstr>
      <vt:lpstr>Two Types of Behaviour Models</vt:lpstr>
      <vt:lpstr>Example: telephone connection</vt:lpstr>
      <vt:lpstr>Elements of Sequence Diagrams</vt:lpstr>
      <vt:lpstr>Message flows</vt:lpstr>
      <vt:lpstr>Generic vs Instance Sequence Diagrams</vt:lpstr>
      <vt:lpstr>Example of Frames</vt:lpstr>
      <vt:lpstr>Common Operators for Interaction Frames </vt:lpstr>
      <vt:lpstr>Behavioural State Machines</vt:lpstr>
      <vt:lpstr>Basic Concepts of State Machines</vt:lpstr>
      <vt:lpstr>Notation of State Machines</vt:lpstr>
      <vt:lpstr>Internal activities</vt:lpstr>
      <vt:lpstr>Activity State</vt:lpstr>
      <vt:lpstr>Superstate</vt:lpstr>
      <vt:lpstr>Concurrent States</vt:lpstr>
      <vt:lpstr>Guide to Study</vt:lpstr>
    </vt:vector>
  </TitlesOfParts>
  <Company>School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IWSC 2012 16 July 2012, Izmir, Turkey</dc:title>
  <dc:creator>Juan Wang</dc:creator>
  <cp:lastModifiedBy>CDUT</cp:lastModifiedBy>
  <cp:revision>330</cp:revision>
  <cp:lastPrinted>2015-02-05T10:47:48Z</cp:lastPrinted>
  <dcterms:created xsi:type="dcterms:W3CDTF">2012-07-12T10:43:20Z</dcterms:created>
  <dcterms:modified xsi:type="dcterms:W3CDTF">2025-10-27T06:43:05Z</dcterms:modified>
</cp:coreProperties>
</file>