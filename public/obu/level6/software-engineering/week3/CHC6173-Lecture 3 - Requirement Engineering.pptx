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handoutMasterIdLst>
    <p:handoutMasterId r:id="rId57"/>
  </p:handoutMasterIdLst>
  <p:sldIdLst>
    <p:sldId id="316" r:id="rId2"/>
    <p:sldId id="256" r:id="rId3"/>
    <p:sldId id="393" r:id="rId4"/>
    <p:sldId id="394" r:id="rId5"/>
    <p:sldId id="395" r:id="rId6"/>
    <p:sldId id="399" r:id="rId7"/>
    <p:sldId id="401" r:id="rId8"/>
    <p:sldId id="400" r:id="rId9"/>
    <p:sldId id="407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  <p:sldId id="417" r:id="rId19"/>
    <p:sldId id="418" r:id="rId20"/>
    <p:sldId id="419" r:id="rId21"/>
    <p:sldId id="420" r:id="rId22"/>
    <p:sldId id="421" r:id="rId23"/>
    <p:sldId id="423" r:id="rId24"/>
    <p:sldId id="425" r:id="rId25"/>
    <p:sldId id="428" r:id="rId26"/>
    <p:sldId id="430" r:id="rId27"/>
    <p:sldId id="431" r:id="rId28"/>
    <p:sldId id="434" r:id="rId29"/>
    <p:sldId id="435" r:id="rId30"/>
    <p:sldId id="439" r:id="rId31"/>
    <p:sldId id="440" r:id="rId32"/>
    <p:sldId id="441" r:id="rId33"/>
    <p:sldId id="443" r:id="rId34"/>
    <p:sldId id="444" r:id="rId35"/>
    <p:sldId id="445" r:id="rId36"/>
    <p:sldId id="446" r:id="rId37"/>
    <p:sldId id="447" r:id="rId38"/>
    <p:sldId id="448" r:id="rId39"/>
    <p:sldId id="457" r:id="rId40"/>
    <p:sldId id="460" r:id="rId41"/>
    <p:sldId id="461" r:id="rId42"/>
    <p:sldId id="466" r:id="rId43"/>
    <p:sldId id="467" r:id="rId44"/>
    <p:sldId id="468" r:id="rId45"/>
    <p:sldId id="469" r:id="rId46"/>
    <p:sldId id="470" r:id="rId47"/>
    <p:sldId id="471" r:id="rId48"/>
    <p:sldId id="472" r:id="rId49"/>
    <p:sldId id="473" r:id="rId50"/>
    <p:sldId id="474" r:id="rId51"/>
    <p:sldId id="475" r:id="rId52"/>
    <p:sldId id="476" r:id="rId53"/>
    <p:sldId id="477" r:id="rId54"/>
    <p:sldId id="442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ymen Chebira" initials="AC" lastIdx="1" clrIdx="0">
    <p:extLst>
      <p:ext uri="{19B8F6BF-5375-455C-9EA6-DF929625EA0E}">
        <p15:presenceInfo xmlns:p15="http://schemas.microsoft.com/office/powerpoint/2012/main" userId="f6fa8823f586b2b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04" autoAdjust="0"/>
    <p:restoredTop sz="49020" autoAdjust="0"/>
  </p:normalViewPr>
  <p:slideViewPr>
    <p:cSldViewPr>
      <p:cViewPr varScale="1">
        <p:scale>
          <a:sx n="40" d="100"/>
          <a:sy n="40" d="100"/>
        </p:scale>
        <p:origin x="1862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U08048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Feb. 2015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306DB-C550-504E-9DCA-DAF3404DD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146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U08048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Feb. 2015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1D0F5-CBB9-476F-834C-2232B1EFF5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4350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cl.ac.uk/external/atanu/req.gi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38986" indent="-338986" algn="just">
              <a:spcBef>
                <a:spcPts val="634"/>
              </a:spcBef>
              <a:spcAft>
                <a:spcPts val="634"/>
              </a:spcAft>
            </a:pPr>
            <a:r>
              <a:rPr lang="en-US" dirty="0"/>
              <a:t>Requirements Engineering</a:t>
            </a:r>
          </a:p>
          <a:p>
            <a:pPr marL="338986" indent="-338986" algn="just">
              <a:spcBef>
                <a:spcPts val="634"/>
              </a:spcBef>
              <a:spcAft>
                <a:spcPts val="634"/>
              </a:spcAft>
              <a:buFont typeface="Arial"/>
              <a:buChar char="•"/>
            </a:pPr>
            <a:r>
              <a:rPr lang="en-GB" sz="1300" dirty="0">
                <a:latin typeface="Tahoma" pitchFamily="34" charset="0"/>
              </a:rPr>
              <a:t>One of the main phases of a software development process</a:t>
            </a:r>
          </a:p>
          <a:p>
            <a:pPr marL="338986" indent="-338986" algn="just">
              <a:spcBef>
                <a:spcPts val="634"/>
              </a:spcBef>
              <a:spcAft>
                <a:spcPts val="634"/>
              </a:spcAft>
              <a:buFont typeface="Arial"/>
              <a:buChar char="•"/>
            </a:pPr>
            <a:r>
              <a:rPr lang="en-GB" sz="1300" dirty="0">
                <a:latin typeface="Tahoma" pitchFamily="34" charset="0"/>
              </a:rPr>
              <a:t>Sets real world goals for a software development project</a:t>
            </a:r>
          </a:p>
          <a:p>
            <a:pPr marL="338986" indent="-338986" algn="just">
              <a:spcBef>
                <a:spcPts val="634"/>
              </a:spcBef>
              <a:spcAft>
                <a:spcPts val="634"/>
              </a:spcAft>
              <a:buFont typeface="Arial"/>
              <a:buChar char="•"/>
            </a:pPr>
            <a:r>
              <a:rPr lang="en-GB" sz="1300" dirty="0">
                <a:latin typeface="Tahoma" pitchFamily="34" charset="0"/>
              </a:rPr>
              <a:t>Identifies functions (required services) as well as constraints on a software system </a:t>
            </a:r>
          </a:p>
          <a:p>
            <a:pPr marL="338986" indent="-338986" algn="just">
              <a:spcBef>
                <a:spcPts val="634"/>
              </a:spcBef>
              <a:spcAft>
                <a:spcPts val="634"/>
              </a:spcAft>
              <a:buFont typeface="Arial"/>
              <a:buChar char="•"/>
            </a:pPr>
            <a:r>
              <a:rPr lang="en-GB" sz="1300" dirty="0">
                <a:latin typeface="Tahoma" pitchFamily="34" charset="0"/>
              </a:rPr>
              <a:t>Defines a relationships between functions and constraints</a:t>
            </a:r>
          </a:p>
          <a:p>
            <a:pPr marL="338986" indent="-338986" algn="just">
              <a:spcBef>
                <a:spcPts val="634"/>
              </a:spcBef>
              <a:spcAft>
                <a:spcPts val="634"/>
              </a:spcAft>
              <a:buFont typeface="Arial"/>
              <a:buChar char="•"/>
            </a:pPr>
            <a:r>
              <a:rPr lang="en-GB" sz="1300" dirty="0">
                <a:latin typeface="Tahoma" pitchFamily="34" charset="0"/>
              </a:rPr>
              <a:t>Uses methods and tools in order to enable communication between developers, the clients, the end-users, and many other stakeholders</a:t>
            </a:r>
          </a:p>
          <a:p>
            <a:pPr marL="338986" indent="-338986" algn="just">
              <a:spcBef>
                <a:spcPts val="634"/>
              </a:spcBef>
              <a:spcAft>
                <a:spcPts val="634"/>
              </a:spcAft>
              <a:buFont typeface="Arial"/>
              <a:buChar char="•"/>
            </a:pPr>
            <a:r>
              <a:rPr lang="en-GB" sz="1300" dirty="0">
                <a:latin typeface="Tahoma" pitchFamily="34" charset="0"/>
              </a:rPr>
              <a:t>Is a broad subject, which involves different methods from different disciplines such as computing, maths, social sciences, and application domain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lang="en-US"/>
              <a:t>U08048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lang="en-US"/>
              <a:t>Feb. 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lIns="96661" tIns="48331" rIns="96661" bIns="48331"/>
          <a:lstStyle/>
          <a:p>
            <a:fld id="{53E1D0F5-CBB9-476F-834C-2232B1EFF56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3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Source of the figure: </a:t>
            </a:r>
            <a:r>
              <a:rPr lang="en-GB" dirty="0">
                <a:hlinkClick r:id="rId3"/>
              </a:rPr>
              <a:t>http://www.cs.ucl.ac.uk/external/atanu/req.gif</a:t>
            </a:r>
            <a:endParaRPr lang="en-GB" dirty="0"/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U08048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Feb. 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1D0F5-CBB9-476F-834C-2232B1EFF56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11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25563" y="771525"/>
            <a:ext cx="4664075" cy="3498850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8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933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06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U08048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Feb. 2015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1D0F5-CBB9-476F-834C-2232B1EFF56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08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525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571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140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664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253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359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199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96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045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U08048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Feb. 2015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1D0F5-CBB9-476F-834C-2232B1EFF56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50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Lexical Ambiguity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word has multiple meanings.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"The system must reject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it contains an error."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Does "batch" refer to a group of students, a quantity of baked goods, or a set of data records? The word itself is ambiguous without context.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Syntactic Ambiguity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sentence structure is grammatically unclear, leading to multiple interpretations of the relationship between words.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"The system shall show the technician and the manager the report."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there one report that is shown to both the technician and the manager? Or are there two separate reports: one for the technician and one for the manager? The structure "show A and B the report" is syntactically ambiguous.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Semantic Ambiguity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meaning of a statement or phrase is open to interpretation, even if the words and grammar are clear.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"The website must have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response time."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What does "fast" mean? Is it 100 milliseconds, 2 seconds, or 5 seconds? The intended meaning is not precisely defined.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Referential Ambiguity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unclear what a pronoun ("it," "they," "that") or a phrase ("the previous one") refers to.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"When the customer submits an order and a complaint, it must be logged immediately."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What does "it" refer to? The order, the complaint, or the entire customer submission event? The reference is unclear.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Vagueness of Terms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term has borderline cases because it lacks a clear, sharp boundary.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"The system must provide support for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files."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What is the threshold for a "large" file? Is a 10MB file large? What about 100MB or 1GB? The term is vague and subjective.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U08048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Feb. 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1D0F5-CBB9-476F-834C-2232B1EFF560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20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103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OB PPT banner white 1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1150" y="304800"/>
            <a:ext cx="8528050" cy="1107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9" y="1412777"/>
            <a:ext cx="8533134" cy="5112566"/>
          </a:xfrm>
        </p:spPr>
        <p:txBody>
          <a:bodyPr/>
          <a:lstStyle>
            <a:lvl1pPr marL="363538" indent="-363538" algn="l">
              <a:buFont typeface="Wingdings" charset="2"/>
              <a:buChar char="²"/>
              <a:defRPr sz="2800" b="0">
                <a:solidFill>
                  <a:schemeClr val="bg2"/>
                </a:solidFill>
              </a:defRPr>
            </a:lvl1pPr>
            <a:lvl2pPr marL="800100" indent="-342900" algn="l">
              <a:buFont typeface="Lucida Grande"/>
              <a:buChar char="-"/>
              <a:defRPr>
                <a:solidFill>
                  <a:srgbClr val="36424A"/>
                </a:solidFill>
              </a:defRPr>
            </a:lvl2pPr>
            <a:lvl3pPr marL="1257300" indent="-342900" algn="l">
              <a:buFont typeface="Arial"/>
              <a:buChar char="•"/>
              <a:defRPr>
                <a:solidFill>
                  <a:srgbClr val="36424A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  <a:p>
            <a:pPr lvl="1"/>
            <a:r>
              <a:rPr lang="en-US" dirty="0"/>
              <a:t>List 1</a:t>
            </a:r>
          </a:p>
          <a:p>
            <a:pPr lvl="2"/>
            <a:r>
              <a:rPr lang="en-US" dirty="0"/>
              <a:t>List 2</a:t>
            </a:r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23528" y="312738"/>
            <a:ext cx="8487752" cy="1100038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1C6985B-3EA0-2E41-9EDC-1693E8B34D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2211388" y="6525343"/>
            <a:ext cx="5197475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 algn="ctr">
              <a:defRPr/>
            </a:pPr>
            <a:r>
              <a:rPr lang="en-GB"/>
              <a:t>COMP6030: Lecture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939B0-FC00-594B-B9AA-3E650F43A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597" y="6525344"/>
            <a:ext cx="523875" cy="358775"/>
          </a:xfrm>
          <a:prstGeom prst="rect">
            <a:avLst/>
          </a:prstGeom>
        </p:spPr>
        <p:txBody>
          <a:bodyPr/>
          <a:lstStyle>
            <a:lvl1pPr algn="r">
              <a:defRPr sz="1400">
                <a:cs typeface="Arial" charset="0"/>
              </a:defRPr>
            </a:lvl1pPr>
          </a:lstStyle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3C53DDD-0AE0-7844-985D-0A604CECF74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95536" y="6525343"/>
            <a:ext cx="1771259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Oct. 2021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OB PPT banner 1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3213"/>
            <a:ext cx="8534400" cy="153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23528" y="312738"/>
            <a:ext cx="8487752" cy="152694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4" name="Picture 3" descr="com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849625"/>
            <a:ext cx="8532000" cy="4767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7" y="908720"/>
            <a:ext cx="8461126" cy="5544616"/>
          </a:xfrm>
        </p:spPr>
        <p:txBody>
          <a:bodyPr/>
          <a:lstStyle>
            <a:lvl1pPr marL="180975" indent="-180975">
              <a:spcBef>
                <a:spcPts val="1500"/>
              </a:spcBef>
              <a:buFont typeface="Wingdings" charset="2"/>
              <a:buChar char="v"/>
              <a:defRPr b="0"/>
            </a:lvl1pPr>
            <a:lvl2pPr marL="449263" indent="-177800">
              <a:spcBef>
                <a:spcPts val="300"/>
              </a:spcBef>
              <a:buFont typeface="Wingdings" charset="2"/>
              <a:buChar char="²"/>
              <a:defRPr sz="2000"/>
            </a:lvl2pPr>
            <a:lvl3pPr marL="715963" indent="-182563">
              <a:spcBef>
                <a:spcPts val="300"/>
              </a:spcBef>
              <a:buFont typeface="Courier New"/>
              <a:buChar char="o"/>
              <a:defRPr sz="2000"/>
            </a:lvl3pPr>
            <a:lvl4pPr marL="982663" indent="-177800">
              <a:spcBef>
                <a:spcPts val="300"/>
              </a:spcBef>
              <a:buFont typeface="Wingdings" charset="2"/>
              <a:buChar char="§"/>
              <a:defRPr sz="1800"/>
            </a:lvl4pPr>
            <a:lvl5pPr marL="1258888" indent="-180975">
              <a:spcBef>
                <a:spcPts val="300"/>
              </a:spcBef>
              <a:buFont typeface="Arial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C0A1E94D-933D-7B45-876F-5E93E42227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2211388" y="6525343"/>
            <a:ext cx="5197475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 algn="ctr">
              <a:defRPr/>
            </a:pPr>
            <a:r>
              <a:rPr lang="en-GB"/>
              <a:t>COMP6030: Lecture 3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A43A47-8DD2-2349-9460-28C7F954B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597" y="6525344"/>
            <a:ext cx="523875" cy="358775"/>
          </a:xfrm>
          <a:prstGeom prst="rect">
            <a:avLst/>
          </a:prstGeom>
        </p:spPr>
        <p:txBody>
          <a:bodyPr/>
          <a:lstStyle>
            <a:lvl1pPr algn="r">
              <a:defRPr sz="1400">
                <a:cs typeface="Arial" charset="0"/>
              </a:defRPr>
            </a:lvl1pPr>
          </a:lstStyle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3E71D45-7F2D-834E-BA5B-B8895949D57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95536" y="6525343"/>
            <a:ext cx="1771259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Oct. 2021</a:t>
            </a:r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7" y="908720"/>
            <a:ext cx="4270126" cy="5616624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271463" indent="-271463">
              <a:defRPr sz="2400"/>
            </a:lvl2pPr>
            <a:lvl3pPr marL="533400" indent="-261938">
              <a:defRPr sz="2000"/>
            </a:lvl3pPr>
            <a:lvl4pPr marL="804863" indent="-271463">
              <a:defRPr sz="2000"/>
            </a:lvl4pPr>
            <a:lvl5pPr marL="1077913" indent="-273050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656" y="908720"/>
            <a:ext cx="4138824" cy="5616624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271463" indent="-271463">
              <a:defRPr sz="2400"/>
            </a:lvl2pPr>
            <a:lvl3pPr marL="533400" indent="-261938">
              <a:defRPr sz="2000"/>
            </a:lvl3pPr>
            <a:lvl4pPr marL="804863" indent="-271463">
              <a:defRPr sz="2000"/>
            </a:lvl4pPr>
            <a:lvl5pPr marL="1077913" indent="-273050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94AF327-5BBF-1F49-9CAB-3E57AFF4E94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2211388" y="6525343"/>
            <a:ext cx="5197475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 algn="ctr">
              <a:defRPr/>
            </a:pPr>
            <a:r>
              <a:rPr lang="en-GB"/>
              <a:t>COMP6030: Lecture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EF241-5F45-7646-9967-158F39EA1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597" y="6525344"/>
            <a:ext cx="523875" cy="358775"/>
          </a:xfrm>
          <a:prstGeom prst="rect">
            <a:avLst/>
          </a:prstGeom>
        </p:spPr>
        <p:txBody>
          <a:bodyPr/>
          <a:lstStyle>
            <a:lvl1pPr algn="r">
              <a:defRPr sz="1400">
                <a:cs typeface="Arial" charset="0"/>
              </a:defRPr>
            </a:lvl1pPr>
          </a:lstStyle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71C7559-CB5A-2E41-847D-DDF1DEC368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95536" y="6525343"/>
            <a:ext cx="1771259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Oct. 2021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B5131E1C-58D0-D042-83D7-912B81DC69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2211388" y="6525343"/>
            <a:ext cx="5197475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 algn="ctr">
              <a:defRPr/>
            </a:pPr>
            <a:r>
              <a:rPr lang="en-GB"/>
              <a:t>COMP6030: Lecture 3</a:t>
            </a:r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2B42EDB-3A37-D543-AF9E-673FF8822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597" y="6525344"/>
            <a:ext cx="523875" cy="358775"/>
          </a:xfrm>
          <a:prstGeom prst="rect">
            <a:avLst/>
          </a:prstGeom>
        </p:spPr>
        <p:txBody>
          <a:bodyPr/>
          <a:lstStyle>
            <a:lvl1pPr algn="r">
              <a:defRPr sz="1400">
                <a:cs typeface="Arial" charset="0"/>
              </a:defRPr>
            </a:lvl1pPr>
          </a:lstStyle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B56EB2C-3363-8B43-BF6D-335E547F24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95536" y="6525343"/>
            <a:ext cx="1771259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Oct. 2021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AAEC9B37-5BF2-714F-BA00-84394E9173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2211388" y="6525343"/>
            <a:ext cx="5197475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 algn="ctr">
              <a:defRPr/>
            </a:pPr>
            <a:r>
              <a:rPr lang="en-GB"/>
              <a:t>COMP6030: Lecture 3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70C6789-C685-EC47-BDAD-14D2C6C05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597" y="6525344"/>
            <a:ext cx="523875" cy="358775"/>
          </a:xfrm>
          <a:prstGeom prst="rect">
            <a:avLst/>
          </a:prstGeom>
        </p:spPr>
        <p:txBody>
          <a:bodyPr/>
          <a:lstStyle>
            <a:lvl1pPr algn="r">
              <a:defRPr sz="1400">
                <a:cs typeface="Arial" charset="0"/>
              </a:defRPr>
            </a:lvl1pPr>
          </a:lstStyle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A0084-E6D7-8C4A-BD86-AB7CE3F7A7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95536" y="6525343"/>
            <a:ext cx="1771259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Oct. 2021</a:t>
            </a:r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63567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389438" cy="618028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08720"/>
            <a:ext cx="3008313" cy="55446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5A49422B-5017-2642-8B0A-CD6A587AE8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2211388" y="6525343"/>
            <a:ext cx="5197475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 algn="ctr">
              <a:defRPr/>
            </a:pPr>
            <a:r>
              <a:rPr lang="en-GB"/>
              <a:t>COMP6030: Lecture 3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596F003-40DE-5343-AD6E-692EA8869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597" y="6525344"/>
            <a:ext cx="523875" cy="358775"/>
          </a:xfrm>
          <a:prstGeom prst="rect">
            <a:avLst/>
          </a:prstGeom>
        </p:spPr>
        <p:txBody>
          <a:bodyPr/>
          <a:lstStyle>
            <a:lvl1pPr algn="r">
              <a:defRPr sz="1400">
                <a:cs typeface="Arial" charset="0"/>
              </a:defRPr>
            </a:lvl1pPr>
          </a:lstStyle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C938BA7-C818-AB49-8E25-78902BC3AE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95536" y="6525343"/>
            <a:ext cx="1771259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Oct. 2021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39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1234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28974"/>
            <a:ext cx="8229600" cy="559637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3468313-4964-194D-ABBE-409AF8CED8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2211388" y="6525343"/>
            <a:ext cx="5197475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 algn="ctr">
              <a:defRPr/>
            </a:pPr>
            <a:r>
              <a:rPr lang="en-GB"/>
              <a:t>COMP6030: Lecture 3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6B8893C-B4E1-7A44-8604-8FF5CBB6A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597" y="6525344"/>
            <a:ext cx="523875" cy="358775"/>
          </a:xfrm>
          <a:prstGeom prst="rect">
            <a:avLst/>
          </a:prstGeom>
        </p:spPr>
        <p:txBody>
          <a:bodyPr/>
          <a:lstStyle>
            <a:lvl1pPr algn="r">
              <a:defRPr sz="1400">
                <a:cs typeface="Arial" charset="0"/>
              </a:defRPr>
            </a:lvl1pPr>
          </a:lstStyle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C77B812-4FCF-4D42-B789-1B3D875460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95536" y="6525343"/>
            <a:ext cx="1771259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Oct. 2021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355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30" descr="OB PPT logo white 150"/>
          <p:cNvPicPr>
            <a:picLocks noChangeAspect="1" noChangeArrowheads="1"/>
          </p:cNvPicPr>
          <p:nvPr/>
        </p:nvPicPr>
        <p:blipFill rotWithShape="1">
          <a:blip r:embed="rId10" cstate="print"/>
          <a:srcRect l="86345" b="65386"/>
          <a:stretch/>
        </p:blipFill>
        <p:spPr bwMode="auto">
          <a:xfrm>
            <a:off x="7668344" y="304800"/>
            <a:ext cx="1164506" cy="53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536" y="188641"/>
            <a:ext cx="8461127" cy="648072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95536" y="836712"/>
            <a:ext cx="8424936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0B2250D-EA29-6944-AAB8-C47CAB0F6B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2211388" y="6525343"/>
            <a:ext cx="5197475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 algn="ctr">
              <a:defRPr/>
            </a:pPr>
            <a:r>
              <a:rPr lang="en-GB"/>
              <a:t>COMP6030: Lecture 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D7EBD-18AE-2243-A760-9F3BCA2FC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597" y="6525344"/>
            <a:ext cx="523875" cy="358775"/>
          </a:xfrm>
          <a:prstGeom prst="rect">
            <a:avLst/>
          </a:prstGeom>
        </p:spPr>
        <p:txBody>
          <a:bodyPr/>
          <a:lstStyle>
            <a:lvl1pPr algn="r">
              <a:defRPr sz="1400">
                <a:cs typeface="Arial" charset="0"/>
              </a:defRPr>
            </a:lvl1pPr>
          </a:lstStyle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11BD443-C968-8941-93B5-E7756020901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95536" y="6525343"/>
            <a:ext cx="1771259" cy="330659"/>
          </a:xfrm>
          <a:prstGeom prst="rect">
            <a:avLst/>
          </a:prstGeom>
        </p:spPr>
        <p:txBody>
          <a:bodyPr/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Oct. 2021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 cap="none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v"/>
        <a:defRPr sz="2400" kern="1200">
          <a:solidFill>
            <a:schemeClr val="bg2"/>
          </a:solidFill>
          <a:latin typeface="+mn-lt"/>
          <a:ea typeface="+mn-ea"/>
          <a:cs typeface="+mn-cs"/>
        </a:defRPr>
      </a:lvl1pPr>
      <a:lvl2pPr marL="714375" indent="-350838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²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077913" indent="-363538" algn="l" rtl="0" eaLnBrk="1" fontAlgn="base" hangingPunct="1">
        <a:spcBef>
          <a:spcPct val="20000"/>
        </a:spcBef>
        <a:spcAft>
          <a:spcPct val="0"/>
        </a:spcAft>
        <a:buFont typeface="Courier New"/>
        <a:buChar char="o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439863" indent="-361950" algn="l" rtl="0" eaLnBrk="1" fontAlgn="base" hangingPunct="1">
        <a:spcBef>
          <a:spcPct val="20000"/>
        </a:spcBef>
        <a:spcAft>
          <a:spcPct val="0"/>
        </a:spcAft>
        <a:buFont typeface="Wingdings" pitchFamily="124" charset="2"/>
        <a:buChar char="§"/>
        <a:defRPr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1792288" indent="-352425" algn="l" rtl="0" eaLnBrk="1" fontAlgn="base" hangingPunct="1">
        <a:spcBef>
          <a:spcPct val="20000"/>
        </a:spcBef>
        <a:spcAft>
          <a:spcPct val="0"/>
        </a:spcAft>
        <a:buFont typeface="Arial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7" y="312738"/>
            <a:ext cx="8560755" cy="152694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CHC6173</a:t>
            </a:r>
            <a:br>
              <a:rPr lang="en-US" dirty="0"/>
            </a:br>
            <a:r>
              <a:rPr lang="en-US" sz="3600" dirty="0"/>
              <a:t>Software Engineering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2204865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Lecture 3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Requirement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23529" y="1412776"/>
            <a:ext cx="8533134" cy="5112567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Arial" charset="0"/>
                <a:ea typeface="ＭＳ Ｐゴシック" charset="0"/>
              </a:rPr>
              <a:t>Part 1: Basic Concepts of Requirements Engineering</a:t>
            </a:r>
          </a:p>
          <a:p>
            <a:pPr marL="627063" lvl="1" indent="-358775">
              <a:spcBef>
                <a:spcPts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The importance of RE</a:t>
            </a:r>
          </a:p>
          <a:p>
            <a:pPr marL="627063" lvl="1" indent="-358775">
              <a:spcBef>
                <a:spcPts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The nature of RE</a:t>
            </a:r>
          </a:p>
          <a:p>
            <a:pPr marL="627063" lvl="1" indent="-358775">
              <a:spcBef>
                <a:spcPts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The types and aspects of requirements</a:t>
            </a:r>
          </a:p>
          <a:p>
            <a:pPr marL="627063" lvl="1" indent="-358775">
              <a:spcBef>
                <a:spcPts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The process of 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Arial" charset="0"/>
                <a:ea typeface="ＭＳ Ｐゴシック" charset="0"/>
              </a:rPr>
              <a:t>Part 2: Requirements Elicitation </a:t>
            </a:r>
            <a:r>
              <a:rPr lang="en-US" dirty="0">
                <a:latin typeface="Arial" charset="0"/>
                <a:ea typeface="ＭＳ Ｐゴシック" charset="0"/>
              </a:rPr>
              <a:t>Techniques</a:t>
            </a:r>
            <a:endParaRPr lang="en-GB" dirty="0">
              <a:latin typeface="Arial" charset="0"/>
              <a:ea typeface="ＭＳ Ｐゴシック" charset="0"/>
            </a:endParaRPr>
          </a:p>
          <a:p>
            <a:pPr marL="627063" lvl="1" indent="-358775">
              <a:spcBef>
                <a:spcPts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Main techniques of requirements elicitation</a:t>
            </a:r>
          </a:p>
          <a:p>
            <a:pPr marL="627063" lvl="1" indent="-358775">
              <a:spcBef>
                <a:spcPts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Understand their strengths and weaknesses, and conditions of uses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Arial" charset="0"/>
                <a:ea typeface="ＭＳ Ｐゴシック" charset="0"/>
              </a:rPr>
              <a:t>Part 3: Requirements Documentation</a:t>
            </a:r>
          </a:p>
          <a:p>
            <a:pPr marL="627063" lvl="1" indent="-358775">
              <a:spcBef>
                <a:spcPts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Documentation skills and techniques</a:t>
            </a:r>
          </a:p>
          <a:p>
            <a:pPr marL="627063" lvl="1" indent="-358775">
              <a:spcBef>
                <a:spcPts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Document structures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This Week’s Learning Outcomes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38830-5C1A-C74A-AB8B-9C381A3A1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6399" y="2708920"/>
            <a:ext cx="78488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Part 1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Basic Concepts of Requirements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5CB6B-1426-5242-B0B7-7A6258CA51D6}"/>
              </a:ext>
            </a:extLst>
          </p:cNvPr>
          <p:cNvSpPr txBox="1"/>
          <p:nvPr/>
        </p:nvSpPr>
        <p:spPr>
          <a:xfrm>
            <a:off x="465215" y="476672"/>
            <a:ext cx="8211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Lecture 3 </a:t>
            </a:r>
          </a:p>
          <a:p>
            <a:pPr algn="ctr"/>
            <a:r>
              <a:rPr lang="en-GB" sz="4000" dirty="0">
                <a:solidFill>
                  <a:schemeClr val="bg1"/>
                </a:solidFill>
              </a:rPr>
              <a:t>Requirements Engineering </a:t>
            </a:r>
          </a:p>
        </p:txBody>
      </p:sp>
    </p:spTree>
    <p:extLst>
      <p:ext uri="{BB962C8B-B14F-4D97-AF65-F5344CB8AC3E}">
        <p14:creationId xmlns:p14="http://schemas.microsoft.com/office/powerpoint/2010/main" val="11074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What is Requirements Engineering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95537" y="908720"/>
            <a:ext cx="6624735" cy="5544616"/>
          </a:xfrm>
        </p:spPr>
        <p:txBody>
          <a:bodyPr/>
          <a:lstStyle/>
          <a:p>
            <a:pPr marL="0" lvl="1" indent="0">
              <a:lnSpc>
                <a:spcPct val="150000"/>
              </a:lnSpc>
              <a:buNone/>
            </a:pPr>
            <a:r>
              <a:rPr lang="en-US" sz="2800" dirty="0"/>
              <a:t>Requirements engineering is about </a:t>
            </a:r>
            <a:r>
              <a:rPr lang="en-US" sz="2800" i="1" dirty="0"/>
              <a:t>discovery</a:t>
            </a:r>
            <a:r>
              <a:rPr lang="en-US" sz="2800" dirty="0"/>
              <a:t>, </a:t>
            </a:r>
            <a:r>
              <a:rPr lang="en-US" sz="2800" i="1" dirty="0"/>
              <a:t>understanding</a:t>
            </a:r>
            <a:r>
              <a:rPr lang="en-US" sz="2800" dirty="0"/>
              <a:t>, </a:t>
            </a:r>
            <a:r>
              <a:rPr lang="en-US" sz="2800" i="1" dirty="0"/>
              <a:t>formulation</a:t>
            </a:r>
            <a:r>
              <a:rPr lang="en-US" sz="2800" dirty="0"/>
              <a:t>, </a:t>
            </a:r>
            <a:r>
              <a:rPr lang="en-US" sz="2800" i="1" dirty="0"/>
              <a:t>analysis</a:t>
            </a:r>
            <a:r>
              <a:rPr lang="en-US" sz="2800" dirty="0"/>
              <a:t> and </a:t>
            </a:r>
            <a:r>
              <a:rPr lang="en-US" sz="2800" i="1" dirty="0"/>
              <a:t>obtaining agreement </a:t>
            </a:r>
            <a:r>
              <a:rPr lang="en-US" sz="2800" dirty="0"/>
              <a:t>on </a:t>
            </a:r>
            <a:r>
              <a:rPr lang="en-US" sz="2800" i="1" dirty="0"/>
              <a:t>what</a:t>
            </a:r>
            <a:r>
              <a:rPr lang="en-US" sz="2800" dirty="0"/>
              <a:t> problem should be solved, 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2800" i="1" dirty="0"/>
              <a:t>why</a:t>
            </a:r>
            <a:r>
              <a:rPr lang="en-US" sz="2800" dirty="0"/>
              <a:t> such a problem needs to be solved, and </a:t>
            </a:r>
            <a:r>
              <a:rPr lang="en-US" sz="2800" i="1" dirty="0"/>
              <a:t>who</a:t>
            </a:r>
            <a:r>
              <a:rPr lang="en-US" sz="2800" dirty="0"/>
              <a:t> should be involved in the responsibility of solving that problem. </a:t>
            </a:r>
          </a:p>
          <a:p>
            <a:pPr marL="985838" lvl="1" indent="0" algn="r">
              <a:lnSpc>
                <a:spcPct val="150000"/>
              </a:lnSpc>
              <a:buNone/>
            </a:pPr>
            <a:r>
              <a:rPr lang="en-US" sz="2800" i="1" dirty="0"/>
              <a:t>(</a:t>
            </a:r>
            <a:r>
              <a:rPr lang="en-US" sz="2800" i="1" dirty="0" err="1"/>
              <a:t>Lamsweerder</a:t>
            </a:r>
            <a:r>
              <a:rPr lang="en-US" sz="2800" i="1" dirty="0"/>
              <a:t>, 2010; p3)</a:t>
            </a:r>
          </a:p>
        </p:txBody>
      </p:sp>
      <p:sp>
        <p:nvSpPr>
          <p:cNvPr id="10" name="Line Callout 2 9"/>
          <p:cNvSpPr/>
          <p:nvPr/>
        </p:nvSpPr>
        <p:spPr bwMode="auto">
          <a:xfrm>
            <a:off x="6766643" y="1014846"/>
            <a:ext cx="2131100" cy="1200329"/>
          </a:xfrm>
          <a:prstGeom prst="borderCallout2">
            <a:avLst>
              <a:gd name="adj1" fmla="val 18750"/>
              <a:gd name="adj2" fmla="val -1895"/>
              <a:gd name="adj3" fmla="val 18750"/>
              <a:gd name="adj4" fmla="val -16667"/>
              <a:gd name="adj5" fmla="val 61203"/>
              <a:gd name="adj6" fmla="val -40959"/>
            </a:avLst>
          </a:prstGeom>
          <a:solidFill>
            <a:schemeClr val="tx1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Times" charset="0"/>
                <a:ea typeface="宋体" pitchFamily="2" charset="-122"/>
              </a:rPr>
              <a:t>The types of activities involved in RE</a:t>
            </a:r>
          </a:p>
        </p:txBody>
      </p:sp>
      <p:sp>
        <p:nvSpPr>
          <p:cNvPr id="12" name="Line Callout 2 11"/>
          <p:cNvSpPr/>
          <p:nvPr/>
        </p:nvSpPr>
        <p:spPr bwMode="auto">
          <a:xfrm>
            <a:off x="6876256" y="2996952"/>
            <a:ext cx="2131100" cy="830997"/>
          </a:xfrm>
          <a:prstGeom prst="borderCallout2">
            <a:avLst>
              <a:gd name="adj1" fmla="val 19785"/>
              <a:gd name="adj2" fmla="val 581"/>
              <a:gd name="adj3" fmla="val 20067"/>
              <a:gd name="adj4" fmla="val -17657"/>
              <a:gd name="adj5" fmla="val 85821"/>
              <a:gd name="adj6" fmla="val -57234"/>
            </a:avLst>
          </a:prstGeom>
          <a:solidFill>
            <a:schemeClr val="tx1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Times" charset="0"/>
                <a:ea typeface="宋体" pitchFamily="2" charset="-122"/>
              </a:rPr>
              <a:t>The goals of the activities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757C7-2F1A-914D-A0BE-A96E2283B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9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ree Swing cartoon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603360" y="1068469"/>
            <a:ext cx="4371471" cy="482453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635080" cy="720080"/>
          </a:xfrm>
        </p:spPr>
        <p:txBody>
          <a:bodyPr>
            <a:normAutofit/>
          </a:bodyPr>
          <a:lstStyle/>
          <a:p>
            <a:r>
              <a:rPr lang="en-US" sz="3200" dirty="0"/>
              <a:t>Why RE is important?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933473"/>
            <a:ext cx="4114800" cy="4824536"/>
          </a:xfrm>
        </p:spPr>
        <p:txBody>
          <a:bodyPr/>
          <a:lstStyle/>
          <a:p>
            <a:pPr marL="273050" indent="-273050">
              <a:spcBef>
                <a:spcPts val="600"/>
              </a:spcBef>
              <a:buFont typeface="Arial" pitchFamily="34" charset="0"/>
              <a:buChar char="•"/>
            </a:pPr>
            <a:r>
              <a:rPr lang="en-GB" sz="2400" dirty="0">
                <a:latin typeface="Tahoma" pitchFamily="34" charset="0"/>
              </a:rPr>
              <a:t>Good understanding of the requirements is necessary for developing a solid system</a:t>
            </a:r>
          </a:p>
          <a:p>
            <a:pPr marL="273050" indent="-273050">
              <a:spcBef>
                <a:spcPts val="600"/>
              </a:spcBef>
              <a:buFont typeface="Arial" pitchFamily="34" charset="0"/>
              <a:buChar char="•"/>
            </a:pPr>
            <a:r>
              <a:rPr lang="en-GB" sz="2400" dirty="0">
                <a:latin typeface="Tahoma" pitchFamily="34" charset="0"/>
              </a:rPr>
              <a:t>Requirements affect all phases of SD.</a:t>
            </a:r>
          </a:p>
          <a:p>
            <a:pPr marL="273050" indent="-273050">
              <a:spcBef>
                <a:spcPts val="600"/>
              </a:spcBef>
              <a:buFont typeface="Arial" pitchFamily="34" charset="0"/>
              <a:buChar char="•"/>
            </a:pPr>
            <a:r>
              <a:rPr lang="en-GB" sz="2400" dirty="0">
                <a:latin typeface="Tahoma" pitchFamily="34" charset="0"/>
              </a:rPr>
              <a:t>It is cheaper to fix problems if they are found earlier</a:t>
            </a:r>
          </a:p>
          <a:p>
            <a:pPr marL="273050" indent="-273050">
              <a:spcBef>
                <a:spcPts val="600"/>
              </a:spcBef>
              <a:buFont typeface="Arial" pitchFamily="34" charset="0"/>
              <a:buChar char="•"/>
            </a:pPr>
            <a:r>
              <a:rPr lang="en-GB" sz="2400" dirty="0">
                <a:latin typeface="Tahoma" pitchFamily="34" charset="0"/>
              </a:rPr>
              <a:t>RE is "The hardest single part of building a software system”</a:t>
            </a:r>
            <a:endParaRPr lang="en-GB" sz="2400" b="1" dirty="0">
              <a:solidFill>
                <a:srgbClr val="0066FF"/>
              </a:solidFill>
              <a:latin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199" y="5670157"/>
            <a:ext cx="8517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  <a:latin typeface="Tahoma" pitchFamily="34" charset="0"/>
              </a:rPr>
              <a:t>Frederick P. Brooks, 1987, </a:t>
            </a:r>
          </a:p>
          <a:p>
            <a:r>
              <a:rPr lang="en-GB" i="1" dirty="0">
                <a:solidFill>
                  <a:srgbClr val="0000FF"/>
                </a:solidFill>
                <a:latin typeface="Tahoma" pitchFamily="34" charset="0"/>
              </a:rPr>
              <a:t>"No Silver Bullet: essence and accidents of software engineering</a:t>
            </a:r>
            <a:r>
              <a:rPr lang="en-GB" dirty="0">
                <a:solidFill>
                  <a:srgbClr val="0000FF"/>
                </a:solidFill>
                <a:latin typeface="Tahoma" pitchFamily="34" charset="0"/>
              </a:rPr>
              <a:t> </a:t>
            </a:r>
            <a:r>
              <a:rPr lang="en-GB" i="1" dirty="0">
                <a:solidFill>
                  <a:srgbClr val="0000FF"/>
                </a:solidFill>
                <a:latin typeface="Tahoma" pitchFamily="34" charset="0"/>
              </a:rPr>
              <a:t>", IEEE Computer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C585D2-D629-BD4B-8B43-87D4EB18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941387" y="2846387"/>
            <a:ext cx="2209800" cy="327025"/>
          </a:xfrm>
        </p:spPr>
        <p:txBody>
          <a:bodyPr/>
          <a:lstStyle/>
          <a:p>
            <a:pPr>
              <a:defRPr/>
            </a:pPr>
            <a:r>
              <a:rPr lang="en-GB"/>
              <a:t>Oct. 2021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F61A6-9B5B-4841-8D4A-5A1CFE13A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1688" y="6346825"/>
            <a:ext cx="523875" cy="358775"/>
          </a:xfrm>
        </p:spPr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3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Nature of RE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692696"/>
            <a:ext cx="8748464" cy="1656184"/>
          </a:xfrm>
        </p:spPr>
        <p:txBody>
          <a:bodyPr/>
          <a:lstStyle/>
          <a:p>
            <a:pPr marL="365125" indent="-365125">
              <a:spcBef>
                <a:spcPts val="300"/>
              </a:spcBef>
            </a:pPr>
            <a:r>
              <a:rPr lang="en-US" sz="2400" dirty="0"/>
              <a:t>The aim of a project is to improve the world by building some machine expected to solve a specific problem</a:t>
            </a:r>
          </a:p>
          <a:p>
            <a:pPr marL="365125" indent="-365125">
              <a:spcBef>
                <a:spcPts val="300"/>
              </a:spcBef>
            </a:pPr>
            <a:r>
              <a:rPr lang="en-US" sz="2400" dirty="0"/>
              <a:t>RE is concerned with the machine’s effect on the surrounding world.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475656" y="3380799"/>
            <a:ext cx="6192688" cy="1675348"/>
            <a:chOff x="1331640" y="1772816"/>
            <a:chExt cx="6192688" cy="1675348"/>
          </a:xfrm>
        </p:grpSpPr>
        <p:sp>
          <p:nvSpPr>
            <p:cNvPr id="4" name="Oval 3"/>
            <p:cNvSpPr/>
            <p:nvPr/>
          </p:nvSpPr>
          <p:spPr bwMode="auto">
            <a:xfrm>
              <a:off x="1331640" y="1772816"/>
              <a:ext cx="4104456" cy="116853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 type="none" w="med" len="med"/>
              <a:tailEnd type="arrow" w="lg" len="lg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" charset="0"/>
                  <a:ea typeface="宋体" pitchFamily="2" charset="-122"/>
                </a:rPr>
                <a:t>World </a:t>
              </a:r>
            </a:p>
            <a:p>
              <a:pPr marL="0" marR="0" indent="0" defTabSz="914400" rtl="0" eaLnBrk="0" fontAlgn="base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" charset="0"/>
                  <a:ea typeface="宋体" pitchFamily="2" charset="-122"/>
                </a:rPr>
                <a:t>phenomena </a:t>
              </a:r>
            </a:p>
          </p:txBody>
        </p:sp>
        <p:sp>
          <p:nvSpPr>
            <p:cNvPr id="5" name="Oval 4"/>
            <p:cNvSpPr/>
            <p:nvPr/>
          </p:nvSpPr>
          <p:spPr bwMode="auto">
            <a:xfrm>
              <a:off x="3419872" y="1772816"/>
              <a:ext cx="4104456" cy="1168539"/>
            </a:xfrm>
            <a:prstGeom prst="ellipse">
              <a:avLst/>
            </a:prstGeom>
            <a:noFill/>
            <a:ln>
              <a:headEnd type="none" w="med" len="med"/>
              <a:tailEnd type="arrow" w="lg" len="lg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" charset="0"/>
                  <a:ea typeface="宋体" pitchFamily="2" charset="-122"/>
                </a:rPr>
                <a:t>Machine</a:t>
              </a: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" charset="0"/>
                  <a:ea typeface="宋体" pitchFamily="2" charset="-122"/>
                </a:rPr>
                <a:t> phenomena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419872" y="1893025"/>
              <a:ext cx="18722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FF"/>
                  </a:solidFill>
                </a:rPr>
                <a:t>Shared Phenomena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79712" y="2924944"/>
              <a:ext cx="19442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00FF"/>
                  </a:solidFill>
                </a:rPr>
                <a:t>The world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99992" y="2924944"/>
              <a:ext cx="23042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00FF"/>
                  </a:solidFill>
                </a:rPr>
                <a:t>The machine</a:t>
              </a:r>
            </a:p>
          </p:txBody>
        </p:sp>
      </p:grpSp>
      <p:sp>
        <p:nvSpPr>
          <p:cNvPr id="10" name="Line Callout 2 9"/>
          <p:cNvSpPr/>
          <p:nvPr/>
        </p:nvSpPr>
        <p:spPr bwMode="auto">
          <a:xfrm>
            <a:off x="539552" y="2372687"/>
            <a:ext cx="2016224" cy="830997"/>
          </a:xfrm>
          <a:prstGeom prst="borderCallout2">
            <a:avLst>
              <a:gd name="adj1" fmla="val 27308"/>
              <a:gd name="adj2" fmla="val 99504"/>
              <a:gd name="adj3" fmla="val 27308"/>
              <a:gd name="adj4" fmla="val 123421"/>
              <a:gd name="adj5" fmla="val 160183"/>
              <a:gd name="adj6" fmla="val 136757"/>
            </a:avLst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" charset="0"/>
                <a:ea typeface="宋体" pitchFamily="2" charset="-122"/>
              </a:rPr>
              <a:t>Item delivered only if paid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3275856" y="3740839"/>
            <a:ext cx="144016" cy="144016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宋体" pitchFamily="2" charset="-122"/>
            </a:endParaRPr>
          </a:p>
        </p:txBody>
      </p:sp>
      <p:sp>
        <p:nvSpPr>
          <p:cNvPr id="12" name="Line Callout 2 11"/>
          <p:cNvSpPr/>
          <p:nvPr/>
        </p:nvSpPr>
        <p:spPr bwMode="auto">
          <a:xfrm>
            <a:off x="6948264" y="4748951"/>
            <a:ext cx="1980728" cy="1200329"/>
          </a:xfrm>
          <a:prstGeom prst="borderCallout2">
            <a:avLst>
              <a:gd name="adj1" fmla="val 33422"/>
              <a:gd name="adj2" fmla="val -1278"/>
              <a:gd name="adj3" fmla="val 33422"/>
              <a:gd name="adj4" fmla="val -17451"/>
              <a:gd name="adj5" fmla="val -29512"/>
              <a:gd name="adj6" fmla="val -75155"/>
            </a:avLst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" charset="0"/>
                <a:ea typeface="宋体" pitchFamily="2" charset="-122"/>
              </a:rPr>
              <a:t>Payment record created in database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5364088" y="4316903"/>
            <a:ext cx="144016" cy="144016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宋体" pitchFamily="2" charset="-122"/>
            </a:endParaRPr>
          </a:p>
        </p:txBody>
      </p:sp>
      <p:sp>
        <p:nvSpPr>
          <p:cNvPr id="14" name="Line Callout 2 13"/>
          <p:cNvSpPr/>
          <p:nvPr/>
        </p:nvSpPr>
        <p:spPr bwMode="auto">
          <a:xfrm>
            <a:off x="5868144" y="2300679"/>
            <a:ext cx="2736304" cy="830997"/>
          </a:xfrm>
          <a:prstGeom prst="borderCallout2">
            <a:avLst>
              <a:gd name="adj1" fmla="val 51761"/>
              <a:gd name="adj2" fmla="val -774"/>
              <a:gd name="adj3" fmla="val 51761"/>
              <a:gd name="adj4" fmla="val -27700"/>
              <a:gd name="adj5" fmla="val 159148"/>
              <a:gd name="adj6" fmla="val -46190"/>
            </a:avLst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" charset="0"/>
                <a:ea typeface="宋体" pitchFamily="2" charset="-122"/>
              </a:rPr>
              <a:t>Payment notification sent to seller</a:t>
            </a:r>
          </a:p>
        </p:txBody>
      </p:sp>
      <p:sp>
        <p:nvSpPr>
          <p:cNvPr id="15" name="Oval 14"/>
          <p:cNvSpPr/>
          <p:nvPr/>
        </p:nvSpPr>
        <p:spPr bwMode="auto">
          <a:xfrm>
            <a:off x="4499992" y="3596823"/>
            <a:ext cx="144016" cy="144016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宋体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7172" y="5210035"/>
            <a:ext cx="6681092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shared phenomena define the interface through which the machine interacts with the world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2BDA782-AEDF-8941-AB80-B26721000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74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is software?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1"/>
            <a:ext cx="8655372" cy="5688631"/>
          </a:xfrm>
        </p:spPr>
        <p:txBody>
          <a:bodyPr/>
          <a:lstStyle/>
          <a:p>
            <a:pPr marL="536575" indent="-536575">
              <a:spcBef>
                <a:spcPts val="0"/>
              </a:spcBef>
            </a:pPr>
            <a:r>
              <a:rPr lang="en-GB" sz="2800" dirty="0"/>
              <a:t>Software </a:t>
            </a:r>
          </a:p>
          <a:p>
            <a:pPr marL="985838" lvl="1" indent="-449263">
              <a:spcBef>
                <a:spcPts val="0"/>
              </a:spcBef>
            </a:pPr>
            <a:r>
              <a:rPr lang="en-GB" sz="2400" i="1" dirty="0"/>
              <a:t>Software is a system consists of a program and a set of related documents</a:t>
            </a:r>
          </a:p>
          <a:p>
            <a:pPr marL="985838" lvl="1" indent="-449263">
              <a:spcBef>
                <a:spcPts val="0"/>
              </a:spcBef>
            </a:pPr>
            <a:r>
              <a:rPr lang="en-GB" sz="2400" dirty="0"/>
              <a:t>Software is a component of a computer system</a:t>
            </a:r>
          </a:p>
          <a:p>
            <a:pPr marL="985838" lvl="1" indent="-449263">
              <a:spcBef>
                <a:spcPts val="0"/>
              </a:spcBef>
            </a:pPr>
            <a:r>
              <a:rPr lang="en-GB" sz="2400" dirty="0"/>
              <a:t>A computer system is a component of the real world</a:t>
            </a:r>
          </a:p>
          <a:p>
            <a:pPr marL="536575" indent="-536575">
              <a:spcBef>
                <a:spcPts val="0"/>
              </a:spcBef>
            </a:pPr>
            <a:r>
              <a:rPr lang="en-GB" sz="2800" dirty="0"/>
              <a:t>Environment</a:t>
            </a:r>
          </a:p>
          <a:p>
            <a:pPr marL="989013" lvl="1" indent="-452438">
              <a:spcBef>
                <a:spcPts val="0"/>
              </a:spcBef>
            </a:pPr>
            <a:r>
              <a:rPr lang="en-GB" sz="2400" dirty="0"/>
              <a:t>There are other components in the system</a:t>
            </a:r>
          </a:p>
          <a:p>
            <a:pPr marL="989013" lvl="1" indent="-452438">
              <a:spcBef>
                <a:spcPts val="0"/>
              </a:spcBef>
            </a:pPr>
            <a:r>
              <a:rPr lang="en-GB" sz="2400" dirty="0"/>
              <a:t>They will generally pertain to the machine’s surrounding world</a:t>
            </a:r>
          </a:p>
          <a:p>
            <a:pPr marL="989013" lvl="1" indent="-452438">
              <a:spcBef>
                <a:spcPts val="0"/>
              </a:spcBef>
            </a:pPr>
            <a:r>
              <a:rPr lang="en-GB" sz="2400" dirty="0"/>
              <a:t>Typical such components include:</a:t>
            </a:r>
          </a:p>
          <a:p>
            <a:pPr marL="1436688" lvl="2" indent="-447675">
              <a:spcBef>
                <a:spcPts val="0"/>
              </a:spcBef>
            </a:pPr>
            <a:r>
              <a:rPr lang="en-GB" sz="2400" dirty="0"/>
              <a:t>People or business units in the organisation</a:t>
            </a:r>
          </a:p>
          <a:p>
            <a:pPr marL="1436688" lvl="2" indent="-447675">
              <a:spcBef>
                <a:spcPts val="0"/>
              </a:spcBef>
            </a:pPr>
            <a:r>
              <a:rPr lang="en-GB" sz="2400" dirty="0"/>
              <a:t>Physical devices, such as sensors, actuators, measurement instruments or communication media</a:t>
            </a:r>
          </a:p>
          <a:p>
            <a:pPr marL="1436688" lvl="2" indent="-447675">
              <a:spcBef>
                <a:spcPts val="0"/>
              </a:spcBef>
            </a:pPr>
            <a:r>
              <a:rPr lang="en-GB" sz="2400" dirty="0"/>
              <a:t>Legacy, off-the-shelve or foreign software components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85347-5F50-D646-8A7B-0953E9709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70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Nature of RE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208912" cy="292759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Requirements engineering is concerned with the transfer from the system-as-is to the system-to-be.</a:t>
            </a:r>
          </a:p>
          <a:p>
            <a:pPr>
              <a:spcBef>
                <a:spcPts val="0"/>
              </a:spcBef>
            </a:pPr>
            <a:r>
              <a:rPr lang="en-US" sz="2800" dirty="0"/>
              <a:t>The system-as-is:</a:t>
            </a:r>
          </a:p>
          <a:p>
            <a:pPr lvl="1">
              <a:spcBef>
                <a:spcPts val="0"/>
              </a:spcBef>
              <a:buNone/>
            </a:pPr>
            <a:r>
              <a:rPr lang="en-US" sz="2400" dirty="0"/>
              <a:t>The system as it exists before the machine is built into it</a:t>
            </a:r>
          </a:p>
          <a:p>
            <a:pPr>
              <a:spcBef>
                <a:spcPts val="0"/>
              </a:spcBef>
            </a:pPr>
            <a:r>
              <a:rPr lang="en-US" sz="2800" dirty="0"/>
              <a:t>The system-to-be:</a:t>
            </a:r>
          </a:p>
          <a:p>
            <a:pPr marL="447675" lvl="1" indent="9525">
              <a:spcBef>
                <a:spcPts val="0"/>
              </a:spcBef>
              <a:buNone/>
            </a:pPr>
            <a:r>
              <a:rPr lang="en-US" sz="2400" dirty="0"/>
              <a:t>The system as it should be when the machine will be built and operated in it.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3694044"/>
            <a:ext cx="8208912" cy="267765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A </a:t>
            </a:r>
            <a:r>
              <a:rPr lang="en-US" sz="2400" i="1" dirty="0">
                <a:solidFill>
                  <a:srgbClr val="002060"/>
                </a:solidFill>
              </a:rPr>
              <a:t>system</a:t>
            </a:r>
            <a:r>
              <a:rPr lang="en-US" sz="2400" dirty="0">
                <a:solidFill>
                  <a:srgbClr val="002060"/>
                </a:solidFill>
              </a:rPr>
              <a:t> consists of a set of components interacting with each other to satisfy some global goals. </a:t>
            </a:r>
          </a:p>
          <a:p>
            <a:pPr marL="355600" indent="-355600"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The components in a system can also be a system (i.e. subsystem). </a:t>
            </a:r>
          </a:p>
          <a:p>
            <a:pPr marL="355600" indent="-355600"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While intrinsically composite, a system can be seen as a whole through the global properties emerging from component interaction.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0AD7-9660-EC41-A8D0-9742E6DC7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5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Arial" charset="0"/>
                <a:ea typeface="ＭＳ Ｐゴシック" charset="0"/>
              </a:rPr>
              <a:t>Types of Requirements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95288" y="908050"/>
            <a:ext cx="4270375" cy="5616575"/>
          </a:xfrm>
        </p:spPr>
        <p:txBody>
          <a:bodyPr>
            <a:normAutofit lnSpcReduction="10000"/>
          </a:bodyPr>
          <a:lstStyle/>
          <a:p>
            <a:pPr marL="177800" indent="-177800" algn="ctr" eaLnBrk="1" hangingPunct="1">
              <a:buFont typeface="Wingdings" charset="2"/>
              <a:buNone/>
              <a:defRPr/>
            </a:pPr>
            <a:r>
              <a:rPr lang="en-GB" sz="2800" dirty="0">
                <a:cs typeface="+mn-cs"/>
              </a:rPr>
              <a:t>Functional  </a:t>
            </a:r>
          </a:p>
          <a:p>
            <a:pPr marL="342900" indent="-342900" eaLnBrk="1" hangingPunct="1">
              <a:buFont typeface="Arial"/>
              <a:buChar char="•"/>
              <a:defRPr/>
            </a:pPr>
            <a:r>
              <a:rPr lang="en-GB" sz="2800" b="0" dirty="0">
                <a:cs typeface="+mn-cs"/>
              </a:rPr>
              <a:t>Defines the functions performed and provided  by a system </a:t>
            </a:r>
          </a:p>
          <a:p>
            <a:pPr marL="728663" lvl="1" indent="-366713">
              <a:buFont typeface="Courier New" panose="02070309020205020404" pitchFamily="49" charset="0"/>
              <a:buChar char="o"/>
              <a:defRPr/>
            </a:pPr>
            <a:r>
              <a:rPr lang="en-GB" sz="2800" b="0" dirty="0">
                <a:cs typeface="+mn-cs"/>
              </a:rPr>
              <a:t>Interactions between the system and its environment</a:t>
            </a:r>
          </a:p>
          <a:p>
            <a:pPr marL="990600" lvl="2" indent="-366713">
              <a:buFont typeface="Courier New" panose="02070309020205020404" pitchFamily="49" charset="0"/>
              <a:buChar char="o"/>
              <a:defRPr/>
            </a:pPr>
            <a:r>
              <a:rPr lang="en-GB" sz="2400" dirty="0"/>
              <a:t>Exchange (input and/or output) of data between the system and its environment</a:t>
            </a:r>
            <a:endParaRPr lang="en-GB" sz="2400" b="0" dirty="0">
              <a:cs typeface="+mn-cs"/>
            </a:endParaRPr>
          </a:p>
          <a:p>
            <a:pPr marL="990600" lvl="2" indent="-366713">
              <a:buFont typeface="Courier New" panose="02070309020205020404" pitchFamily="49" charset="0"/>
              <a:buChar char="o"/>
              <a:defRPr/>
            </a:pPr>
            <a:r>
              <a:rPr lang="en-GB" sz="2400" dirty="0"/>
              <a:t>Change of system’s internal state</a:t>
            </a:r>
            <a:endParaRPr lang="en-US" sz="2400" b="0" dirty="0">
              <a:cs typeface="+mn-cs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752975" y="908050"/>
            <a:ext cx="4140200" cy="5616575"/>
          </a:xfrm>
        </p:spPr>
        <p:txBody>
          <a:bodyPr>
            <a:normAutofit lnSpcReduction="10000"/>
          </a:bodyPr>
          <a:lstStyle/>
          <a:p>
            <a:pPr marL="177800" indent="-177800" algn="ctr" eaLnBrk="1" hangingPunct="1">
              <a:buFont typeface="Wingdings" charset="2"/>
              <a:buNone/>
              <a:defRPr/>
            </a:pPr>
            <a:r>
              <a:rPr lang="en-GB" sz="2800" dirty="0">
                <a:cs typeface="+mn-cs"/>
              </a:rPr>
              <a:t>Non-functional</a:t>
            </a:r>
          </a:p>
          <a:p>
            <a:pPr marL="342900" indent="-342900" eaLnBrk="1" hangingPunct="1">
              <a:buFont typeface="Arial"/>
              <a:buChar char="•"/>
              <a:defRPr/>
            </a:pPr>
            <a:r>
              <a:rPr lang="en-GB" sz="2800" b="0" dirty="0">
                <a:cs typeface="+mn-cs"/>
              </a:rPr>
              <a:t>Describes a restriction or constraint that limits the choices for a system and its development</a:t>
            </a:r>
          </a:p>
          <a:p>
            <a:pPr marL="728663" lvl="1" indent="-317500">
              <a:buFont typeface="Courier New" panose="02070309020205020404" pitchFamily="49" charset="0"/>
              <a:buChar char="o"/>
              <a:defRPr/>
            </a:pPr>
            <a:r>
              <a:rPr lang="en-GB" sz="2800" b="0" dirty="0"/>
              <a:t>Q</a:t>
            </a:r>
            <a:r>
              <a:rPr lang="en-GB" sz="2800" b="0" dirty="0">
                <a:cs typeface="+mn-cs"/>
              </a:rPr>
              <a:t>uality attributes</a:t>
            </a:r>
          </a:p>
          <a:p>
            <a:pPr marL="728663" lvl="1" indent="-317500">
              <a:buFont typeface="Courier New" panose="02070309020205020404" pitchFamily="49" charset="0"/>
              <a:buChar char="o"/>
              <a:defRPr/>
            </a:pPr>
            <a:r>
              <a:rPr lang="en-GB" sz="2800" dirty="0"/>
              <a:t>Design constraints</a:t>
            </a:r>
          </a:p>
          <a:p>
            <a:pPr marL="990600" lvl="2" indent="-265113">
              <a:buFont typeface="Wingdings" pitchFamily="2" charset="2"/>
              <a:buChar char="§"/>
              <a:defRPr/>
            </a:pPr>
            <a:r>
              <a:rPr lang="en-GB" sz="2400" dirty="0"/>
              <a:t>Features</a:t>
            </a:r>
          </a:p>
          <a:p>
            <a:pPr marL="990600" lvl="2" indent="-265113">
              <a:buFont typeface="Wingdings" pitchFamily="2" charset="2"/>
              <a:buChar char="§"/>
              <a:defRPr/>
            </a:pPr>
            <a:r>
              <a:rPr lang="en-GB" sz="2400" b="0" dirty="0">
                <a:cs typeface="+mn-cs"/>
              </a:rPr>
              <a:t>Compliance to standards</a:t>
            </a:r>
          </a:p>
          <a:p>
            <a:pPr marL="990600" lvl="2" indent="-265113">
              <a:buFont typeface="Wingdings" pitchFamily="2" charset="2"/>
              <a:buChar char="§"/>
              <a:defRPr/>
            </a:pPr>
            <a:r>
              <a:rPr lang="en-GB" sz="2400" dirty="0"/>
              <a:t>L</a:t>
            </a:r>
            <a:r>
              <a:rPr lang="en-GB" sz="2400" b="0" dirty="0">
                <a:cs typeface="+mn-cs"/>
              </a:rPr>
              <a:t>egal requirements, etc. </a:t>
            </a:r>
            <a:endParaRPr lang="en-US" sz="2400" b="0" dirty="0">
              <a:cs typeface="+mn-cs"/>
            </a:endParaRPr>
          </a:p>
          <a:p>
            <a:pPr eaLnBrk="1" hangingPunct="1">
              <a:buFont typeface="Wingdings" charset="2"/>
              <a:buNone/>
              <a:defRPr/>
            </a:pPr>
            <a:endParaRPr lang="en-US" sz="2800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8D663-E847-B54D-934A-654AAC827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02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655372" cy="5231854"/>
          </a:xfrm>
        </p:spPr>
        <p:txBody>
          <a:bodyPr/>
          <a:lstStyle/>
          <a:p>
            <a:pPr marL="460374" indent="-457200">
              <a:spcBef>
                <a:spcPts val="0"/>
              </a:spcBef>
              <a:buFont typeface="Wingdings" pitchFamily="2" charset="2"/>
              <a:buChar char="Ø"/>
            </a:pPr>
            <a:r>
              <a:rPr lang="en-US" sz="3200" dirty="0"/>
              <a:t>Functional requirements define the functional </a:t>
            </a:r>
            <a:r>
              <a:rPr lang="en-US" sz="3200" b="1" dirty="0"/>
              <a:t>effects</a:t>
            </a:r>
            <a:r>
              <a:rPr lang="en-US" sz="3200" dirty="0"/>
              <a:t> that the software-to-be is required to have on its environment</a:t>
            </a:r>
          </a:p>
          <a:p>
            <a:pPr marL="460374" indent="-457200">
              <a:spcBef>
                <a:spcPts val="0"/>
              </a:spcBef>
              <a:buFont typeface="Wingdings" pitchFamily="2" charset="2"/>
              <a:buChar char="Ø"/>
            </a:pPr>
            <a:r>
              <a:rPr lang="en-US" sz="3200" dirty="0"/>
              <a:t>Examples:</a:t>
            </a:r>
          </a:p>
          <a:p>
            <a:pPr marL="895350" lvl="1" indent="-441325">
              <a:spcBef>
                <a:spcPts val="0"/>
              </a:spcBef>
            </a:pPr>
            <a:r>
              <a:rPr lang="en-US" sz="2800" dirty="0"/>
              <a:t>“The bibliographic search engine shall provide a list of all library books on a given subject.”</a:t>
            </a:r>
          </a:p>
          <a:p>
            <a:pPr marL="895350" lvl="1" indent="-441325">
              <a:spcBef>
                <a:spcPts val="0"/>
              </a:spcBef>
            </a:pPr>
            <a:r>
              <a:rPr lang="en-US" sz="2800" dirty="0"/>
              <a:t>“The train control software shall control the acceleration of all the trains in the system.”</a:t>
            </a:r>
          </a:p>
          <a:p>
            <a:pPr marL="895350" lvl="1" indent="-441325">
              <a:spcBef>
                <a:spcPts val="0"/>
              </a:spcBef>
            </a:pPr>
            <a:r>
              <a:rPr lang="en-US" sz="2800" dirty="0"/>
              <a:t>“The meeting scheduler shall determine schedules that fit the diary constraints of all invited participants.”</a:t>
            </a:r>
          </a:p>
        </p:txBody>
      </p:sp>
      <p:sp>
        <p:nvSpPr>
          <p:cNvPr id="4" name="Line Callout 2 3"/>
          <p:cNvSpPr/>
          <p:nvPr/>
        </p:nvSpPr>
        <p:spPr bwMode="auto">
          <a:xfrm>
            <a:off x="4686750" y="5517232"/>
            <a:ext cx="4176464" cy="1015663"/>
          </a:xfrm>
          <a:prstGeom prst="borderCallout2">
            <a:avLst>
              <a:gd name="adj1" fmla="val 46388"/>
              <a:gd name="adj2" fmla="val -606"/>
              <a:gd name="adj3" fmla="val 47155"/>
              <a:gd name="adj4" fmla="val -19355"/>
              <a:gd name="adj5" fmla="val -353776"/>
              <a:gd name="adj6" fmla="val -65096"/>
            </a:avLst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" charset="0"/>
                <a:ea typeface="宋体" pitchFamily="2" charset="-122"/>
              </a:rPr>
              <a:t>This implies that there must be interactions between the software-to-be and its environment</a:t>
            </a:r>
          </a:p>
        </p:txBody>
      </p:sp>
      <p:sp>
        <p:nvSpPr>
          <p:cNvPr id="5" name="Line Callout 2 4"/>
          <p:cNvSpPr/>
          <p:nvPr/>
        </p:nvSpPr>
        <p:spPr bwMode="auto">
          <a:xfrm>
            <a:off x="6264375" y="2103946"/>
            <a:ext cx="2592288" cy="830997"/>
          </a:xfrm>
          <a:prstGeom prst="borderCallout2">
            <a:avLst>
              <a:gd name="adj1" fmla="val 50698"/>
              <a:gd name="adj2" fmla="val 844"/>
              <a:gd name="adj3" fmla="val 58640"/>
              <a:gd name="adj4" fmla="val -98939"/>
              <a:gd name="adj5" fmla="val -31408"/>
              <a:gd name="adj6" fmla="val -158833"/>
            </a:avLst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They address the WHAT aspects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8CD248-EB45-CA49-8EBC-897C0A28C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9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65175"/>
            <a:ext cx="2303462" cy="490538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GB" sz="2400">
                <a:solidFill>
                  <a:schemeClr val="bg2"/>
                </a:solidFill>
                <a:latin typeface="Tahoma" charset="0"/>
                <a:ea typeface="ＭＳ Ｐゴシック" charset="0"/>
              </a:rPr>
              <a:t>Functions</a:t>
            </a:r>
          </a:p>
        </p:txBody>
      </p:sp>
      <p:sp>
        <p:nvSpPr>
          <p:cNvPr id="25602" name="Rectangle 4"/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4103687" cy="2017712"/>
          </a:xfrm>
          <a:solidFill>
            <a:schemeClr val="accent1"/>
          </a:solidFill>
        </p:spPr>
        <p:txBody>
          <a:bodyPr/>
          <a:lstStyle/>
          <a:p>
            <a:pPr marL="358775" indent="-301625" eaLnBrk="1" hangingPunct="1">
              <a:spcBef>
                <a:spcPct val="0"/>
              </a:spcBef>
              <a:buFont typeface="Arial" charset="0"/>
              <a:buChar char="•"/>
            </a:pPr>
            <a:r>
              <a:rPr lang="en-US" dirty="0">
                <a:latin typeface="Arial" charset="0"/>
                <a:ea typeface="ＭＳ Ｐゴシック" charset="0"/>
                <a:cs typeface="Times New Roman" charset="0"/>
              </a:rPr>
              <a:t>The functions/services that the system should provide</a:t>
            </a:r>
          </a:p>
          <a:p>
            <a:pPr marL="358775" indent="-301625" eaLnBrk="1" hangingPunct="1">
              <a:spcBef>
                <a:spcPct val="0"/>
              </a:spcBef>
              <a:buFont typeface="Arial" charset="0"/>
              <a:buChar char="•"/>
            </a:pPr>
            <a:r>
              <a:rPr lang="en-US" dirty="0">
                <a:latin typeface="Arial" charset="0"/>
                <a:ea typeface="ＭＳ Ｐゴシック" charset="0"/>
                <a:cs typeface="Times New Roman" charset="0"/>
              </a:rPr>
              <a:t>The actors in the environment to interactions with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0125" y="6346825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C021596-07C6-214C-8B31-34E5E5D573CA}" type="slidenum">
              <a:rPr lang="en-GB" sz="1800"/>
              <a:pPr eaLnBrk="1" hangingPunct="1"/>
              <a:t>11</a:t>
            </a:fld>
            <a:endParaRPr lang="en-GB" sz="1800"/>
          </a:p>
        </p:txBody>
      </p:sp>
      <p:sp>
        <p:nvSpPr>
          <p:cNvPr id="25604" name="Slide Number Placeholder 5"/>
          <p:cNvSpPr txBox="1">
            <a:spLocks noGrp="1"/>
          </p:cNvSpPr>
          <p:nvPr/>
        </p:nvSpPr>
        <p:spPr bwMode="auto">
          <a:xfrm>
            <a:off x="8421688" y="6346825"/>
            <a:ext cx="5238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1807DBB-689C-EB4E-8ADD-0A12F1F7AC48}" type="slidenum">
              <a:rPr lang="en-GB" sz="1400" b="1">
                <a:solidFill>
                  <a:srgbClr val="FFFFFF"/>
                </a:solidFill>
              </a:rPr>
              <a:pPr eaLnBrk="1" hangingPunct="1"/>
              <a:t>11</a:t>
            </a:fld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4787900" y="765175"/>
            <a:ext cx="2303463" cy="4905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GB" sz="2400" b="1">
                <a:solidFill>
                  <a:schemeClr val="tx2"/>
                </a:solidFill>
                <a:latin typeface="Tahoma" charset="0"/>
              </a:rPr>
              <a:t>Data</a:t>
            </a:r>
          </a:p>
        </p:txBody>
      </p:sp>
      <p:sp>
        <p:nvSpPr>
          <p:cNvPr id="25606" name="Rectangle 7"/>
          <p:cNvSpPr>
            <a:spLocks noChangeArrowheads="1"/>
          </p:cNvSpPr>
          <p:nvPr/>
        </p:nvSpPr>
        <p:spPr bwMode="auto">
          <a:xfrm>
            <a:off x="4787900" y="1268413"/>
            <a:ext cx="3960813" cy="194468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GB" sz="2000">
                <a:solidFill>
                  <a:srgbClr val="36424A"/>
                </a:solidFill>
                <a:latin typeface="Tahoma" charset="0"/>
              </a:rPr>
              <a:t>Output – what information is needed from the system</a:t>
            </a:r>
          </a:p>
          <a:p>
            <a:pPr marL="342900" indent="-342900">
              <a:buFontTx/>
              <a:buChar char="•"/>
            </a:pPr>
            <a:r>
              <a:rPr lang="en-GB" sz="2000">
                <a:solidFill>
                  <a:srgbClr val="36424A"/>
                </a:solidFill>
                <a:latin typeface="Tahoma" charset="0"/>
              </a:rPr>
              <a:t>Input – what data has to be input to provide output</a:t>
            </a:r>
          </a:p>
          <a:p>
            <a:pPr marL="342900" indent="-342900">
              <a:buFontTx/>
              <a:buChar char="•"/>
            </a:pPr>
            <a:r>
              <a:rPr lang="en-GB" sz="2000">
                <a:solidFill>
                  <a:srgbClr val="36424A"/>
                </a:solidFill>
                <a:latin typeface="Tahoma" charset="0"/>
              </a:rPr>
              <a:t>Data Storage – what is to be retained</a:t>
            </a:r>
          </a:p>
        </p:txBody>
      </p:sp>
      <p:sp>
        <p:nvSpPr>
          <p:cNvPr id="25607" name="Rectangle 8"/>
          <p:cNvSpPr>
            <a:spLocks noChangeArrowheads="1"/>
          </p:cNvSpPr>
          <p:nvPr/>
        </p:nvSpPr>
        <p:spPr bwMode="auto">
          <a:xfrm>
            <a:off x="4787900" y="3429000"/>
            <a:ext cx="2303463" cy="4905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GB" sz="2400" b="1">
                <a:solidFill>
                  <a:schemeClr val="tx2"/>
                </a:solidFill>
                <a:latin typeface="Tahoma" charset="0"/>
              </a:rPr>
              <a:t>Interfaces</a:t>
            </a:r>
          </a:p>
        </p:txBody>
      </p:sp>
      <p:sp>
        <p:nvSpPr>
          <p:cNvPr id="25608" name="Rectangle 9"/>
          <p:cNvSpPr>
            <a:spLocks noChangeArrowheads="1"/>
          </p:cNvSpPr>
          <p:nvPr/>
        </p:nvSpPr>
        <p:spPr bwMode="auto">
          <a:xfrm>
            <a:off x="4787900" y="4005263"/>
            <a:ext cx="3960813" cy="1008062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GB" sz="2000">
                <a:solidFill>
                  <a:schemeClr val="tx2"/>
                </a:solidFill>
                <a:latin typeface="Tahoma" charset="0"/>
              </a:rPr>
              <a:t>The interface with the other components in the system that the function has accessed</a:t>
            </a:r>
          </a:p>
        </p:txBody>
      </p:sp>
      <p:sp>
        <p:nvSpPr>
          <p:cNvPr id="8201" name="Text Box 10"/>
          <p:cNvSpPr txBox="1">
            <a:spLocks noChangeArrowheads="1"/>
          </p:cNvSpPr>
          <p:nvPr/>
        </p:nvSpPr>
        <p:spPr bwMode="auto">
          <a:xfrm>
            <a:off x="395536" y="188913"/>
            <a:ext cx="8569077" cy="64633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3600" b="1" dirty="0">
                <a:latin typeface="+mj-lt"/>
                <a:ea typeface="+mj-ea"/>
                <a:cs typeface="+mj-cs"/>
              </a:rPr>
              <a:t>Aspects</a:t>
            </a:r>
            <a:r>
              <a:rPr lang="en-GB" sz="3600" dirty="0">
                <a:latin typeface="Arial" pitchFamily="34" charset="0"/>
                <a:ea typeface="+mn-ea"/>
                <a:cs typeface="+mn-cs"/>
              </a:rPr>
              <a:t> </a:t>
            </a:r>
            <a:r>
              <a:rPr lang="en-GB" sz="3600" b="1" dirty="0">
                <a:latin typeface="+mj-lt"/>
                <a:ea typeface="+mj-ea"/>
                <a:cs typeface="+mj-cs"/>
              </a:rPr>
              <a:t>of</a:t>
            </a:r>
            <a:r>
              <a:rPr lang="en-GB" sz="3600" dirty="0">
                <a:latin typeface="Arial" pitchFamily="34" charset="0"/>
                <a:ea typeface="+mn-ea"/>
                <a:cs typeface="+mn-cs"/>
              </a:rPr>
              <a:t> </a:t>
            </a:r>
            <a:r>
              <a:rPr lang="en-GB" sz="3600" b="1" dirty="0">
                <a:latin typeface="+mj-lt"/>
                <a:ea typeface="+mj-ea"/>
                <a:cs typeface="+mj-cs"/>
              </a:rPr>
              <a:t>Functional</a:t>
            </a:r>
            <a:r>
              <a:rPr lang="en-GB" sz="3600" dirty="0">
                <a:latin typeface="Arial" pitchFamily="34" charset="0"/>
                <a:ea typeface="+mn-ea"/>
                <a:cs typeface="+mn-cs"/>
              </a:rPr>
              <a:t> </a:t>
            </a:r>
            <a:r>
              <a:rPr lang="en-GB" sz="3600" b="1" dirty="0">
                <a:latin typeface="+mj-lt"/>
                <a:ea typeface="+mj-ea"/>
                <a:cs typeface="+mj-cs"/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313" y="3429000"/>
            <a:ext cx="1582737" cy="461963"/>
          </a:xfrm>
          <a:prstGeom prst="rect">
            <a:avLst/>
          </a:prstGeom>
          <a:solidFill>
            <a:srgbClr val="FF6FDE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36424A"/>
                </a:solidFill>
                <a:latin typeface="+mj-lt"/>
              </a:rPr>
              <a:t>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3" y="5084763"/>
            <a:ext cx="1584325" cy="461962"/>
          </a:xfrm>
          <a:prstGeom prst="rect">
            <a:avLst/>
          </a:prstGeom>
          <a:solidFill>
            <a:srgbClr val="B5D0FF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36424A"/>
                </a:solidFill>
                <a:latin typeface="+mj-lt"/>
              </a:rPr>
              <a:t>Events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8313" y="3933825"/>
            <a:ext cx="4032250" cy="10144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36424A"/>
                </a:solidFill>
                <a:cs typeface="Arial" charset="0"/>
              </a:rPr>
              <a:t>The states of the system before and after the function is used and the intermediate states if 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13" y="5581650"/>
            <a:ext cx="5472112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txBody>
          <a:bodyPr>
            <a:sp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en-US" sz="2000" dirty="0">
                <a:solidFill>
                  <a:srgbClr val="36424A"/>
                </a:solidFill>
                <a:cs typeface="Arial" charset="0"/>
              </a:rPr>
              <a:t>The event that triggers the function 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2000" dirty="0">
                <a:solidFill>
                  <a:srgbClr val="36424A"/>
                </a:solidFill>
                <a:cs typeface="Arial" charset="0"/>
              </a:rPr>
              <a:t>The events generated by the function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2000" dirty="0">
                <a:solidFill>
                  <a:srgbClr val="36424A"/>
                </a:solidFill>
                <a:cs typeface="Arial" charset="0"/>
              </a:rPr>
              <a:t>The event performed after the function </a:t>
            </a:r>
          </a:p>
        </p:txBody>
      </p:sp>
    </p:spTree>
    <p:extLst>
      <p:ext uri="{BB962C8B-B14F-4D97-AF65-F5344CB8AC3E}">
        <p14:creationId xmlns:p14="http://schemas.microsoft.com/office/powerpoint/2010/main" val="37565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655372" cy="5544616"/>
          </a:xfrm>
        </p:spPr>
        <p:txBody>
          <a:bodyPr/>
          <a:lstStyle/>
          <a:p>
            <a:pPr marL="641349" indent="-457200">
              <a:buFont typeface="Wingdings" pitchFamily="2" charset="2"/>
              <a:buChar char="Ø"/>
            </a:pPr>
            <a:r>
              <a:rPr lang="en-US" sz="3200" dirty="0"/>
              <a:t>They define constraints on the way the software-to-be should satisfy its functional requirements or on the way it should be developed. </a:t>
            </a:r>
          </a:p>
          <a:p>
            <a:pPr marL="641349" indent="-457200">
              <a:buFont typeface="Wingdings" pitchFamily="2" charset="2"/>
              <a:buChar char="Ø"/>
            </a:pPr>
            <a:r>
              <a:rPr lang="en-US" sz="3200" dirty="0"/>
              <a:t>Examples:</a:t>
            </a:r>
          </a:p>
          <a:p>
            <a:pPr marL="895350" lvl="1" indent="-355600"/>
            <a:r>
              <a:rPr lang="en-US" sz="2800" dirty="0"/>
              <a:t>“</a:t>
            </a:r>
            <a:r>
              <a:rPr lang="en-US" sz="2400" dirty="0"/>
              <a:t>The format for submitting bibliographic queries and displaying answers shall be accessible to students who have no computer expertise.”</a:t>
            </a:r>
          </a:p>
          <a:p>
            <a:pPr marL="895350" lvl="1" indent="-355600"/>
            <a:r>
              <a:rPr lang="en-US" sz="2400" dirty="0"/>
              <a:t>“Acceleration commands shall be sent to every train every 3 seconds.”</a:t>
            </a:r>
          </a:p>
          <a:p>
            <a:pPr marL="895350" lvl="1" indent="-355600"/>
            <a:r>
              <a:rPr lang="en-US" sz="2400" dirty="0"/>
              <a:t>“The diary constraints of a participant may not be disclosed to any other invited participant.”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48237-C5D6-E14F-BA42-4B4490473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26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575"/>
            <a:ext cx="8461127" cy="648072"/>
          </a:xfrm>
        </p:spPr>
        <p:txBody>
          <a:bodyPr/>
          <a:lstStyle/>
          <a:p>
            <a:r>
              <a:rPr lang="en-US" dirty="0"/>
              <a:t>Taxonomy of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019531"/>
            <a:ext cx="1696417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5736" y="1916832"/>
            <a:ext cx="1604881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Quality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44" y="3140968"/>
            <a:ext cx="140352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Compliance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44" y="4077072"/>
            <a:ext cx="147514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Architectural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44" y="5301208"/>
            <a:ext cx="1551781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Development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5427" y="847818"/>
            <a:ext cx="83906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Safety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4373" y="1313185"/>
            <a:ext cx="101850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Security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6233" y="1778552"/>
            <a:ext cx="117246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Reliability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7938" y="2321480"/>
            <a:ext cx="150609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Performance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9952" y="3501008"/>
            <a:ext cx="112442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Interface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363" y="2786847"/>
            <a:ext cx="114674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Accuracy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330" y="692696"/>
            <a:ext cx="163458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Confidentiality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8087" y="1080502"/>
            <a:ext cx="100576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Integrity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985" y="1468308"/>
            <a:ext cx="13521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Failure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874" y="1856113"/>
            <a:ext cx="128753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Availability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1886" y="2243919"/>
            <a:ext cx="68904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Time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3116" y="2631725"/>
            <a:ext cx="83918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Space </a:t>
            </a:r>
          </a:p>
        </p:txBody>
      </p:sp>
      <p:cxnSp>
        <p:nvCxnSpPr>
          <p:cNvPr id="22" name="Straight Connector 21"/>
          <p:cNvCxnSpPr>
            <a:stCxn id="4" idx="3"/>
            <a:endCxn id="5" idx="1"/>
          </p:cNvCxnSpPr>
          <p:nvPr/>
        </p:nvCxnSpPr>
        <p:spPr bwMode="auto">
          <a:xfrm flipV="1">
            <a:off x="1803921" y="2239998"/>
            <a:ext cx="391815" cy="11026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4" name="Straight Arrow Connector 23"/>
          <p:cNvCxnSpPr>
            <a:stCxn id="4" idx="3"/>
            <a:endCxn id="6" idx="1"/>
          </p:cNvCxnSpPr>
          <p:nvPr/>
        </p:nvCxnSpPr>
        <p:spPr bwMode="auto">
          <a:xfrm flipV="1">
            <a:off x="1803921" y="3325634"/>
            <a:ext cx="463823" cy="1706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>
            <a:stCxn id="4" idx="3"/>
            <a:endCxn id="7" idx="1"/>
          </p:cNvCxnSpPr>
          <p:nvPr/>
        </p:nvCxnSpPr>
        <p:spPr bwMode="auto">
          <a:xfrm>
            <a:off x="1803921" y="3342697"/>
            <a:ext cx="463823" cy="105754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>
            <a:stCxn id="4" idx="3"/>
            <a:endCxn id="8" idx="1"/>
          </p:cNvCxnSpPr>
          <p:nvPr/>
        </p:nvCxnSpPr>
        <p:spPr bwMode="auto">
          <a:xfrm>
            <a:off x="1803921" y="3342697"/>
            <a:ext cx="463823" cy="228167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stCxn id="5" idx="3"/>
            <a:endCxn id="9" idx="1"/>
          </p:cNvCxnSpPr>
          <p:nvPr/>
        </p:nvCxnSpPr>
        <p:spPr bwMode="auto">
          <a:xfrm flipV="1">
            <a:off x="3800617" y="1032484"/>
            <a:ext cx="584810" cy="120751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Straight Arrow Connector 31"/>
          <p:cNvCxnSpPr>
            <a:stCxn id="5" idx="3"/>
            <a:endCxn id="10" idx="1"/>
          </p:cNvCxnSpPr>
          <p:nvPr/>
        </p:nvCxnSpPr>
        <p:spPr bwMode="auto">
          <a:xfrm flipV="1">
            <a:off x="3800617" y="1497851"/>
            <a:ext cx="593756" cy="74214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>
            <a:stCxn id="5" idx="3"/>
            <a:endCxn id="11" idx="1"/>
          </p:cNvCxnSpPr>
          <p:nvPr/>
        </p:nvCxnSpPr>
        <p:spPr bwMode="auto">
          <a:xfrm flipV="1">
            <a:off x="3800617" y="1963218"/>
            <a:ext cx="695616" cy="27678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>
            <a:stCxn id="5" idx="3"/>
            <a:endCxn id="12" idx="1"/>
          </p:cNvCxnSpPr>
          <p:nvPr/>
        </p:nvCxnSpPr>
        <p:spPr bwMode="auto">
          <a:xfrm>
            <a:off x="3800617" y="2239998"/>
            <a:ext cx="627321" cy="26614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Straight Arrow Connector 37"/>
          <p:cNvCxnSpPr>
            <a:stCxn id="5" idx="3"/>
            <a:endCxn id="13" idx="1"/>
          </p:cNvCxnSpPr>
          <p:nvPr/>
        </p:nvCxnSpPr>
        <p:spPr bwMode="auto">
          <a:xfrm>
            <a:off x="3800617" y="2239998"/>
            <a:ext cx="339335" cy="144567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Straight Arrow Connector 39"/>
          <p:cNvCxnSpPr>
            <a:stCxn id="5" idx="3"/>
            <a:endCxn id="14" idx="1"/>
          </p:cNvCxnSpPr>
          <p:nvPr/>
        </p:nvCxnSpPr>
        <p:spPr bwMode="auto">
          <a:xfrm>
            <a:off x="3800617" y="2239998"/>
            <a:ext cx="588746" cy="73151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Straight Arrow Connector 43"/>
          <p:cNvCxnSpPr>
            <a:stCxn id="10" idx="3"/>
            <a:endCxn id="16" idx="1"/>
          </p:cNvCxnSpPr>
          <p:nvPr/>
        </p:nvCxnSpPr>
        <p:spPr bwMode="auto">
          <a:xfrm flipV="1">
            <a:off x="5412876" y="1265168"/>
            <a:ext cx="595211" cy="23268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Straight Arrow Connector 45"/>
          <p:cNvCxnSpPr>
            <a:stCxn id="10" idx="3"/>
            <a:endCxn id="15" idx="1"/>
          </p:cNvCxnSpPr>
          <p:nvPr/>
        </p:nvCxnSpPr>
        <p:spPr bwMode="auto">
          <a:xfrm flipV="1">
            <a:off x="5412876" y="877362"/>
            <a:ext cx="521454" cy="62048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Straight Arrow Connector 49"/>
          <p:cNvCxnSpPr>
            <a:stCxn id="11" idx="3"/>
            <a:endCxn id="17" idx="1"/>
          </p:cNvCxnSpPr>
          <p:nvPr/>
        </p:nvCxnSpPr>
        <p:spPr bwMode="auto">
          <a:xfrm flipV="1">
            <a:off x="5668699" y="1652974"/>
            <a:ext cx="742286" cy="31024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Straight Arrow Connector 51"/>
          <p:cNvCxnSpPr>
            <a:stCxn id="11" idx="3"/>
            <a:endCxn id="18" idx="1"/>
          </p:cNvCxnSpPr>
          <p:nvPr/>
        </p:nvCxnSpPr>
        <p:spPr bwMode="auto">
          <a:xfrm>
            <a:off x="5668699" y="1963218"/>
            <a:ext cx="708175" cy="7756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Straight Arrow Connector 53"/>
          <p:cNvCxnSpPr>
            <a:stCxn id="12" idx="3"/>
            <a:endCxn id="19" idx="1"/>
          </p:cNvCxnSpPr>
          <p:nvPr/>
        </p:nvCxnSpPr>
        <p:spPr bwMode="auto">
          <a:xfrm flipV="1">
            <a:off x="5934029" y="2428585"/>
            <a:ext cx="467857" cy="7756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Straight Arrow Connector 55"/>
          <p:cNvCxnSpPr>
            <a:stCxn id="12" idx="3"/>
            <a:endCxn id="20" idx="1"/>
          </p:cNvCxnSpPr>
          <p:nvPr/>
        </p:nvCxnSpPr>
        <p:spPr bwMode="auto">
          <a:xfrm>
            <a:off x="5934029" y="2506146"/>
            <a:ext cx="369087" cy="31024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5868144" y="3140968"/>
            <a:ext cx="1303715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User interaction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56176" y="3861048"/>
            <a:ext cx="2306579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Device interaction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56176" y="4293096"/>
            <a:ext cx="280831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Software interoperability</a:t>
            </a:r>
          </a:p>
        </p:txBody>
      </p:sp>
      <p:cxnSp>
        <p:nvCxnSpPr>
          <p:cNvPr id="98" name="Straight Arrow Connector 97"/>
          <p:cNvCxnSpPr>
            <a:stCxn id="13" idx="3"/>
            <a:endCxn id="74" idx="1"/>
          </p:cNvCxnSpPr>
          <p:nvPr/>
        </p:nvCxnSpPr>
        <p:spPr bwMode="auto">
          <a:xfrm flipV="1">
            <a:off x="5264378" y="3464134"/>
            <a:ext cx="603766" cy="22154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Straight Arrow Connector 104"/>
          <p:cNvCxnSpPr>
            <a:stCxn id="13" idx="3"/>
            <a:endCxn id="75" idx="1"/>
          </p:cNvCxnSpPr>
          <p:nvPr/>
        </p:nvCxnSpPr>
        <p:spPr bwMode="auto">
          <a:xfrm>
            <a:off x="5264378" y="3685674"/>
            <a:ext cx="891798" cy="36004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8" name="Straight Arrow Connector 107"/>
          <p:cNvCxnSpPr>
            <a:stCxn id="13" idx="3"/>
            <a:endCxn id="76" idx="1"/>
          </p:cNvCxnSpPr>
          <p:nvPr/>
        </p:nvCxnSpPr>
        <p:spPr bwMode="auto">
          <a:xfrm>
            <a:off x="5264378" y="3685674"/>
            <a:ext cx="891798" cy="7920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9" name="TextBox 118"/>
          <p:cNvSpPr txBox="1"/>
          <p:nvPr/>
        </p:nvSpPr>
        <p:spPr>
          <a:xfrm>
            <a:off x="7596336" y="2996952"/>
            <a:ext cx="112082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Usability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00729" y="3429000"/>
            <a:ext cx="15321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Convenience </a:t>
            </a:r>
          </a:p>
        </p:txBody>
      </p:sp>
      <p:cxnSp>
        <p:nvCxnSpPr>
          <p:cNvPr id="124" name="Straight Arrow Connector 123"/>
          <p:cNvCxnSpPr>
            <a:stCxn id="74" idx="3"/>
            <a:endCxn id="119" idx="1"/>
          </p:cNvCxnSpPr>
          <p:nvPr/>
        </p:nvCxnSpPr>
        <p:spPr bwMode="auto">
          <a:xfrm flipV="1">
            <a:off x="7171859" y="3181618"/>
            <a:ext cx="424477" cy="28251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6" name="Straight Arrow Connector 125"/>
          <p:cNvCxnSpPr>
            <a:stCxn id="74" idx="3"/>
            <a:endCxn id="120" idx="1"/>
          </p:cNvCxnSpPr>
          <p:nvPr/>
        </p:nvCxnSpPr>
        <p:spPr bwMode="auto">
          <a:xfrm>
            <a:off x="7171859" y="3464134"/>
            <a:ext cx="428870" cy="14953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8" name="TextBox 127"/>
          <p:cNvSpPr txBox="1"/>
          <p:nvPr/>
        </p:nvSpPr>
        <p:spPr>
          <a:xfrm>
            <a:off x="4385427" y="4027825"/>
            <a:ext cx="128822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Installation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55976" y="4509120"/>
            <a:ext cx="1339279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Distribution </a:t>
            </a:r>
          </a:p>
        </p:txBody>
      </p:sp>
      <p:cxnSp>
        <p:nvCxnSpPr>
          <p:cNvPr id="131" name="Straight Arrow Connector 130"/>
          <p:cNvCxnSpPr>
            <a:stCxn id="7" idx="3"/>
            <a:endCxn id="128" idx="1"/>
          </p:cNvCxnSpPr>
          <p:nvPr/>
        </p:nvCxnSpPr>
        <p:spPr bwMode="auto">
          <a:xfrm flipV="1">
            <a:off x="3742890" y="4212491"/>
            <a:ext cx="642537" cy="18774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3" name="Straight Arrow Connector 132"/>
          <p:cNvCxnSpPr>
            <a:stCxn id="7" idx="3"/>
            <a:endCxn id="129" idx="1"/>
          </p:cNvCxnSpPr>
          <p:nvPr/>
        </p:nvCxnSpPr>
        <p:spPr bwMode="auto">
          <a:xfrm>
            <a:off x="3742890" y="4400238"/>
            <a:ext cx="613086" cy="29354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4744322" y="5036120"/>
            <a:ext cx="65929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Cost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18079" y="5423926"/>
            <a:ext cx="109582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Deadline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18079" y="5811732"/>
            <a:ext cx="118494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Variability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70564" y="6199538"/>
            <a:ext cx="164731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Maintainability </a:t>
            </a:r>
          </a:p>
        </p:txBody>
      </p:sp>
      <p:cxnSp>
        <p:nvCxnSpPr>
          <p:cNvPr id="142" name="Straight Arrow Connector 141"/>
          <p:cNvCxnSpPr>
            <a:stCxn id="8" idx="3"/>
            <a:endCxn id="135" idx="1"/>
          </p:cNvCxnSpPr>
          <p:nvPr/>
        </p:nvCxnSpPr>
        <p:spPr bwMode="auto">
          <a:xfrm flipV="1">
            <a:off x="3819525" y="5220786"/>
            <a:ext cx="924797" cy="4035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4" name="Straight Arrow Connector 143"/>
          <p:cNvCxnSpPr>
            <a:stCxn id="8" idx="3"/>
            <a:endCxn id="136" idx="1"/>
          </p:cNvCxnSpPr>
          <p:nvPr/>
        </p:nvCxnSpPr>
        <p:spPr bwMode="auto">
          <a:xfrm flipV="1">
            <a:off x="3819525" y="5608592"/>
            <a:ext cx="998554" cy="1578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6" name="Straight Arrow Connector 145"/>
          <p:cNvCxnSpPr>
            <a:stCxn id="8" idx="3"/>
            <a:endCxn id="137" idx="1"/>
          </p:cNvCxnSpPr>
          <p:nvPr/>
        </p:nvCxnSpPr>
        <p:spPr bwMode="auto">
          <a:xfrm>
            <a:off x="3819525" y="5624374"/>
            <a:ext cx="998554" cy="37202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8" name="Straight Arrow Connector 147"/>
          <p:cNvCxnSpPr>
            <a:stCxn id="8" idx="3"/>
            <a:endCxn id="138" idx="1"/>
          </p:cNvCxnSpPr>
          <p:nvPr/>
        </p:nvCxnSpPr>
        <p:spPr bwMode="auto">
          <a:xfrm>
            <a:off x="3819525" y="5624374"/>
            <a:ext cx="851039" cy="75983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B342BED-894F-AF4F-94D9-3044C1868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96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latin typeface="Arial" charset="0"/>
                <a:ea typeface="ＭＳ Ｐゴシック" charset="0"/>
              </a:rPr>
              <a:t>Aspects of Quality Requirements</a:t>
            </a:r>
            <a:endParaRPr lang="en-GB" sz="3600" dirty="0">
              <a:latin typeface="Arial" charset="0"/>
              <a:ea typeface="ＭＳ Ｐゴシック" charset="0"/>
            </a:endParaRPr>
          </a:p>
        </p:txBody>
      </p:sp>
      <p:sp>
        <p:nvSpPr>
          <p:cNvPr id="30722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3415" y="6511284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0CF204D-0A0F-FE4C-A657-AA6B4748ED82}" type="slidenum">
              <a:rPr lang="en-GB" sz="1400"/>
              <a:pPr eaLnBrk="1" hangingPunct="1"/>
              <a:t>14</a:t>
            </a:fld>
            <a:endParaRPr lang="en-GB" sz="1400" dirty="0"/>
          </a:p>
        </p:txBody>
      </p:sp>
      <p:sp>
        <p:nvSpPr>
          <p:cNvPr id="30723" name="Slide Number Placeholder 4"/>
          <p:cNvSpPr txBox="1">
            <a:spLocks noGrp="1"/>
          </p:cNvSpPr>
          <p:nvPr/>
        </p:nvSpPr>
        <p:spPr bwMode="auto">
          <a:xfrm>
            <a:off x="8421688" y="6346825"/>
            <a:ext cx="5238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E189170-BE67-564E-B787-59D70AF48CCA}" type="slidenum">
              <a:rPr lang="en-GB" sz="1400" b="1">
                <a:solidFill>
                  <a:srgbClr val="FFFFFF"/>
                </a:solidFill>
              </a:rPr>
              <a:pPr eaLnBrk="1" hangingPunct="1"/>
              <a:t>14</a:t>
            </a:fld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395288" y="765175"/>
            <a:ext cx="8497887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0" hangingPunct="0">
              <a:lnSpc>
                <a:spcPct val="120000"/>
              </a:lnSpc>
            </a:pPr>
            <a:r>
              <a:rPr lang="en-US" sz="2400" b="1" dirty="0">
                <a:solidFill>
                  <a:srgbClr val="36424A"/>
                </a:solidFill>
                <a:latin typeface="Tahoma" charset="0"/>
              </a:rPr>
              <a:t>Quality requirements should be specified with </a:t>
            </a:r>
          </a:p>
          <a:p>
            <a:pPr marL="730250" lvl="1" indent="-273050" algn="just" eaLnBrk="0" hangingPunct="0">
              <a:lnSpc>
                <a:spcPct val="120000"/>
              </a:lnSpc>
              <a:buFontTx/>
              <a:buChar char="•"/>
            </a:pPr>
            <a:r>
              <a:rPr lang="en-US" sz="2400" dirty="0">
                <a:solidFill>
                  <a:srgbClr val="36424A"/>
                </a:solidFill>
                <a:latin typeface="Tahoma" charset="0"/>
              </a:rPr>
              <a:t>How to measure</a:t>
            </a:r>
          </a:p>
          <a:p>
            <a:pPr marL="730250" lvl="1" indent="-273050" algn="just" eaLnBrk="0" hangingPunct="0">
              <a:lnSpc>
                <a:spcPct val="120000"/>
              </a:lnSpc>
              <a:buFontTx/>
              <a:buChar char="•"/>
            </a:pPr>
            <a:r>
              <a:rPr lang="en-US" sz="2400" dirty="0">
                <a:solidFill>
                  <a:srgbClr val="36424A"/>
                </a:solidFill>
                <a:latin typeface="Tahoma" charset="0"/>
              </a:rPr>
              <a:t>What is the target </a:t>
            </a:r>
          </a:p>
        </p:txBody>
      </p:sp>
      <p:graphicFrame>
        <p:nvGraphicFramePr>
          <p:cNvPr id="36897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273613"/>
              </p:ext>
            </p:extLst>
          </p:nvPr>
        </p:nvGraphicFramePr>
        <p:xfrm>
          <a:off x="503238" y="4545012"/>
          <a:ext cx="8353425" cy="1981200"/>
        </p:xfrm>
        <a:graphic>
          <a:graphicData uri="http://schemas.openxmlformats.org/drawingml/2006/table">
            <a:tbl>
              <a:tblPr/>
              <a:tblGrid>
                <a:gridCol w="258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Aspect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E-Trade Financial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Missile Control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Attribute: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Response time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Response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Measurement unit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Second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Milli-second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Precision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 decimal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 decimal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Value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&lt; 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&lt; 58.5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7140" y="2221744"/>
            <a:ext cx="8353425" cy="230822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>
                <a:solidFill>
                  <a:srgbClr val="000000"/>
                </a:solidFill>
              </a:rPr>
              <a:t>Examples:</a:t>
            </a:r>
          </a:p>
          <a:p>
            <a:pPr algn="just" eaLnBrk="0" hangingPunct="0">
              <a:buFontTx/>
              <a:buAutoNum type="alphaLcParenBoth"/>
              <a:defRPr/>
            </a:pPr>
            <a:r>
              <a:rPr lang="en-US" sz="2400">
                <a:solidFill>
                  <a:srgbClr val="000000"/>
                </a:solidFill>
              </a:rPr>
              <a:t> An e-Trade financial system developed for stock trading must be efficient in response time that </a:t>
            </a:r>
            <a:r>
              <a:rPr lang="en-GB" sz="2400">
                <a:solidFill>
                  <a:srgbClr val="000000"/>
                </a:solidFill>
              </a:rPr>
              <a:t>guarantees order execution on stocks within </a:t>
            </a:r>
            <a:r>
              <a:rPr lang="en-GB" sz="2400">
                <a:solidFill>
                  <a:srgbClr val="FF0000"/>
                </a:solidFill>
              </a:rPr>
              <a:t>2 seconds</a:t>
            </a:r>
            <a:r>
              <a:rPr lang="en-GB" sz="2400">
                <a:solidFill>
                  <a:srgbClr val="000000"/>
                </a:solidFill>
              </a:rPr>
              <a:t>.</a:t>
            </a:r>
          </a:p>
          <a:p>
            <a:pPr algn="just" eaLnBrk="0" hangingPunct="0">
              <a:buFontTx/>
              <a:buAutoNum type="alphaLcParenBoth"/>
              <a:defRPr/>
            </a:pPr>
            <a:r>
              <a:rPr lang="en-GB" sz="2400">
                <a:solidFill>
                  <a:srgbClr val="000000"/>
                </a:solidFill>
              </a:rPr>
              <a:t> A missile control system must respond to control signals within 100 milli-seconds. </a:t>
            </a:r>
            <a:endParaRPr 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892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 Lifecycle: 1. 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Actors:</a:t>
            </a:r>
          </a:p>
          <a:p>
            <a:pPr lvl="1"/>
            <a:r>
              <a:rPr lang="en-US" sz="2800" dirty="0"/>
              <a:t>People involved in the activities</a:t>
            </a:r>
          </a:p>
          <a:p>
            <a:pPr lvl="1"/>
            <a:r>
              <a:rPr lang="en-US" sz="2800" dirty="0"/>
              <a:t>Stakeholder: </a:t>
            </a:r>
          </a:p>
          <a:p>
            <a:pPr marL="668338" lvl="2" indent="0">
              <a:buNone/>
            </a:pPr>
            <a:r>
              <a:rPr lang="en-US" sz="2400" dirty="0"/>
              <a:t>The roles played by a group of individuals who is affected by the system-to-be, or may influence the way the system-to-be is shaped, or has some responsibility in its acceptance</a:t>
            </a:r>
          </a:p>
          <a:p>
            <a:pPr lvl="1"/>
            <a:r>
              <a:rPr lang="en-US" sz="2800" dirty="0"/>
              <a:t>Examples: </a:t>
            </a:r>
          </a:p>
          <a:p>
            <a:pPr marL="881063" lvl="2" indent="-342900"/>
            <a:r>
              <a:rPr lang="en-US" sz="2400" dirty="0"/>
              <a:t>strategic decision makers, certification authorities</a:t>
            </a:r>
          </a:p>
          <a:p>
            <a:pPr marL="881063" lvl="2" indent="-342900"/>
            <a:r>
              <a:rPr lang="en-US" sz="2400" dirty="0"/>
              <a:t>managers of the operational units, </a:t>
            </a:r>
          </a:p>
          <a:p>
            <a:pPr marL="881063" lvl="2" indent="-342900"/>
            <a:r>
              <a:rPr lang="en-US" sz="2400" dirty="0"/>
              <a:t>domain experts, </a:t>
            </a:r>
          </a:p>
          <a:p>
            <a:pPr marL="881063" lvl="2" indent="-342900"/>
            <a:r>
              <a:rPr lang="en-US" sz="2400" dirty="0"/>
              <a:t>developers, subcontractors, </a:t>
            </a:r>
          </a:p>
          <a:p>
            <a:pPr marL="881063" lvl="2" indent="-342900"/>
            <a:r>
              <a:rPr lang="en-US" sz="2400" dirty="0"/>
              <a:t>end-users, customers, operators, etc.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BC400-F21E-B94F-A3CE-B70D678F0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09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 Lifecycle: 2.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655372" cy="576064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800" dirty="0"/>
              <a:t>An ordered set of activities carried out by the actors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Domain understanding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Studying the system-as-is within its organizational and technical context 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Requirements elicitation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Discovering candidate requirements and assumptions of the system-to-be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Evaluation and agreement 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Aiming at making informed decisions about the issues raised during the elicitation process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Specification and documentation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Detailing, structuring and documenting the agreed characteristics of the system-to-be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Requirements consolidation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Validating specified requirements with stakeholders and verifying them against each other in order to find inconsistency and omissions  </a:t>
            </a:r>
          </a:p>
          <a:p>
            <a:pPr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3A845-29BB-0C41-A0A0-72CA812F5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1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E Process Bray 2002 p3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5422" t="10537" r="14311" b="9644"/>
          <a:stretch>
            <a:fillRect/>
          </a:stretch>
        </p:blipFill>
        <p:spPr>
          <a:xfrm>
            <a:off x="3995936" y="718202"/>
            <a:ext cx="4865809" cy="580714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3744416" cy="1656184"/>
          </a:xfrm>
        </p:spPr>
        <p:txBody>
          <a:bodyPr>
            <a:normAutofit/>
          </a:bodyPr>
          <a:lstStyle/>
          <a:p>
            <a:r>
              <a:rPr lang="en-US" sz="3200" dirty="0"/>
              <a:t>An iterative Model of RE Process </a:t>
            </a:r>
            <a:br>
              <a:rPr lang="en-US" dirty="0"/>
            </a:br>
            <a:r>
              <a:rPr lang="en-US" sz="3200" b="0" dirty="0">
                <a:solidFill>
                  <a:schemeClr val="bg2"/>
                </a:solidFill>
              </a:rPr>
              <a:t>(Bray 2002, p31) </a:t>
            </a:r>
            <a:endParaRPr lang="en-US" b="0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2204864"/>
            <a:ext cx="3816424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Abbreviations</a:t>
            </a:r>
            <a:r>
              <a:rPr lang="en-US" sz="2400" dirty="0">
                <a:solidFill>
                  <a:srgbClr val="0000FF"/>
                </a:solidFill>
              </a:rPr>
              <a:t>:</a:t>
            </a:r>
          </a:p>
          <a:p>
            <a:pPr marL="269875" indent="-269875">
              <a:buFont typeface="Arial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CRS: Client Requirements Statements</a:t>
            </a:r>
          </a:p>
          <a:p>
            <a:pPr marL="269875" indent="-269875">
              <a:buFont typeface="Arial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HMI: Human-Machine Interface</a:t>
            </a:r>
          </a:p>
          <a:p>
            <a:pPr marL="269875" indent="-269875">
              <a:buFont typeface="Arial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PD: Problem Domain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9B68A-6F0B-214B-A6D6-E24D05D48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36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 Lifecycle: 3.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655372" cy="5760640"/>
          </a:xfrm>
        </p:spPr>
        <p:txBody>
          <a:bodyPr/>
          <a:lstStyle/>
          <a:p>
            <a:pPr marL="452438" indent="-452438">
              <a:spcBef>
                <a:spcPts val="0"/>
              </a:spcBef>
            </a:pPr>
            <a:r>
              <a:rPr lang="en-US" sz="2800" dirty="0"/>
              <a:t>Problem statement</a:t>
            </a:r>
          </a:p>
          <a:p>
            <a:pPr marL="806450" lvl="1" indent="-354013">
              <a:spcBef>
                <a:spcPts val="0"/>
              </a:spcBef>
            </a:pPr>
            <a:r>
              <a:rPr lang="en-US" sz="2400" dirty="0"/>
              <a:t>Initial statement of the problem, its context and its overall objectives</a:t>
            </a:r>
          </a:p>
          <a:p>
            <a:pPr marL="452438" indent="-452438">
              <a:spcBef>
                <a:spcPts val="0"/>
              </a:spcBef>
            </a:pPr>
            <a:r>
              <a:rPr lang="en-US" sz="2800" dirty="0"/>
              <a:t>Requirements definition</a:t>
            </a:r>
          </a:p>
          <a:p>
            <a:pPr marL="806450" lvl="1" indent="-354013">
              <a:spcBef>
                <a:spcPts val="0"/>
              </a:spcBef>
            </a:pPr>
            <a:r>
              <a:rPr lang="en-US" sz="2400" dirty="0"/>
              <a:t>Document that systematically state the requirements:</a:t>
            </a:r>
          </a:p>
          <a:p>
            <a:pPr marL="1074738" lvl="2" indent="-268288">
              <a:spcBef>
                <a:spcPts val="0"/>
              </a:spcBef>
            </a:pPr>
            <a:r>
              <a:rPr lang="en-US" sz="2400" dirty="0"/>
              <a:t>The problem</a:t>
            </a:r>
          </a:p>
          <a:p>
            <a:pPr marL="1074738" lvl="2" indent="-268288">
              <a:spcBef>
                <a:spcPts val="0"/>
              </a:spcBef>
            </a:pPr>
            <a:r>
              <a:rPr lang="en-US" sz="2400" dirty="0"/>
              <a:t>The </a:t>
            </a:r>
            <a:r>
              <a:rPr lang="en-US" sz="2400" dirty="0" err="1"/>
              <a:t>organisational</a:t>
            </a:r>
            <a:r>
              <a:rPr lang="en-US" sz="2400" dirty="0"/>
              <a:t> and technological context </a:t>
            </a:r>
          </a:p>
          <a:p>
            <a:pPr marL="1074738" lvl="2" indent="-268288">
              <a:spcBef>
                <a:spcPts val="0"/>
              </a:spcBef>
            </a:pPr>
            <a:r>
              <a:rPr lang="en-US" sz="2400" dirty="0"/>
              <a:t>The objectives</a:t>
            </a:r>
          </a:p>
          <a:p>
            <a:pPr marL="1074738" lvl="2" indent="-268288">
              <a:spcBef>
                <a:spcPts val="0"/>
              </a:spcBef>
            </a:pPr>
            <a:r>
              <a:rPr lang="en-US" sz="2400" dirty="0"/>
              <a:t>The functional requirements</a:t>
            </a:r>
          </a:p>
          <a:p>
            <a:pPr marL="1074738" lvl="2" indent="-268288">
              <a:spcBef>
                <a:spcPts val="0"/>
              </a:spcBef>
            </a:pPr>
            <a:r>
              <a:rPr lang="en-US" sz="2400" dirty="0"/>
              <a:t>The non-functional requirements </a:t>
            </a:r>
          </a:p>
          <a:p>
            <a:pPr marL="1074738" lvl="2" indent="-268288">
              <a:spcBef>
                <a:spcPts val="0"/>
              </a:spcBef>
            </a:pPr>
            <a:r>
              <a:rPr lang="en-US" sz="2400" dirty="0"/>
              <a:t>The scope of the system and priorities of each requirements, etc. </a:t>
            </a:r>
          </a:p>
          <a:p>
            <a:pPr marL="452438" indent="-452438">
              <a:spcBef>
                <a:spcPts val="0"/>
              </a:spcBef>
            </a:pPr>
            <a:r>
              <a:rPr lang="en-US" sz="2800" dirty="0"/>
              <a:t>Requirements specification</a:t>
            </a:r>
          </a:p>
          <a:p>
            <a:pPr marL="806450" lvl="1" indent="-354013">
              <a:spcBef>
                <a:spcPts val="0"/>
              </a:spcBef>
            </a:pPr>
            <a:r>
              <a:rPr lang="en-US" sz="2400" dirty="0"/>
              <a:t>Document of functional requirements in accurate notations, such as in graphic models or formal notations</a:t>
            </a:r>
          </a:p>
          <a:p>
            <a:pPr lvl="1">
              <a:spcBef>
                <a:spcPts val="0"/>
              </a:spcBef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2CCF6-A8B3-E24F-B0F8-24907B28A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35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6399" y="2522245"/>
            <a:ext cx="7848872" cy="1813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</a:rPr>
              <a:t>Part 2</a:t>
            </a:r>
          </a:p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chemeClr val="bg1"/>
                </a:solidFill>
              </a:rPr>
              <a:t>Requirements Elicitation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D6A96-613B-254E-83FB-98C92BA226B0}"/>
              </a:ext>
            </a:extLst>
          </p:cNvPr>
          <p:cNvSpPr txBox="1"/>
          <p:nvPr/>
        </p:nvSpPr>
        <p:spPr>
          <a:xfrm>
            <a:off x="465215" y="476672"/>
            <a:ext cx="8211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Lecture 3 </a:t>
            </a:r>
          </a:p>
          <a:p>
            <a:pPr algn="ctr"/>
            <a:r>
              <a:rPr lang="en-GB" sz="4000" dirty="0">
                <a:solidFill>
                  <a:schemeClr val="bg1"/>
                </a:solidFill>
              </a:rPr>
              <a:t>Requirements Engineering </a:t>
            </a:r>
          </a:p>
        </p:txBody>
      </p:sp>
    </p:spTree>
    <p:extLst>
      <p:ext uri="{BB962C8B-B14F-4D97-AF65-F5344CB8AC3E}">
        <p14:creationId xmlns:p14="http://schemas.microsoft.com/office/powerpoint/2010/main" val="2928935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Arial" charset="0"/>
                <a:ea typeface="ＭＳ Ｐゴシック" charset="0"/>
              </a:rPr>
              <a:t>Requirements Elicitation: Definition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395288" y="836613"/>
            <a:ext cx="8510587" cy="136842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 typeface="Wingdings" charset="0"/>
              <a:buNone/>
            </a:pPr>
            <a:r>
              <a:rPr lang="en-US" dirty="0">
                <a:latin typeface="Arial" charset="0"/>
                <a:ea typeface="ＭＳ Ｐゴシック" charset="0"/>
              </a:rPr>
              <a:t>Requirements elicitation involves finding all </a:t>
            </a:r>
            <a:r>
              <a:rPr lang="en-US" b="1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types</a:t>
            </a:r>
            <a:r>
              <a:rPr lang="en-US" dirty="0">
                <a:latin typeface="Arial" charset="0"/>
                <a:ea typeface="ＭＳ Ｐゴシック" charset="0"/>
              </a:rPr>
              <a:t> and all </a:t>
            </a:r>
            <a:r>
              <a:rPr lang="en-US" b="1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aspects</a:t>
            </a:r>
            <a:r>
              <a:rPr lang="en-US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 </a:t>
            </a:r>
            <a:r>
              <a:rPr lang="en-US" dirty="0">
                <a:latin typeface="Arial" charset="0"/>
                <a:ea typeface="ＭＳ Ｐゴシック" charset="0"/>
              </a:rPr>
              <a:t>of requirements from all relevant </a:t>
            </a:r>
            <a:r>
              <a:rPr lang="en-US" b="1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sources</a:t>
            </a:r>
            <a:r>
              <a:rPr lang="en-US" dirty="0">
                <a:latin typeface="Arial" charset="0"/>
                <a:ea typeface="ＭＳ Ｐゴシック" charset="0"/>
              </a:rPr>
              <a:t> at a required </a:t>
            </a:r>
            <a:r>
              <a:rPr lang="en-US" b="1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level of details </a:t>
            </a:r>
            <a:r>
              <a:rPr lang="en-US" dirty="0">
                <a:latin typeface="Arial" charset="0"/>
                <a:ea typeface="ＭＳ Ｐゴシック" charset="0"/>
              </a:rPr>
              <a:t>for the system to be developed. </a:t>
            </a:r>
          </a:p>
        </p:txBody>
      </p:sp>
      <p:sp>
        <p:nvSpPr>
          <p:cNvPr id="2253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40738" y="6497227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ED50A9C-E464-0046-80EC-2386E0542CCF}" type="slidenum">
              <a:rPr lang="en-GB" sz="1400"/>
              <a:pPr eaLnBrk="1" hangingPunct="1"/>
              <a:t>20</a:t>
            </a:fld>
            <a:endParaRPr lang="en-GB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50825" y="2133600"/>
            <a:ext cx="4105275" cy="2368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800" b="1" dirty="0">
                <a:solidFill>
                  <a:srgbClr val="000000"/>
                </a:solidFill>
              </a:rPr>
              <a:t>Types</a:t>
            </a:r>
          </a:p>
          <a:p>
            <a:pPr marL="342900" indent="-255588"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</a:rPr>
              <a:t>Functional </a:t>
            </a:r>
          </a:p>
          <a:p>
            <a:pPr marL="342900" indent="-255588"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</a:rPr>
              <a:t>Non-functional</a:t>
            </a:r>
          </a:p>
          <a:p>
            <a:pPr marL="542925" lvl="1" indent="-184150"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Quality requirements</a:t>
            </a:r>
          </a:p>
          <a:p>
            <a:pPr marL="542925" lvl="1" indent="-184150"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Architectural constraints</a:t>
            </a:r>
          </a:p>
          <a:p>
            <a:pPr marL="542925" lvl="1" indent="-184150"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Development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825" y="4581525"/>
            <a:ext cx="3889375" cy="20002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800" b="1" dirty="0">
                <a:solidFill>
                  <a:srgbClr val="000000"/>
                </a:solidFill>
              </a:rPr>
              <a:t>Sources</a:t>
            </a: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</a:rPr>
              <a:t>-- Stakeholders</a:t>
            </a: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</a:rPr>
              <a:t>-- Documents</a:t>
            </a: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</a:rPr>
              <a:t>-- Existing system</a:t>
            </a: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</a:rPr>
              <a:t>-- Models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7538" y="2133600"/>
            <a:ext cx="4537075" cy="24929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66700" indent="-26670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800" b="1" dirty="0">
                <a:solidFill>
                  <a:srgbClr val="000000"/>
                </a:solidFill>
              </a:rPr>
              <a:t>Aspects</a:t>
            </a:r>
          </a:p>
          <a:p>
            <a:pPr>
              <a:defRPr/>
            </a:pPr>
            <a:r>
              <a:rPr lang="en-US" sz="2400" b="1" dirty="0">
                <a:solidFill>
                  <a:srgbClr val="000000"/>
                </a:solidFill>
              </a:rPr>
              <a:t>Functional  </a:t>
            </a:r>
            <a:r>
              <a:rPr lang="en-US" sz="2400" dirty="0">
                <a:solidFill>
                  <a:srgbClr val="000000"/>
                </a:solidFill>
              </a:rPr>
              <a:t>  </a:t>
            </a:r>
            <a:r>
              <a:rPr lang="en-US" sz="2400" b="1" dirty="0">
                <a:solidFill>
                  <a:srgbClr val="000000"/>
                </a:solidFill>
              </a:rPr>
              <a:t>Non-Functional</a:t>
            </a: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</a:rPr>
              <a:t>- </a:t>
            </a:r>
            <a:r>
              <a:rPr lang="en-US" sz="2000" dirty="0">
                <a:solidFill>
                  <a:srgbClr val="000000"/>
                </a:solidFill>
              </a:rPr>
              <a:t>Function	- Attribute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</a:rPr>
              <a:t>- Data 		- Measurement 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</a:rPr>
              <a:t>- Interface	- Precision </a:t>
            </a:r>
          </a:p>
          <a:p>
            <a:pPr marL="0" indent="0">
              <a:defRPr/>
            </a:pPr>
            <a:r>
              <a:rPr lang="en-US" sz="2000" dirty="0">
                <a:solidFill>
                  <a:srgbClr val="000000"/>
                </a:solidFill>
              </a:rPr>
              <a:t>- State		- Target value</a:t>
            </a:r>
          </a:p>
          <a:p>
            <a:pPr marL="0" indent="0">
              <a:defRPr/>
            </a:pPr>
            <a:r>
              <a:rPr lang="en-US" sz="2000" dirty="0">
                <a:solidFill>
                  <a:srgbClr val="000000"/>
                </a:solidFill>
              </a:rPr>
              <a:t>- Events	</a:t>
            </a: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6227763" y="2636838"/>
            <a:ext cx="0" cy="1800225"/>
          </a:xfrm>
          <a:prstGeom prst="line">
            <a:avLst/>
          </a:prstGeom>
          <a:ln w="25400">
            <a:solidFill>
              <a:schemeClr val="accent6"/>
            </a:solidFill>
            <a:headEnd type="none" w="med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27257" y="4704456"/>
            <a:ext cx="4752975" cy="1816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800" b="1" dirty="0">
                <a:solidFill>
                  <a:srgbClr val="000000"/>
                </a:solidFill>
              </a:rPr>
              <a:t>Activities</a:t>
            </a:r>
          </a:p>
          <a:p>
            <a:pPr>
              <a:defRPr/>
            </a:pPr>
            <a:r>
              <a:rPr lang="en-US" sz="2800" dirty="0">
                <a:solidFill>
                  <a:srgbClr val="000000"/>
                </a:solidFill>
              </a:rPr>
              <a:t>-- </a:t>
            </a:r>
            <a:r>
              <a:rPr lang="en-US" sz="2400" dirty="0">
                <a:solidFill>
                  <a:srgbClr val="000000"/>
                </a:solidFill>
              </a:rPr>
              <a:t>Identify sources</a:t>
            </a:r>
          </a:p>
          <a:p>
            <a:pPr>
              <a:defRPr/>
            </a:pPr>
            <a:r>
              <a:rPr lang="en-US" sz="2800" dirty="0">
                <a:solidFill>
                  <a:srgbClr val="000000"/>
                </a:solidFill>
              </a:rPr>
              <a:t>-- </a:t>
            </a:r>
            <a:r>
              <a:rPr lang="en-US" sz="2400" dirty="0">
                <a:solidFill>
                  <a:srgbClr val="000000"/>
                </a:solidFill>
              </a:rPr>
              <a:t>Discover existing requirements</a:t>
            </a:r>
          </a:p>
          <a:p>
            <a:pPr>
              <a:defRPr/>
            </a:pPr>
            <a:r>
              <a:rPr lang="en-US" sz="2800" dirty="0">
                <a:solidFill>
                  <a:srgbClr val="000000"/>
                </a:solidFill>
              </a:rPr>
              <a:t>-- </a:t>
            </a:r>
            <a:r>
              <a:rPr lang="en-US" sz="2400" dirty="0">
                <a:solidFill>
                  <a:srgbClr val="000000"/>
                </a:solidFill>
              </a:rPr>
              <a:t>Develop new requirements</a:t>
            </a:r>
          </a:p>
        </p:txBody>
      </p:sp>
    </p:spTree>
    <p:extLst>
      <p:ext uri="{BB962C8B-B14F-4D97-AF65-F5344CB8AC3E}">
        <p14:creationId xmlns:p14="http://schemas.microsoft.com/office/powerpoint/2010/main" val="644353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>
                <a:latin typeface="Arial" charset="0"/>
                <a:ea typeface="ＭＳ Ｐゴシック" charset="0"/>
              </a:rPr>
              <a:t>E</a:t>
            </a:r>
            <a:r>
              <a:rPr lang="en-GB" altLang="zh-CN" sz="3600">
                <a:latin typeface="Arial" charset="0"/>
                <a:ea typeface="宋体" charset="0"/>
                <a:cs typeface="宋体" charset="0"/>
              </a:rPr>
              <a:t>licitation Methods &amp; Techniques</a:t>
            </a:r>
            <a:endParaRPr lang="en-GB" sz="360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198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95288" y="1052513"/>
            <a:ext cx="3671887" cy="5472112"/>
          </a:xfrm>
        </p:spPr>
        <p:txBody>
          <a:bodyPr/>
          <a:lstStyle/>
          <a:p>
            <a:pPr marL="361950" indent="-361950" eaLnBrk="1" hangingPunct="1">
              <a:spcBef>
                <a:spcPct val="0"/>
              </a:spcBef>
            </a:pPr>
            <a:r>
              <a:rPr lang="en-GB" sz="3200" dirty="0">
                <a:latin typeface="Arial" charset="0"/>
                <a:ea typeface="ＭＳ Ｐゴシック" charset="0"/>
              </a:rPr>
              <a:t>Main Techniques </a:t>
            </a:r>
          </a:p>
          <a:p>
            <a:pPr lvl="1" eaLnBrk="1" hangingPunct="1">
              <a:spcBef>
                <a:spcPct val="0"/>
              </a:spcBef>
            </a:pPr>
            <a:r>
              <a:rPr lang="en-GB" sz="2800" dirty="0">
                <a:latin typeface="Arial" charset="0"/>
                <a:ea typeface="ＭＳ Ｐゴシック" charset="0"/>
              </a:rPr>
              <a:t>Interviews</a:t>
            </a:r>
          </a:p>
          <a:p>
            <a:pPr lvl="1" eaLnBrk="1" hangingPunct="1">
              <a:spcBef>
                <a:spcPct val="0"/>
              </a:spcBef>
            </a:pPr>
            <a:r>
              <a:rPr lang="en-GB" sz="2800" dirty="0">
                <a:latin typeface="Arial" charset="0"/>
                <a:ea typeface="ＭＳ Ｐゴシック" charset="0"/>
              </a:rPr>
              <a:t>Questionnaires</a:t>
            </a:r>
          </a:p>
          <a:p>
            <a:pPr lvl="1" eaLnBrk="1" hangingPunct="1">
              <a:spcBef>
                <a:spcPct val="0"/>
              </a:spcBef>
            </a:pPr>
            <a:r>
              <a:rPr lang="en-GB" sz="2800" dirty="0">
                <a:latin typeface="Arial" charset="0"/>
                <a:ea typeface="ＭＳ Ｐゴシック" charset="0"/>
              </a:rPr>
              <a:t>Workshops</a:t>
            </a:r>
          </a:p>
          <a:p>
            <a:pPr lvl="2" eaLnBrk="1" hangingPunct="1">
              <a:spcBef>
                <a:spcPct val="0"/>
              </a:spcBef>
            </a:pPr>
            <a:r>
              <a:rPr lang="en-US" sz="2400" dirty="0">
                <a:latin typeface="Arial" charset="0"/>
                <a:ea typeface="ＭＳ Ｐゴシック" charset="0"/>
              </a:rPr>
              <a:t>Future workshop</a:t>
            </a:r>
          </a:p>
          <a:p>
            <a:pPr lvl="2" eaLnBrk="1" hangingPunct="1">
              <a:spcBef>
                <a:spcPct val="0"/>
              </a:spcBef>
            </a:pPr>
            <a:r>
              <a:rPr lang="en-US" sz="2400" dirty="0">
                <a:latin typeface="Arial" charset="0"/>
                <a:ea typeface="ＭＳ Ｐゴシック" charset="0"/>
              </a:rPr>
              <a:t>KJ method</a:t>
            </a:r>
          </a:p>
          <a:p>
            <a:pPr lvl="2" eaLnBrk="1" hangingPunct="1">
              <a:spcBef>
                <a:spcPct val="0"/>
              </a:spcBef>
            </a:pPr>
            <a:r>
              <a:rPr lang="en-US" sz="2400" dirty="0">
                <a:latin typeface="Arial" charset="0"/>
                <a:ea typeface="ＭＳ Ｐゴシック" charset="0"/>
              </a:rPr>
              <a:t>Brainstorming</a:t>
            </a:r>
            <a:endParaRPr lang="en-GB" sz="2400" dirty="0">
              <a:latin typeface="Arial" charset="0"/>
              <a:ea typeface="ＭＳ Ｐゴシック" charset="0"/>
            </a:endParaRPr>
          </a:p>
          <a:p>
            <a:pPr lvl="1" eaLnBrk="1" hangingPunct="1">
              <a:spcBef>
                <a:spcPct val="0"/>
              </a:spcBef>
            </a:pPr>
            <a:r>
              <a:rPr lang="en-GB" sz="2800" dirty="0">
                <a:latin typeface="Arial" charset="0"/>
                <a:ea typeface="ＭＳ Ｐゴシック" charset="0"/>
              </a:rPr>
              <a:t>Observations</a:t>
            </a:r>
          </a:p>
          <a:p>
            <a:pPr lvl="1" eaLnBrk="1" hangingPunct="1">
              <a:spcBef>
                <a:spcPct val="0"/>
              </a:spcBef>
            </a:pPr>
            <a:r>
              <a:rPr lang="en-GB" sz="2800" dirty="0">
                <a:latin typeface="Arial" charset="0"/>
                <a:ea typeface="ＭＳ Ｐゴシック" charset="0"/>
              </a:rPr>
              <a:t>Document reading </a:t>
            </a:r>
          </a:p>
        </p:txBody>
      </p:sp>
      <p:sp>
        <p:nvSpPr>
          <p:cNvPr id="41987" name="Content Placeholder 5"/>
          <p:cNvSpPr>
            <a:spLocks noGrp="1"/>
          </p:cNvSpPr>
          <p:nvPr>
            <p:ph sz="half" idx="2"/>
          </p:nvPr>
        </p:nvSpPr>
        <p:spPr>
          <a:xfrm>
            <a:off x="4284663" y="1052513"/>
            <a:ext cx="4608512" cy="5472112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3200">
                <a:latin typeface="Arial" charset="0"/>
                <a:ea typeface="ＭＳ Ｐゴシック" charset="0"/>
              </a:rPr>
              <a:t>Assistance Techniques</a:t>
            </a:r>
          </a:p>
          <a:p>
            <a:pPr lvl="1" eaLnBrk="1" hangingPunct="1">
              <a:spcBef>
                <a:spcPct val="0"/>
              </a:spcBef>
            </a:pPr>
            <a:r>
              <a:rPr lang="en-US" sz="2800">
                <a:latin typeface="Arial" charset="0"/>
                <a:ea typeface="ＭＳ Ｐゴシック" charset="0"/>
              </a:rPr>
              <a:t>Prototyping</a:t>
            </a:r>
          </a:p>
          <a:p>
            <a:pPr lvl="1" eaLnBrk="1" hangingPunct="1">
              <a:spcBef>
                <a:spcPct val="0"/>
              </a:spcBef>
            </a:pPr>
            <a:r>
              <a:rPr lang="en-US" sz="2800">
                <a:latin typeface="Arial" charset="0"/>
                <a:ea typeface="ＭＳ Ｐゴシック" charset="0"/>
              </a:rPr>
              <a:t>Mind mapping</a:t>
            </a:r>
          </a:p>
          <a:p>
            <a:pPr lvl="1" eaLnBrk="1" hangingPunct="1">
              <a:spcBef>
                <a:spcPct val="0"/>
              </a:spcBef>
            </a:pPr>
            <a:r>
              <a:rPr lang="en-US" sz="2800">
                <a:latin typeface="Arial" charset="0"/>
                <a:ea typeface="ＭＳ Ｐゴシック" charset="0"/>
              </a:rPr>
              <a:t>Elicitation check list</a:t>
            </a:r>
          </a:p>
          <a:p>
            <a:pPr lvl="1" eaLnBrk="1" hangingPunct="1">
              <a:spcBef>
                <a:spcPct val="0"/>
              </a:spcBef>
            </a:pPr>
            <a:r>
              <a:rPr lang="en-GB" sz="2800">
                <a:latin typeface="Arial" charset="0"/>
                <a:ea typeface="ＭＳ Ｐゴシック" charset="0"/>
              </a:rPr>
              <a:t>Focus groups</a:t>
            </a:r>
          </a:p>
        </p:txBody>
      </p:sp>
      <p:sp>
        <p:nvSpPr>
          <p:cNvPr id="41988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63729" y="6486429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1A3D10D-5B0D-D245-806F-939C39EF1E05}" type="slidenum">
              <a:rPr lang="en-GB" sz="1400"/>
              <a:pPr eaLnBrk="1" hangingPunct="1"/>
              <a:t>21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717718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649287"/>
          </a:xfrm>
        </p:spPr>
        <p:txBody>
          <a:bodyPr/>
          <a:lstStyle/>
          <a:p>
            <a:pPr eaLnBrk="1" hangingPunct="1"/>
            <a:r>
              <a:rPr lang="en-GB" sz="3200">
                <a:latin typeface="Arial" charset="0"/>
                <a:ea typeface="ＭＳ Ｐゴシック" charset="0"/>
              </a:rPr>
              <a:t>Elicitation Techniques: </a:t>
            </a:r>
            <a:r>
              <a:rPr lang="en-GB" sz="3200">
                <a:solidFill>
                  <a:srgbClr val="2D2DB9"/>
                </a:solidFill>
                <a:latin typeface="Arial" charset="0"/>
                <a:ea typeface="ＭＳ Ｐゴシック" charset="0"/>
              </a:rPr>
              <a:t>1. Interviews</a:t>
            </a:r>
            <a:endParaRPr lang="en-GB" sz="3200">
              <a:solidFill>
                <a:srgbClr val="2D2DB9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9629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836613"/>
            <a:ext cx="8280400" cy="5400675"/>
          </a:xfrm>
        </p:spPr>
        <p:txBody>
          <a:bodyPr/>
          <a:lstStyle/>
          <a:p>
            <a:pPr marL="273050" indent="-273050" algn="just" eaLnBrk="1" hangingPunct="1">
              <a:defRPr/>
            </a:pPr>
            <a:r>
              <a:rPr lang="en-GB" dirty="0">
                <a:latin typeface="Arial" charset="0"/>
                <a:cs typeface="+mn-cs"/>
              </a:rPr>
              <a:t>In this technique, the requirements analyst conducts interviews with stakeholders </a:t>
            </a:r>
          </a:p>
          <a:p>
            <a:pPr marL="673100" lvl="1" indent="-273050" algn="just" eaLnBrk="1" hangingPunct="1">
              <a:defRPr/>
            </a:pPr>
            <a:r>
              <a:rPr lang="en-GB" sz="2400" dirty="0">
                <a:latin typeface="Arial" charset="0"/>
              </a:rPr>
              <a:t>To discuss the system with the stakeholders </a:t>
            </a:r>
          </a:p>
          <a:p>
            <a:pPr marL="673100" lvl="1" indent="-273050" algn="just" eaLnBrk="1" hangingPunct="1">
              <a:defRPr/>
            </a:pPr>
            <a:r>
              <a:rPr lang="en-GB" sz="2400" dirty="0">
                <a:latin typeface="Arial" charset="0"/>
              </a:rPr>
              <a:t>To develop an understanding of their requirements</a:t>
            </a:r>
          </a:p>
          <a:p>
            <a:pPr marL="273050" indent="-273050" algn="just" eaLnBrk="1" hangingPunct="1">
              <a:defRPr/>
            </a:pPr>
            <a:r>
              <a:rPr lang="en-GB" b="1" dirty="0">
                <a:latin typeface="Arial" charset="0"/>
                <a:cs typeface="+mn-cs"/>
              </a:rPr>
              <a:t>Types of Interviews</a:t>
            </a:r>
            <a:endParaRPr lang="en-GB" b="1" dirty="0">
              <a:solidFill>
                <a:srgbClr val="0000CC"/>
              </a:solidFill>
              <a:latin typeface="Arial" charset="0"/>
              <a:cs typeface="+mn-cs"/>
            </a:endParaRPr>
          </a:p>
          <a:p>
            <a:pPr marL="673100" lvl="1" indent="-273050" algn="just" eaLnBrk="1" hangingPunct="1">
              <a:defRPr/>
            </a:pPr>
            <a:r>
              <a:rPr lang="en-GB" sz="2400" b="1" dirty="0">
                <a:latin typeface="Arial" charset="0"/>
              </a:rPr>
              <a:t>Closed interviews: </a:t>
            </a:r>
          </a:p>
          <a:p>
            <a:pPr marL="1073150" lvl="2" indent="-273050" algn="just" eaLnBrk="1" hangingPunct="1">
              <a:buFont typeface="Wingdings" charset="0"/>
              <a:buNone/>
              <a:defRPr/>
            </a:pPr>
            <a:r>
              <a:rPr lang="en-GB" sz="2400" dirty="0">
                <a:latin typeface="Arial" charset="0"/>
              </a:rPr>
              <a:t>Requirements  analyst seeks </a:t>
            </a:r>
          </a:p>
          <a:p>
            <a:pPr marL="1073150" lvl="2" indent="-273050" algn="just" eaLnBrk="1" hangingPunct="1">
              <a:buFont typeface="Wingdings" charset="0"/>
              <a:buNone/>
              <a:defRPr/>
            </a:pPr>
            <a:r>
              <a:rPr lang="en-GB" sz="2400" dirty="0">
                <a:latin typeface="Arial" charset="0"/>
              </a:rPr>
              <a:t>answers (from stakeholders) to </a:t>
            </a:r>
          </a:p>
          <a:p>
            <a:pPr marL="1073150" lvl="2" indent="-273050" algn="just" eaLnBrk="1" hangingPunct="1">
              <a:buFont typeface="Wingdings" charset="0"/>
              <a:buNone/>
              <a:defRPr/>
            </a:pPr>
            <a:r>
              <a:rPr lang="en-GB" sz="2400" dirty="0">
                <a:latin typeface="Arial" charset="0"/>
              </a:rPr>
              <a:t>a pre-defined set of questions</a:t>
            </a:r>
          </a:p>
          <a:p>
            <a:pPr marL="673100" lvl="1" indent="-273050" algn="just" eaLnBrk="1" hangingPunct="1">
              <a:defRPr/>
            </a:pPr>
            <a:r>
              <a:rPr lang="en-GB" sz="2400" b="1" dirty="0">
                <a:latin typeface="Arial" charset="0"/>
              </a:rPr>
              <a:t>Open interviews </a:t>
            </a:r>
          </a:p>
          <a:p>
            <a:pPr marL="801688" lvl="2" indent="1588" algn="just" eaLnBrk="1" hangingPunct="1">
              <a:buFont typeface="Wingdings" charset="0"/>
              <a:buNone/>
              <a:defRPr/>
            </a:pPr>
            <a:r>
              <a:rPr lang="en-GB" sz="2400" dirty="0">
                <a:latin typeface="Arial" charset="0"/>
              </a:rPr>
              <a:t>Do not have predefined agenda. Requirements are discussed in an open-ended way (to find out what stakeholders want from the proposed system)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51813" y="6474980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FDB0C43-7077-984B-AC8E-8B69C5D29757}" type="slidenum">
              <a:rPr lang="en-GB" sz="1400"/>
              <a:pPr eaLnBrk="1" hangingPunct="1"/>
              <a:t>22</a:t>
            </a:fld>
            <a:endParaRPr lang="en-GB" sz="1400" dirty="0"/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2636838"/>
            <a:ext cx="2879725" cy="22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5099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sz="3600">
                <a:latin typeface="Arial" charset="0"/>
                <a:ea typeface="ＭＳ Ｐゴシック" charset="0"/>
              </a:rPr>
              <a:t>Example: Interview Plan</a:t>
            </a:r>
          </a:p>
        </p:txBody>
      </p:sp>
      <p:sp>
        <p:nvSpPr>
          <p:cNvPr id="48130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705C9A1-85E6-4444-A7A6-E44D0B2EE1AA}" type="slidenum">
              <a:rPr lang="en-GB" sz="1400"/>
              <a:pPr eaLnBrk="1" hangingPunct="1"/>
              <a:t>23</a:t>
            </a:fld>
            <a:endParaRPr lang="en-GB" sz="1400" dirty="0"/>
          </a:p>
        </p:txBody>
      </p:sp>
      <p:graphicFrame>
        <p:nvGraphicFramePr>
          <p:cNvPr id="398386" name="Group 50"/>
          <p:cNvGraphicFramePr>
            <a:graphicFrameLocks noGrp="1"/>
          </p:cNvGraphicFramePr>
          <p:nvPr/>
        </p:nvGraphicFramePr>
        <p:xfrm>
          <a:off x="468313" y="1412875"/>
          <a:ext cx="8424862" cy="4924426"/>
        </p:xfrm>
        <a:graphic>
          <a:graphicData uri="http://schemas.openxmlformats.org/drawingml/2006/table">
            <a:tbl>
              <a:tblPr/>
              <a:tblGrid>
                <a:gridCol w="842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ABC Software</a:t>
                      </a: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: Interview Plan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Project Reference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: AA/ER/07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1088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Participants: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J. Smith (Budget Airline)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C. Chung (Budget Airline)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A. Marshal (Analyst)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Date:</a:t>
                      </a: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   02/10/2013      </a:t>
                      </a:r>
                      <a:r>
                        <a:rPr kumimoji="0" lang="en-GB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Time</a:t>
                      </a: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:  2:00 PM     </a:t>
                      </a:r>
                      <a:r>
                        <a:rPr kumimoji="0" lang="en-GB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Duration</a:t>
                      </a: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: 30 minutes   </a:t>
                      </a:r>
                      <a:r>
                        <a:rPr kumimoji="0" lang="en-GB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Place</a:t>
                      </a: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: Room C212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Purpose of the interview: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Preliminary meeting to identify problems and requirements regarding software system for Budget Airline Flight Booking System.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0799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Agenda: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current problems including booking, checking flight schedule, and any other concerns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current procedures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initial ideas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follow up actions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Documents to be brought to interview: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6424A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Current Procedures of Flight Booking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6424A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149" name="Rectangle 6"/>
          <p:cNvSpPr>
            <a:spLocks noChangeArrowheads="1"/>
          </p:cNvSpPr>
          <p:nvPr/>
        </p:nvSpPr>
        <p:spPr bwMode="auto">
          <a:xfrm>
            <a:off x="395288" y="765175"/>
            <a:ext cx="849788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800">
                <a:solidFill>
                  <a:srgbClr val="36424A"/>
                </a:solidFill>
              </a:rPr>
              <a:t>Plan for the first interview with Budget Airline</a:t>
            </a:r>
            <a:endParaRPr lang="en-US" sz="5400">
              <a:solidFill>
                <a:srgbClr val="3642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572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>
                <a:latin typeface="Arial" charset="0"/>
                <a:ea typeface="ＭＳ Ｐゴシック" charset="0"/>
              </a:rPr>
              <a:t>Interview Questions</a:t>
            </a:r>
            <a:endParaRPr lang="en-US" sz="3600">
              <a:latin typeface="Arial" charset="0"/>
              <a:ea typeface="ＭＳ Ｐゴシック" charset="0"/>
            </a:endParaRP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>
          <a:xfrm>
            <a:off x="323850" y="836713"/>
            <a:ext cx="8569325" cy="5760937"/>
          </a:xfrm>
        </p:spPr>
        <p:txBody>
          <a:bodyPr/>
          <a:lstStyle/>
          <a:p>
            <a:pPr marL="355600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dirty="0">
                <a:latin typeface="Arial" charset="0"/>
                <a:cs typeface="+mn-cs"/>
              </a:rPr>
              <a:t>Questions should be properly constructed to enable you to get useful information. </a:t>
            </a:r>
          </a:p>
          <a:p>
            <a:pPr marL="755650" lvl="1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b="1" i="1" dirty="0">
                <a:latin typeface="Arial" charset="0"/>
              </a:rPr>
              <a:t>Closed questions: </a:t>
            </a:r>
          </a:p>
          <a:p>
            <a:pPr marL="1022350" lvl="2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dirty="0">
                <a:latin typeface="Arial" charset="0"/>
              </a:rPr>
              <a:t>Different response options are provided. The interviewee can choose one or multiple responses. </a:t>
            </a:r>
          </a:p>
          <a:p>
            <a:pPr marL="1155700" lvl="2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dirty="0">
                <a:latin typeface="Arial" charset="0"/>
              </a:rPr>
              <a:t>Useful to confirm certain known information</a:t>
            </a:r>
          </a:p>
          <a:p>
            <a:pPr marL="755650" lvl="1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b="1" i="1" dirty="0">
                <a:latin typeface="Arial" charset="0"/>
              </a:rPr>
              <a:t>Open questions: </a:t>
            </a:r>
          </a:p>
          <a:p>
            <a:pPr marL="1022350" lvl="2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dirty="0">
                <a:latin typeface="Arial" charset="0"/>
              </a:rPr>
              <a:t>No predefined responses are provided to the interviewee. The interviewee can answer the question in his own words. </a:t>
            </a:r>
          </a:p>
          <a:p>
            <a:pPr marL="1155700" lvl="2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dirty="0">
                <a:latin typeface="Arial" charset="0"/>
              </a:rPr>
              <a:t>Useful to find out new information</a:t>
            </a:r>
          </a:p>
          <a:p>
            <a:pPr marL="755650" lvl="1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b="1" i="1" dirty="0">
                <a:latin typeface="Arial" charset="0"/>
              </a:rPr>
              <a:t>Leading questions</a:t>
            </a:r>
            <a:r>
              <a:rPr lang="en-US" dirty="0">
                <a:latin typeface="Arial" charset="0"/>
              </a:rPr>
              <a:t>: suggest the answers to the interviewee</a:t>
            </a:r>
          </a:p>
          <a:p>
            <a:pPr marL="1155700" lvl="2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dirty="0">
                <a:latin typeface="Arial" charset="0"/>
              </a:rPr>
              <a:t>Often starts with </a:t>
            </a:r>
            <a:r>
              <a:rPr lang="ja-JP" altLang="en-US" dirty="0">
                <a:latin typeface="Arial" charset="0"/>
              </a:rPr>
              <a:t>“</a:t>
            </a:r>
            <a:r>
              <a:rPr lang="en-US" i="1" dirty="0">
                <a:latin typeface="Arial" charset="0"/>
              </a:rPr>
              <a:t>Don</a:t>
            </a:r>
            <a:r>
              <a:rPr lang="ja-JP" altLang="en-US" i="1" dirty="0">
                <a:latin typeface="Arial" charset="0"/>
              </a:rPr>
              <a:t>’</a:t>
            </a:r>
            <a:r>
              <a:rPr lang="en-US" i="1" dirty="0">
                <a:latin typeface="Arial" charset="0"/>
              </a:rPr>
              <a:t>t you think that </a:t>
            </a:r>
            <a:r>
              <a:rPr lang="en-US" dirty="0">
                <a:latin typeface="Arial" charset="0"/>
              </a:rPr>
              <a:t>…?</a:t>
            </a:r>
            <a:r>
              <a:rPr lang="ja-JP" altLang="en-US" dirty="0">
                <a:latin typeface="Arial" charset="0"/>
              </a:rPr>
              <a:t>”</a:t>
            </a:r>
            <a:r>
              <a:rPr lang="en-US" dirty="0">
                <a:latin typeface="Arial" charset="0"/>
              </a:rPr>
              <a:t> </a:t>
            </a:r>
            <a:r>
              <a:rPr lang="ja-JP" altLang="en-US" dirty="0">
                <a:latin typeface="Arial" charset="0"/>
              </a:rPr>
              <a:t>“</a:t>
            </a:r>
            <a:r>
              <a:rPr lang="en-US" i="1" dirty="0" err="1">
                <a:latin typeface="Arial" charset="0"/>
              </a:rPr>
              <a:t>Isn</a:t>
            </a:r>
            <a:r>
              <a:rPr lang="ja-JP" altLang="en-US" i="1" dirty="0">
                <a:latin typeface="Arial" charset="0"/>
              </a:rPr>
              <a:t>’</a:t>
            </a:r>
            <a:r>
              <a:rPr lang="en-US" i="1" dirty="0">
                <a:latin typeface="Arial" charset="0"/>
              </a:rPr>
              <a:t>t it true that </a:t>
            </a:r>
            <a:r>
              <a:rPr lang="en-US" dirty="0">
                <a:latin typeface="Arial" charset="0"/>
              </a:rPr>
              <a:t>…?</a:t>
            </a:r>
            <a:r>
              <a:rPr lang="ja-JP" altLang="en-US" dirty="0">
                <a:latin typeface="Arial" charset="0"/>
              </a:rPr>
              <a:t>”</a:t>
            </a:r>
            <a:r>
              <a:rPr lang="en-US" dirty="0">
                <a:latin typeface="Arial" charset="0"/>
              </a:rPr>
              <a:t> </a:t>
            </a:r>
          </a:p>
          <a:p>
            <a:pPr marL="1155700" lvl="2" indent="-355600" algn="just"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dirty="0">
                <a:latin typeface="Arial" charset="0"/>
              </a:rPr>
              <a:t>Often lead to bias, thus should be avoided in requirements elicitation</a:t>
            </a:r>
          </a:p>
        </p:txBody>
      </p:sp>
      <p:sp>
        <p:nvSpPr>
          <p:cNvPr id="5222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69300" y="6497227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B6AE09B-29DC-0E45-BFEB-485F922B1941}" type="slidenum">
              <a:rPr lang="en-GB" sz="1400"/>
              <a:pPr eaLnBrk="1" hangingPunct="1"/>
              <a:t>24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441372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424862" cy="6477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sz="3600">
                <a:latin typeface="Arial Unicode MS" charset="0"/>
                <a:ea typeface="ＭＳ Ｐゴシック" charset="0"/>
                <a:cs typeface="Arial Unicode MS" charset="0"/>
              </a:rPr>
              <a:t>Elicitation Techniques: </a:t>
            </a:r>
            <a:r>
              <a:rPr lang="en-GB" sz="3200">
                <a:solidFill>
                  <a:srgbClr val="2D2DB9"/>
                </a:solidFill>
                <a:latin typeface="Arial Unicode MS" charset="0"/>
                <a:ea typeface="ＭＳ Ｐゴシック" charset="0"/>
                <a:cs typeface="Arial Unicode MS" charset="0"/>
              </a:rPr>
              <a:t>2. Questionnaires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836613"/>
            <a:ext cx="8497887" cy="5113337"/>
          </a:xfrm>
        </p:spPr>
        <p:txBody>
          <a:bodyPr/>
          <a:lstStyle/>
          <a:p>
            <a:pPr marL="358775" indent="-358775" eaLnBrk="1" hangingPunct="1">
              <a:lnSpc>
                <a:spcPct val="120000"/>
              </a:lnSpc>
              <a:buFont typeface="Wingdings" charset="0"/>
              <a:buChar char="v"/>
            </a:pPr>
            <a:r>
              <a:rPr lang="en-US" sz="2800" dirty="0">
                <a:latin typeface="Arial" charset="0"/>
                <a:ea typeface="ＭＳ Ｐゴシック" charset="0"/>
              </a:rPr>
              <a:t>Requirements elicitation by questionnaires means:</a:t>
            </a:r>
          </a:p>
          <a:p>
            <a:pPr marL="715963" lvl="1" indent="-357188" eaLnBrk="1" hangingPunct="1">
              <a:lnSpc>
                <a:spcPct val="120000"/>
              </a:lnSpc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Setting a number of questions about the required system and the requirements, </a:t>
            </a:r>
          </a:p>
          <a:p>
            <a:pPr marL="715963" lvl="1" indent="-357188" eaLnBrk="1" hangingPunct="1">
              <a:lnSpc>
                <a:spcPct val="120000"/>
              </a:lnSpc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Asking instances of a given target stakeholder to write down their answers to these questions</a:t>
            </a:r>
          </a:p>
          <a:p>
            <a:pPr marL="358775" indent="-358775" eaLnBrk="1" hangingPunct="1">
              <a:lnSpc>
                <a:spcPct val="120000"/>
              </a:lnSpc>
              <a:buFont typeface="Wingdings" charset="0"/>
              <a:buChar char="v"/>
            </a:pPr>
            <a:r>
              <a:rPr lang="en-US" sz="2800" dirty="0">
                <a:latin typeface="Arial" charset="0"/>
                <a:ea typeface="ＭＳ Ｐゴシック" charset="0"/>
              </a:rPr>
              <a:t>It is effective when the required information is:</a:t>
            </a:r>
          </a:p>
          <a:p>
            <a:pPr marL="715963" lvl="1" indent="-357188" eaLnBrk="1" hangingPunct="1">
              <a:lnSpc>
                <a:spcPct val="120000"/>
              </a:lnSpc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a small amount </a:t>
            </a:r>
          </a:p>
          <a:p>
            <a:pPr marL="715963" lvl="1" indent="-357188">
              <a:lnSpc>
                <a:spcPct val="120000"/>
              </a:lnSpc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contents in a well-defined context</a:t>
            </a:r>
          </a:p>
          <a:p>
            <a:pPr marL="715963" lvl="1" indent="-357188" eaLnBrk="1" hangingPunct="1">
              <a:lnSpc>
                <a:spcPct val="120000"/>
              </a:lnSpc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from a large number of people, especially if widely scattered, to establish a consensus</a:t>
            </a:r>
          </a:p>
        </p:txBody>
      </p:sp>
      <p:sp>
        <p:nvSpPr>
          <p:cNvPr id="5734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6347" y="6472982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1334A5A-9A5E-ED4F-924A-2264B10514E9}" type="slidenum">
              <a:rPr lang="en-GB" sz="1400"/>
              <a:pPr eaLnBrk="1" hangingPunct="1"/>
              <a:t>25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07734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7325"/>
            <a:ext cx="8229600" cy="5048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3600">
                <a:latin typeface="Arial" charset="0"/>
                <a:ea typeface="ＭＳ Ｐゴシック" charset="0"/>
              </a:rPr>
              <a:t>Example: Questionnaire</a:t>
            </a:r>
          </a:p>
        </p:txBody>
      </p:sp>
      <p:sp>
        <p:nvSpPr>
          <p:cNvPr id="60418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4589" y="6525343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E5486F-097F-7D4E-A64A-B551EABC977A}" type="slidenum">
              <a:rPr lang="en-GB" sz="1400"/>
              <a:pPr eaLnBrk="1" hangingPunct="1"/>
              <a:t>26</a:t>
            </a:fld>
            <a:endParaRPr lang="en-GB" sz="1400" dirty="0"/>
          </a:p>
        </p:txBody>
      </p:sp>
      <p:sp>
        <p:nvSpPr>
          <p:cNvPr id="60420" name="Text Box 7"/>
          <p:cNvSpPr txBox="1">
            <a:spLocks noChangeArrowheads="1"/>
          </p:cNvSpPr>
          <p:nvPr/>
        </p:nvSpPr>
        <p:spPr bwMode="auto">
          <a:xfrm>
            <a:off x="576262" y="1365609"/>
            <a:ext cx="799147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 eaLnBrk="1" hangingPunct="1"/>
            <a:r>
              <a:rPr lang="en-GB" sz="1800" dirty="0">
                <a:solidFill>
                  <a:srgbClr val="36424A"/>
                </a:solidFill>
              </a:rPr>
              <a:t>We are intending to move to a new online flight booking system in a near future. It would be a great help to us if you could spare a few minutes to give us your opinion. Please, answer the question below and return it within 1 week in the enclosed pre-paid envelope.</a:t>
            </a:r>
          </a:p>
          <a:p>
            <a:pPr algn="just" eaLnBrk="1" hangingPunct="1"/>
            <a:endParaRPr lang="en-GB" sz="1800" dirty="0">
              <a:solidFill>
                <a:srgbClr val="36424A"/>
              </a:solidFill>
            </a:endParaRPr>
          </a:p>
          <a:p>
            <a:pPr algn="just" eaLnBrk="1" hangingPunct="1"/>
            <a:r>
              <a:rPr lang="en-GB" sz="1800" dirty="0">
                <a:solidFill>
                  <a:srgbClr val="36424A"/>
                </a:solidFill>
              </a:rPr>
              <a:t>------------------------------------------------------------------------------------------------------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1. How many times have you bought tickets using our current phone service?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Once only 		[  ]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2-4 times   		[  ]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More than 4 times	[  ]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-----------------------------------------------------------------------------------------------------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2. Have you experienced problem with our service?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No 	[   ]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Yes 	[   ], please explain briefly below: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………………………………………………………………………………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………………………………………………………………………………</a:t>
            </a:r>
          </a:p>
        </p:txBody>
      </p:sp>
      <p:sp>
        <p:nvSpPr>
          <p:cNvPr id="60421" name="Rectangle 8"/>
          <p:cNvSpPr>
            <a:spLocks noChangeArrowheads="1"/>
          </p:cNvSpPr>
          <p:nvPr/>
        </p:nvSpPr>
        <p:spPr bwMode="auto">
          <a:xfrm>
            <a:off x="882650" y="805656"/>
            <a:ext cx="72548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200" dirty="0">
                <a:solidFill>
                  <a:srgbClr val="36424A"/>
                </a:solidFill>
              </a:rPr>
              <a:t>Budget Airline Flight Booking System – Customer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1C4D5-30A1-2347-8E53-B6D0578721EE}"/>
              </a:ext>
            </a:extLst>
          </p:cNvPr>
          <p:cNvSpPr txBox="1"/>
          <p:nvPr/>
        </p:nvSpPr>
        <p:spPr>
          <a:xfrm>
            <a:off x="6931571" y="3933056"/>
            <a:ext cx="1693317" cy="83099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Closed questions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88AECC-AABA-CF4C-928D-795A97942F4E}"/>
              </a:ext>
            </a:extLst>
          </p:cNvPr>
          <p:cNvCxnSpPr>
            <a:cxnSpLocks/>
          </p:cNvCxnSpPr>
          <p:nvPr/>
        </p:nvCxnSpPr>
        <p:spPr>
          <a:xfrm flipH="1" flipV="1">
            <a:off x="4810125" y="3608747"/>
            <a:ext cx="2121446" cy="4363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DE2C99-FDBA-A04B-8AC1-90CDC4D79D9D}"/>
              </a:ext>
            </a:extLst>
          </p:cNvPr>
          <p:cNvCxnSpPr>
            <a:cxnSpLocks/>
          </p:cNvCxnSpPr>
          <p:nvPr/>
        </p:nvCxnSpPr>
        <p:spPr>
          <a:xfrm flipH="1">
            <a:off x="5899425" y="4481471"/>
            <a:ext cx="1032146" cy="41549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933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sz="3200">
                <a:latin typeface="Arial" charset="0"/>
                <a:ea typeface="ＭＳ Ｐゴシック" charset="0"/>
              </a:rPr>
              <a:t>Example: Questionnaire (Continue)</a:t>
            </a:r>
          </a:p>
        </p:txBody>
      </p:sp>
      <p:sp>
        <p:nvSpPr>
          <p:cNvPr id="62466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756DB14-E6D4-DB45-81C8-A54F22A2548C}" type="slidenum">
              <a:rPr lang="en-GB" sz="1400"/>
              <a:pPr eaLnBrk="1" hangingPunct="1"/>
              <a:t>27</a:t>
            </a:fld>
            <a:endParaRPr lang="en-GB" sz="1400" dirty="0"/>
          </a:p>
        </p:txBody>
      </p:sp>
      <p:sp>
        <p:nvSpPr>
          <p:cNvPr id="62467" name="Slide Number Placeholder 5"/>
          <p:cNvSpPr txBox="1">
            <a:spLocks noGrp="1"/>
          </p:cNvSpPr>
          <p:nvPr/>
        </p:nvSpPr>
        <p:spPr bwMode="auto">
          <a:xfrm>
            <a:off x="8421688" y="6346825"/>
            <a:ext cx="5238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CF9F6C-BE69-AB41-8565-7665EE2B2866}" type="slidenum">
              <a:rPr lang="en-GB" sz="1400" b="1">
                <a:solidFill>
                  <a:srgbClr val="FFFFFF"/>
                </a:solidFill>
              </a:rPr>
              <a:pPr eaLnBrk="1" hangingPunct="1"/>
              <a:t>27</a:t>
            </a:fld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468313" y="836613"/>
            <a:ext cx="8569325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3. For each of the statements (a) – (e) shown below, circle the number that is closest to your view – where 1 means you agree strongly with the statement and 5 means you strongly disagree.</a:t>
            </a:r>
          </a:p>
          <a:p>
            <a:pPr eaLnBrk="1" hangingPunct="1"/>
            <a:endParaRPr lang="en-GB" sz="1800" dirty="0">
              <a:solidFill>
                <a:srgbClr val="36424A"/>
              </a:solidFill>
            </a:endParaRP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(a) The current phone service works well	1	2 	3	4	5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(b) The staff are always helpful and friendly 	1	2	3	4	5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(c) It is difficult to get flight schedule 	1	2	3	4	5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(d) Online booking will be more convenient 	1	2	3	4	5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(e) I would like to buy tickets online		1	2	3	4	5</a:t>
            </a:r>
          </a:p>
          <a:p>
            <a:pPr eaLnBrk="1" hangingPunct="1"/>
            <a:endParaRPr lang="en-GB" sz="1800" dirty="0">
              <a:solidFill>
                <a:srgbClr val="36424A"/>
              </a:solidFill>
            </a:endParaRP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-------------------------------------------------------------------------------------------------------------</a:t>
            </a:r>
          </a:p>
          <a:p>
            <a:pPr eaLnBrk="1" hangingPunct="1"/>
            <a:endParaRPr lang="en-GB" sz="1800" dirty="0">
              <a:solidFill>
                <a:srgbClr val="36424A"/>
              </a:solidFill>
            </a:endParaRP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4. Please note below any other comments: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………………………………………………………………………………….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	………………………………………………………………………………….</a:t>
            </a:r>
          </a:p>
          <a:p>
            <a:pPr eaLnBrk="1" hangingPunct="1"/>
            <a:endParaRPr lang="en-GB" sz="1800" dirty="0">
              <a:solidFill>
                <a:srgbClr val="36424A"/>
              </a:solidFill>
            </a:endParaRP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Your name: ……………………………………………</a:t>
            </a:r>
          </a:p>
          <a:p>
            <a:pPr eaLnBrk="1" hangingPunct="1"/>
            <a:r>
              <a:rPr lang="en-GB" sz="1800" dirty="0">
                <a:solidFill>
                  <a:srgbClr val="36424A"/>
                </a:solidFill>
              </a:rPr>
              <a:t>Your Email: …………………………………………</a:t>
            </a:r>
          </a:p>
          <a:p>
            <a:pPr eaLnBrk="1" hangingPunct="1"/>
            <a:endParaRPr lang="en-GB" sz="1800" dirty="0">
              <a:solidFill>
                <a:srgbClr val="36424A"/>
              </a:solidFill>
            </a:endParaRPr>
          </a:p>
          <a:p>
            <a:pPr eaLnBrk="1" hangingPunct="1"/>
            <a:r>
              <a:rPr lang="en-GB" sz="1800" b="1" dirty="0">
                <a:solidFill>
                  <a:srgbClr val="36424A"/>
                </a:solidFill>
              </a:rPr>
              <a:t>Thank you for completing the questionnaire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EA0FD8-2918-9649-AEF0-9CCCD123769F}"/>
              </a:ext>
            </a:extLst>
          </p:cNvPr>
          <p:cNvSpPr txBox="1"/>
          <p:nvPr/>
        </p:nvSpPr>
        <p:spPr>
          <a:xfrm>
            <a:off x="6660233" y="3933056"/>
            <a:ext cx="1964656" cy="83099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Quantitative question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DE7C23-CEEF-7F41-BF6B-703632CA356A}"/>
              </a:ext>
            </a:extLst>
          </p:cNvPr>
          <p:cNvCxnSpPr>
            <a:cxnSpLocks/>
          </p:cNvCxnSpPr>
          <p:nvPr/>
        </p:nvCxnSpPr>
        <p:spPr>
          <a:xfrm flipH="1" flipV="1">
            <a:off x="7524328" y="2924945"/>
            <a:ext cx="288032" cy="10081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56A801-40EA-F74D-B93A-184A9EAB24E6}"/>
              </a:ext>
            </a:extLst>
          </p:cNvPr>
          <p:cNvSpPr txBox="1"/>
          <p:nvPr/>
        </p:nvSpPr>
        <p:spPr>
          <a:xfrm>
            <a:off x="6728371" y="5190390"/>
            <a:ext cx="1693317" cy="83099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Open question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8C75FC-1353-1247-BDC1-D1DCF639F533}"/>
              </a:ext>
            </a:extLst>
          </p:cNvPr>
          <p:cNvCxnSpPr>
            <a:cxnSpLocks/>
          </p:cNvCxnSpPr>
          <p:nvPr/>
        </p:nvCxnSpPr>
        <p:spPr>
          <a:xfrm flipH="1" flipV="1">
            <a:off x="4606925" y="4866081"/>
            <a:ext cx="2121446" cy="4363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04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5048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>
                <a:latin typeface="Arial" charset="0"/>
                <a:ea typeface="ＭＳ Ｐゴシック" charset="0"/>
              </a:rPr>
              <a:t>Elicitation Techniques: </a:t>
            </a:r>
            <a:r>
              <a:rPr lang="en-US" sz="3200">
                <a:solidFill>
                  <a:srgbClr val="2D2DB9"/>
                </a:solidFill>
                <a:latin typeface="Arial" charset="0"/>
                <a:ea typeface="ＭＳ Ｐゴシック" charset="0"/>
              </a:rPr>
              <a:t>3. Workshops</a:t>
            </a:r>
            <a:endParaRPr lang="en-GB" sz="3200">
              <a:solidFill>
                <a:srgbClr val="2D2DB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836613"/>
            <a:ext cx="8280400" cy="5545137"/>
          </a:xfrm>
        </p:spPr>
        <p:txBody>
          <a:bodyPr/>
          <a:lstStyle/>
          <a:p>
            <a:pPr marL="361950" indent="-361950" algn="just" eaLnBrk="1" hangingPunct="1">
              <a:buFont typeface="Wingdings" charset="0"/>
              <a:buChar char="v"/>
            </a:pPr>
            <a:r>
              <a:rPr lang="en-US" sz="2800" dirty="0">
                <a:latin typeface="Arial" charset="0"/>
                <a:ea typeface="ＭＳ Ｐゴシック" charset="0"/>
              </a:rPr>
              <a:t>In a workshop, a group of stakeholders develop requirements for the system by working together through discussions</a:t>
            </a:r>
          </a:p>
          <a:p>
            <a:pPr marL="361950" indent="-361950" algn="just" eaLnBrk="1" hangingPunct="1">
              <a:buFont typeface="Wingdings" charset="0"/>
              <a:buChar char="v"/>
            </a:pPr>
            <a:r>
              <a:rPr lang="en-US" sz="2800" dirty="0">
                <a:latin typeface="Arial" charset="0"/>
                <a:ea typeface="ＭＳ Ｐゴシック" charset="0"/>
              </a:rPr>
              <a:t>Different forms of workshops</a:t>
            </a:r>
          </a:p>
          <a:p>
            <a:pPr marL="762000" lvl="1" indent="-361950" algn="just" eaLnBrk="1" hangingPunct="1"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Future workshop</a:t>
            </a:r>
          </a:p>
          <a:p>
            <a:pPr marL="762000" lvl="1" indent="-361950" algn="just" eaLnBrk="1" hangingPunct="1">
              <a:buFont typeface="Wingdings" charset="0"/>
              <a:buChar char="²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</a:rPr>
              <a:t>KJ Method</a:t>
            </a:r>
          </a:p>
          <a:p>
            <a:pPr marL="762000" lvl="1" indent="-361950" algn="just" eaLnBrk="1" hangingPunct="1"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Brainstorming</a:t>
            </a:r>
          </a:p>
        </p:txBody>
      </p:sp>
      <p:sp>
        <p:nvSpPr>
          <p:cNvPr id="6656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4589" y="6489699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5BC3C7E-DE00-A54B-B5EE-5007E01A6892}" type="slidenum">
              <a:rPr lang="en-GB" sz="1400"/>
              <a:pPr eaLnBrk="1" hangingPunct="1"/>
              <a:t>28</a:t>
            </a:fld>
            <a:endParaRPr lang="en-GB" sz="1400" dirty="0"/>
          </a:p>
        </p:txBody>
      </p:sp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213100"/>
            <a:ext cx="3298825" cy="253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7325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5048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>
                <a:latin typeface="Arial" charset="0"/>
                <a:ea typeface="ＭＳ Ｐゴシック" charset="0"/>
              </a:rPr>
              <a:t>Future Workshops</a:t>
            </a:r>
            <a:endParaRPr lang="en-GB" sz="3600">
              <a:latin typeface="Arial" charset="0"/>
              <a:ea typeface="ＭＳ Ｐゴシック" charset="0"/>
            </a:endParaRPr>
          </a:p>
        </p:txBody>
      </p:sp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836613"/>
            <a:ext cx="8280400" cy="5256212"/>
          </a:xfrm>
        </p:spPr>
        <p:txBody>
          <a:bodyPr/>
          <a:lstStyle/>
          <a:p>
            <a:pPr marL="361950" indent="-361950" algn="just" eaLnBrk="1" hangingPunct="1">
              <a:buFont typeface="Wingdings" charset="0"/>
              <a:buChar char="v"/>
            </a:pPr>
            <a:r>
              <a:rPr lang="en-US" sz="2800" dirty="0">
                <a:latin typeface="Arial" charset="0"/>
                <a:ea typeface="ＭＳ Ｐゴシック" charset="0"/>
              </a:rPr>
              <a:t>Views users as experts in the problem domain and aims to include them as active collaborators in the development process</a:t>
            </a:r>
          </a:p>
          <a:p>
            <a:pPr marL="762000" lvl="1" indent="-361950" algn="just" eaLnBrk="1" hangingPunct="1"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Originated in Scandinavia  </a:t>
            </a:r>
          </a:p>
          <a:p>
            <a:pPr marL="762000" lvl="1" indent="-361950" algn="just" eaLnBrk="1" hangingPunct="1">
              <a:buFont typeface="Wingdings" charset="0"/>
              <a:buChar char="²"/>
            </a:pPr>
            <a:r>
              <a:rPr lang="en-US" sz="2400" dirty="0">
                <a:latin typeface="Arial" charset="0"/>
                <a:ea typeface="ＭＳ Ｐゴシック" charset="0"/>
              </a:rPr>
              <a:t>Also called Participatory Design </a:t>
            </a:r>
          </a:p>
          <a:p>
            <a:pPr marL="361950" indent="-361950" eaLnBrk="1" hangingPunct="1">
              <a:buFont typeface="Wingdings" charset="0"/>
              <a:buChar char="v"/>
            </a:pPr>
            <a:r>
              <a:rPr lang="en-US" sz="2800" dirty="0">
                <a:latin typeface="Arial" charset="0"/>
                <a:ea typeface="ＭＳ Ｐゴシック" charset="0"/>
              </a:rPr>
              <a:t>It is divided into three stages:</a:t>
            </a:r>
          </a:p>
          <a:p>
            <a:pPr marL="762000" lvl="1" indent="-361950">
              <a:buFont typeface="Times New Roman" charset="0"/>
              <a:buAutoNum type="arabicPeriod"/>
            </a:pPr>
            <a:r>
              <a:rPr lang="en-US" sz="2400" b="1" dirty="0">
                <a:latin typeface="Arial" charset="0"/>
                <a:ea typeface="ＭＳ Ｐゴシック" charset="0"/>
              </a:rPr>
              <a:t>Critique</a:t>
            </a:r>
            <a:r>
              <a:rPr lang="en-US" sz="2400" dirty="0">
                <a:latin typeface="Arial" charset="0"/>
                <a:ea typeface="ＭＳ Ｐゴシック" charset="0"/>
              </a:rPr>
              <a:t>: current problems in the current system</a:t>
            </a:r>
          </a:p>
          <a:p>
            <a:pPr marL="762000" lvl="1" indent="-361950">
              <a:buFont typeface="Times New Roman" charset="0"/>
              <a:buAutoNum type="arabicPeriod"/>
            </a:pPr>
            <a:r>
              <a:rPr lang="en-US" sz="2400" b="1" dirty="0">
                <a:latin typeface="Arial" charset="0"/>
                <a:ea typeface="ＭＳ Ｐゴシック" charset="0"/>
              </a:rPr>
              <a:t>Fantasy</a:t>
            </a:r>
            <a:r>
              <a:rPr lang="en-US" sz="2400" dirty="0">
                <a:latin typeface="Arial" charset="0"/>
                <a:ea typeface="ＭＳ Ｐゴシック" charset="0"/>
              </a:rPr>
              <a:t>: imagine the perfect future system </a:t>
            </a:r>
          </a:p>
          <a:p>
            <a:pPr marL="762000" lvl="1" indent="-361950">
              <a:buFont typeface="Times New Roman" charset="0"/>
              <a:buAutoNum type="arabicPeriod"/>
            </a:pPr>
            <a:r>
              <a:rPr lang="en-GB" sz="2400" b="1" dirty="0">
                <a:latin typeface="Arial" charset="0"/>
                <a:ea typeface="ＭＳ Ｐゴシック" charset="0"/>
              </a:rPr>
              <a:t>Implementation</a:t>
            </a:r>
            <a:r>
              <a:rPr lang="en-GB" sz="2400" dirty="0">
                <a:latin typeface="Arial" charset="0"/>
                <a:ea typeface="ＭＳ Ｐゴシック" charset="0"/>
              </a:rPr>
              <a:t>: discuss ways in which the fantasy view may be realized</a:t>
            </a:r>
          </a:p>
        </p:txBody>
      </p:sp>
      <p:sp>
        <p:nvSpPr>
          <p:cNvPr id="6861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4589" y="6472982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9EC91B0-D93A-1045-A477-67081A560998}" type="slidenum">
              <a:rPr lang="en-GB" sz="1400"/>
              <a:pPr eaLnBrk="1" hangingPunct="1"/>
              <a:t>29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3106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>
          <a:xfrm>
            <a:off x="323850" y="222250"/>
            <a:ext cx="8653463" cy="685800"/>
          </a:xfrm>
        </p:spPr>
        <p:txBody>
          <a:bodyPr/>
          <a:lstStyle/>
          <a:p>
            <a:pPr eaLnBrk="1" hangingPunct="1"/>
            <a:r>
              <a:rPr lang="en-US" sz="3600">
                <a:latin typeface="Arial" charset="0"/>
                <a:ea typeface="ＭＳ Ｐゴシック" charset="0"/>
              </a:rPr>
              <a:t>Brainstorming</a:t>
            </a:r>
            <a:r>
              <a:rPr lang="en-US" sz="3600"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83970" name="Content Placeholder 2"/>
          <p:cNvSpPr>
            <a:spLocks noGrp="1"/>
          </p:cNvSpPr>
          <p:nvPr>
            <p:ph idx="1"/>
          </p:nvPr>
        </p:nvSpPr>
        <p:spPr>
          <a:xfrm>
            <a:off x="395288" y="908050"/>
            <a:ext cx="8461375" cy="5545138"/>
          </a:xfrm>
        </p:spPr>
        <p:txBody>
          <a:bodyPr/>
          <a:lstStyle/>
          <a:p>
            <a:pPr marL="358775" indent="-358775" eaLnBrk="1" hangingPunct="1">
              <a:spcBef>
                <a:spcPct val="0"/>
              </a:spcBef>
              <a:defRPr/>
            </a:pPr>
            <a:r>
              <a:rPr lang="en-US" sz="2800" dirty="0">
                <a:latin typeface="Arial" charset="0"/>
                <a:cs typeface="+mn-cs"/>
              </a:rPr>
              <a:t>It is a creativity technique that aims to generate a large number of new ideas by stimulating discussions with a group of stakeholders in the form of a workshop.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z="2800" dirty="0">
                <a:latin typeface="Arial" charset="0"/>
                <a:cs typeface="+mn-cs"/>
              </a:rPr>
              <a:t>Process</a:t>
            </a:r>
          </a:p>
          <a:p>
            <a:pPr lvl="1" eaLnBrk="1" hangingPunct="1">
              <a:spcBef>
                <a:spcPct val="0"/>
              </a:spcBef>
              <a:defRPr/>
            </a:pPr>
            <a:r>
              <a:rPr lang="en-US" sz="2400" dirty="0">
                <a:latin typeface="Arial" charset="0"/>
              </a:rPr>
              <a:t>Presentation of the subject</a:t>
            </a:r>
          </a:p>
          <a:p>
            <a:pPr marL="901700" lvl="2" indent="-368300" eaLnBrk="1" hangingPunct="1">
              <a:spcBef>
                <a:spcPct val="0"/>
              </a:spcBef>
              <a:defRPr/>
            </a:pPr>
            <a:r>
              <a:rPr lang="en-US" sz="2400" dirty="0">
                <a:latin typeface="Arial" charset="0"/>
              </a:rPr>
              <a:t>Explain the subject</a:t>
            </a:r>
          </a:p>
          <a:p>
            <a:pPr marL="901700" lvl="2" indent="-368300" eaLnBrk="1" hangingPunct="1">
              <a:spcBef>
                <a:spcPct val="0"/>
              </a:spcBef>
              <a:defRPr/>
            </a:pPr>
            <a:r>
              <a:rPr lang="en-US" sz="2400" dirty="0">
                <a:latin typeface="Arial" charset="0"/>
              </a:rPr>
              <a:t>Clarify the goal of the session</a:t>
            </a:r>
          </a:p>
          <a:p>
            <a:pPr marL="901700" lvl="2" indent="-368300" eaLnBrk="1" hangingPunct="1">
              <a:spcBef>
                <a:spcPct val="0"/>
              </a:spcBef>
              <a:defRPr/>
            </a:pPr>
            <a:r>
              <a:rPr lang="en-US" sz="2400" dirty="0">
                <a:latin typeface="Arial" charset="0"/>
              </a:rPr>
              <a:t>Set the rules of brainstorming </a:t>
            </a:r>
          </a:p>
          <a:p>
            <a:pPr lvl="1" eaLnBrk="1" hangingPunct="1">
              <a:spcBef>
                <a:spcPct val="0"/>
              </a:spcBef>
              <a:defRPr/>
            </a:pPr>
            <a:r>
              <a:rPr lang="en-US" sz="2400" dirty="0">
                <a:latin typeface="Arial" charset="0"/>
              </a:rPr>
              <a:t>Idea generation</a:t>
            </a:r>
          </a:p>
          <a:p>
            <a:pPr marL="901700" lvl="2" indent="-368300" eaLnBrk="1" hangingPunct="1">
              <a:spcBef>
                <a:spcPct val="0"/>
              </a:spcBef>
              <a:defRPr/>
            </a:pPr>
            <a:r>
              <a:rPr lang="en-US" sz="2400" dirty="0">
                <a:latin typeface="Arial" charset="0"/>
              </a:rPr>
              <a:t>Each participant expresses his/her ideas with respect to the subject</a:t>
            </a:r>
          </a:p>
          <a:p>
            <a:pPr marL="901700" lvl="2" indent="-368300" eaLnBrk="1" hangingPunct="1">
              <a:spcBef>
                <a:spcPct val="0"/>
              </a:spcBef>
              <a:defRPr/>
            </a:pPr>
            <a:r>
              <a:rPr lang="en-US" sz="2400" dirty="0">
                <a:latin typeface="Arial" charset="0"/>
              </a:rPr>
              <a:t>Minute taker records all ideas and make them visible to all participants</a:t>
            </a:r>
          </a:p>
          <a:p>
            <a:pPr lvl="1" eaLnBrk="1" hangingPunct="1">
              <a:spcBef>
                <a:spcPct val="0"/>
              </a:spcBef>
              <a:defRPr/>
            </a:pPr>
            <a:endParaRPr lang="en-US" sz="2400" dirty="0">
              <a:latin typeface="Arial" charset="0"/>
            </a:endParaRPr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92373" y="6497227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059EAD1-AD88-C942-947F-B1E09CB5031C}" type="slidenum">
              <a:rPr lang="en-GB" sz="1400"/>
              <a:pPr eaLnBrk="1" hangingPunct="1"/>
              <a:t>30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30762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Arial" charset="0"/>
                <a:ea typeface="ＭＳ Ｐゴシック" charset="0"/>
              </a:rPr>
              <a:t>Seven Rules of Brainstorming </a:t>
            </a:r>
          </a:p>
        </p:txBody>
      </p:sp>
      <p:sp>
        <p:nvSpPr>
          <p:cNvPr id="75778" name="Content Placeholder 2"/>
          <p:cNvSpPr>
            <a:spLocks noGrp="1"/>
          </p:cNvSpPr>
          <p:nvPr>
            <p:ph idx="1"/>
          </p:nvPr>
        </p:nvSpPr>
        <p:spPr>
          <a:xfrm>
            <a:off x="395288" y="765175"/>
            <a:ext cx="8583612" cy="5400675"/>
          </a:xfrm>
        </p:spPr>
        <p:txBody>
          <a:bodyPr/>
          <a:lstStyle/>
          <a:p>
            <a:pPr marL="361950" indent="-361950" eaLnBrk="1" hangingPunct="1">
              <a:spcBef>
                <a:spcPct val="0"/>
              </a:spcBef>
              <a:buFont typeface="Times New Roman" charset="0"/>
              <a:buAutoNum type="arabicPeriod"/>
            </a:pPr>
            <a:r>
              <a:rPr lang="en-US" sz="2800">
                <a:latin typeface="Arial" charset="0"/>
                <a:ea typeface="ＭＳ Ｐゴシック" charset="0"/>
              </a:rPr>
              <a:t>Quantity over quality</a:t>
            </a:r>
          </a:p>
          <a:p>
            <a:pPr marL="361950" indent="-361950" eaLnBrk="1" hangingPunct="1">
              <a:spcBef>
                <a:spcPct val="0"/>
              </a:spcBef>
              <a:buFont typeface="Times New Roman" charset="0"/>
              <a:buAutoNum type="arabicPeriod"/>
            </a:pPr>
            <a:r>
              <a:rPr lang="en-US" sz="2800">
                <a:latin typeface="Arial" charset="0"/>
                <a:ea typeface="ＭＳ Ｐゴシック" charset="0"/>
              </a:rPr>
              <a:t>Free association and visionary thinking encouraged and desired</a:t>
            </a:r>
          </a:p>
          <a:p>
            <a:pPr marL="361950" indent="-361950" eaLnBrk="1" hangingPunct="1">
              <a:spcBef>
                <a:spcPct val="0"/>
              </a:spcBef>
              <a:buFont typeface="Times New Roman" charset="0"/>
              <a:buAutoNum type="arabicPeriod"/>
            </a:pPr>
            <a:r>
              <a:rPr lang="en-US" sz="2800">
                <a:latin typeface="Arial" charset="0"/>
                <a:ea typeface="ＭＳ Ｐゴシック" charset="0"/>
              </a:rPr>
              <a:t>Taking on and combining expressed ideas is encouraged and desired</a:t>
            </a:r>
          </a:p>
          <a:p>
            <a:pPr marL="361950" indent="-361950" eaLnBrk="1" hangingPunct="1">
              <a:spcBef>
                <a:spcPct val="0"/>
              </a:spcBef>
              <a:buFont typeface="Times New Roman" charset="0"/>
              <a:buAutoNum type="arabicPeriod"/>
            </a:pPr>
            <a:r>
              <a:rPr lang="en-US" sz="2800">
                <a:latin typeface="Arial" charset="0"/>
                <a:ea typeface="ＭＳ Ｐゴシック" charset="0"/>
              </a:rPr>
              <a:t>Criticism is forbidden</a:t>
            </a:r>
          </a:p>
          <a:p>
            <a:pPr marL="361950" indent="-361950" eaLnBrk="1" hangingPunct="1">
              <a:spcBef>
                <a:spcPct val="0"/>
              </a:spcBef>
              <a:buFont typeface="Times New Roman" charset="0"/>
              <a:buAutoNum type="arabicPeriod"/>
            </a:pPr>
            <a:r>
              <a:rPr lang="en-US" sz="2800">
                <a:latin typeface="Arial" charset="0"/>
                <a:ea typeface="ＭＳ Ｐゴシック" charset="0"/>
              </a:rPr>
              <a:t>Questions for clarification are allowed</a:t>
            </a:r>
          </a:p>
          <a:p>
            <a:pPr marL="361950" indent="-361950" eaLnBrk="1" hangingPunct="1">
              <a:spcBef>
                <a:spcPct val="0"/>
              </a:spcBef>
              <a:buFont typeface="Times New Roman" charset="0"/>
              <a:buAutoNum type="arabicPeriod"/>
            </a:pPr>
            <a:r>
              <a:rPr lang="en-US" sz="2800">
                <a:latin typeface="Arial" charset="0"/>
                <a:ea typeface="ＭＳ Ｐゴシック" charset="0"/>
              </a:rPr>
              <a:t>Do not abort the brainstorming at the first deadlock</a:t>
            </a:r>
          </a:p>
          <a:p>
            <a:pPr marL="447675" lvl="1" indent="-3175" eaLnBrk="1" hangingPunct="1">
              <a:spcBef>
                <a:spcPct val="0"/>
              </a:spcBef>
              <a:buFont typeface="Wingdings" charset="0"/>
              <a:buNone/>
            </a:pPr>
            <a:r>
              <a:rPr lang="en-US" sz="2400">
                <a:latin typeface="Arial" charset="0"/>
                <a:ea typeface="ＭＳ Ｐゴシック" charset="0"/>
              </a:rPr>
              <a:t>Almost every brainstorming session experiences a slack period (30-60 seconds of silence). </a:t>
            </a:r>
          </a:p>
          <a:p>
            <a:pPr marL="361950" indent="-361950" eaLnBrk="1" hangingPunct="1">
              <a:spcBef>
                <a:spcPct val="0"/>
              </a:spcBef>
              <a:buFont typeface="Times New Roman" charset="0"/>
              <a:buAutoNum type="arabicPeriod"/>
            </a:pPr>
            <a:r>
              <a:rPr lang="en-US" sz="2800">
                <a:latin typeface="Arial" charset="0"/>
                <a:ea typeface="ＭＳ Ｐゴシック" charset="0"/>
              </a:rPr>
              <a:t>The brainstorming comes to a natural end</a:t>
            </a:r>
          </a:p>
          <a:p>
            <a:pPr marL="447675" lvl="1" indent="-3175" eaLnBrk="1" hangingPunct="1">
              <a:spcBef>
                <a:spcPct val="0"/>
              </a:spcBef>
              <a:buFont typeface="Wingdings" charset="0"/>
              <a:buNone/>
            </a:pPr>
            <a:r>
              <a:rPr lang="en-US" sz="2400">
                <a:latin typeface="Arial" charset="0"/>
                <a:ea typeface="ＭＳ Ｐゴシック" charset="0"/>
              </a:rPr>
              <a:t>Indicated by increasing frequency and lengths of deadlocks</a:t>
            </a:r>
          </a:p>
        </p:txBody>
      </p:sp>
      <p:sp>
        <p:nvSpPr>
          <p:cNvPr id="7577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05571" y="6489971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2270D31-DB52-CC4A-8E88-81522D389EAF}" type="slidenum">
              <a:rPr lang="en-GB" sz="1400"/>
              <a:pPr eaLnBrk="1" hangingPunct="1"/>
              <a:t>31</a:t>
            </a:fld>
            <a:endParaRPr lang="en-GB" sz="1400" dirty="0"/>
          </a:p>
        </p:txBody>
      </p:sp>
      <p:sp>
        <p:nvSpPr>
          <p:cNvPr id="75780" name="Slide Number Placeholder 3"/>
          <p:cNvSpPr txBox="1">
            <a:spLocks noGrp="1"/>
          </p:cNvSpPr>
          <p:nvPr/>
        </p:nvSpPr>
        <p:spPr bwMode="auto">
          <a:xfrm>
            <a:off x="8421688" y="6346825"/>
            <a:ext cx="5238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7D1F530-0270-6D45-816D-67FA83682D6C}" type="slidenum">
              <a:rPr lang="en-GB" sz="1400" b="1">
                <a:solidFill>
                  <a:srgbClr val="FFFFFF"/>
                </a:solidFill>
              </a:rPr>
              <a:pPr eaLnBrk="1" hangingPunct="1"/>
              <a:t>31</a:t>
            </a:fld>
            <a:endParaRPr lang="en-GB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827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647700"/>
          </a:xfrm>
        </p:spPr>
        <p:txBody>
          <a:bodyPr/>
          <a:lstStyle/>
          <a:p>
            <a:pPr eaLnBrk="1" hangingPunct="1"/>
            <a:r>
              <a:rPr lang="en-GB" sz="3200">
                <a:latin typeface="Arial" charset="0"/>
                <a:ea typeface="ＭＳ Ｐゴシック" charset="0"/>
              </a:rPr>
              <a:t>Elicitation Techniques: </a:t>
            </a:r>
            <a:r>
              <a:rPr lang="en-GB" sz="3200">
                <a:solidFill>
                  <a:srgbClr val="2D2DB9"/>
                </a:solidFill>
                <a:latin typeface="Arial" charset="0"/>
                <a:ea typeface="ＭＳ Ｐゴシック" charset="0"/>
              </a:rPr>
              <a:t>4. Observation</a:t>
            </a:r>
          </a:p>
        </p:txBody>
      </p:sp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908050"/>
            <a:ext cx="8496300" cy="5616575"/>
          </a:xfrm>
        </p:spPr>
        <p:txBody>
          <a:bodyPr/>
          <a:lstStyle/>
          <a:p>
            <a:pPr marL="358775" indent="-358775" eaLnBrk="1" hangingPunct="1">
              <a:spcBef>
                <a:spcPct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Observation is a method of social analysis widely used in a methodology called ‘Ethnography’ </a:t>
            </a:r>
          </a:p>
          <a:p>
            <a:pPr marL="715963" lvl="1" indent="-271463" eaLnBrk="1" hangingPunct="1">
              <a:spcBef>
                <a:spcPct val="0"/>
              </a:spcBef>
              <a:buFont typeface="Wingdings" charset="0"/>
              <a:buChar char="²"/>
            </a:pPr>
            <a:r>
              <a:rPr lang="en-GB" sz="2200" dirty="0">
                <a:latin typeface="Arial" charset="0"/>
                <a:ea typeface="ＭＳ Ｐゴシック" charset="0"/>
              </a:rPr>
              <a:t>Originated from social sciences and anthropology</a:t>
            </a:r>
          </a:p>
          <a:p>
            <a:pPr marL="715963" lvl="1" indent="-271463" eaLnBrk="1" hangingPunct="1">
              <a:spcBef>
                <a:spcPct val="0"/>
              </a:spcBef>
              <a:buFont typeface="Wingdings" charset="0"/>
              <a:buChar char="²"/>
            </a:pPr>
            <a:r>
              <a:rPr lang="en-GB" sz="2200" dirty="0">
                <a:latin typeface="Arial" charset="0"/>
                <a:ea typeface="ＭＳ Ｐゴシック" charset="0"/>
              </a:rPr>
              <a:t>Is an umbrella qualitative research methodology that relies on immersion into the culture and is designed to explore cultural phenomena</a:t>
            </a:r>
            <a:r>
              <a:rPr lang="en-GB" sz="2200" dirty="0">
                <a:latin typeface="Times New Roman" charset="0"/>
                <a:ea typeface="ＭＳ Ｐゴシック" charset="0"/>
              </a:rPr>
              <a:t> </a:t>
            </a:r>
            <a:r>
              <a:rPr lang="en-GB" sz="2200" dirty="0">
                <a:latin typeface="Arial" charset="0"/>
                <a:ea typeface="ＭＳ Ｐゴシック" charset="0"/>
              </a:rPr>
              <a:t> </a:t>
            </a:r>
          </a:p>
          <a:p>
            <a:pPr marL="715963" lvl="1" indent="-271463" eaLnBrk="1" hangingPunct="1">
              <a:spcBef>
                <a:spcPct val="0"/>
              </a:spcBef>
              <a:buFont typeface="Wingdings" charset="0"/>
              <a:buChar char="²"/>
            </a:pPr>
            <a:r>
              <a:rPr lang="en-GB" sz="2200" dirty="0">
                <a:latin typeface="Arial" charset="0"/>
                <a:ea typeface="ＭＳ Ｐゴシック" charset="0"/>
              </a:rPr>
              <a:t>Ways for understanding actual work processes – how people work at workplaces, e.g. organisational practice and culture</a:t>
            </a:r>
          </a:p>
          <a:p>
            <a:pPr marL="358775" indent="-358775" eaLnBrk="1" hangingPunct="1">
              <a:spcBef>
                <a:spcPct val="0"/>
              </a:spcBef>
              <a:buFont typeface="Wingdings" charset="0"/>
              <a:buChar char="v"/>
            </a:pPr>
            <a:r>
              <a:rPr lang="en-GB" dirty="0">
                <a:latin typeface="Arial" charset="0"/>
                <a:ea typeface="ＭＳ Ｐゴシック" charset="0"/>
              </a:rPr>
              <a:t>The analyst (ethnographer) spends time with people at work to gain an understanding of actual work practices</a:t>
            </a:r>
          </a:p>
          <a:p>
            <a:pPr marL="715963" lvl="1" indent="-271463" eaLnBrk="1" hangingPunct="1">
              <a:spcBef>
                <a:spcPct val="0"/>
              </a:spcBef>
              <a:buFont typeface="Wingdings" charset="0"/>
              <a:buChar char="²"/>
            </a:pPr>
            <a:r>
              <a:rPr lang="en-GB" sz="2200" dirty="0">
                <a:latin typeface="Arial" charset="0"/>
                <a:ea typeface="ＭＳ Ｐゴシック" charset="0"/>
              </a:rPr>
              <a:t>Establishes a trust relationship with people at work</a:t>
            </a:r>
          </a:p>
          <a:p>
            <a:pPr marL="715963" lvl="1" indent="-271463" eaLnBrk="1" hangingPunct="1">
              <a:spcBef>
                <a:spcPct val="0"/>
              </a:spcBef>
              <a:buFont typeface="Wingdings" charset="0"/>
              <a:buChar char="²"/>
            </a:pPr>
            <a:r>
              <a:rPr lang="en-GB" sz="2200" dirty="0">
                <a:latin typeface="Arial" charset="0"/>
                <a:ea typeface="ＭＳ Ｐゴシック" charset="0"/>
              </a:rPr>
              <a:t>Keeps detailed notes of all work practices</a:t>
            </a:r>
          </a:p>
          <a:p>
            <a:pPr marL="715963" lvl="1" indent="-271463" eaLnBrk="1" hangingPunct="1">
              <a:spcBef>
                <a:spcPct val="0"/>
              </a:spcBef>
              <a:buFont typeface="Wingdings" charset="0"/>
              <a:buChar char="²"/>
            </a:pPr>
            <a:r>
              <a:rPr lang="en-GB" sz="2200" dirty="0">
                <a:latin typeface="Arial" charset="0"/>
                <a:ea typeface="ＭＳ Ｐゴシック" charset="0"/>
              </a:rPr>
              <a:t>Talks to people outside the workplaces to get required information</a:t>
            </a:r>
          </a:p>
          <a:p>
            <a:pPr marL="715963" lvl="1" indent="-271463" eaLnBrk="1" hangingPunct="1">
              <a:spcBef>
                <a:spcPct val="0"/>
              </a:spcBef>
              <a:buFont typeface="Wingdings" charset="0"/>
              <a:buChar char="²"/>
            </a:pPr>
            <a:r>
              <a:rPr lang="en-GB" sz="2200" dirty="0">
                <a:latin typeface="Arial" charset="0"/>
                <a:ea typeface="ＭＳ Ｐゴシック" charset="0"/>
              </a:rPr>
              <a:t>Analyses the information collected and draws conclusions</a:t>
            </a:r>
          </a:p>
          <a:p>
            <a:pPr marL="715963" lvl="1" indent="-271463" eaLnBrk="1" hangingPunct="1">
              <a:spcBef>
                <a:spcPct val="0"/>
              </a:spcBef>
              <a:buFont typeface="Wingdings" charset="0"/>
              <a:buChar char="²"/>
            </a:pPr>
            <a:r>
              <a:rPr lang="en-GB" sz="2200" dirty="0">
                <a:latin typeface="Arial" charset="0"/>
                <a:ea typeface="ＭＳ Ｐゴシック" charset="0"/>
              </a:rPr>
              <a:t>Very useful technique, but time consuming</a:t>
            </a:r>
            <a:endParaRPr lang="en-US" sz="2200" dirty="0">
              <a:latin typeface="Arial" charset="0"/>
              <a:ea typeface="ＭＳ Ｐゴシック" charset="0"/>
            </a:endParaRPr>
          </a:p>
        </p:txBody>
      </p:sp>
      <p:sp>
        <p:nvSpPr>
          <p:cNvPr id="7680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95442" y="6497227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100904B-5004-5E41-99AE-1E65CEACE08D}" type="slidenum">
              <a:rPr lang="en-GB" sz="1400"/>
              <a:pPr eaLnBrk="1" hangingPunct="1"/>
              <a:t>32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3395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5214" y="2636912"/>
            <a:ext cx="8211241" cy="1905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Part 3</a:t>
            </a:r>
          </a:p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chemeClr val="bg1"/>
                </a:solidFill>
              </a:rPr>
              <a:t>Requirements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8AE10-4C00-294B-BAEE-927E8EC9A2E4}"/>
              </a:ext>
            </a:extLst>
          </p:cNvPr>
          <p:cNvSpPr txBox="1"/>
          <p:nvPr/>
        </p:nvSpPr>
        <p:spPr>
          <a:xfrm>
            <a:off x="465215" y="476672"/>
            <a:ext cx="8211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Lecture 3 </a:t>
            </a:r>
          </a:p>
          <a:p>
            <a:pPr algn="ctr"/>
            <a:r>
              <a:rPr lang="en-GB" sz="4000" dirty="0">
                <a:solidFill>
                  <a:schemeClr val="bg1"/>
                </a:solidFill>
              </a:rPr>
              <a:t>Requirements Engineering </a:t>
            </a:r>
          </a:p>
        </p:txBody>
      </p:sp>
    </p:spTree>
    <p:extLst>
      <p:ext uri="{BB962C8B-B14F-4D97-AF65-F5344CB8AC3E}">
        <p14:creationId xmlns:p14="http://schemas.microsoft.com/office/powerpoint/2010/main" val="2310722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Requirements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Requirements documentation</a:t>
            </a:r>
          </a:p>
          <a:p>
            <a:pPr marL="722313" lvl="1" indent="-450850"/>
            <a:r>
              <a:rPr lang="en-US" sz="2400" dirty="0"/>
              <a:t>One of the key engineering activities in RE</a:t>
            </a:r>
          </a:p>
          <a:p>
            <a:pPr marL="722313" lvl="1" indent="-450850"/>
            <a:r>
              <a:rPr lang="en-US" sz="2400" dirty="0"/>
              <a:t>Aims at documenting important information elicited or developed during RE</a:t>
            </a:r>
          </a:p>
          <a:p>
            <a:r>
              <a:rPr lang="en-US" sz="2800" dirty="0"/>
              <a:t>Terminology</a:t>
            </a:r>
          </a:p>
          <a:p>
            <a:pPr marL="722313" lvl="1" indent="-450850"/>
            <a:r>
              <a:rPr lang="en-US" sz="2400" dirty="0"/>
              <a:t>Documentation: </a:t>
            </a:r>
          </a:p>
          <a:p>
            <a:pPr marL="985838" lvl="2" indent="-263525"/>
            <a:r>
              <a:rPr lang="en-US" sz="2400" dirty="0"/>
              <a:t>The activity that produces, archives and manages software artifacts in the engineering process</a:t>
            </a:r>
          </a:p>
          <a:p>
            <a:pPr marL="722313" lvl="1" indent="-450850"/>
            <a:r>
              <a:rPr lang="en-US" sz="2400" dirty="0"/>
              <a:t>Document:</a:t>
            </a:r>
          </a:p>
          <a:p>
            <a:pPr marL="985838" lvl="2" indent="-263525"/>
            <a:r>
              <a:rPr lang="en-US" sz="2400" dirty="0"/>
              <a:t>The artifacts produced by documentation and usually written in a natural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9D7B7-66D4-2941-B41F-AFC56D8EE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77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/>
              <a:t>Roles of Documents in RE (and 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352928" cy="5472608"/>
          </a:xfrm>
        </p:spPr>
        <p:txBody>
          <a:bodyPr/>
          <a:lstStyle/>
          <a:p>
            <a:pPr marL="449263" indent="-449263">
              <a:spcBef>
                <a:spcPts val="900"/>
              </a:spcBef>
            </a:pPr>
            <a:r>
              <a:rPr lang="en-US" sz="2800" dirty="0"/>
              <a:t>To provides persistent and reliable record of information</a:t>
            </a:r>
          </a:p>
          <a:p>
            <a:pPr marL="449263" indent="-449263">
              <a:spcBef>
                <a:spcPts val="900"/>
              </a:spcBef>
            </a:pPr>
            <a:r>
              <a:rPr lang="en-US" sz="2800" dirty="0"/>
              <a:t>To facilitate communications between stakeholders as common references </a:t>
            </a:r>
          </a:p>
          <a:p>
            <a:pPr marL="449263" indent="-449263">
              <a:spcBef>
                <a:spcPts val="900"/>
              </a:spcBef>
            </a:pPr>
            <a:r>
              <a:rPr lang="en-US" sz="2800" dirty="0"/>
              <a:t>To serve as a reference and/or contract in the negotiation and agreement of commissioning development tasks</a:t>
            </a:r>
          </a:p>
          <a:p>
            <a:pPr marL="449263" indent="-449263">
              <a:spcBef>
                <a:spcPts val="900"/>
              </a:spcBef>
            </a:pPr>
            <a:r>
              <a:rPr lang="en-US" sz="2800" dirty="0"/>
              <a:t>As the basis for further development, such as design, derivation of operation manual, etc.  </a:t>
            </a:r>
          </a:p>
          <a:p>
            <a:pPr marL="449263" indent="-449263">
              <a:spcBef>
                <a:spcPts val="900"/>
              </a:spcBef>
            </a:pPr>
            <a:r>
              <a:rPr lang="en-US" sz="2800" dirty="0"/>
              <a:t>To preserves expert knowledge</a:t>
            </a:r>
          </a:p>
          <a:p>
            <a:pPr marL="449263" indent="-449263">
              <a:spcBef>
                <a:spcPts val="900"/>
              </a:spcBef>
            </a:pPr>
            <a:r>
              <a:rPr lang="en-US" sz="2800" dirty="0"/>
              <a:t>To help reflection on the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92995" y="6541439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2846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84" y="132389"/>
            <a:ext cx="8772525" cy="685800"/>
          </a:xfrm>
        </p:spPr>
        <p:txBody>
          <a:bodyPr>
            <a:normAutofit/>
          </a:bodyPr>
          <a:lstStyle/>
          <a:p>
            <a:r>
              <a:rPr lang="en-US" sz="3600" dirty="0"/>
              <a:t>What to Be Documented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764704"/>
            <a:ext cx="4248472" cy="5760639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0"/>
              </a:spcBef>
            </a:pPr>
            <a:r>
              <a:rPr lang="en-US" sz="2400" dirty="0"/>
              <a:t>Intermediate results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Brainstorming results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Different stakeholders’ viewpoints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Alternative solutions for resolving conflicts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Information about context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Deviations from standards, rules and guidelines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Identified requirements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Review/walkthrough results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Scenarios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Stakeholder’s wishes, needs, arguments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Requirements sources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Context information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Stakeholders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Risks</a:t>
            </a:r>
            <a:endParaRPr lang="en-US" sz="2800" dirty="0">
              <a:solidFill>
                <a:srgbClr val="36424A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16016" y="764704"/>
            <a:ext cx="4211960" cy="583264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Problems identified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Errors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Contradictions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solidFill>
                  <a:srgbClr val="36424A"/>
                </a:solidFill>
              </a:rPr>
              <a:t>Gaps in documented requirements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Decisions made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Agreement reached on requirements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Decision regarding conflicts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Decision rationales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Priorities on requirements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Evolution of artifacts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Change requests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Decision about change requests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Evolution tracks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Final results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Requirements definition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Requirements specification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24589" y="6527992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792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Documentation vs Specification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23528" y="933450"/>
            <a:ext cx="8655372" cy="3503662"/>
          </a:xfrm>
        </p:spPr>
        <p:txBody>
          <a:bodyPr/>
          <a:lstStyle/>
          <a:p>
            <a:pPr marL="361950" indent="-361950">
              <a:spcBef>
                <a:spcPts val="0"/>
              </a:spcBef>
            </a:pPr>
            <a:r>
              <a:rPr lang="en-US" dirty="0"/>
              <a:t>Specification is a special sub-type of RE documents aiming at providing a definitive and clear document about the system to be developed </a:t>
            </a:r>
          </a:p>
          <a:p>
            <a:pPr marL="722313" lvl="1" indent="-360363">
              <a:spcBef>
                <a:spcPts val="0"/>
              </a:spcBef>
            </a:pPr>
            <a:r>
              <a:rPr lang="en-US" sz="2400" dirty="0"/>
              <a:t>Represent the final results, agreed by all stakeholders, especially the client</a:t>
            </a:r>
          </a:p>
          <a:p>
            <a:pPr marL="722313" lvl="1" indent="-360363">
              <a:spcBef>
                <a:spcPts val="0"/>
              </a:spcBef>
            </a:pPr>
            <a:r>
              <a:rPr lang="en-US" sz="2400" dirty="0"/>
              <a:t>Provide the technical details of the project contract </a:t>
            </a:r>
          </a:p>
          <a:p>
            <a:pPr marL="722313" lvl="1" indent="-360363">
              <a:spcBef>
                <a:spcPts val="0"/>
              </a:spcBef>
            </a:pPr>
            <a:r>
              <a:rPr lang="en-US" sz="2400" dirty="0"/>
              <a:t>Serve as the development and acceptance manual</a:t>
            </a:r>
          </a:p>
          <a:p>
            <a:pPr marL="722313" lvl="1" indent="-360363">
              <a:spcBef>
                <a:spcPts val="0"/>
              </a:spcBef>
            </a:pPr>
            <a:r>
              <a:rPr lang="en-US" sz="2400" dirty="0"/>
              <a:t>Often employ formal/semi-formal notations, such as </a:t>
            </a:r>
            <a:r>
              <a:rPr lang="en-US" sz="2400" dirty="0" err="1"/>
              <a:t>modelling</a:t>
            </a:r>
            <a:r>
              <a:rPr lang="en-US" sz="2400" dirty="0"/>
              <a:t> languages and/or mathematical notations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083210" y="6511284"/>
            <a:ext cx="523875" cy="358775"/>
          </a:xfrm>
          <a:prstGeom prst="rect">
            <a:avLst/>
          </a:prstGeom>
        </p:spPr>
        <p:txBody>
          <a:bodyPr/>
          <a:lstStyle/>
          <a:p>
            <a:fld id="{8762DCC5-B6D9-4EAE-A490-C65E5474EDCB}" type="slidenum">
              <a:rPr lang="en-GB" smtClean="0"/>
              <a:pPr/>
              <a:t>37</a:t>
            </a:fld>
            <a:endParaRPr lang="en-GB" dirty="0"/>
          </a:p>
        </p:txBody>
      </p:sp>
      <p:grpSp>
        <p:nvGrpSpPr>
          <p:cNvPr id="3" name="Group 2"/>
          <p:cNvGrpSpPr/>
          <p:nvPr/>
        </p:nvGrpSpPr>
        <p:grpSpPr>
          <a:xfrm>
            <a:off x="683568" y="4365104"/>
            <a:ext cx="7416824" cy="2168624"/>
            <a:chOff x="683568" y="4365104"/>
            <a:chExt cx="7416824" cy="2168624"/>
          </a:xfrm>
        </p:grpSpPr>
        <p:sp>
          <p:nvSpPr>
            <p:cNvPr id="18" name="Oval 17"/>
            <p:cNvSpPr/>
            <p:nvPr/>
          </p:nvSpPr>
          <p:spPr>
            <a:xfrm>
              <a:off x="683568" y="4365104"/>
              <a:ext cx="7416824" cy="2168624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 w="19050" cmpd="sng">
              <a:solidFill>
                <a:srgbClr val="36424A">
                  <a:alpha val="30000"/>
                </a:srgbClr>
              </a:solidFill>
              <a:prstDash val="soli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/>
            <p:cNvSpPr/>
            <p:nvPr/>
          </p:nvSpPr>
          <p:spPr>
            <a:xfrm>
              <a:off x="1043608" y="4653136"/>
              <a:ext cx="4896544" cy="1728192"/>
            </a:xfrm>
            <a:prstGeom prst="ellipse">
              <a:avLst/>
            </a:prstGeom>
            <a:solidFill>
              <a:srgbClr val="CCFFCC"/>
            </a:solidFill>
            <a:ln w="19050" cmpd="sng">
              <a:solidFill>
                <a:srgbClr val="36424A">
                  <a:alpha val="30000"/>
                </a:srgbClr>
              </a:solidFill>
              <a:prstDash val="soli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03648" y="5085184"/>
              <a:ext cx="1800200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36424A"/>
                  </a:solidFill>
                  <a:latin typeface="Times New Roman"/>
                  <a:cs typeface="Times New Roman"/>
                </a:rPr>
                <a:t>Documented requirements</a:t>
              </a: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3203848" y="4941168"/>
              <a:ext cx="2520280" cy="1168539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36424A"/>
                  </a:solidFill>
                  <a:effectLst/>
                  <a:latin typeface="Times New Roman"/>
                  <a:ea typeface="宋体" pitchFamily="2" charset="-122"/>
                  <a:cs typeface="Times New Roman"/>
                </a:rPr>
                <a:t>Specified requirements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68144" y="5085184"/>
              <a:ext cx="1800200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36424A"/>
                  </a:solidFill>
                  <a:latin typeface="Times New Roman"/>
                  <a:cs typeface="Times New Roman"/>
                </a:rPr>
                <a:t>Documented information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8872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/>
              <a:t>Quality of Requirements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6575" indent="-536575"/>
            <a:r>
              <a:rPr lang="en-US" sz="2800" dirty="0"/>
              <a:t>Completeness</a:t>
            </a:r>
          </a:p>
          <a:p>
            <a:pPr marL="536575" indent="-536575"/>
            <a:r>
              <a:rPr lang="en-US" sz="2800" dirty="0"/>
              <a:t>Traceability </a:t>
            </a:r>
          </a:p>
          <a:p>
            <a:pPr marL="536575" indent="-536575"/>
            <a:r>
              <a:rPr lang="en-US" sz="2800" dirty="0"/>
              <a:t>Correctness</a:t>
            </a:r>
          </a:p>
          <a:p>
            <a:pPr marL="536575" indent="-536575"/>
            <a:r>
              <a:rPr lang="en-US" sz="2800" dirty="0"/>
              <a:t>Unambiguity</a:t>
            </a:r>
          </a:p>
          <a:p>
            <a:pPr marL="536575" indent="-536575"/>
            <a:r>
              <a:rPr lang="en-US" sz="2800" dirty="0"/>
              <a:t>Comprehensibility</a:t>
            </a:r>
          </a:p>
          <a:p>
            <a:pPr marL="536575" indent="-536575"/>
            <a:r>
              <a:rPr lang="en-US" sz="2800" dirty="0"/>
              <a:t>Consistency</a:t>
            </a:r>
          </a:p>
          <a:p>
            <a:pPr marL="536575" indent="-536575"/>
            <a:r>
              <a:rPr lang="en-US" sz="2800" dirty="0"/>
              <a:t>Verifiability</a:t>
            </a:r>
          </a:p>
          <a:p>
            <a:pPr marL="536575" indent="-536575"/>
            <a:r>
              <a:rPr lang="en-US" sz="2800" dirty="0"/>
              <a:t>Atomicity 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A23D-DCBE-B541-AD51-D1C5C7E8F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2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Common Errors: Intermingled Statements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3"/>
            <a:ext cx="8655372" cy="5760639"/>
          </a:xfrm>
        </p:spPr>
        <p:txBody>
          <a:bodyPr/>
          <a:lstStyle/>
          <a:p>
            <a:pPr marL="447675" indent="-447675">
              <a:spcBef>
                <a:spcPts val="0"/>
              </a:spcBef>
            </a:pPr>
            <a:r>
              <a:rPr lang="en-US" sz="2800" dirty="0"/>
              <a:t>Include several requirements in one sentence</a:t>
            </a:r>
          </a:p>
          <a:p>
            <a:pPr marL="447675" indent="-447675">
              <a:spcBef>
                <a:spcPts val="0"/>
              </a:spcBef>
            </a:pPr>
            <a:r>
              <a:rPr lang="en-US" sz="2800" dirty="0"/>
              <a:t>A common problem of using natural language to write requirements document. For instance, </a:t>
            </a:r>
          </a:p>
          <a:p>
            <a:pPr marL="847725" lvl="1" indent="-447675">
              <a:spcBef>
                <a:spcPts val="0"/>
              </a:spcBef>
            </a:pPr>
            <a:r>
              <a:rPr lang="en-US" sz="2400" dirty="0"/>
              <a:t>intermingling functional and non-functional requirements in one sentence </a:t>
            </a:r>
          </a:p>
          <a:p>
            <a:pPr marL="447675" indent="-447675">
              <a:spcBef>
                <a:spcPts val="0"/>
              </a:spcBef>
            </a:pPr>
            <a:r>
              <a:rPr lang="en-US" sz="2800" dirty="0"/>
              <a:t>This easily causes a requirement being overlooked</a:t>
            </a:r>
          </a:p>
          <a:p>
            <a:pPr marL="447675" indent="-447675">
              <a:spcBef>
                <a:spcPts val="0"/>
              </a:spcBef>
            </a:pPr>
            <a:r>
              <a:rPr lang="en-US" sz="2800" dirty="0"/>
              <a:t>Example: Mobile Restaurant Online Booking </a:t>
            </a:r>
          </a:p>
          <a:p>
            <a:pPr marL="847725" lvl="1" indent="-447675">
              <a:spcBef>
                <a:spcPts val="0"/>
              </a:spcBef>
            </a:pPr>
            <a:r>
              <a:rPr lang="en-GB" sz="2400" dirty="0"/>
              <a:t>Intermingled sentence: </a:t>
            </a:r>
          </a:p>
          <a:p>
            <a:pPr marL="1247775" lvl="2" indent="-447675">
              <a:spcBef>
                <a:spcPts val="0"/>
              </a:spcBef>
            </a:pPr>
            <a:r>
              <a:rPr lang="en-GB" sz="2000" dirty="0"/>
              <a:t>“The system should send discount promotions to registered customers regularly via email”. </a:t>
            </a:r>
          </a:p>
          <a:p>
            <a:pPr marL="847725" lvl="1" indent="-447675">
              <a:spcBef>
                <a:spcPts val="0"/>
              </a:spcBef>
            </a:pPr>
            <a:r>
              <a:rPr lang="en-GB" sz="2400" dirty="0"/>
              <a:t>Separate functional and non-functional: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2000" b="1" i="1" dirty="0"/>
              <a:t>Functional</a:t>
            </a:r>
            <a:r>
              <a:rPr lang="en-US" sz="2000" dirty="0"/>
              <a:t>: (F1) The system shall </a:t>
            </a:r>
            <a:r>
              <a:rPr lang="en-US" sz="2000" b="1" dirty="0"/>
              <a:t>send discount promotions </a:t>
            </a:r>
            <a:r>
              <a:rPr lang="en-US" sz="2000" dirty="0"/>
              <a:t>to registered customers.”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2000" b="1" i="1" dirty="0"/>
              <a:t>Non-functional</a:t>
            </a:r>
            <a:r>
              <a:rPr lang="en-US" sz="2000" dirty="0"/>
              <a:t>: </a:t>
            </a:r>
            <a:r>
              <a:rPr lang="en-US" dirty="0"/>
              <a:t> </a:t>
            </a:r>
          </a:p>
          <a:p>
            <a:pPr marL="1247775" lvl="2" indent="-447675">
              <a:spcBef>
                <a:spcPts val="0"/>
              </a:spcBef>
            </a:pPr>
            <a:r>
              <a:rPr lang="en-US" dirty="0"/>
              <a:t>(N1) The discount promotions </a:t>
            </a:r>
            <a:r>
              <a:rPr lang="en-US" sz="2000" dirty="0"/>
              <a:t>should be sent </a:t>
            </a:r>
            <a:r>
              <a:rPr lang="en-US" sz="2000" b="1" i="1" dirty="0"/>
              <a:t>once every week. </a:t>
            </a:r>
          </a:p>
          <a:p>
            <a:pPr marL="1247775" lvl="2" indent="-447675">
              <a:spcBef>
                <a:spcPts val="0"/>
              </a:spcBef>
            </a:pPr>
            <a:r>
              <a:rPr lang="en-US" dirty="0"/>
              <a:t>(N2) The discount promotions should be sent </a:t>
            </a:r>
            <a:r>
              <a:rPr lang="en-US" b="1" i="1" dirty="0"/>
              <a:t>by email. </a:t>
            </a:r>
            <a:endParaRPr lang="en-US" sz="2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24589" y="6525343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6680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Uses of Natural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1950" indent="-361950">
              <a:spcBef>
                <a:spcPts val="0"/>
              </a:spcBef>
            </a:pPr>
            <a:r>
              <a:rPr lang="en-US" sz="3200" dirty="0"/>
              <a:t>Advantages</a:t>
            </a:r>
          </a:p>
          <a:p>
            <a:pPr marL="623888" lvl="1" indent="-352425">
              <a:spcBef>
                <a:spcPts val="0"/>
              </a:spcBef>
            </a:pPr>
            <a:r>
              <a:rPr lang="en-GB" sz="2800" dirty="0"/>
              <a:t>Expressiveness </a:t>
            </a:r>
          </a:p>
          <a:p>
            <a:pPr marL="895350" lvl="2" indent="0">
              <a:spcBef>
                <a:spcPts val="0"/>
              </a:spcBef>
              <a:buNone/>
            </a:pPr>
            <a:r>
              <a:rPr lang="en-GB" sz="2400" dirty="0"/>
              <a:t>It can be used to describe to an arbitrary level of abstraction, precision and accuracy</a:t>
            </a:r>
            <a:endParaRPr lang="en-US" dirty="0"/>
          </a:p>
          <a:p>
            <a:pPr marL="623888" lvl="1" indent="-352425">
              <a:spcBef>
                <a:spcPts val="0"/>
              </a:spcBef>
            </a:pPr>
            <a:r>
              <a:rPr lang="en-GB" sz="2800" dirty="0"/>
              <a:t>Comprehensibility </a:t>
            </a:r>
          </a:p>
          <a:p>
            <a:pPr marL="895350" lvl="2" indent="0">
              <a:spcBef>
                <a:spcPts val="0"/>
              </a:spcBef>
              <a:buNone/>
            </a:pPr>
            <a:r>
              <a:rPr lang="en-GB" sz="2400" dirty="0"/>
              <a:t>It can be relatively easy to comprehend even for users with little training</a:t>
            </a:r>
            <a:endParaRPr lang="en-US" sz="2400" dirty="0"/>
          </a:p>
          <a:p>
            <a:pPr marL="623888" lvl="1" indent="-352425">
              <a:spcBef>
                <a:spcPts val="0"/>
              </a:spcBef>
            </a:pPr>
            <a:r>
              <a:rPr lang="en-GB" sz="2800" dirty="0"/>
              <a:t>Applicability</a:t>
            </a:r>
          </a:p>
          <a:p>
            <a:pPr marL="895350" lvl="2" indent="0">
              <a:spcBef>
                <a:spcPts val="0"/>
              </a:spcBef>
              <a:buNone/>
            </a:pPr>
            <a:r>
              <a:rPr lang="en-GB" sz="2400" dirty="0"/>
              <a:t>It is applicable to all aspects of all types of systems</a:t>
            </a:r>
          </a:p>
          <a:p>
            <a:pPr marL="361950" indent="-361950">
              <a:spcBef>
                <a:spcPts val="0"/>
              </a:spcBef>
            </a:pPr>
            <a:r>
              <a:rPr lang="en-GB" sz="3200" dirty="0"/>
              <a:t>Disadvantages</a:t>
            </a:r>
          </a:p>
          <a:p>
            <a:pPr marL="623888" lvl="1" indent="-350838">
              <a:spcBef>
                <a:spcPts val="0"/>
              </a:spcBef>
            </a:pPr>
            <a:r>
              <a:rPr lang="en-GB" sz="2800" dirty="0"/>
              <a:t>Ambiguity</a:t>
            </a:r>
          </a:p>
          <a:p>
            <a:pPr marL="898525" lvl="2" indent="0" defTabSz="1073150">
              <a:spcBef>
                <a:spcPts val="0"/>
              </a:spcBef>
              <a:buNone/>
            </a:pPr>
            <a:r>
              <a:rPr lang="en-GB" sz="2400" dirty="0"/>
              <a:t>Natural language is inherently ambiguous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37A09-EF3B-D34B-A85C-14A8A089B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876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Types of Ambiguity in Natural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655372" cy="5328592"/>
          </a:xfrm>
        </p:spPr>
        <p:txBody>
          <a:bodyPr/>
          <a:lstStyle/>
          <a:p>
            <a:pPr marL="447675" indent="-447675">
              <a:spcBef>
                <a:spcPts val="0"/>
              </a:spcBef>
            </a:pPr>
            <a:r>
              <a:rPr lang="en-GB" sz="2800" b="1" i="1" dirty="0"/>
              <a:t>Lexical ambiguity</a:t>
            </a:r>
            <a:r>
              <a:rPr lang="en-GB" sz="2800" dirty="0"/>
              <a:t>: 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n-GB" sz="2400" dirty="0"/>
              <a:t>synonyms, homonyms</a:t>
            </a:r>
          </a:p>
          <a:p>
            <a:pPr marL="447675" indent="-447675">
              <a:spcBef>
                <a:spcPts val="0"/>
              </a:spcBef>
            </a:pPr>
            <a:r>
              <a:rPr lang="en-GB" sz="2800" b="1" i="1" dirty="0"/>
              <a:t>Syntactic ambiguity</a:t>
            </a:r>
            <a:r>
              <a:rPr lang="en-GB" sz="2800" dirty="0"/>
              <a:t>: 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n-GB" sz="2400" dirty="0"/>
              <a:t>one sentence may have two different ways to parse</a:t>
            </a:r>
          </a:p>
          <a:p>
            <a:pPr marL="447675" indent="-447675">
              <a:spcBef>
                <a:spcPts val="0"/>
              </a:spcBef>
            </a:pPr>
            <a:r>
              <a:rPr lang="en-GB" sz="2800" b="1" i="1" dirty="0"/>
              <a:t>Semantic ambiguity</a:t>
            </a:r>
            <a:r>
              <a:rPr lang="en-GB" sz="2800" dirty="0"/>
              <a:t>: 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n-GB" sz="2400" dirty="0"/>
              <a:t>a sentence may have two or more meanings in different context  </a:t>
            </a:r>
          </a:p>
          <a:p>
            <a:pPr marL="447675" indent="-447675">
              <a:spcBef>
                <a:spcPts val="0"/>
              </a:spcBef>
            </a:pPr>
            <a:r>
              <a:rPr lang="en-GB" sz="2800" b="1" i="1" dirty="0"/>
              <a:t>Referential ambiguity</a:t>
            </a:r>
            <a:r>
              <a:rPr lang="en-GB" sz="2800" dirty="0"/>
              <a:t>: 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n-GB" sz="2400" dirty="0"/>
              <a:t>the relation between a word or phrase in a sentence and an expression before or after this word or phrase have more than one possibility</a:t>
            </a:r>
          </a:p>
          <a:p>
            <a:pPr marL="447675" indent="-447675">
              <a:spcBef>
                <a:spcPts val="0"/>
              </a:spcBef>
            </a:pPr>
            <a:r>
              <a:rPr lang="en-GB" sz="2800" b="1" i="1" dirty="0"/>
              <a:t>Vagueness of terms</a:t>
            </a:r>
            <a:r>
              <a:rPr lang="en-GB" sz="2800" dirty="0"/>
              <a:t>: 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n-GB" sz="2400" dirty="0"/>
              <a:t>a word/phrase is inherently unclear about its meaning 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07896" y="6487651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33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Techniques to Avoid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1950" indent="-361950"/>
            <a:r>
              <a:rPr lang="en-US" sz="2800" dirty="0"/>
              <a:t>Syntactic pattern</a:t>
            </a:r>
          </a:p>
          <a:p>
            <a:pPr marL="722313" lvl="1" indent="-450850"/>
            <a:r>
              <a:rPr lang="en-US" sz="2400" dirty="0"/>
              <a:t>Define a pattern of syntactical structure in which statements are written</a:t>
            </a:r>
          </a:p>
          <a:p>
            <a:pPr marL="722313" lvl="1" indent="-450850"/>
            <a:r>
              <a:rPr lang="en-US" sz="2400" dirty="0"/>
              <a:t>To avoid syntactical ambiguity</a:t>
            </a:r>
          </a:p>
          <a:p>
            <a:pPr marL="361950" indent="-361950"/>
            <a:r>
              <a:rPr lang="en-US" sz="2800" dirty="0"/>
              <a:t>Controlled language</a:t>
            </a:r>
          </a:p>
          <a:p>
            <a:pPr marL="722313" lvl="1" indent="-450850"/>
            <a:r>
              <a:rPr lang="en-US" sz="2400" dirty="0"/>
              <a:t>Extends syntactic patterns with semantics of terms </a:t>
            </a:r>
          </a:p>
          <a:p>
            <a:pPr marL="722313" lvl="1" indent="-450850"/>
            <a:r>
              <a:rPr lang="en-US" sz="2400" dirty="0"/>
              <a:t>To reduce both syntactic and semantic ambiguity</a:t>
            </a:r>
          </a:p>
          <a:p>
            <a:pPr marL="361950" indent="-361950"/>
            <a:r>
              <a:rPr lang="en-US" sz="2800" dirty="0"/>
              <a:t>Glossary</a:t>
            </a:r>
          </a:p>
          <a:p>
            <a:pPr marL="722313" lvl="1" indent="-450850"/>
            <a:r>
              <a:rPr lang="en-US" sz="2400" dirty="0"/>
              <a:t>List a collection of technical terms and their meanings</a:t>
            </a:r>
          </a:p>
          <a:p>
            <a:pPr marL="722313" lvl="1" indent="-450850"/>
            <a:r>
              <a:rPr lang="en-US" sz="2400" dirty="0"/>
              <a:t>To avoid ambiguity of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92123" y="6474980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6528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Syntactic Patterns: 1 </a:t>
            </a:r>
            <a:r>
              <a:rPr lang="en-US" sz="3600" dirty="0">
                <a:latin typeface="Times New Roman"/>
                <a:cs typeface="Times New Roman"/>
              </a:rPr>
              <a:t>[Rupp 2009]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511356" cy="129614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A syntactic pattern defines a syntactic structure for writing the statements of requirements in natural language and defines the meanings for each part of the structure.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90914" y="6489971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>
                <a:latin typeface="Times New Roman"/>
                <a:cs typeface="Times New Roman"/>
              </a:rPr>
              <a:pPr/>
              <a:t>43</a:t>
            </a:fld>
            <a:endParaRPr lang="en-GB">
              <a:latin typeface="Times New Roman"/>
              <a:cs typeface="Times New Roman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96188" y="2204864"/>
            <a:ext cx="8689305" cy="4112007"/>
            <a:chOff x="296188" y="2492896"/>
            <a:chExt cx="8689305" cy="4112007"/>
          </a:xfrm>
        </p:grpSpPr>
        <p:sp>
          <p:nvSpPr>
            <p:cNvPr id="5" name="TextBox 4"/>
            <p:cNvSpPr txBox="1"/>
            <p:nvPr/>
          </p:nvSpPr>
          <p:spPr>
            <a:xfrm>
              <a:off x="296188" y="3645024"/>
              <a:ext cx="1656184" cy="461665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[ &lt;when&gt; ]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63688" y="3645024"/>
              <a:ext cx="1593706" cy="461665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The system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491880" y="3284984"/>
              <a:ext cx="1005403" cy="1200329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shall</a:t>
              </a:r>
            </a:p>
            <a:p>
              <a:pPr algn="ctr"/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should</a:t>
              </a:r>
            </a:p>
            <a:p>
              <a:pPr algn="ctr"/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will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88024" y="2492896"/>
              <a:ext cx="1512168" cy="378565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&lt;process&gt;</a:t>
              </a:r>
            </a:p>
            <a:p>
              <a:endParaRPr lang="en-US" sz="2400" dirty="0">
                <a:solidFill>
                  <a:schemeClr val="accent6"/>
                </a:solidFill>
                <a:latin typeface="Times New Roman"/>
                <a:cs typeface="Times New Roman"/>
              </a:endParaRPr>
            </a:p>
            <a:p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Provide &lt;whom&gt; with the ability to &lt;process&gt;</a:t>
              </a:r>
            </a:p>
            <a:p>
              <a:endParaRPr lang="en-US" sz="2400" dirty="0">
                <a:solidFill>
                  <a:schemeClr val="accent6"/>
                </a:solidFill>
                <a:latin typeface="Times New Roman"/>
                <a:cs typeface="Times New Roman"/>
              </a:endParaRPr>
            </a:p>
            <a:p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Be able to &lt;process&gt;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7352" y="3645024"/>
              <a:ext cx="1364476" cy="461665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 &lt;object&gt;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596336" y="3284984"/>
              <a:ext cx="1389157" cy="1200329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/>
                  </a:solidFill>
                  <a:latin typeface="Times New Roman"/>
                  <a:cs typeface="Times New Roman"/>
                </a:rPr>
                <a:t>[&lt;details of the object&gt;]</a:t>
              </a:r>
            </a:p>
          </p:txBody>
        </p:sp>
        <p:sp>
          <p:nvSpPr>
            <p:cNvPr id="11" name="Line Callout 2 10"/>
            <p:cNvSpPr/>
            <p:nvPr/>
          </p:nvSpPr>
          <p:spPr bwMode="auto">
            <a:xfrm>
              <a:off x="1115616" y="4365104"/>
              <a:ext cx="2088232" cy="1015663"/>
            </a:xfrm>
            <a:prstGeom prst="borderCallout2">
              <a:avLst>
                <a:gd name="adj1" fmla="val 19708"/>
                <a:gd name="adj2" fmla="val -563"/>
                <a:gd name="adj3" fmla="val 20666"/>
                <a:gd name="adj4" fmla="val -11063"/>
                <a:gd name="adj5" fmla="val -34289"/>
                <a:gd name="adj6" fmla="val -11612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headEnd type="none" w="med" len="med"/>
              <a:tailEnd type="arrow" w="lg" len="lg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CC"/>
                  </a:solidFill>
                  <a:latin typeface="Times New Roman"/>
                  <a:cs typeface="Times New Roman"/>
                </a:rPr>
                <a:t>Logical/temporal condition of the action  </a:t>
              </a:r>
            </a:p>
          </p:txBody>
        </p:sp>
        <p:sp>
          <p:nvSpPr>
            <p:cNvPr id="12" name="Line Callout 2 11"/>
            <p:cNvSpPr/>
            <p:nvPr/>
          </p:nvSpPr>
          <p:spPr bwMode="auto">
            <a:xfrm>
              <a:off x="467544" y="2780928"/>
              <a:ext cx="1656184" cy="707886"/>
            </a:xfrm>
            <a:prstGeom prst="borderCallout2">
              <a:avLst>
                <a:gd name="adj1" fmla="val 31118"/>
                <a:gd name="adj2" fmla="val 98565"/>
                <a:gd name="adj3" fmla="val 28369"/>
                <a:gd name="adj4" fmla="val 122537"/>
                <a:gd name="adj5" fmla="val 135862"/>
                <a:gd name="adj6" fmla="val 142461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headEnd type="none" w="med" len="med"/>
              <a:tailEnd type="arrow" w="lg" len="lg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CC"/>
                  </a:solidFill>
                  <a:latin typeface="Times New Roman"/>
                  <a:cs typeface="Times New Roman"/>
                </a:rPr>
                <a:t>System’s name</a:t>
              </a:r>
            </a:p>
          </p:txBody>
        </p:sp>
        <p:sp>
          <p:nvSpPr>
            <p:cNvPr id="13" name="Line Callout 2 12"/>
            <p:cNvSpPr/>
            <p:nvPr/>
          </p:nvSpPr>
          <p:spPr bwMode="auto">
            <a:xfrm>
              <a:off x="539552" y="5589240"/>
              <a:ext cx="2448272" cy="1015663"/>
            </a:xfrm>
            <a:prstGeom prst="borderCallout2">
              <a:avLst>
                <a:gd name="adj1" fmla="val 39821"/>
                <a:gd name="adj2" fmla="val 100932"/>
                <a:gd name="adj3" fmla="val 38863"/>
                <a:gd name="adj4" fmla="val 124385"/>
                <a:gd name="adj5" fmla="val -111617"/>
                <a:gd name="adj6" fmla="val 13848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headEnd type="none" w="med" len="med"/>
              <a:tailEnd type="arrow" w="lg" len="lg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CC"/>
                  </a:solidFill>
                  <a:latin typeface="Times New Roman"/>
                  <a:cs typeface="Times New Roman"/>
                </a:rPr>
                <a:t>Indicate the importance of the requirement</a:t>
              </a:r>
            </a:p>
          </p:txBody>
        </p:sp>
        <p:cxnSp>
          <p:nvCxnSpPr>
            <p:cNvPr id="15" name="Straight Connector 14"/>
            <p:cNvCxnSpPr/>
            <p:nvPr/>
          </p:nvCxnSpPr>
          <p:spPr bwMode="auto">
            <a:xfrm flipV="1">
              <a:off x="3275856" y="3573016"/>
              <a:ext cx="360040" cy="216024"/>
            </a:xfrm>
            <a:prstGeom prst="line">
              <a:avLst/>
            </a:prstGeom>
            <a:ln w="25400">
              <a:solidFill>
                <a:schemeClr val="accent6"/>
              </a:solidFill>
              <a:headEnd type="none" w="med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auto">
            <a:xfrm>
              <a:off x="3275856" y="3933056"/>
              <a:ext cx="288032" cy="0"/>
            </a:xfrm>
            <a:prstGeom prst="line">
              <a:avLst/>
            </a:prstGeom>
            <a:ln w="25400">
              <a:solidFill>
                <a:schemeClr val="accent6"/>
              </a:solidFill>
              <a:headEnd type="none" w="med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>
              <a:off x="3275856" y="4077072"/>
              <a:ext cx="360040" cy="216024"/>
            </a:xfrm>
            <a:prstGeom prst="line">
              <a:avLst/>
            </a:prstGeom>
            <a:ln w="25400">
              <a:solidFill>
                <a:schemeClr val="accent6"/>
              </a:solidFill>
              <a:headEnd type="none" w="med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 flipV="1">
              <a:off x="4427984" y="2852936"/>
              <a:ext cx="432048" cy="792088"/>
            </a:xfrm>
            <a:prstGeom prst="line">
              <a:avLst/>
            </a:prstGeom>
            <a:ln w="25400">
              <a:solidFill>
                <a:schemeClr val="accent6"/>
              </a:solidFill>
              <a:headEnd type="none" w="med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7" idx="3"/>
            </p:cNvCxnSpPr>
            <p:nvPr/>
          </p:nvCxnSpPr>
          <p:spPr bwMode="auto">
            <a:xfrm flipV="1">
              <a:off x="4497283" y="3501008"/>
              <a:ext cx="362749" cy="384141"/>
            </a:xfrm>
            <a:prstGeom prst="line">
              <a:avLst/>
            </a:prstGeom>
            <a:ln w="25400">
              <a:solidFill>
                <a:schemeClr val="accent6"/>
              </a:solidFill>
              <a:headEnd type="none" w="med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auto">
            <a:xfrm>
              <a:off x="4427984" y="4005064"/>
              <a:ext cx="432048" cy="1512168"/>
            </a:xfrm>
            <a:prstGeom prst="line">
              <a:avLst/>
            </a:prstGeom>
            <a:ln w="25400">
              <a:solidFill>
                <a:schemeClr val="accent6"/>
              </a:solidFill>
              <a:headEnd type="none" w="med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381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32465" y="6497227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44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844824"/>
            <a:ext cx="8892480" cy="134908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6424A"/>
                </a:solidFill>
                <a:latin typeface="+mj-lt"/>
              </a:rPr>
              <a:t>If the glass break detector detects the damage of a window, the system  shall   inform  the security service. </a:t>
            </a:r>
          </a:p>
        </p:txBody>
      </p:sp>
      <p:sp>
        <p:nvSpPr>
          <p:cNvPr id="6" name="Rounded Rectangle 5"/>
          <p:cNvSpPr/>
          <p:nvPr/>
        </p:nvSpPr>
        <p:spPr bwMode="auto">
          <a:xfrm>
            <a:off x="179512" y="2060848"/>
            <a:ext cx="8496944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7" name="Line Callout 2 6"/>
          <p:cNvSpPr/>
          <p:nvPr/>
        </p:nvSpPr>
        <p:spPr bwMode="auto">
          <a:xfrm>
            <a:off x="1979712" y="1124744"/>
            <a:ext cx="1296144" cy="400110"/>
          </a:xfrm>
          <a:prstGeom prst="borderCallout2">
            <a:avLst>
              <a:gd name="adj1" fmla="val 18750"/>
              <a:gd name="adj2" fmla="val -984"/>
              <a:gd name="adj3" fmla="val 18750"/>
              <a:gd name="adj4" fmla="val -16667"/>
              <a:gd name="adj5" fmla="val 233910"/>
              <a:gd name="adj6" fmla="val -43728"/>
            </a:avLst>
          </a:prstGeom>
          <a:solidFill>
            <a:schemeClr val="accent5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0000CC"/>
                </a:solidFill>
              </a:rPr>
              <a:t>&lt;when&gt;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179512" y="2708920"/>
            <a:ext cx="1296144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3491880" y="2708920"/>
            <a:ext cx="936104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10" name="Rounded Rectangle 9"/>
          <p:cNvSpPr/>
          <p:nvPr/>
        </p:nvSpPr>
        <p:spPr bwMode="auto">
          <a:xfrm>
            <a:off x="4499992" y="2708920"/>
            <a:ext cx="1152128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11" name="Line Callout 2 10"/>
          <p:cNvSpPr/>
          <p:nvPr/>
        </p:nvSpPr>
        <p:spPr bwMode="auto">
          <a:xfrm>
            <a:off x="2411760" y="3429000"/>
            <a:ext cx="1656184" cy="400110"/>
          </a:xfrm>
          <a:prstGeom prst="borderCallout2">
            <a:avLst>
              <a:gd name="adj1" fmla="val 49698"/>
              <a:gd name="adj2" fmla="val 99086"/>
              <a:gd name="adj3" fmla="val 49698"/>
              <a:gd name="adj4" fmla="val 140991"/>
              <a:gd name="adj5" fmla="val -73187"/>
              <a:gd name="adj6" fmla="val 155212"/>
            </a:avLst>
          </a:prstGeom>
          <a:solidFill>
            <a:schemeClr val="accent5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0000CC"/>
                </a:solidFill>
              </a:rPr>
              <a:t>&lt;process&gt;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5724128" y="2708920"/>
            <a:ext cx="3168352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13" name="Line Callout 2 12"/>
          <p:cNvSpPr/>
          <p:nvPr/>
        </p:nvSpPr>
        <p:spPr bwMode="auto">
          <a:xfrm>
            <a:off x="5508104" y="3501008"/>
            <a:ext cx="1656184" cy="400110"/>
          </a:xfrm>
          <a:prstGeom prst="borderCallout2">
            <a:avLst>
              <a:gd name="adj1" fmla="val 49698"/>
              <a:gd name="adj2" fmla="val 99086"/>
              <a:gd name="adj3" fmla="val 49698"/>
              <a:gd name="adj4" fmla="val 140991"/>
              <a:gd name="adj5" fmla="val -73187"/>
              <a:gd name="adj6" fmla="val 155212"/>
            </a:avLst>
          </a:prstGeom>
          <a:solidFill>
            <a:schemeClr val="accent5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0000CC"/>
                </a:solidFill>
              </a:rPr>
              <a:t>&lt;object&gt;</a:t>
            </a:r>
          </a:p>
        </p:txBody>
      </p:sp>
    </p:spTree>
    <p:extLst>
      <p:ext uri="{BB962C8B-B14F-4D97-AF65-F5344CB8AC3E}">
        <p14:creationId xmlns:p14="http://schemas.microsoft.com/office/powerpoint/2010/main" val="29658315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441"/>
            <a:ext cx="8496300" cy="667434"/>
          </a:xfrm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altLang="zh-CN" sz="3600" dirty="0">
                <a:ea typeface="SimSun" pitchFamily="2" charset="-122"/>
              </a:rPr>
              <a:t>Syntactic Patterns: 2 [Zhu et al. 2001] </a:t>
            </a:r>
            <a:endParaRPr lang="en-US" altLang="zh-CN" sz="3600" dirty="0">
              <a:ea typeface="SimSun" pitchFamily="2" charset="-122"/>
            </a:endParaRPr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4589" y="6544336"/>
            <a:ext cx="523875" cy="358775"/>
          </a:xfrm>
          <a:prstGeom prst="rect">
            <a:avLst/>
          </a:prstGeom>
        </p:spPr>
        <p:txBody>
          <a:bodyPr/>
          <a:lstStyle/>
          <a:p>
            <a:fld id="{22AD0331-EA93-44C1-A470-6206FA48DA84}" type="slidenum">
              <a:rPr lang="en-GB" altLang="en-US"/>
              <a:pPr/>
              <a:t>45</a:t>
            </a:fld>
            <a:endParaRPr lang="en-GB" altLang="en-US"/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522288" y="1844922"/>
            <a:ext cx="8228012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bg2"/>
                </a:solidFill>
                <a:ea typeface="SimSun" pitchFamily="2" charset="-122"/>
              </a:rPr>
              <a:t>&lt;Entity&gt; &lt;Action&gt; &lt;Object&gt; &lt;Receiver entity&gt; &lt;Constraint&gt;</a:t>
            </a:r>
            <a:endParaRPr lang="zh-CN" altLang="en-US" sz="2400" dirty="0">
              <a:solidFill>
                <a:schemeClr val="bg2"/>
              </a:solidFill>
              <a:ea typeface="SimSun" pitchFamily="2" charset="-122"/>
            </a:endParaRP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611560" y="4221087"/>
            <a:ext cx="7831137" cy="172354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GB" altLang="zh-CN" sz="2400" dirty="0">
                <a:solidFill>
                  <a:srgbClr val="36424A"/>
                </a:solidFill>
                <a:ea typeface="SimSun" pitchFamily="2" charset="-122"/>
              </a:rPr>
              <a:t>The system sends the review results and the decision on acceptance/rejection of a paper to the author when the conference PC chair issues the decision. </a:t>
            </a:r>
            <a:endParaRPr lang="en-US" altLang="zh-CN" sz="2400" i="1" dirty="0">
              <a:solidFill>
                <a:srgbClr val="36424A"/>
              </a:solidFill>
              <a:ea typeface="SimSun" pitchFamily="2" charset="-122"/>
            </a:endParaRPr>
          </a:p>
        </p:txBody>
      </p:sp>
      <p:sp>
        <p:nvSpPr>
          <p:cNvPr id="71756" name="AutoShape 76"/>
          <p:cNvSpPr>
            <a:spLocks/>
          </p:cNvSpPr>
          <p:nvPr/>
        </p:nvSpPr>
        <p:spPr bwMode="auto">
          <a:xfrm>
            <a:off x="2288994" y="914131"/>
            <a:ext cx="3647802" cy="648072"/>
          </a:xfrm>
          <a:prstGeom prst="borderCallout2">
            <a:avLst>
              <a:gd name="adj1" fmla="val 29032"/>
              <a:gd name="adj2" fmla="val -1745"/>
              <a:gd name="adj3" fmla="val 29032"/>
              <a:gd name="adj4" fmla="val -8986"/>
              <a:gd name="adj5" fmla="val 159169"/>
              <a:gd name="adj6" fmla="val -27875"/>
            </a:avLst>
          </a:prstGeom>
          <a:solidFill>
            <a:schemeClr val="accent5">
              <a:lumMod val="20000"/>
              <a:lumOff val="80000"/>
              <a:alpha val="59633"/>
            </a:schemeClr>
          </a:solidFill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</a:pPr>
            <a:r>
              <a:rPr lang="en-GB" altLang="zh-CN" sz="2400" dirty="0">
                <a:solidFill>
                  <a:srgbClr val="0000CC"/>
                </a:solidFill>
                <a:ea typeface="SimSun" pitchFamily="2" charset="-122"/>
              </a:rPr>
              <a:t>Actor, object, component, the system </a:t>
            </a:r>
            <a:endParaRPr lang="en-US" altLang="zh-CN" sz="2400" dirty="0">
              <a:solidFill>
                <a:srgbClr val="0000CC"/>
              </a:solidFill>
              <a:ea typeface="SimSun" pitchFamily="2" charset="-122"/>
            </a:endParaRPr>
          </a:p>
        </p:txBody>
      </p:sp>
      <p:cxnSp>
        <p:nvCxnSpPr>
          <p:cNvPr id="50" name="Straight Arrow Connector 49"/>
          <p:cNvCxnSpPr>
            <a:stCxn id="30" idx="0"/>
            <a:endCxn id="29" idx="2"/>
          </p:cNvCxnSpPr>
          <p:nvPr/>
        </p:nvCxnSpPr>
        <p:spPr bwMode="auto">
          <a:xfrm flipH="1" flipV="1">
            <a:off x="1187624" y="4106688"/>
            <a:ext cx="252028" cy="258416"/>
          </a:xfrm>
          <a:prstGeom prst="straightConnector1">
            <a:avLst/>
          </a:prstGeom>
          <a:ln w="25400">
            <a:solidFill>
              <a:srgbClr val="CC3300"/>
            </a:solidFill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AutoShape 76"/>
          <p:cNvSpPr>
            <a:spLocks/>
          </p:cNvSpPr>
          <p:nvPr/>
        </p:nvSpPr>
        <p:spPr bwMode="auto">
          <a:xfrm>
            <a:off x="3059832" y="2708919"/>
            <a:ext cx="2664296" cy="648072"/>
          </a:xfrm>
          <a:prstGeom prst="borderCallout2">
            <a:avLst>
              <a:gd name="adj1" fmla="val 29032"/>
              <a:gd name="adj2" fmla="val -1745"/>
              <a:gd name="adj3" fmla="val 29032"/>
              <a:gd name="adj4" fmla="val -8986"/>
              <a:gd name="adj5" fmla="val -67214"/>
              <a:gd name="adj6" fmla="val -22473"/>
            </a:avLst>
          </a:prstGeom>
          <a:solidFill>
            <a:schemeClr val="accent5">
              <a:lumMod val="20000"/>
              <a:lumOff val="80000"/>
              <a:alpha val="59719"/>
            </a:schemeClr>
          </a:solidFill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</a:pPr>
            <a:r>
              <a:rPr lang="en-GB" altLang="zh-CN" sz="2400" dirty="0">
                <a:solidFill>
                  <a:srgbClr val="0000CC"/>
                </a:solidFill>
                <a:ea typeface="SimSun" pitchFamily="2" charset="-122"/>
              </a:rPr>
              <a:t>The function, action, ability, etc.  </a:t>
            </a:r>
            <a:endParaRPr lang="en-US" altLang="zh-CN" sz="2400" dirty="0">
              <a:solidFill>
                <a:srgbClr val="0000CC"/>
              </a:solidFill>
              <a:ea typeface="SimSun" pitchFamily="2" charset="-122"/>
            </a:endParaRPr>
          </a:p>
        </p:txBody>
      </p:sp>
      <p:sp>
        <p:nvSpPr>
          <p:cNvPr id="27" name="AutoShape 76"/>
          <p:cNvSpPr>
            <a:spLocks/>
          </p:cNvSpPr>
          <p:nvPr/>
        </p:nvSpPr>
        <p:spPr bwMode="auto">
          <a:xfrm>
            <a:off x="6372200" y="2852935"/>
            <a:ext cx="2232248" cy="648072"/>
          </a:xfrm>
          <a:prstGeom prst="borderCallout2">
            <a:avLst>
              <a:gd name="adj1" fmla="val -6446"/>
              <a:gd name="adj2" fmla="val 30623"/>
              <a:gd name="adj3" fmla="val -46992"/>
              <a:gd name="adj4" fmla="val 30248"/>
              <a:gd name="adj5" fmla="val -94245"/>
              <a:gd name="adj6" fmla="val 43245"/>
            </a:avLst>
          </a:prstGeom>
          <a:solidFill>
            <a:schemeClr val="accent5">
              <a:lumMod val="20000"/>
              <a:lumOff val="80000"/>
              <a:alpha val="59941"/>
            </a:schemeClr>
          </a:solidFill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</a:pPr>
            <a:r>
              <a:rPr lang="en-GB" altLang="zh-CN" sz="2400" dirty="0">
                <a:solidFill>
                  <a:srgbClr val="0000CC"/>
                </a:solidFill>
                <a:ea typeface="SimSun" pitchFamily="2" charset="-122"/>
              </a:rPr>
              <a:t>The condition, limitation, etc.  </a:t>
            </a:r>
            <a:endParaRPr lang="en-US" altLang="zh-CN" sz="2400" dirty="0">
              <a:solidFill>
                <a:srgbClr val="0000CC"/>
              </a:solidFill>
              <a:ea typeface="SimSun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2996951"/>
            <a:ext cx="1944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6424A"/>
                </a:solidFill>
              </a:rPr>
              <a:t>Example: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560" y="3645023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Entity </a:t>
            </a:r>
          </a:p>
        </p:txBody>
      </p:sp>
      <p:sp>
        <p:nvSpPr>
          <p:cNvPr id="30" name="Rounded Rectangle 29"/>
          <p:cNvSpPr/>
          <p:nvPr/>
        </p:nvSpPr>
        <p:spPr bwMode="auto">
          <a:xfrm>
            <a:off x="611560" y="4365104"/>
            <a:ext cx="1656184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33" name="Rounded Rectangle 32"/>
          <p:cNvSpPr/>
          <p:nvPr/>
        </p:nvSpPr>
        <p:spPr bwMode="auto">
          <a:xfrm>
            <a:off x="2339752" y="4365104"/>
            <a:ext cx="864096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34" name="Rounded Rectangle 33"/>
          <p:cNvSpPr/>
          <p:nvPr/>
        </p:nvSpPr>
        <p:spPr bwMode="auto">
          <a:xfrm>
            <a:off x="3203848" y="4365104"/>
            <a:ext cx="4824536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35" name="Rounded Rectangle 34"/>
          <p:cNvSpPr/>
          <p:nvPr/>
        </p:nvSpPr>
        <p:spPr bwMode="auto">
          <a:xfrm>
            <a:off x="611560" y="4941167"/>
            <a:ext cx="4824536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36" name="Rounded Rectangle 35"/>
          <p:cNvSpPr/>
          <p:nvPr/>
        </p:nvSpPr>
        <p:spPr bwMode="auto">
          <a:xfrm>
            <a:off x="5724128" y="4941167"/>
            <a:ext cx="1512168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37" name="Rounded Rectangle 36"/>
          <p:cNvSpPr/>
          <p:nvPr/>
        </p:nvSpPr>
        <p:spPr bwMode="auto">
          <a:xfrm>
            <a:off x="7236296" y="4941167"/>
            <a:ext cx="864096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38" name="Rounded Rectangle 37"/>
          <p:cNvSpPr/>
          <p:nvPr/>
        </p:nvSpPr>
        <p:spPr bwMode="auto">
          <a:xfrm>
            <a:off x="611560" y="5517231"/>
            <a:ext cx="6192688" cy="44267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2123728" y="3573015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Action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5936" y="3573015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Object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08304" y="57332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Receiver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8104" y="623731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Constraint </a:t>
            </a:r>
          </a:p>
        </p:txBody>
      </p:sp>
      <p:cxnSp>
        <p:nvCxnSpPr>
          <p:cNvPr id="43" name="Straight Arrow Connector 42"/>
          <p:cNvCxnSpPr>
            <a:endCxn id="39" idx="2"/>
          </p:cNvCxnSpPr>
          <p:nvPr/>
        </p:nvCxnSpPr>
        <p:spPr bwMode="auto">
          <a:xfrm flipH="1" flipV="1">
            <a:off x="2699792" y="4034680"/>
            <a:ext cx="144016" cy="402431"/>
          </a:xfrm>
          <a:prstGeom prst="straightConnector1">
            <a:avLst/>
          </a:prstGeom>
          <a:ln w="25400">
            <a:solidFill>
              <a:srgbClr val="CC3300"/>
            </a:solidFill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40" idx="2"/>
          </p:cNvCxnSpPr>
          <p:nvPr/>
        </p:nvCxnSpPr>
        <p:spPr bwMode="auto">
          <a:xfrm flipH="1" flipV="1">
            <a:off x="4572000" y="4034680"/>
            <a:ext cx="360040" cy="330423"/>
          </a:xfrm>
          <a:prstGeom prst="straightConnector1">
            <a:avLst/>
          </a:prstGeom>
          <a:ln w="25400">
            <a:solidFill>
              <a:srgbClr val="CC3300"/>
            </a:solidFill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 bwMode="auto">
          <a:xfrm>
            <a:off x="6660232" y="5373216"/>
            <a:ext cx="864096" cy="432048"/>
          </a:xfrm>
          <a:prstGeom prst="straightConnector1">
            <a:avLst/>
          </a:prstGeom>
          <a:ln w="25400">
            <a:solidFill>
              <a:srgbClr val="CC3300"/>
            </a:solidFill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71685" idx="2"/>
            <a:endCxn id="42" idx="1"/>
          </p:cNvCxnSpPr>
          <p:nvPr/>
        </p:nvCxnSpPr>
        <p:spPr bwMode="auto">
          <a:xfrm>
            <a:off x="4527129" y="5944636"/>
            <a:ext cx="980975" cy="523509"/>
          </a:xfrm>
          <a:prstGeom prst="straightConnector1">
            <a:avLst/>
          </a:prstGeom>
          <a:ln w="25400">
            <a:solidFill>
              <a:srgbClr val="CC3300"/>
            </a:solidFill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9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Controlled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 controlled language is defined for a specific application domain with a restricted natural language grammar (syntax) and a set of terms (including their semantics) to be used to document statements in the domain. </a:t>
            </a:r>
          </a:p>
          <a:p>
            <a:pPr marL="361950" indent="-361950"/>
            <a:r>
              <a:rPr lang="en-US" sz="2800" dirty="0"/>
              <a:t>Advantages:</a:t>
            </a:r>
          </a:p>
          <a:p>
            <a:pPr marL="722313" lvl="1" indent="-450850"/>
            <a:r>
              <a:rPr lang="en-US" sz="2400" b="1" i="1" dirty="0"/>
              <a:t>Easy to understand</a:t>
            </a:r>
            <a:r>
              <a:rPr lang="en-US" sz="2400" dirty="0"/>
              <a:t>: they are similar to expressions in natural language</a:t>
            </a:r>
          </a:p>
          <a:p>
            <a:pPr marL="722313" lvl="1" indent="-450850"/>
            <a:r>
              <a:rPr lang="en-US" sz="2400" b="1" i="1" dirty="0"/>
              <a:t>Less ambiguous</a:t>
            </a:r>
            <a:r>
              <a:rPr lang="en-US" sz="2400" dirty="0"/>
              <a:t>: they have simplified grammar and predefined vocabulary with precise meanings</a:t>
            </a:r>
          </a:p>
          <a:p>
            <a:pPr marL="722313" lvl="1" indent="-450850"/>
            <a:r>
              <a:rPr lang="en-US" sz="2400" b="1" i="1" dirty="0"/>
              <a:t>More verifiable</a:t>
            </a:r>
            <a:r>
              <a:rPr lang="en-US" sz="2400" dirty="0"/>
              <a:t>: they are easier to check for grammar and semantics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92123" y="6541439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46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5541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3600" dirty="0"/>
              <a:t>Glossaries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A glossary defines the specific meanings of a collection of technical terms that are part of a language. It may also contain references to related terms as well as examples to explain the defined terms. </a:t>
            </a:r>
          </a:p>
          <a:p>
            <a:pPr marL="449263" indent="-449263">
              <a:spcBef>
                <a:spcPts val="0"/>
              </a:spcBef>
            </a:pPr>
            <a:r>
              <a:rPr lang="en-US" sz="2800" dirty="0"/>
              <a:t>The definition of a term in a glossary may contain the following parts:</a:t>
            </a:r>
          </a:p>
          <a:p>
            <a:pPr marL="809625" lvl="1" indent="-360363">
              <a:spcBef>
                <a:spcPts val="0"/>
              </a:spcBef>
            </a:pPr>
            <a:r>
              <a:rPr lang="en-US" sz="2400" dirty="0"/>
              <a:t>The term to be defined</a:t>
            </a:r>
          </a:p>
          <a:p>
            <a:pPr marL="809625" lvl="1" indent="-360363">
              <a:spcBef>
                <a:spcPts val="0"/>
              </a:spcBef>
            </a:pPr>
            <a:r>
              <a:rPr lang="en-US" sz="2400" dirty="0"/>
              <a:t>The definition text</a:t>
            </a:r>
          </a:p>
          <a:p>
            <a:pPr marL="809625" lvl="1" indent="-360363">
              <a:spcBef>
                <a:spcPts val="0"/>
              </a:spcBef>
            </a:pPr>
            <a:r>
              <a:rPr lang="en-US" sz="2400" dirty="0"/>
              <a:t>Synonyms</a:t>
            </a:r>
          </a:p>
          <a:p>
            <a:pPr marL="809625" lvl="1" indent="-360363">
              <a:spcBef>
                <a:spcPts val="0"/>
              </a:spcBef>
            </a:pPr>
            <a:r>
              <a:rPr lang="en-US" sz="2400" dirty="0"/>
              <a:t>The related terms and the relationship (such as </a:t>
            </a:r>
            <a:r>
              <a:rPr lang="en-US" sz="2400" dirty="0" err="1"/>
              <a:t>generalisation</a:t>
            </a:r>
            <a:r>
              <a:rPr lang="en-US" sz="2400" dirty="0"/>
              <a:t>, </a:t>
            </a:r>
            <a:r>
              <a:rPr lang="en-US" sz="2400" dirty="0" err="1"/>
              <a:t>specialisation</a:t>
            </a:r>
            <a:r>
              <a:rPr lang="en-US" sz="2400" dirty="0"/>
              <a:t>, etc.)</a:t>
            </a:r>
          </a:p>
          <a:p>
            <a:pPr marL="809625" lvl="1" indent="-360363">
              <a:spcBef>
                <a:spcPts val="0"/>
              </a:spcBef>
            </a:pPr>
            <a:r>
              <a:rPr lang="en-US" sz="2400" dirty="0"/>
              <a:t>Examples/counter-examples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332788" y="6525343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47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7573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 of Glossary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018269"/>
              </p:ext>
            </p:extLst>
          </p:nvPr>
        </p:nvGraphicFramePr>
        <p:xfrm>
          <a:off x="395536" y="1340768"/>
          <a:ext cx="8583364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1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rgbClr val="0000CC"/>
                          </a:solidFill>
                        </a:rPr>
                        <a:t>Term: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rgbClr val="0000CC"/>
                          </a:solidFill>
                        </a:rPr>
                        <a:t>Route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Definition: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The specific instance of a direction from a starting point to a destination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Synonyms: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Itinerary</a:t>
                      </a:r>
                      <a:r>
                        <a:rPr lang="en-US" sz="2800" baseline="0" dirty="0">
                          <a:solidFill>
                            <a:srgbClr val="0000CC"/>
                          </a:solidFill>
                        </a:rPr>
                        <a:t> </a:t>
                      </a:r>
                      <a:endParaRPr 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Related terms: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Primary</a:t>
                      </a:r>
                      <a:r>
                        <a:rPr lang="en-US" sz="2800" baseline="0" dirty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route (specialization)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Example:</a:t>
                      </a:r>
                      <a:r>
                        <a:rPr lang="en-US" sz="2800" baseline="0" dirty="0">
                          <a:solidFill>
                            <a:srgbClr val="0000CC"/>
                          </a:solidFill>
                        </a:rPr>
                        <a:t> </a:t>
                      </a:r>
                      <a:endParaRPr 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CC"/>
                          </a:solidFill>
                        </a:rPr>
                        <a:t>The system should give a link to a map that shows the route from starting point to the destination</a:t>
                      </a:r>
                      <a:r>
                        <a:rPr lang="en-US" sz="2800" baseline="0" dirty="0">
                          <a:solidFill>
                            <a:srgbClr val="0000CC"/>
                          </a:solidFill>
                        </a:rPr>
                        <a:t>. </a:t>
                      </a:r>
                      <a:endParaRPr 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24589" y="6497227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48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78852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88641"/>
            <a:ext cx="8605143" cy="648072"/>
          </a:xfrm>
          <a:solidFill>
            <a:schemeClr val="tx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3600" dirty="0"/>
              <a:t>Structures of Requirements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9263" indent="-449263"/>
            <a:r>
              <a:rPr lang="en-US" sz="2800" dirty="0"/>
              <a:t>Requirements documents should be structured</a:t>
            </a:r>
          </a:p>
          <a:p>
            <a:pPr marL="809625" lvl="1" indent="-360363"/>
            <a:r>
              <a:rPr lang="en-US" sz="2400" dirty="0"/>
              <a:t>As defined by a company standard</a:t>
            </a:r>
          </a:p>
          <a:p>
            <a:pPr marL="809625" lvl="1" indent="-360363"/>
            <a:r>
              <a:rPr lang="en-US" sz="2400" dirty="0"/>
              <a:t>Checked as a part of the document quality assurance process</a:t>
            </a:r>
          </a:p>
          <a:p>
            <a:pPr marL="809625" lvl="1" indent="-360363"/>
            <a:r>
              <a:rPr lang="en-US" sz="2400" dirty="0"/>
              <a:t>In the best way to suit your </a:t>
            </a:r>
            <a:r>
              <a:rPr lang="en-GB" sz="2400" dirty="0"/>
              <a:t>organisation’s</a:t>
            </a:r>
            <a:r>
              <a:rPr lang="en-US" sz="2400" dirty="0"/>
              <a:t> business </a:t>
            </a:r>
          </a:p>
          <a:p>
            <a:pPr marL="809625" lvl="1" indent="-360363"/>
            <a:r>
              <a:rPr lang="en-US" sz="2400" dirty="0"/>
              <a:t>May have variants from a single standard for different types of systems</a:t>
            </a:r>
          </a:p>
          <a:p>
            <a:pPr marL="449263" indent="-449263"/>
            <a:r>
              <a:rPr lang="en-US" sz="2800" dirty="0"/>
              <a:t>Industrial wide standards</a:t>
            </a:r>
          </a:p>
          <a:p>
            <a:pPr marL="809625" lvl="1" indent="-360363"/>
            <a:r>
              <a:rPr lang="en-US" sz="2400" dirty="0"/>
              <a:t>IEEE 1233-1989: for system requirements definition</a:t>
            </a:r>
          </a:p>
          <a:p>
            <a:pPr marL="809625" lvl="1" indent="-360363"/>
            <a:r>
              <a:rPr lang="en-US" sz="2400" dirty="0"/>
              <a:t>IEEE 830-1998: for software requirements definition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BBD02-EB08-134D-BC94-0B0AE3DFB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91E3C71-B8BF-0140-BD78-62C8AE42C0CA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82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60338"/>
            <a:ext cx="8653785" cy="532358"/>
          </a:xfrm>
        </p:spPr>
        <p:txBody>
          <a:bodyPr>
            <a:noAutofit/>
          </a:bodyPr>
          <a:lstStyle/>
          <a:p>
            <a:r>
              <a:rPr lang="en-US" sz="3600" dirty="0"/>
              <a:t>IEEE Standard 830-1998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764704"/>
            <a:ext cx="6840760" cy="5749265"/>
          </a:xfrm>
          <a:prstGeom prst="rect">
            <a:avLst/>
          </a:prstGeom>
          <a:solidFill>
            <a:schemeClr val="accent5">
              <a:lumMod val="20000"/>
              <a:lumOff val="80000"/>
              <a:alpha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Table of Contents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AutoNum type="arabicPeriod"/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Introduction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1.1 	Purpose of this document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1.2 	Scope of the product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1.3 	Definitions, acronyms and abbreviations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1.4 	References</a:t>
            </a:r>
          </a:p>
          <a:p>
            <a:pPr marL="447675" indent="-447675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1.5 	Overview of the remainder of the document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2. Overall Descriptions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2.1 	Product perspective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2.2 	Product functions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2.3 	User characteristics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2.4 	Constraints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2.5 	Assumptions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3. Specific Requirements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Appendix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tabLst>
                <a:tab pos="1162050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Index</a:t>
            </a:r>
          </a:p>
        </p:txBody>
      </p:sp>
      <p:sp>
        <p:nvSpPr>
          <p:cNvPr id="6" name="Line Callout 2 5"/>
          <p:cNvSpPr/>
          <p:nvPr/>
        </p:nvSpPr>
        <p:spPr bwMode="auto">
          <a:xfrm>
            <a:off x="4572000" y="3212976"/>
            <a:ext cx="4392488" cy="3477875"/>
          </a:xfrm>
          <a:prstGeom prst="borderCallout2">
            <a:avLst>
              <a:gd name="adj1" fmla="val 50365"/>
              <a:gd name="adj2" fmla="val -544"/>
              <a:gd name="adj3" fmla="val 50151"/>
              <a:gd name="adj4" fmla="val -13845"/>
              <a:gd name="adj5" fmla="val 64298"/>
              <a:gd name="adj6" fmla="val -24374"/>
            </a:avLst>
          </a:prstGeom>
          <a:solidFill>
            <a:schemeClr val="accent5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The section on specific requirements can be structured in many ways, such as according to 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Operation mode, 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User classes,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Objects,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Features,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Stimulus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Responses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Functional hierarchy,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2000" dirty="0">
                <a:solidFill>
                  <a:srgbClr val="0000CC"/>
                </a:solidFill>
              </a:rPr>
              <a:t>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24589" y="6497227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50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25471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Structure of Specific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332788" y="6525343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51</a:t>
            </a:fld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0" y="2846388"/>
            <a:ext cx="2209800" cy="3270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Oct.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196752"/>
            <a:ext cx="4248472" cy="4524315"/>
          </a:xfrm>
          <a:prstGeom prst="rect">
            <a:avLst/>
          </a:prstGeom>
          <a:solidFill>
            <a:schemeClr val="accent5">
              <a:lumMod val="20000"/>
              <a:lumOff val="80000"/>
              <a:alpha val="60254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3. Specific requirements</a:t>
            </a:r>
          </a:p>
          <a:p>
            <a:pPr marL="895350" indent="-895350"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3.1 External interface requirements</a:t>
            </a:r>
          </a:p>
          <a:p>
            <a:pPr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	3.1.1 User interfaces</a:t>
            </a:r>
          </a:p>
          <a:p>
            <a:pPr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	3.1.2 Hardware interfaces</a:t>
            </a:r>
          </a:p>
          <a:p>
            <a:pPr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	3.1.3 Software interfaces</a:t>
            </a:r>
          </a:p>
          <a:p>
            <a:pPr marL="1619250" indent="-1619250"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	3.1.4 Communication interfaces</a:t>
            </a:r>
          </a:p>
          <a:p>
            <a:pPr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3.2 Functional requirements</a:t>
            </a:r>
          </a:p>
          <a:p>
            <a:pPr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3.3 Performance </a:t>
            </a:r>
            <a:r>
              <a:rPr lang="en-US" sz="2400" dirty="0" err="1">
                <a:solidFill>
                  <a:schemeClr val="bg2"/>
                </a:solidFill>
                <a:latin typeface="+mj-lt"/>
              </a:rPr>
              <a:t>reqs</a:t>
            </a:r>
            <a:endParaRPr lang="en-US" sz="2400" dirty="0">
              <a:solidFill>
                <a:schemeClr val="bg2"/>
              </a:solidFill>
              <a:latin typeface="+mj-lt"/>
            </a:endParaRPr>
          </a:p>
          <a:p>
            <a:pPr marL="895350" indent="-895350">
              <a:tabLst>
                <a:tab pos="174625" algn="l"/>
                <a:tab pos="449263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3.4 Logical database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5976" y="1196752"/>
            <a:ext cx="4680520" cy="4524315"/>
          </a:xfrm>
          <a:prstGeom prst="rect">
            <a:avLst/>
          </a:prstGeom>
          <a:solidFill>
            <a:schemeClr val="accent5">
              <a:lumMod val="20000"/>
              <a:lumOff val="80000"/>
              <a:alpha val="5959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3.5 Design constraints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3.5.1 Standards compliance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3.5.2 hardware limitations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…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3.6 Software system attributes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3.6.1 Reliability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3.6.2 Availability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3.6.3 Security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3.6.4 Maintainability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3.6.5 Portability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…</a:t>
            </a:r>
          </a:p>
          <a:p>
            <a:pPr>
              <a:tabLst>
                <a:tab pos="273050" algn="l"/>
                <a:tab pos="449263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3.7 Other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906445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Mode-Based Functional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24589" y="6486429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52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1938313"/>
            <a:ext cx="5688632" cy="4154983"/>
          </a:xfrm>
          <a:prstGeom prst="rect">
            <a:avLst/>
          </a:prstGeom>
          <a:solidFill>
            <a:schemeClr val="accent5">
              <a:lumMod val="20000"/>
              <a:lumOff val="80000"/>
              <a:alpha val="59953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3.2 Functional requirements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3.2.1 Mode 1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3.2.1.1 Functional requirement 1.1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…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3.2.1.n </a:t>
            </a:r>
            <a:r>
              <a:rPr lang="en-US" sz="2400" dirty="0">
                <a:solidFill>
                  <a:srgbClr val="36424A"/>
                </a:solidFill>
              </a:rPr>
              <a:t>Functional requirement 1.2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3.2.2 Mode 2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	…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  <a:latin typeface="+mj-lt"/>
              </a:rPr>
              <a:t>	3.2.m Mode m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</a:rPr>
              <a:t>		3.2.1.1 Functional requirement 1.1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</a:rPr>
              <a:t>		…</a:t>
            </a:r>
          </a:p>
          <a:p>
            <a:pPr>
              <a:tabLst>
                <a:tab pos="273050" algn="l"/>
                <a:tab pos="536575" algn="l"/>
              </a:tabLst>
            </a:pPr>
            <a:r>
              <a:rPr lang="en-US" sz="2400" dirty="0">
                <a:solidFill>
                  <a:srgbClr val="36424A"/>
                </a:solidFill>
              </a:rPr>
              <a:t>		3.2.1.n Functional requirement 1.2</a:t>
            </a:r>
          </a:p>
        </p:txBody>
      </p:sp>
      <p:sp>
        <p:nvSpPr>
          <p:cNvPr id="6" name="Line Callout 2 5"/>
          <p:cNvSpPr/>
          <p:nvPr/>
        </p:nvSpPr>
        <p:spPr bwMode="auto">
          <a:xfrm>
            <a:off x="6372200" y="1218233"/>
            <a:ext cx="2520280" cy="2862322"/>
          </a:xfrm>
          <a:prstGeom prst="borderCallout2">
            <a:avLst>
              <a:gd name="adj1" fmla="val 18750"/>
              <a:gd name="adj2" fmla="val -226"/>
              <a:gd name="adj3" fmla="val 20081"/>
              <a:gd name="adj4" fmla="val -102007"/>
              <a:gd name="adj5" fmla="val 49675"/>
              <a:gd name="adj6" fmla="val -148125"/>
            </a:avLst>
          </a:prstGeom>
          <a:solidFill>
            <a:schemeClr val="accent5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Give the name of the operation mode. For example,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2000" i="1" dirty="0">
                <a:solidFill>
                  <a:srgbClr val="0000CC"/>
                </a:solidFill>
              </a:rPr>
              <a:t>Emergent stop,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2000" i="1" dirty="0">
                <a:solidFill>
                  <a:srgbClr val="0000CC"/>
                </a:solidFill>
              </a:rPr>
              <a:t>Downgraded maintenance</a:t>
            </a:r>
            <a:r>
              <a:rPr lang="en-US" sz="2000" dirty="0">
                <a:solidFill>
                  <a:srgbClr val="0000CC"/>
                </a:solidFill>
              </a:rPr>
              <a:t>,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2000" i="1" dirty="0">
                <a:solidFill>
                  <a:srgbClr val="0000CC"/>
                </a:solidFill>
              </a:rPr>
              <a:t>Initialisation</a:t>
            </a:r>
            <a:r>
              <a:rPr lang="en-US" sz="2000" dirty="0">
                <a:solidFill>
                  <a:srgbClr val="0000CC"/>
                </a:solidFill>
              </a:rPr>
              <a:t>,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2000" i="1" dirty="0">
                <a:solidFill>
                  <a:srgbClr val="0000CC"/>
                </a:solidFill>
              </a:rPr>
              <a:t>Normal operation, etc.  </a:t>
            </a:r>
          </a:p>
        </p:txBody>
      </p:sp>
      <p:sp>
        <p:nvSpPr>
          <p:cNvPr id="7" name="Line Callout 2 6"/>
          <p:cNvSpPr/>
          <p:nvPr/>
        </p:nvSpPr>
        <p:spPr bwMode="auto">
          <a:xfrm>
            <a:off x="6372200" y="4386585"/>
            <a:ext cx="2520280" cy="1323439"/>
          </a:xfrm>
          <a:prstGeom prst="borderCallout2">
            <a:avLst>
              <a:gd name="adj1" fmla="val 18750"/>
              <a:gd name="adj2" fmla="val -1719"/>
              <a:gd name="adj3" fmla="val 19918"/>
              <a:gd name="adj4" fmla="val -41955"/>
              <a:gd name="adj5" fmla="val -46712"/>
              <a:gd name="adj6" fmla="val -73772"/>
            </a:avLst>
          </a:prstGeom>
          <a:solidFill>
            <a:schemeClr val="accent5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List the functional requirements for the system when it is in the operation mode</a:t>
            </a:r>
          </a:p>
        </p:txBody>
      </p:sp>
    </p:spTree>
    <p:extLst>
      <p:ext uri="{BB962C8B-B14F-4D97-AF65-F5344CB8AC3E}">
        <p14:creationId xmlns:p14="http://schemas.microsoft.com/office/powerpoint/2010/main" val="9092102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User-Based Functional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24589" y="6486429"/>
            <a:ext cx="523875" cy="358775"/>
          </a:xfrm>
          <a:prstGeom prst="rect">
            <a:avLst/>
          </a:prstGeom>
        </p:spPr>
        <p:txBody>
          <a:bodyPr/>
          <a:lstStyle/>
          <a:p>
            <a:fld id="{8E7F9024-33A8-46F0-ADBC-AF8540C9B8BE}" type="slidenum">
              <a:rPr lang="en-GB" smtClean="0"/>
              <a:pPr/>
              <a:t>53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1340768"/>
            <a:ext cx="5688632" cy="4154983"/>
          </a:xfrm>
          <a:prstGeom prst="rect">
            <a:avLst/>
          </a:prstGeom>
          <a:solidFill>
            <a:schemeClr val="accent5">
              <a:lumMod val="20000"/>
              <a:lumOff val="80000"/>
              <a:alpha val="60148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3.2 Functional requirements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	3.2.1 User class 1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	3.2.1.1 Functional requirement 1.1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	…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	3.2.1.n Functional requirement 1.2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3.2.2 User class 2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	…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3.2.m User class m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	3.2.1.1 Functional requirement 1.1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	…</a:t>
            </a:r>
          </a:p>
          <a:p>
            <a:pPr>
              <a:tabLst>
                <a:tab pos="273050" algn="l"/>
                <a:tab pos="623888" algn="l"/>
              </a:tabLst>
            </a:pPr>
            <a:r>
              <a:rPr lang="en-US" sz="2400" dirty="0">
                <a:solidFill>
                  <a:schemeClr val="bg2"/>
                </a:solidFill>
              </a:rPr>
              <a:t>		3.2.1.n Functional requirement 1.2</a:t>
            </a:r>
          </a:p>
        </p:txBody>
      </p:sp>
      <p:sp>
        <p:nvSpPr>
          <p:cNvPr id="6" name="Line Callout 2 5"/>
          <p:cNvSpPr/>
          <p:nvPr/>
        </p:nvSpPr>
        <p:spPr bwMode="auto">
          <a:xfrm>
            <a:off x="6444208" y="764704"/>
            <a:ext cx="2520280" cy="2246769"/>
          </a:xfrm>
          <a:prstGeom prst="borderCallout2">
            <a:avLst>
              <a:gd name="adj1" fmla="val 18750"/>
              <a:gd name="adj2" fmla="val -226"/>
              <a:gd name="adj3" fmla="val 18590"/>
              <a:gd name="adj4" fmla="val -72528"/>
              <a:gd name="adj5" fmla="val 51421"/>
              <a:gd name="adj6" fmla="val -122786"/>
            </a:avLst>
          </a:prstGeom>
          <a:solidFill>
            <a:schemeClr val="accent5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Give the name of the user type/class. For example,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2000" i="1" dirty="0">
                <a:solidFill>
                  <a:srgbClr val="0000CC"/>
                </a:solidFill>
              </a:rPr>
              <a:t>Author,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2000" i="1" dirty="0">
                <a:solidFill>
                  <a:srgbClr val="0000CC"/>
                </a:solidFill>
              </a:rPr>
              <a:t>Reviewer,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2000" i="1" dirty="0">
                <a:solidFill>
                  <a:srgbClr val="0000CC"/>
                </a:solidFill>
              </a:rPr>
              <a:t>PC Chair,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2000" i="1" dirty="0">
                <a:solidFill>
                  <a:srgbClr val="0000CC"/>
                </a:solidFill>
              </a:rPr>
              <a:t>Administrator</a:t>
            </a:r>
            <a:r>
              <a:rPr lang="en-US" sz="2000" dirty="0">
                <a:solidFill>
                  <a:srgbClr val="0000CC"/>
                </a:solidFill>
              </a:rPr>
              <a:t>,  </a:t>
            </a:r>
            <a:r>
              <a:rPr lang="en-US" sz="2000" i="1" dirty="0">
                <a:solidFill>
                  <a:srgbClr val="0000CC"/>
                </a:solidFill>
              </a:rPr>
              <a:t>etc.  </a:t>
            </a:r>
          </a:p>
        </p:txBody>
      </p:sp>
      <p:sp>
        <p:nvSpPr>
          <p:cNvPr id="7" name="Line Callout 2 6"/>
          <p:cNvSpPr/>
          <p:nvPr/>
        </p:nvSpPr>
        <p:spPr bwMode="auto">
          <a:xfrm>
            <a:off x="6444208" y="3933056"/>
            <a:ext cx="2520280" cy="1015663"/>
          </a:xfrm>
          <a:prstGeom prst="borderCallout2">
            <a:avLst>
              <a:gd name="adj1" fmla="val 18750"/>
              <a:gd name="adj2" fmla="val -1719"/>
              <a:gd name="adj3" fmla="val 19918"/>
              <a:gd name="adj4" fmla="val -41955"/>
              <a:gd name="adj5" fmla="val -74703"/>
              <a:gd name="adj6" fmla="val -77569"/>
            </a:avLst>
          </a:prstGeom>
          <a:solidFill>
            <a:schemeClr val="accent5">
              <a:lumMod val="20000"/>
              <a:lumOff val="80000"/>
            </a:schemeClr>
          </a:solidFill>
          <a:ln>
            <a:headEnd type="none" w="med" len="med"/>
            <a:tailEnd type="arrow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List the functional requirements for the type of users</a:t>
            </a:r>
          </a:p>
        </p:txBody>
      </p:sp>
    </p:spTree>
    <p:extLst>
      <p:ext uri="{BB962C8B-B14F-4D97-AF65-F5344CB8AC3E}">
        <p14:creationId xmlns:p14="http://schemas.microsoft.com/office/powerpoint/2010/main" val="18914945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647700"/>
          </a:xfrm>
        </p:spPr>
        <p:txBody>
          <a:bodyPr/>
          <a:lstStyle/>
          <a:p>
            <a:pPr eaLnBrk="1" hangingPunct="1"/>
            <a:r>
              <a:rPr lang="en-GB" sz="3600">
                <a:latin typeface="Arial" charset="0"/>
                <a:ea typeface="ＭＳ Ｐゴシック" charset="0"/>
              </a:rPr>
              <a:t>This Week’s Study Guide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>
          <a:xfrm>
            <a:off x="395537" y="836613"/>
            <a:ext cx="8496944" cy="5616575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GB" sz="2800" dirty="0">
                <a:latin typeface="Arial" charset="0"/>
                <a:ea typeface="ＭＳ Ｐゴシック" charset="0"/>
              </a:rPr>
              <a:t>Further Readings</a:t>
            </a:r>
            <a:endParaRPr lang="en-GB" sz="2800" i="1" dirty="0">
              <a:latin typeface="Arial" charset="0"/>
              <a:ea typeface="ＭＳ Ｐゴシック" charset="0"/>
            </a:endParaRPr>
          </a:p>
          <a:p>
            <a:pPr lvl="1">
              <a:spcBef>
                <a:spcPts val="0"/>
              </a:spcBef>
              <a:buFont typeface="Wingdings" charset="0"/>
              <a:buChar char="²"/>
            </a:pPr>
            <a:r>
              <a:rPr lang="en-GB" sz="2400" i="1" dirty="0">
                <a:latin typeface="Arial" charset="0"/>
                <a:ea typeface="ＭＳ Ｐゴシック" charset="0"/>
              </a:rPr>
              <a:t>Klaus Pohl, </a:t>
            </a:r>
            <a:r>
              <a:rPr lang="en-GB" sz="2400" b="1" dirty="0">
                <a:latin typeface="Arial" charset="0"/>
                <a:ea typeface="ＭＳ Ｐゴシック" charset="0"/>
              </a:rPr>
              <a:t>Requirements Engineering: Fundamentals, Principles and Techniques</a:t>
            </a:r>
            <a:r>
              <a:rPr lang="en-GB" sz="2400" i="1" dirty="0">
                <a:latin typeface="Arial" charset="0"/>
                <a:ea typeface="ＭＳ Ｐゴシック" charset="0"/>
              </a:rPr>
              <a:t>, Springer, 2010. </a:t>
            </a: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ＭＳ Ｐゴシック" charset="0"/>
              </a:rPr>
              <a:t>(Chapter </a:t>
            </a: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</a:rPr>
              <a:t>16 – 18, pages 293– 348,</a:t>
            </a: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ＭＳ Ｐゴシック" charset="0"/>
              </a:rPr>
              <a:t> 21 and 22,  pp391-450) </a:t>
            </a:r>
          </a:p>
          <a:p>
            <a:pPr lvl="1" eaLnBrk="1" hangingPunct="1">
              <a:spcBef>
                <a:spcPts val="0"/>
              </a:spcBef>
              <a:buFont typeface="Wingdings" charset="0"/>
              <a:buChar char="²"/>
            </a:pPr>
            <a:r>
              <a:rPr lang="en-GB" sz="2400" i="1" dirty="0">
                <a:latin typeface="Arial" charset="0"/>
                <a:ea typeface="ＭＳ Ｐゴシック" charset="0"/>
              </a:rPr>
              <a:t>Alan Dennis, Barbara Hayley </a:t>
            </a:r>
            <a:r>
              <a:rPr lang="en-GB" sz="2400" i="1" dirty="0" err="1">
                <a:latin typeface="Arial" charset="0"/>
                <a:ea typeface="ＭＳ Ｐゴシック" charset="0"/>
              </a:rPr>
              <a:t>Wixon</a:t>
            </a:r>
            <a:r>
              <a:rPr lang="en-GB" sz="2400" i="1" dirty="0">
                <a:latin typeface="Arial" charset="0"/>
                <a:ea typeface="ＭＳ Ｐゴシック" charset="0"/>
              </a:rPr>
              <a:t> and David </a:t>
            </a:r>
            <a:r>
              <a:rPr lang="en-GB" sz="2400" i="1" dirty="0" err="1">
                <a:latin typeface="Arial" charset="0"/>
                <a:ea typeface="ＭＳ Ｐゴシック" charset="0"/>
              </a:rPr>
              <a:t>Tegarden</a:t>
            </a:r>
            <a:r>
              <a:rPr lang="en-GB" sz="2400" i="1" dirty="0">
                <a:latin typeface="Arial" charset="0"/>
                <a:ea typeface="ＭＳ Ｐゴシック" charset="0"/>
              </a:rPr>
              <a:t>. </a:t>
            </a:r>
            <a:r>
              <a:rPr lang="en-GB" sz="2400" b="1" dirty="0">
                <a:latin typeface="Arial" charset="0"/>
                <a:ea typeface="ＭＳ Ｐゴシック" charset="0"/>
              </a:rPr>
              <a:t>System Analysis and Design with UML: An Object-Oriented Approach</a:t>
            </a:r>
            <a:r>
              <a:rPr lang="en-GB" sz="2400" dirty="0">
                <a:latin typeface="Arial" charset="0"/>
                <a:ea typeface="ＭＳ Ｐゴシック" charset="0"/>
              </a:rPr>
              <a:t>, </a:t>
            </a:r>
            <a:r>
              <a:rPr lang="en-GB" sz="2400" i="1" dirty="0">
                <a:latin typeface="Arial" charset="0"/>
                <a:ea typeface="ＭＳ Ｐゴシック" charset="0"/>
              </a:rPr>
              <a:t>(3</a:t>
            </a:r>
            <a:r>
              <a:rPr lang="en-GB" sz="2400" i="1" baseline="30000" dirty="0">
                <a:latin typeface="Arial" charset="0"/>
                <a:ea typeface="ＭＳ Ｐゴシック" charset="0"/>
              </a:rPr>
              <a:t>rd</a:t>
            </a:r>
            <a:r>
              <a:rPr lang="en-GB" sz="2400" i="1" dirty="0">
                <a:latin typeface="Arial" charset="0"/>
                <a:ea typeface="ＭＳ Ｐゴシック" charset="0"/>
              </a:rPr>
              <a:t>  Edition). Wiley, 2010. </a:t>
            </a: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ＭＳ Ｐゴシック" charset="0"/>
              </a:rPr>
              <a:t>(Chapter 4. pp110-149)</a:t>
            </a:r>
          </a:p>
          <a:p>
            <a:pPr lvl="1">
              <a:spcBef>
                <a:spcPts val="0"/>
              </a:spcBef>
              <a:buFont typeface="Wingdings" charset="0"/>
              <a:buChar char="²"/>
            </a:pPr>
            <a:r>
              <a:rPr lang="en-GB" sz="2400" i="1" dirty="0">
                <a:latin typeface="Arial" charset="0"/>
                <a:ea typeface="ＭＳ Ｐゴシック" charset="0"/>
              </a:rPr>
              <a:t>Alex van </a:t>
            </a:r>
            <a:r>
              <a:rPr lang="en-GB" sz="2400" i="1" dirty="0" err="1">
                <a:latin typeface="Arial" charset="0"/>
                <a:ea typeface="ＭＳ Ｐゴシック" charset="0"/>
              </a:rPr>
              <a:t>Lamsweerde</a:t>
            </a:r>
            <a:r>
              <a:rPr lang="en-GB" sz="2400" i="1" dirty="0">
                <a:latin typeface="Arial" charset="0"/>
                <a:ea typeface="ＭＳ Ｐゴシック" charset="0"/>
              </a:rPr>
              <a:t>. </a:t>
            </a:r>
            <a:r>
              <a:rPr lang="en-GB" sz="2400" b="1" dirty="0">
                <a:latin typeface="Arial" charset="0"/>
                <a:ea typeface="ＭＳ Ｐゴシック" charset="0"/>
              </a:rPr>
              <a:t>Requirements Engineering: From System Goals to UML Models to Software Specifications</a:t>
            </a:r>
            <a:r>
              <a:rPr lang="en-GB" sz="2400" dirty="0">
                <a:latin typeface="Arial" charset="0"/>
                <a:ea typeface="ＭＳ Ｐゴシック" charset="0"/>
              </a:rPr>
              <a:t>.</a:t>
            </a:r>
            <a:r>
              <a:rPr lang="en-GB" sz="2400" i="1" dirty="0">
                <a:latin typeface="Arial" charset="0"/>
                <a:ea typeface="ＭＳ Ｐゴシック" charset="0"/>
              </a:rPr>
              <a:t> Wiley, 2009. </a:t>
            </a: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ＭＳ Ｐゴシック" charset="0"/>
              </a:rPr>
              <a:t>(Chapter 2, pp61-86,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Chapter 4, pp120-127</a:t>
            </a: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ＭＳ Ｐゴシック" charset="0"/>
              </a:rPr>
              <a:t>)</a:t>
            </a:r>
          </a:p>
          <a:p>
            <a:pPr lvl="1">
              <a:spcBef>
                <a:spcPts val="0"/>
              </a:spcBef>
              <a:buFont typeface="Wingdings" charset="0"/>
              <a:buChar char="²"/>
            </a:pPr>
            <a:r>
              <a:rPr lang="en-GB" sz="2400" i="1" dirty="0">
                <a:latin typeface="Arial" charset="0"/>
                <a:ea typeface="ＭＳ Ｐゴシック" charset="0"/>
              </a:rPr>
              <a:t>Ian K. Bray. </a:t>
            </a:r>
            <a:r>
              <a:rPr lang="en-GB" sz="2400" b="1" dirty="0">
                <a:latin typeface="Arial" charset="0"/>
                <a:ea typeface="ＭＳ Ｐゴシック" charset="0"/>
              </a:rPr>
              <a:t>An Introduction to Requirements Engineering</a:t>
            </a:r>
            <a:r>
              <a:rPr lang="en-US" sz="2400" dirty="0">
                <a:latin typeface="Arial" charset="0"/>
                <a:ea typeface="ＭＳ Ｐゴシック" charset="0"/>
              </a:rPr>
              <a:t>. </a:t>
            </a:r>
            <a:r>
              <a:rPr lang="en-GB" sz="2400" i="1" dirty="0">
                <a:latin typeface="Arial" charset="0"/>
                <a:ea typeface="ＭＳ Ｐゴシック" charset="0"/>
              </a:rPr>
              <a:t>Addison Wesley,</a:t>
            </a:r>
            <a:r>
              <a:rPr lang="en-US" sz="2400" dirty="0">
                <a:latin typeface="Arial" charset="0"/>
                <a:ea typeface="ＭＳ Ｐゴシック" charset="0"/>
              </a:rPr>
              <a:t> </a:t>
            </a:r>
            <a:r>
              <a:rPr lang="en-GB" sz="2400" i="1" dirty="0">
                <a:latin typeface="Arial" charset="0"/>
                <a:ea typeface="ＭＳ Ｐゴシック" charset="0"/>
              </a:rPr>
              <a:t>2002. </a:t>
            </a: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ＭＳ Ｐゴシック" charset="0"/>
              </a:rPr>
              <a:t>(Chapter 3, pp41-49,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Chapter 5, pp135-203</a:t>
            </a: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ＭＳ Ｐゴシック" charset="0"/>
              </a:rPr>
              <a:t>)</a:t>
            </a:r>
          </a:p>
        </p:txBody>
      </p:sp>
      <p:sp>
        <p:nvSpPr>
          <p:cNvPr id="7885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51556" y="6497227"/>
            <a:ext cx="523875" cy="3587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3EC6AB5-CA9F-5F43-B892-0147C4926A8C}" type="slidenum">
              <a:rPr lang="en-GB" sz="1400"/>
              <a:pPr eaLnBrk="1" hangingPunct="1"/>
              <a:t>54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99148764"/>
      </p:ext>
    </p:extLst>
  </p:cSld>
  <p:clrMapOvr>
    <a:masterClrMapping/>
  </p:clrMapOvr>
</p:sld>
</file>

<file path=ppt/theme/theme1.xml><?xml version="1.0" encoding="utf-8"?>
<a:theme xmlns:a="http://schemas.openxmlformats.org/drawingml/2006/main" name="OB-ppt-white">
  <a:themeElements>
    <a:clrScheme name="Custom 18">
      <a:dk1>
        <a:srgbClr val="A2AD00"/>
      </a:dk1>
      <a:lt1>
        <a:srgbClr val="FFFFFF"/>
      </a:lt1>
      <a:dk2>
        <a:srgbClr val="000000"/>
      </a:dk2>
      <a:lt2>
        <a:srgbClr val="36424A"/>
      </a:lt2>
      <a:accent1>
        <a:srgbClr val="A2AD00"/>
      </a:accent1>
      <a:accent2>
        <a:srgbClr val="970074"/>
      </a:accent2>
      <a:accent3>
        <a:srgbClr val="C90044"/>
      </a:accent3>
      <a:accent4>
        <a:srgbClr val="EDB700"/>
      </a:accent4>
      <a:accent5>
        <a:srgbClr val="00338E"/>
      </a:accent5>
      <a:accent6>
        <a:srgbClr val="00693E"/>
      </a:accent6>
      <a:hlink>
        <a:srgbClr val="A2AD00"/>
      </a:hlink>
      <a:folHlink>
        <a:srgbClr val="36424A"/>
      </a:folHlink>
    </a:clrScheme>
    <a:fontScheme name="Custom 6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0">
          <a:solidFill>
            <a:srgbClr val="FF0000">
              <a:alpha val="30000"/>
            </a:srgbClr>
          </a:solidFill>
          <a:prstDash val="dash"/>
          <a:tailEnd type="stealth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OB-ppt-white.potx</Template>
  <TotalTime>15268</TotalTime>
  <Words>4589</Words>
  <Application>Microsoft Office PowerPoint</Application>
  <PresentationFormat>On-screen Show (4:3)</PresentationFormat>
  <Paragraphs>753</Paragraphs>
  <Slides>54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6" baseType="lpstr">
      <vt:lpstr>Arial Unicode MS</vt:lpstr>
      <vt:lpstr>Lucida Grande</vt:lpstr>
      <vt:lpstr>ＭＳ Ｐゴシック</vt:lpstr>
      <vt:lpstr>SimSun</vt:lpstr>
      <vt:lpstr>Arial</vt:lpstr>
      <vt:lpstr>Calibri</vt:lpstr>
      <vt:lpstr>Courier New</vt:lpstr>
      <vt:lpstr>Tahoma</vt:lpstr>
      <vt:lpstr>Times</vt:lpstr>
      <vt:lpstr>Times New Roman</vt:lpstr>
      <vt:lpstr>Wingdings</vt:lpstr>
      <vt:lpstr>OB-ppt-white</vt:lpstr>
      <vt:lpstr>CHC6173 Software Engineering</vt:lpstr>
      <vt:lpstr>This Week’s Learning Outcomes</vt:lpstr>
      <vt:lpstr>PowerPoint Presentation</vt:lpstr>
      <vt:lpstr> What is Requirements Engineering</vt:lpstr>
      <vt:lpstr>Why RE is important?</vt:lpstr>
      <vt:lpstr>The Nature of RE (1)</vt:lpstr>
      <vt:lpstr>What is software? </vt:lpstr>
      <vt:lpstr>The Nature of RE (2)</vt:lpstr>
      <vt:lpstr>Types of Requirements</vt:lpstr>
      <vt:lpstr>Functional Requirements</vt:lpstr>
      <vt:lpstr>Functions</vt:lpstr>
      <vt:lpstr>Non-functional Requirements</vt:lpstr>
      <vt:lpstr>Taxonomy of Non-Functional Requirements</vt:lpstr>
      <vt:lpstr>Aspects of Quality Requirements</vt:lpstr>
      <vt:lpstr>RE Lifecycle: 1. Actors</vt:lpstr>
      <vt:lpstr>RE Lifecycle: 2. Process </vt:lpstr>
      <vt:lpstr>An iterative Model of RE Process  (Bray 2002, p31) </vt:lpstr>
      <vt:lpstr>RE Lifecycle: 3. Products</vt:lpstr>
      <vt:lpstr>PowerPoint Presentation</vt:lpstr>
      <vt:lpstr>Requirements Elicitation: Definition</vt:lpstr>
      <vt:lpstr>Elicitation Methods &amp; Techniques</vt:lpstr>
      <vt:lpstr>Elicitation Techniques: 1. Interviews</vt:lpstr>
      <vt:lpstr>Example: Interview Plan</vt:lpstr>
      <vt:lpstr>Interview Questions</vt:lpstr>
      <vt:lpstr>Elicitation Techniques: 2. Questionnaires</vt:lpstr>
      <vt:lpstr>Example: Questionnaire</vt:lpstr>
      <vt:lpstr>Example: Questionnaire (Continue)</vt:lpstr>
      <vt:lpstr>Elicitation Techniques: 3. Workshops</vt:lpstr>
      <vt:lpstr>Future Workshops</vt:lpstr>
      <vt:lpstr>Brainstorming </vt:lpstr>
      <vt:lpstr>Seven Rules of Brainstorming </vt:lpstr>
      <vt:lpstr>Elicitation Techniques: 4. Observation</vt:lpstr>
      <vt:lpstr>PowerPoint Presentation</vt:lpstr>
      <vt:lpstr>Requirements Documentation</vt:lpstr>
      <vt:lpstr>Roles of Documents in RE (and SE)</vt:lpstr>
      <vt:lpstr>What to Be Documented</vt:lpstr>
      <vt:lpstr>Documentation vs Specification</vt:lpstr>
      <vt:lpstr>Quality of Requirements Documents</vt:lpstr>
      <vt:lpstr>Common Errors: Intermingled Statements </vt:lpstr>
      <vt:lpstr>Uses of Natural Languages</vt:lpstr>
      <vt:lpstr>Types of Ambiguity in Natural Language</vt:lpstr>
      <vt:lpstr>Techniques to Avoid Ambiguity</vt:lpstr>
      <vt:lpstr>Syntactic Patterns: 1 [Rupp 2009]</vt:lpstr>
      <vt:lpstr>Example:</vt:lpstr>
      <vt:lpstr>Syntactic Patterns: 2 [Zhu et al. 2001] </vt:lpstr>
      <vt:lpstr>Controlled Languages</vt:lpstr>
      <vt:lpstr>Glossaries</vt:lpstr>
      <vt:lpstr>Example of Glossary</vt:lpstr>
      <vt:lpstr>Structures of Requirements Document</vt:lpstr>
      <vt:lpstr>IEEE Standard 830-1998</vt:lpstr>
      <vt:lpstr>Structure of Specific Requirements</vt:lpstr>
      <vt:lpstr>Mode-Based Functional Requirements</vt:lpstr>
      <vt:lpstr>User-Based Functional Requirements</vt:lpstr>
      <vt:lpstr>This Week’s Study Guide</vt:lpstr>
    </vt:vector>
  </TitlesOfParts>
  <Company>School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IWSC 2012 16 July 2012, Izmir, Turkey</dc:title>
  <dc:creator>Juan Wang</dc:creator>
  <cp:lastModifiedBy>CDUT</cp:lastModifiedBy>
  <cp:revision>301</cp:revision>
  <cp:lastPrinted>2015-02-05T10:47:48Z</cp:lastPrinted>
  <dcterms:created xsi:type="dcterms:W3CDTF">2012-07-12T10:43:20Z</dcterms:created>
  <dcterms:modified xsi:type="dcterms:W3CDTF">2025-10-13T06:10:06Z</dcterms:modified>
</cp:coreProperties>
</file>