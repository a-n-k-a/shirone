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7" r:id="rId2"/>
    <p:sldId id="256" r:id="rId3"/>
    <p:sldId id="263" r:id="rId4"/>
    <p:sldId id="258" r:id="rId5"/>
    <p:sldId id="289" r:id="rId6"/>
    <p:sldId id="264" r:id="rId7"/>
    <p:sldId id="259" r:id="rId8"/>
    <p:sldId id="260" r:id="rId9"/>
    <p:sldId id="261" r:id="rId10"/>
    <p:sldId id="265" r:id="rId11"/>
    <p:sldId id="262" r:id="rId12"/>
    <p:sldId id="266" r:id="rId13"/>
    <p:sldId id="275" r:id="rId14"/>
    <p:sldId id="267" r:id="rId15"/>
    <p:sldId id="276" r:id="rId16"/>
    <p:sldId id="268" r:id="rId17"/>
    <p:sldId id="292" r:id="rId18"/>
    <p:sldId id="294" r:id="rId19"/>
    <p:sldId id="293" r:id="rId20"/>
    <p:sldId id="274" r:id="rId21"/>
    <p:sldId id="269" r:id="rId22"/>
    <p:sldId id="270" r:id="rId23"/>
    <p:sldId id="295" r:id="rId24"/>
    <p:sldId id="277" r:id="rId25"/>
    <p:sldId id="273" r:id="rId26"/>
    <p:sldId id="278" r:id="rId27"/>
    <p:sldId id="279" r:id="rId28"/>
    <p:sldId id="282" r:id="rId29"/>
    <p:sldId id="284" r:id="rId30"/>
    <p:sldId id="285" r:id="rId31"/>
    <p:sldId id="280" r:id="rId32"/>
    <p:sldId id="281" r:id="rId33"/>
    <p:sldId id="283" r:id="rId34"/>
    <p:sldId id="286" r:id="rId35"/>
    <p:sldId id="287" r:id="rId36"/>
    <p:sldId id="288" r:id="rId37"/>
    <p:sldId id="290" r:id="rId38"/>
    <p:sldId id="291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2"/>
    <p:restoredTop sz="94690"/>
  </p:normalViewPr>
  <p:slideViewPr>
    <p:cSldViewPr snapToGrid="0" snapToObjects="1">
      <p:cViewPr varScale="1">
        <p:scale>
          <a:sx n="111" d="100"/>
          <a:sy n="111" d="100"/>
        </p:scale>
        <p:origin x="1830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0DE17-49C8-444A-97EC-0FA2487477A7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9AE3A-76B5-994D-A770-8636AD2195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6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OB PPT banner white 1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1150" y="304800"/>
            <a:ext cx="8528050" cy="153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9" y="1847624"/>
            <a:ext cx="8533134" cy="4697639"/>
          </a:xfrm>
        </p:spPr>
        <p:txBody>
          <a:bodyPr/>
          <a:lstStyle>
            <a:lvl1pPr marL="0" indent="0" algn="l">
              <a:buNone/>
              <a:defRPr sz="2800" b="1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23528" y="312738"/>
            <a:ext cx="8487752" cy="152694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C3502CF-F42E-9E4A-92D5-32641C1A3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138" y="6569152"/>
            <a:ext cx="5171922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 altLang="zh-CN"/>
              <a:t>COMP6030: Lecture 2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3B9CEBE-76F5-9C48-9F66-EF20E83B6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1814" y="6538539"/>
            <a:ext cx="764849" cy="332656"/>
          </a:xfrm>
          <a:prstGeom prst="rect">
            <a:avLst/>
          </a:prstGeom>
        </p:spPr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rgbClr val="455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OB PPT banner 15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3213"/>
            <a:ext cx="8534400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23528" y="312738"/>
            <a:ext cx="8487752" cy="1526948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4" name="Picture 3" descr="comp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849625"/>
            <a:ext cx="8532000" cy="4767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7" y="908720"/>
            <a:ext cx="8461126" cy="5544616"/>
          </a:xfrm>
        </p:spPr>
        <p:txBody>
          <a:bodyPr/>
          <a:lstStyle>
            <a:lvl1pPr marL="180975" indent="-180975">
              <a:spcBef>
                <a:spcPts val="1500"/>
              </a:spcBef>
              <a:defRPr b="0"/>
            </a:lvl1pPr>
            <a:lvl2pPr marL="449263" indent="-177800">
              <a:spcBef>
                <a:spcPts val="300"/>
              </a:spcBef>
              <a:defRPr sz="2000"/>
            </a:lvl2pPr>
            <a:lvl3pPr marL="715963" indent="-182563">
              <a:spcBef>
                <a:spcPts val="300"/>
              </a:spcBef>
              <a:defRPr sz="2000"/>
            </a:lvl3pPr>
            <a:lvl4pPr marL="982663" indent="-177800">
              <a:spcBef>
                <a:spcPts val="300"/>
              </a:spcBef>
              <a:defRPr sz="1800"/>
            </a:lvl4pPr>
            <a:lvl5pPr marL="1258888" indent="-180975">
              <a:spcBef>
                <a:spcPts val="300"/>
              </a:spcBef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F1A0AD8A-38DB-7945-9F27-1403DED30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138" y="6569152"/>
            <a:ext cx="5171922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 altLang="zh-CN"/>
              <a:t>COMP6030: Lecture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82210-B053-F84E-ACE6-83682E39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1814" y="6538539"/>
            <a:ext cx="764849" cy="332656"/>
          </a:xfrm>
          <a:prstGeom prst="rect">
            <a:avLst/>
          </a:prstGeom>
        </p:spPr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7" y="908720"/>
            <a:ext cx="4270126" cy="5616624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271463" indent="-271463">
              <a:defRPr sz="2400"/>
            </a:lvl2pPr>
            <a:lvl3pPr marL="533400" indent="-261938">
              <a:defRPr sz="2000"/>
            </a:lvl3pPr>
            <a:lvl4pPr marL="804863" indent="-271463">
              <a:defRPr sz="2000"/>
            </a:lvl4pPr>
            <a:lvl5pPr marL="1077913" indent="-273050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656" y="908720"/>
            <a:ext cx="4138824" cy="5616624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  <a:lvl2pPr marL="271463" indent="-271463">
              <a:defRPr sz="2400"/>
            </a:lvl2pPr>
            <a:lvl3pPr marL="533400" indent="-261938">
              <a:defRPr sz="2000"/>
            </a:lvl3pPr>
            <a:lvl4pPr marL="804863" indent="-271463">
              <a:defRPr sz="2000"/>
            </a:lvl4pPr>
            <a:lvl5pPr marL="1077913" indent="-273050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3E46DB8-6C7E-BA45-B87B-FE2ACCDFE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138" y="6569152"/>
            <a:ext cx="5171922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 altLang="zh-CN"/>
              <a:t>COMP6030: Lecture 2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B05760E-95D4-9045-BE4A-7AB7ABE0F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1814" y="6538539"/>
            <a:ext cx="764849" cy="332656"/>
          </a:xfrm>
          <a:prstGeom prst="rect">
            <a:avLst/>
          </a:prstGeom>
        </p:spPr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E25F59A6-3F28-044F-A902-007817F9F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138" y="6569152"/>
            <a:ext cx="5171922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 altLang="zh-CN"/>
              <a:t>COMP6030: Lecture 2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E1F5377B-1428-5E4D-BAE8-AAC6970ED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1814" y="6538539"/>
            <a:ext cx="764849" cy="332656"/>
          </a:xfrm>
          <a:prstGeom prst="rect">
            <a:avLst/>
          </a:prstGeom>
        </p:spPr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E0413524-2CEF-5640-B597-B326A6C91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138" y="6569152"/>
            <a:ext cx="5171922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 altLang="zh-CN"/>
              <a:t>COMP6030: Lecture 2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9E513AF-0B8D-6D45-940C-D7CFE0BBE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1814" y="6538539"/>
            <a:ext cx="764849" cy="332656"/>
          </a:xfrm>
          <a:prstGeom prst="rect">
            <a:avLst/>
          </a:prstGeom>
        </p:spPr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204548" y="6520308"/>
            <a:ext cx="607348" cy="32385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84BA7540-B049-4DBE-B417-1755F31AF4C4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246153" y="6521874"/>
            <a:ext cx="4759892" cy="3436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altLang="zh-CN"/>
              <a:t>COMP6030: Lecture 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C6F494-13CA-CA46-885C-C0EB6527D896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0">
            <a:noFill/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1030" descr="OB PPT logo white 150"/>
          <p:cNvPicPr>
            <a:picLocks noChangeAspect="1" noChangeArrowheads="1"/>
          </p:cNvPicPr>
          <p:nvPr userDrawn="1"/>
        </p:nvPicPr>
        <p:blipFill rotWithShape="1">
          <a:blip r:embed="rId9" cstate="print"/>
          <a:srcRect l="87714" b="68237"/>
          <a:stretch/>
        </p:blipFill>
        <p:spPr bwMode="auto">
          <a:xfrm>
            <a:off x="7797800" y="304800"/>
            <a:ext cx="1035050" cy="4881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536" y="188641"/>
            <a:ext cx="8461127" cy="648072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95536" y="836712"/>
            <a:ext cx="8424936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F796491-8D03-3E4C-80A1-11D9B6AD4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91814" y="6538539"/>
            <a:ext cx="764849" cy="332656"/>
          </a:xfrm>
          <a:prstGeom prst="rect">
            <a:avLst/>
          </a:prstGeom>
        </p:spPr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435C51D-C810-C04C-9707-8A0E69144A41}"/>
              </a:ext>
            </a:extLst>
          </p:cNvPr>
          <p:cNvSpPr txBox="1">
            <a:spLocks/>
          </p:cNvSpPr>
          <p:nvPr userDrawn="1"/>
        </p:nvSpPr>
        <p:spPr>
          <a:xfrm>
            <a:off x="395536" y="6525344"/>
            <a:ext cx="1708837" cy="3326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973EFB-BCA2-E847-8722-D002CD461A6D}" type="datetime1">
              <a:rPr lang="en-GB" altLang="zh-CN" smtClean="0"/>
              <a:pPr/>
              <a:t>07/10/2023</a:t>
            </a:fld>
            <a:endParaRPr lang="en-US" altLang="zh-CN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B462D97-ED50-8642-A739-C27DE92AD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0138" y="6569152"/>
            <a:ext cx="5171922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GB" altLang="zh-CN"/>
              <a:t>COMP6030: Lecture 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 cap="none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pitchFamily="124" charset="-128"/>
        </a:defRPr>
      </a:lvl9pPr>
    </p:titleStyle>
    <p:bodyStyle>
      <a:lvl1pPr marL="180975" indent="-180975" algn="l" rtl="0" eaLnBrk="1" fontAlgn="base" hangingPunct="1">
        <a:spcBef>
          <a:spcPct val="20000"/>
        </a:spcBef>
        <a:spcAft>
          <a:spcPct val="0"/>
        </a:spcAft>
        <a:buFont typeface="Wingdings" pitchFamily="124" charset="2"/>
        <a:buChar char="§"/>
        <a:defRPr sz="2400" kern="1200">
          <a:solidFill>
            <a:schemeClr val="bg2"/>
          </a:solidFill>
          <a:latin typeface="+mn-lt"/>
          <a:ea typeface="+mn-ea"/>
          <a:cs typeface="+mn-cs"/>
        </a:defRPr>
      </a:lvl1pPr>
      <a:lvl2pPr marL="630238" indent="-173038" algn="l" rtl="0" eaLnBrk="1" fontAlgn="base" hangingPunct="1">
        <a:spcBef>
          <a:spcPct val="20000"/>
        </a:spcBef>
        <a:spcAft>
          <a:spcPct val="0"/>
        </a:spcAft>
        <a:buFont typeface="Wingdings" pitchFamily="124" charset="2"/>
        <a:buChar char="§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077913" indent="-163513" algn="l" rtl="0" eaLnBrk="1" fontAlgn="base" hangingPunct="1">
        <a:spcBef>
          <a:spcPct val="20000"/>
        </a:spcBef>
        <a:spcAft>
          <a:spcPct val="0"/>
        </a:spcAft>
        <a:buFont typeface="Wingdings" pitchFamily="124" charset="2"/>
        <a:buChar char="§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527175" indent="-155575" algn="l" rtl="0" eaLnBrk="1" fontAlgn="base" hangingPunct="1">
        <a:spcBef>
          <a:spcPct val="20000"/>
        </a:spcBef>
        <a:spcAft>
          <a:spcPct val="0"/>
        </a:spcAft>
        <a:buFont typeface="Wingdings" pitchFamily="124" charset="2"/>
        <a:buChar char="§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1974850" indent="-146050" algn="l" rtl="0" eaLnBrk="1" fontAlgn="base" hangingPunct="1">
        <a:spcBef>
          <a:spcPct val="20000"/>
        </a:spcBef>
        <a:spcAft>
          <a:spcPct val="0"/>
        </a:spcAft>
        <a:buFont typeface="Wingdings" pitchFamily="124" charset="2"/>
        <a:buChar char="§"/>
        <a:defRPr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Pert_example_gantt_chart.gif" TargetMode="External"/><Relationship Id="rId2" Type="http://schemas.openxmlformats.org/officeDocument/2006/relationships/hyperlink" Target="https://en.wikipedia.org/wiki/Engineering_Magazine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C7F4-044A-1E47-9F72-3C71627BE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000" dirty="0"/>
              <a:t>Software Engineering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265112-22A9-7A43-AA16-12661A3D3C1B}"/>
              </a:ext>
            </a:extLst>
          </p:cNvPr>
          <p:cNvSpPr/>
          <p:nvPr/>
        </p:nvSpPr>
        <p:spPr>
          <a:xfrm>
            <a:off x="323528" y="2241547"/>
            <a:ext cx="848775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600" b="1" dirty="0">
                <a:solidFill>
                  <a:srgbClr val="FFFFFF"/>
                </a:solidFill>
                <a:latin typeface="Arial" panose="020B0604020202020204" pitchFamily="34" charset="0"/>
              </a:rPr>
              <a:t>Lecture 2</a:t>
            </a:r>
          </a:p>
          <a:p>
            <a:pPr algn="ctr"/>
            <a:r>
              <a:rPr lang="en-US" altLang="en-US" sz="4400" b="1" dirty="0">
                <a:solidFill>
                  <a:srgbClr val="FFFFFF"/>
                </a:solidFill>
                <a:latin typeface="Arial" panose="020B0604020202020204" pitchFamily="34" charset="0"/>
              </a:rPr>
              <a:t>Software 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402723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768C036-E760-5B4B-8276-F6DDCE98B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Basic concepts of SE project management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2"/>
                </a:solidFill>
              </a:rPr>
              <a:t>The aspects of project management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2"/>
                </a:solidFill>
              </a:rPr>
              <a:t>The means of project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Risk management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2"/>
                </a:solidFill>
              </a:rPr>
              <a:t>Types of risks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2"/>
                </a:solidFill>
              </a:rPr>
              <a:t>Risk management activities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2"/>
                </a:solidFill>
              </a:rPr>
              <a:t>Risk assessment method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Project planning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2"/>
                </a:solidFill>
              </a:rPr>
              <a:t>Planning activities</a:t>
            </a:r>
          </a:p>
          <a:p>
            <a:pPr marL="914400" lvl="1" indent="-457200" algn="l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2"/>
                </a:solidFill>
              </a:rPr>
              <a:t>Project plan models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B14212-7BE1-3548-8AA0-BF9B6CB90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Today’s Learning Outcomes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EABE5-B70C-D44D-AB3E-99E03FC40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92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9D8A97C0-8B74-074E-9340-85D9C2363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800100" lvl="1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3200" dirty="0">
                <a:solidFill>
                  <a:schemeClr val="tx2"/>
                </a:solidFill>
              </a:rPr>
              <a:t>The aspects: what to be managed</a:t>
            </a:r>
          </a:p>
          <a:p>
            <a:pPr marL="800100" lvl="1" indent="-3429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3200" dirty="0">
                <a:solidFill>
                  <a:schemeClr val="tx2"/>
                </a:solidFill>
              </a:rPr>
              <a:t>The means: how to manage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5E7333-C515-3049-BAE7-B16EF4287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1. Basics of Project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439D0-E8BA-634E-A704-97F088316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6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43A8BC-C893-7F47-8855-3E517E36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 Aspects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F6639-CACD-8440-AFB5-8B228138F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908720"/>
            <a:ext cx="4122365" cy="554461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GB" sz="2600" dirty="0"/>
              <a:t>Resource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Human resources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b="0" dirty="0"/>
              <a:t>Tools (hardware and software)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Data 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b="0" dirty="0"/>
              <a:t>External components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External services</a:t>
            </a:r>
            <a:endParaRPr lang="en-GB" sz="2400" b="0" dirty="0"/>
          </a:p>
          <a:p>
            <a:pPr marL="342900" indent="-342900">
              <a:buFont typeface="Wingdings" pitchFamily="2" charset="2"/>
              <a:buChar char="Ø"/>
            </a:pPr>
            <a:r>
              <a:rPr lang="en-GB" sz="2600" dirty="0"/>
              <a:t>Asset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Products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b="0" dirty="0"/>
              <a:t>Intermediate results 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Goals and objectives</a:t>
            </a:r>
            <a:endParaRPr lang="en-GB" sz="2400" b="0" dirty="0"/>
          </a:p>
          <a:p>
            <a:pPr marL="342900" indent="-342900">
              <a:buFont typeface="Wingdings" pitchFamily="2" charset="2"/>
              <a:buChar char="Ø"/>
            </a:pPr>
            <a:r>
              <a:rPr lang="en-GB" sz="2600" dirty="0"/>
              <a:t>Risk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b="0" dirty="0"/>
              <a:t>Probability of occurrence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Consequences </a:t>
            </a:r>
            <a:endParaRPr lang="en-GB" sz="24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3A34E-C06E-1140-BB0D-B09E40EF693D}"/>
              </a:ext>
            </a:extLst>
          </p:cNvPr>
          <p:cNvSpPr txBox="1"/>
          <p:nvPr/>
        </p:nvSpPr>
        <p:spPr>
          <a:xfrm>
            <a:off x="4572000" y="3821511"/>
            <a:ext cx="4318000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/>
                </a:solidFill>
              </a:rPr>
              <a:t>Product management</a:t>
            </a:r>
          </a:p>
          <a:p>
            <a:r>
              <a:rPr lang="en-GB" sz="2400" dirty="0">
                <a:solidFill>
                  <a:schemeClr val="accent5"/>
                </a:solidFill>
              </a:rPr>
              <a:t>Quality management</a:t>
            </a:r>
          </a:p>
          <a:p>
            <a:r>
              <a:rPr lang="en-GB" sz="2400" dirty="0">
                <a:solidFill>
                  <a:schemeClr val="accent5"/>
                </a:solidFill>
              </a:rPr>
              <a:t>Configuration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Change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/>
                </a:solidFill>
              </a:rPr>
              <a:t>Builds and baseline</a:t>
            </a:r>
          </a:p>
          <a:p>
            <a:r>
              <a:rPr lang="en-GB" sz="2400" dirty="0">
                <a:solidFill>
                  <a:schemeClr val="accent5"/>
                </a:solidFill>
              </a:rPr>
              <a:t>Risk management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DF8BB20-C955-3F4C-8563-552B01BB56DD}"/>
              </a:ext>
            </a:extLst>
          </p:cNvPr>
          <p:cNvSpPr txBox="1">
            <a:spLocks/>
          </p:cNvSpPr>
          <p:nvPr/>
        </p:nvSpPr>
        <p:spPr bwMode="auto">
          <a:xfrm>
            <a:off x="4538663" y="908720"/>
            <a:ext cx="4318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180975" indent="-180975" algn="l" rtl="0" eaLnBrk="1" fontAlgn="base" hangingPunct="1">
              <a:spcBef>
                <a:spcPts val="1500"/>
              </a:spcBef>
              <a:spcAft>
                <a:spcPct val="0"/>
              </a:spcAft>
              <a:buFont typeface="Wingdings" pitchFamily="124" charset="2"/>
              <a:buChar char="§"/>
              <a:defRPr sz="24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49263" indent="-177800" algn="l" rtl="0" eaLnBrk="1" fontAlgn="base" hangingPunct="1">
              <a:spcBef>
                <a:spcPts val="300"/>
              </a:spcBef>
              <a:spcAft>
                <a:spcPct val="0"/>
              </a:spcAft>
              <a:buFont typeface="Wingdings" pitchFamily="124" charset="2"/>
              <a:buChar char="§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715963" indent="-182563" algn="l" rtl="0" eaLnBrk="1" fontAlgn="base" hangingPunct="1">
              <a:spcBef>
                <a:spcPts val="300"/>
              </a:spcBef>
              <a:spcAft>
                <a:spcPct val="0"/>
              </a:spcAft>
              <a:buFont typeface="Wingdings" pitchFamily="124" charset="2"/>
              <a:buChar char="§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82663" indent="-177800" algn="l" rtl="0" eaLnBrk="1" fontAlgn="base" hangingPunct="1">
              <a:spcBef>
                <a:spcPts val="300"/>
              </a:spcBef>
              <a:spcAft>
                <a:spcPct val="0"/>
              </a:spcAft>
              <a:buFont typeface="Wingdings" pitchFamily="124" charset="2"/>
              <a:buChar char="§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258888" indent="-180975" algn="l" rtl="0" eaLnBrk="1" fontAlgn="base" hangingPunct="1">
              <a:spcBef>
                <a:spcPts val="300"/>
              </a:spcBef>
              <a:spcAft>
                <a:spcPct val="0"/>
              </a:spcAft>
              <a:buFont typeface="Wingdings" pitchFamily="124" charset="2"/>
              <a:buChar char="§"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itchFamily="2" charset="2"/>
              <a:buChar char="Ø"/>
            </a:pPr>
            <a:r>
              <a:rPr lang="en-GB" sz="2800" dirty="0"/>
              <a:t>Process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Overall model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Mechanisms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800" dirty="0"/>
              <a:t>Users and market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User feedback channels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Product ecosystem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C80C51-169F-2349-B23A-95189603F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7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43A8BC-C893-7F47-8855-3E517E36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 Means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AFAB88-5A66-264B-AFE9-4AE352F96F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GB" sz="2600" dirty="0"/>
              <a:t>Facilitating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b="0" dirty="0"/>
              <a:t>Staff training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b="0" dirty="0"/>
              <a:t>Subcontracting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dirty="0"/>
              <a:t>Purchasing external resources (e.g. open source and COST)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400" b="0" dirty="0"/>
              <a:t>Installation of tools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600" dirty="0"/>
              <a:t>Decision making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Organisational structure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b="0" dirty="0"/>
              <a:t>Responsibility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Procedures 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Mechanisms</a:t>
            </a:r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AB79C-6328-714E-81C4-B22E82D6C9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GB" sz="2600" dirty="0"/>
              <a:t>Planning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Schedule (time)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Resource allocation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Definition of progress and milestones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600" dirty="0"/>
              <a:t>Monitoring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Qualitative </a:t>
            </a:r>
          </a:p>
          <a:p>
            <a:pPr marL="539750" lvl="1" indent="-268288">
              <a:buFont typeface="Arial" panose="020B0604020202020204" pitchFamily="34" charset="0"/>
              <a:buChar char="•"/>
            </a:pPr>
            <a:r>
              <a:rPr lang="en-GB" dirty="0"/>
              <a:t>Quantitative (metrics) </a:t>
            </a:r>
          </a:p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B55A4-60C0-0F4F-893F-931E2C5D5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9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7246BCB3-8729-EB42-AC82-5516D7AD1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9" y="2070100"/>
            <a:ext cx="8533134" cy="4475163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GB" sz="3200" b="0" dirty="0"/>
              <a:t>The cause of risks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GB" sz="3200" b="0" dirty="0"/>
              <a:t>Classification of risks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GB" sz="3200" b="0" dirty="0"/>
              <a:t>Risk management activities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GB" sz="3200" b="0" dirty="0"/>
              <a:t>Risk assessment method</a:t>
            </a:r>
          </a:p>
          <a:p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3697692-1CD5-BA4C-9FF3-23FDC8791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2. Risk Management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4F5A2-BD32-9747-850E-ED0232658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61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A6A3-D0A9-3941-A713-2970AB92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Risks and 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E0E1F-E93F-9740-8F09-150B8D40D9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algn="ctr"/>
            <a:r>
              <a:rPr lang="en-GB" sz="3100" dirty="0"/>
              <a:t>Lehman’s SW Uncertainty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dirty="0"/>
              <a:t>Pragmatic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Human resource lost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Human errors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Technical shortage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Technical flaw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dirty="0" err="1"/>
              <a:t>Godel</a:t>
            </a:r>
            <a:r>
              <a:rPr lang="en-GB" dirty="0"/>
              <a:t>-like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Incorrect understanding of users’ requirements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Document errors (e.g. incompleteness and inconsistency)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dirty="0"/>
              <a:t>Heisenberg-like 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User requirements change</a:t>
            </a:r>
          </a:p>
          <a:p>
            <a:pPr marL="614363" lvl="1" indent="-342900">
              <a:buFont typeface="Arial" panose="020B0604020202020204" pitchFamily="34" charset="0"/>
              <a:buChar char="•"/>
            </a:pPr>
            <a:r>
              <a:rPr lang="en-GB" dirty="0"/>
              <a:t>Social, legal and environment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B36E0-7A24-1E43-BCDD-5F348FA541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algn="ctr"/>
            <a:r>
              <a:rPr lang="en-GB" sz="3100" dirty="0"/>
              <a:t>Typical SE Risks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Lost of project key persons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Major design flaws detected at late stage of development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Crucial coding bugs cannot be fixed in time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Lack of familiarity of a new but crucial technique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External component has flaws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Major oversight of users’ requirements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Documentation, data and code lost due to human error and/or infrastructure failure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Client request of major requirements change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Change in legislation that have negative impact on main function of the SW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Market change due to rival product to the market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300" b="0" dirty="0"/>
              <a:t>Change in economic circumstance </a:t>
            </a:r>
          </a:p>
          <a:p>
            <a:pPr marL="342900" indent="-342900">
              <a:buFont typeface="Wingdings" pitchFamily="2" charset="2"/>
              <a:buChar char="Ø"/>
            </a:pPr>
            <a:endParaRPr lang="en-GB" b="0" dirty="0"/>
          </a:p>
          <a:p>
            <a:pPr marL="342900" indent="-342900">
              <a:buFont typeface="Wingdings" pitchFamily="2" charset="2"/>
              <a:buChar char="Ø"/>
            </a:pPr>
            <a:endParaRPr lang="en-GB" b="0" dirty="0"/>
          </a:p>
          <a:p>
            <a:pPr marL="342900" indent="-342900">
              <a:buFont typeface="Wingdings" pitchFamily="2" charset="2"/>
              <a:buChar char="Ø"/>
            </a:pPr>
            <a:endParaRPr lang="en-GB" b="0" dirty="0"/>
          </a:p>
          <a:p>
            <a:pPr marL="342900" indent="-342900">
              <a:buFont typeface="Wingdings" pitchFamily="2" charset="2"/>
              <a:buChar char="Ø"/>
            </a:pPr>
            <a:endParaRPr lang="en-GB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01111-59FD-5A44-B6DF-48C17AC15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7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D61E93-E695-A84E-9D83-F93663D6B4E6}"/>
              </a:ext>
            </a:extLst>
          </p:cNvPr>
          <p:cNvCxnSpPr/>
          <p:nvPr/>
        </p:nvCxnSpPr>
        <p:spPr>
          <a:xfrm flipV="1">
            <a:off x="3390900" y="1371600"/>
            <a:ext cx="1371600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E0F4FC-6254-4B4A-ACA4-6E93E3B876C6}"/>
              </a:ext>
            </a:extLst>
          </p:cNvPr>
          <p:cNvCxnSpPr>
            <a:cxnSpLocks/>
          </p:cNvCxnSpPr>
          <p:nvPr/>
        </p:nvCxnSpPr>
        <p:spPr>
          <a:xfrm flipV="1">
            <a:off x="2679700" y="1676400"/>
            <a:ext cx="2082800" cy="330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D07730-2287-7240-9CA9-D9816CB4995D}"/>
              </a:ext>
            </a:extLst>
          </p:cNvPr>
          <p:cNvCxnSpPr>
            <a:cxnSpLocks/>
          </p:cNvCxnSpPr>
          <p:nvPr/>
        </p:nvCxnSpPr>
        <p:spPr>
          <a:xfrm>
            <a:off x="2679700" y="2006600"/>
            <a:ext cx="2082800" cy="1651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9AF2605-109B-8143-A0DA-AA48036D129C}"/>
              </a:ext>
            </a:extLst>
          </p:cNvPr>
          <p:cNvCxnSpPr>
            <a:cxnSpLocks/>
          </p:cNvCxnSpPr>
          <p:nvPr/>
        </p:nvCxnSpPr>
        <p:spPr>
          <a:xfrm>
            <a:off x="3187700" y="2324100"/>
            <a:ext cx="1565956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8941B4-BFF4-1047-9A81-AC8142CBF3B4}"/>
              </a:ext>
            </a:extLst>
          </p:cNvPr>
          <p:cNvCxnSpPr>
            <a:cxnSpLocks/>
          </p:cNvCxnSpPr>
          <p:nvPr/>
        </p:nvCxnSpPr>
        <p:spPr>
          <a:xfrm>
            <a:off x="2679700" y="2628900"/>
            <a:ext cx="2029959" cy="43197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F55876-71E7-9249-A232-DA74DF571117}"/>
              </a:ext>
            </a:extLst>
          </p:cNvPr>
          <p:cNvCxnSpPr>
            <a:cxnSpLocks/>
          </p:cNvCxnSpPr>
          <p:nvPr/>
        </p:nvCxnSpPr>
        <p:spPr>
          <a:xfrm>
            <a:off x="3390900" y="3327400"/>
            <a:ext cx="1371600" cy="101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88147A-9E1C-D546-AF5F-AAEA7350E0CA}"/>
              </a:ext>
            </a:extLst>
          </p:cNvPr>
          <p:cNvCxnSpPr>
            <a:cxnSpLocks/>
          </p:cNvCxnSpPr>
          <p:nvPr/>
        </p:nvCxnSpPr>
        <p:spPr>
          <a:xfrm>
            <a:off x="3390900" y="3835400"/>
            <a:ext cx="1362756" cy="101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D5234D-DB23-FC4D-A25B-DC955ABC38FC}"/>
              </a:ext>
            </a:extLst>
          </p:cNvPr>
          <p:cNvCxnSpPr>
            <a:cxnSpLocks/>
          </p:cNvCxnSpPr>
          <p:nvPr/>
        </p:nvCxnSpPr>
        <p:spPr>
          <a:xfrm flipV="1">
            <a:off x="3937000" y="4597400"/>
            <a:ext cx="825500" cy="8890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BDAADF-B971-C940-B29D-602329F6A9E9}"/>
              </a:ext>
            </a:extLst>
          </p:cNvPr>
          <p:cNvCxnSpPr>
            <a:cxnSpLocks/>
          </p:cNvCxnSpPr>
          <p:nvPr/>
        </p:nvCxnSpPr>
        <p:spPr>
          <a:xfrm>
            <a:off x="4254500" y="4994351"/>
            <a:ext cx="499156" cy="907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6BB62B0-9681-6B4A-9BA8-A8D5D2485276}"/>
              </a:ext>
            </a:extLst>
          </p:cNvPr>
          <p:cNvCxnSpPr>
            <a:cxnSpLocks/>
          </p:cNvCxnSpPr>
          <p:nvPr/>
        </p:nvCxnSpPr>
        <p:spPr>
          <a:xfrm>
            <a:off x="3390900" y="5157130"/>
            <a:ext cx="1318760" cy="60867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8333F0-D8B6-5544-ACC4-1E26A0F29CEF}"/>
              </a:ext>
            </a:extLst>
          </p:cNvPr>
          <p:cNvCxnSpPr>
            <a:cxnSpLocks/>
          </p:cNvCxnSpPr>
          <p:nvPr/>
        </p:nvCxnSpPr>
        <p:spPr>
          <a:xfrm>
            <a:off x="3187700" y="5181600"/>
            <a:ext cx="1521959" cy="10194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906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FF410D-30B6-DD45-A521-234A707B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Classification of SE Risks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8C32D8-F972-2B4E-984E-0E5B2912D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Project risks</a:t>
            </a:r>
          </a:p>
          <a:p>
            <a:pPr lvl="1"/>
            <a:r>
              <a:rPr lang="en-GB" dirty="0"/>
              <a:t>Risks that affect the project schedule and resources</a:t>
            </a:r>
          </a:p>
          <a:p>
            <a:pPr lvl="1"/>
            <a:r>
              <a:rPr lang="en-GB" dirty="0"/>
              <a:t>Example: The loss of an experienced designer</a:t>
            </a:r>
          </a:p>
          <a:p>
            <a:r>
              <a:rPr lang="en-GB" dirty="0"/>
              <a:t>Product risks</a:t>
            </a:r>
          </a:p>
          <a:p>
            <a:pPr lvl="1"/>
            <a:r>
              <a:rPr lang="en-GB" dirty="0"/>
              <a:t>Risks that affect the quality and/or performance of the software being developed</a:t>
            </a:r>
          </a:p>
          <a:p>
            <a:pPr lvl="1"/>
            <a:r>
              <a:rPr lang="en-GB" dirty="0"/>
              <a:t>Example: A purchased component fails to perform as expected</a:t>
            </a:r>
          </a:p>
          <a:p>
            <a:r>
              <a:rPr lang="en-GB" dirty="0"/>
              <a:t>Business risks</a:t>
            </a:r>
          </a:p>
          <a:p>
            <a:pPr lvl="1"/>
            <a:r>
              <a:rPr lang="en-GB" dirty="0"/>
              <a:t>Risks that affect the organisation developing or procuring the software</a:t>
            </a:r>
          </a:p>
          <a:p>
            <a:pPr lvl="1"/>
            <a:r>
              <a:rPr lang="en-GB" dirty="0"/>
              <a:t>Example: A competitor introduces a new product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45A2-C6EB-6043-87C9-D93F71C30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10532-DA2A-FC4E-BB25-B07D853B2210}"/>
              </a:ext>
            </a:extLst>
          </p:cNvPr>
          <p:cNvSpPr txBox="1"/>
          <p:nvPr/>
        </p:nvSpPr>
        <p:spPr>
          <a:xfrm>
            <a:off x="395536" y="4849415"/>
            <a:ext cx="8316664" cy="1631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Risk types overlap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</a:rPr>
              <a:t>: </a:t>
            </a:r>
          </a:p>
          <a:p>
            <a:pPr lvl="1"/>
            <a:r>
              <a:rPr lang="en-GB" sz="2000" dirty="0">
                <a:solidFill>
                  <a:schemeClr val="accent5">
                    <a:lumMod val="75000"/>
                  </a:schemeClr>
                </a:solidFill>
              </a:rPr>
              <a:t>One risk may have impacts on more than one aspects</a:t>
            </a:r>
          </a:p>
          <a:p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Example: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5">
                    <a:lumMod val="75000"/>
                  </a:schemeClr>
                </a:solidFill>
              </a:rPr>
              <a:t>Requirements change may have impact on both project schedule and product quality </a:t>
            </a:r>
          </a:p>
        </p:txBody>
      </p:sp>
    </p:spTree>
    <p:extLst>
      <p:ext uri="{BB962C8B-B14F-4D97-AF65-F5344CB8AC3E}">
        <p14:creationId xmlns:p14="http://schemas.microsoft.com/office/powerpoint/2010/main" val="4496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21D6-DFF5-3741-8068-5CC06340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Risk Management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EC5C9-C574-C447-8025-D3852FFA7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791205"/>
            <a:ext cx="8461126" cy="342519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 dirty="0"/>
              <a:t>Risk identification</a:t>
            </a:r>
          </a:p>
          <a:p>
            <a:pPr lvl="1">
              <a:spcBef>
                <a:spcPts val="0"/>
              </a:spcBef>
            </a:pPr>
            <a:r>
              <a:rPr lang="en-GB" dirty="0"/>
              <a:t>To identify the possible risks to the project, product and business</a:t>
            </a:r>
          </a:p>
          <a:p>
            <a:pPr>
              <a:spcBef>
                <a:spcPts val="0"/>
              </a:spcBef>
            </a:pPr>
            <a:r>
              <a:rPr lang="en-GB" dirty="0"/>
              <a:t>Risk analysis/assessment</a:t>
            </a:r>
          </a:p>
          <a:p>
            <a:pPr lvl="1">
              <a:spcBef>
                <a:spcPts val="0"/>
              </a:spcBef>
            </a:pPr>
            <a:r>
              <a:rPr lang="en-GB" dirty="0"/>
              <a:t>To assess the likelihood and consequences of identified risks</a:t>
            </a:r>
          </a:p>
          <a:p>
            <a:pPr>
              <a:spcBef>
                <a:spcPts val="0"/>
              </a:spcBef>
            </a:pPr>
            <a:r>
              <a:rPr lang="en-GB" dirty="0"/>
              <a:t>Risk planning</a:t>
            </a:r>
          </a:p>
          <a:p>
            <a:pPr lvl="1">
              <a:spcBef>
                <a:spcPts val="0"/>
              </a:spcBef>
            </a:pPr>
            <a:r>
              <a:rPr lang="en-GB" dirty="0"/>
              <a:t>To address the identified risks (especially the high risky ones) </a:t>
            </a:r>
          </a:p>
          <a:p>
            <a:pPr lvl="2">
              <a:spcBef>
                <a:spcPts val="0"/>
              </a:spcBef>
            </a:pPr>
            <a:r>
              <a:rPr lang="en-GB" dirty="0"/>
              <a:t>Avoiding and preventing the occurrence</a:t>
            </a:r>
          </a:p>
          <a:p>
            <a:pPr lvl="2">
              <a:spcBef>
                <a:spcPts val="0"/>
              </a:spcBef>
            </a:pPr>
            <a:r>
              <a:rPr lang="en-GB" dirty="0"/>
              <a:t>Minimising the impact </a:t>
            </a:r>
          </a:p>
          <a:p>
            <a:pPr>
              <a:spcBef>
                <a:spcPts val="0"/>
              </a:spcBef>
            </a:pPr>
            <a:r>
              <a:rPr lang="en-GB" dirty="0"/>
              <a:t>Risk monitoring </a:t>
            </a:r>
          </a:p>
          <a:p>
            <a:pPr lvl="1">
              <a:spcBef>
                <a:spcPts val="0"/>
              </a:spcBef>
            </a:pPr>
            <a:r>
              <a:rPr lang="en-GB" dirty="0"/>
              <a:t>To regularly re-assess the risks and to revise risk plans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05BF3-F93D-7A40-BC79-4CC4CECD7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9</a:t>
            </a:fld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B06A79-FEBD-C64A-9C46-66B7D825F873}"/>
              </a:ext>
            </a:extLst>
          </p:cNvPr>
          <p:cNvSpPr/>
          <p:nvPr/>
        </p:nvSpPr>
        <p:spPr>
          <a:xfrm>
            <a:off x="395536" y="4605906"/>
            <a:ext cx="1816100" cy="677293"/>
          </a:xfrm>
          <a:prstGeom prst="roundRect">
            <a:avLst/>
          </a:prstGeom>
          <a:ln w="28575">
            <a:solidFill>
              <a:schemeClr val="tx2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Risk Identification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D1CD80-FD90-C14A-85D2-A5D761F3640A}"/>
              </a:ext>
            </a:extLst>
          </p:cNvPr>
          <p:cNvSpPr/>
          <p:nvPr/>
        </p:nvSpPr>
        <p:spPr>
          <a:xfrm>
            <a:off x="2658279" y="4605906"/>
            <a:ext cx="1816100" cy="677293"/>
          </a:xfrm>
          <a:prstGeom prst="roundRect">
            <a:avLst/>
          </a:prstGeom>
          <a:ln w="28575">
            <a:solidFill>
              <a:schemeClr val="tx2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Risk     Analysis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CE50A4B-A64F-D34D-9B5D-E55DE2DD2B0D}"/>
              </a:ext>
            </a:extLst>
          </p:cNvPr>
          <p:cNvSpPr/>
          <p:nvPr/>
        </p:nvSpPr>
        <p:spPr>
          <a:xfrm>
            <a:off x="4921022" y="4605906"/>
            <a:ext cx="1816100" cy="677293"/>
          </a:xfrm>
          <a:prstGeom prst="roundRect">
            <a:avLst/>
          </a:prstGeom>
          <a:ln w="28575">
            <a:solidFill>
              <a:schemeClr val="tx2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Risk    Planning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159A3B-D292-414B-AAF5-2EB5113B0AFE}"/>
              </a:ext>
            </a:extLst>
          </p:cNvPr>
          <p:cNvSpPr/>
          <p:nvPr/>
        </p:nvSpPr>
        <p:spPr>
          <a:xfrm>
            <a:off x="7183764" y="4605906"/>
            <a:ext cx="1816100" cy="677293"/>
          </a:xfrm>
          <a:prstGeom prst="roundRect">
            <a:avLst/>
          </a:prstGeom>
          <a:ln w="28575">
            <a:solidFill>
              <a:schemeClr val="tx2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Risk Monitoring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214D53-D99D-0F43-AC45-393485A3F05B}"/>
              </a:ext>
            </a:extLst>
          </p:cNvPr>
          <p:cNvSpPr/>
          <p:nvPr/>
        </p:nvSpPr>
        <p:spPr>
          <a:xfrm>
            <a:off x="395536" y="5664200"/>
            <a:ext cx="1816100" cy="677292"/>
          </a:xfrm>
          <a:prstGeom prst="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A list of potential risks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99917A-2D68-BA40-9F92-60C2A3E35294}"/>
              </a:ext>
            </a:extLst>
          </p:cNvPr>
          <p:cNvSpPr/>
          <p:nvPr/>
        </p:nvSpPr>
        <p:spPr>
          <a:xfrm>
            <a:off x="2658279" y="5662241"/>
            <a:ext cx="1816100" cy="677292"/>
          </a:xfrm>
          <a:prstGeom prst="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A prioritized risk 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538176-C376-1242-8AB9-288D1669DB01}"/>
              </a:ext>
            </a:extLst>
          </p:cNvPr>
          <p:cNvSpPr/>
          <p:nvPr/>
        </p:nvSpPr>
        <p:spPr>
          <a:xfrm>
            <a:off x="4717822" y="5674941"/>
            <a:ext cx="2222500" cy="677292"/>
          </a:xfrm>
          <a:prstGeom prst="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Risk avoidance and contingency plan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751638-F13F-6744-B4E5-23E61EA85A83}"/>
              </a:ext>
            </a:extLst>
          </p:cNvPr>
          <p:cNvSpPr/>
          <p:nvPr/>
        </p:nvSpPr>
        <p:spPr>
          <a:xfrm>
            <a:off x="7323464" y="5662241"/>
            <a:ext cx="1536700" cy="677292"/>
          </a:xfrm>
          <a:prstGeom prst="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Risk assessment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7F351CA-93FC-D341-A860-445D2A61BF54}"/>
              </a:ext>
            </a:extLst>
          </p:cNvPr>
          <p:cNvSpPr/>
          <p:nvPr/>
        </p:nvSpPr>
        <p:spPr>
          <a:xfrm>
            <a:off x="3517900" y="4330700"/>
            <a:ext cx="4572000" cy="304800"/>
          </a:xfrm>
          <a:custGeom>
            <a:avLst/>
            <a:gdLst>
              <a:gd name="connsiteX0" fmla="*/ 4572000 w 4572000"/>
              <a:gd name="connsiteY0" fmla="*/ 228600 h 266700"/>
              <a:gd name="connsiteX1" fmla="*/ 4572000 w 4572000"/>
              <a:gd name="connsiteY1" fmla="*/ 0 h 266700"/>
              <a:gd name="connsiteX2" fmla="*/ 0 w 4572000"/>
              <a:gd name="connsiteY2" fmla="*/ 12700 h 266700"/>
              <a:gd name="connsiteX3" fmla="*/ 12700 w 4572000"/>
              <a:gd name="connsiteY3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266700">
                <a:moveTo>
                  <a:pt x="4572000" y="228600"/>
                </a:moveTo>
                <a:lnTo>
                  <a:pt x="4572000" y="0"/>
                </a:lnTo>
                <a:lnTo>
                  <a:pt x="0" y="12700"/>
                </a:lnTo>
                <a:lnTo>
                  <a:pt x="12700" y="266700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300A1F-8BBE-5343-85B4-E6105AB664F9}"/>
              </a:ext>
            </a:extLst>
          </p:cNvPr>
          <p:cNvCxnSpPr>
            <a:stCxn id="6" idx="2"/>
            <a:endCxn id="11" idx="0"/>
          </p:cNvCxnSpPr>
          <p:nvPr/>
        </p:nvCxnSpPr>
        <p:spPr>
          <a:xfrm>
            <a:off x="1303586" y="5283199"/>
            <a:ext cx="0" cy="381001"/>
          </a:xfrm>
          <a:prstGeom prst="straightConnector1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037D10-2125-A94D-ABCE-79D1615CBAC1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3566329" y="5283199"/>
            <a:ext cx="0" cy="379042"/>
          </a:xfrm>
          <a:prstGeom prst="straightConnector1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543FE8-912A-6949-8CB4-5C2DB3F29A2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5829072" y="5283199"/>
            <a:ext cx="0" cy="391742"/>
          </a:xfrm>
          <a:prstGeom prst="straightConnector1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FA7C8A-B18F-1F44-AF69-16F0A8970D7F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8091814" y="5283199"/>
            <a:ext cx="0" cy="379042"/>
          </a:xfrm>
          <a:prstGeom prst="straightConnector1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50F5108-1700-3D49-8B7B-C5FFAF37F15E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211636" y="4944553"/>
            <a:ext cx="446643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5113FE-4A87-C440-BC0B-FBC6AA53061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474379" y="4944553"/>
            <a:ext cx="446643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3C0127-4EC1-7D40-9B5F-3C10345B137E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737122" y="4944553"/>
            <a:ext cx="446642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110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6D80-71E9-1544-8D30-28A614AB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Risk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4650F-867F-C14B-80B6-999C4F036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Systematic search for potential hazard to the project, product and the business</a:t>
            </a:r>
          </a:p>
          <a:p>
            <a:pPr>
              <a:spcBef>
                <a:spcPts val="300"/>
              </a:spcBef>
              <a:buFont typeface="Wingdings" pitchFamily="2" charset="2"/>
              <a:buChar char="Ø"/>
            </a:pPr>
            <a:r>
              <a:rPr lang="en-GB" dirty="0"/>
              <a:t>What-if hazard analysis: </a:t>
            </a:r>
          </a:p>
          <a:p>
            <a:pPr lvl="1"/>
            <a:r>
              <a:rPr lang="en-GB" dirty="0"/>
              <a:t>Asking what-if questions for what might happen and what are the consequences</a:t>
            </a:r>
          </a:p>
          <a:p>
            <a:pPr>
              <a:spcBef>
                <a:spcPts val="300"/>
              </a:spcBef>
              <a:buFont typeface="Wingdings" pitchFamily="2" charset="2"/>
              <a:buChar char="Ø"/>
            </a:pPr>
            <a:r>
              <a:rPr lang="en-GB" dirty="0"/>
              <a:t>Failure-mode analysis: </a:t>
            </a:r>
          </a:p>
          <a:p>
            <a:pPr lvl="1"/>
            <a:r>
              <a:rPr lang="en-GB" dirty="0"/>
              <a:t>Borrow other project’s and previous projects’ knowledge and experiences as common failure modes of the project</a:t>
            </a:r>
          </a:p>
          <a:p>
            <a:pPr lvl="1"/>
            <a:r>
              <a:rPr lang="en-GB" dirty="0"/>
              <a:t>Examples of common failure modes: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800" dirty="0"/>
              <a:t>Technology failures: e.g. key technology failed to perform as expected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800" dirty="0"/>
              <a:t>People failures: e.g. loss of key developers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800" dirty="0"/>
              <a:t>Organisational failure: e.g. organisation restructuring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800" dirty="0"/>
              <a:t>Tool failure: e.g. compiler bugs, code repository crashes,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800" dirty="0"/>
              <a:t>Requirements issues: e.g. frequent change of user requirements;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800" dirty="0"/>
              <a:t>Cost estimation failure: e.g. underestimated development cost;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800" dirty="0"/>
              <a:t>Planning failure: e.g. underestimated the time need to finish a key task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EF98C-A078-4E42-9100-C10099543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3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92DA-F533-1841-A978-3A181257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Risk Assessment Chart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776F73F-0E39-6043-8C6B-577A9A61A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399219"/>
              </p:ext>
            </p:extLst>
          </p:nvPr>
        </p:nvGraphicFramePr>
        <p:xfrm>
          <a:off x="2209800" y="1683190"/>
          <a:ext cx="5171920" cy="384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384">
                  <a:extLst>
                    <a:ext uri="{9D8B030D-6E8A-4147-A177-3AD203B41FA5}">
                      <a16:colId xmlns:a16="http://schemas.microsoft.com/office/drawing/2014/main" val="1957047682"/>
                    </a:ext>
                  </a:extLst>
                </a:gridCol>
                <a:gridCol w="1034384">
                  <a:extLst>
                    <a:ext uri="{9D8B030D-6E8A-4147-A177-3AD203B41FA5}">
                      <a16:colId xmlns:a16="http://schemas.microsoft.com/office/drawing/2014/main" val="4021247376"/>
                    </a:ext>
                  </a:extLst>
                </a:gridCol>
                <a:gridCol w="1034384">
                  <a:extLst>
                    <a:ext uri="{9D8B030D-6E8A-4147-A177-3AD203B41FA5}">
                      <a16:colId xmlns:a16="http://schemas.microsoft.com/office/drawing/2014/main" val="2901458849"/>
                    </a:ext>
                  </a:extLst>
                </a:gridCol>
                <a:gridCol w="1034384">
                  <a:extLst>
                    <a:ext uri="{9D8B030D-6E8A-4147-A177-3AD203B41FA5}">
                      <a16:colId xmlns:a16="http://schemas.microsoft.com/office/drawing/2014/main" val="2511563633"/>
                    </a:ext>
                  </a:extLst>
                </a:gridCol>
                <a:gridCol w="1034384">
                  <a:extLst>
                    <a:ext uri="{9D8B030D-6E8A-4147-A177-3AD203B41FA5}">
                      <a16:colId xmlns:a16="http://schemas.microsoft.com/office/drawing/2014/main" val="3851614318"/>
                    </a:ext>
                  </a:extLst>
                </a:gridCol>
              </a:tblGrid>
              <a:tr h="789358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>
                        <a:highlight>
                          <a:srgbClr val="008000"/>
                        </a:highlight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92821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05605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70679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635786"/>
                  </a:ext>
                </a:extLst>
              </a:tr>
              <a:tr h="753252"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GB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69026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F7304-5E94-C141-910D-F8F5BED86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11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021125-4D7A-6C4D-93D3-5A1F7F7A8E1B}"/>
              </a:ext>
            </a:extLst>
          </p:cNvPr>
          <p:cNvCxnSpPr/>
          <p:nvPr/>
        </p:nvCxnSpPr>
        <p:spPr>
          <a:xfrm>
            <a:off x="2209800" y="1485900"/>
            <a:ext cx="5171920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55B3D0-4A8F-2543-BD5A-2A84C3CCA224}"/>
              </a:ext>
            </a:extLst>
          </p:cNvPr>
          <p:cNvCxnSpPr>
            <a:cxnSpLocks/>
          </p:cNvCxnSpPr>
          <p:nvPr/>
        </p:nvCxnSpPr>
        <p:spPr>
          <a:xfrm>
            <a:off x="1993900" y="1683190"/>
            <a:ext cx="0" cy="384131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65FDF5D-5E09-A94A-997C-0D5F21F24EEA}"/>
              </a:ext>
            </a:extLst>
          </p:cNvPr>
          <p:cNvSpPr txBox="1"/>
          <p:nvPr/>
        </p:nvSpPr>
        <p:spPr>
          <a:xfrm rot="5400000">
            <a:off x="222251" y="3581400"/>
            <a:ext cx="275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Consequence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A95844-5D61-9747-A597-60CF8435B21D}"/>
              </a:ext>
            </a:extLst>
          </p:cNvPr>
          <p:cNvSpPr txBox="1"/>
          <p:nvPr/>
        </p:nvSpPr>
        <p:spPr>
          <a:xfrm>
            <a:off x="3270251" y="1015706"/>
            <a:ext cx="275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Likelihood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42151D-1855-494B-A9EF-8229F6B09E97}"/>
              </a:ext>
            </a:extLst>
          </p:cNvPr>
          <p:cNvSpPr txBox="1"/>
          <p:nvPr/>
        </p:nvSpPr>
        <p:spPr>
          <a:xfrm>
            <a:off x="1905000" y="1066137"/>
            <a:ext cx="11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43CCD-A8B7-E64D-A6B8-5A984BC62101}"/>
              </a:ext>
            </a:extLst>
          </p:cNvPr>
          <p:cNvSpPr txBox="1"/>
          <p:nvPr/>
        </p:nvSpPr>
        <p:spPr>
          <a:xfrm>
            <a:off x="6421742" y="1046232"/>
            <a:ext cx="11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High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84B614-822C-1B4C-8C7D-E8D05F76DF0A}"/>
              </a:ext>
            </a:extLst>
          </p:cNvPr>
          <p:cNvSpPr txBox="1"/>
          <p:nvPr/>
        </p:nvSpPr>
        <p:spPr>
          <a:xfrm>
            <a:off x="883165" y="1728787"/>
            <a:ext cx="11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2B7A1-20BC-4B49-BBD4-F3D035BBB9E1}"/>
              </a:ext>
            </a:extLst>
          </p:cNvPr>
          <p:cNvSpPr txBox="1"/>
          <p:nvPr/>
        </p:nvSpPr>
        <p:spPr>
          <a:xfrm>
            <a:off x="828417" y="5207337"/>
            <a:ext cx="11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233334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2DB4D1CA-F512-D346-BC74-DA6E07C98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9" y="2082800"/>
            <a:ext cx="8533134" cy="4462463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GB" sz="3200" b="0" dirty="0"/>
              <a:t>Planning activities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GB" sz="3200" b="0" dirty="0"/>
              <a:t>Plan models/documents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DF2E5-CFCA-7E47-B90D-B03FBA738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3. Project Planning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B75CA-FB53-B74B-B8DB-B71E8F844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388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61C3F1-FAE4-F64C-B53C-8B9D9258A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SE Project Planning Activities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E888853-45DB-254E-9B94-8504BD8DD205}"/>
              </a:ext>
            </a:extLst>
          </p:cNvPr>
          <p:cNvSpPr/>
          <p:nvPr/>
        </p:nvSpPr>
        <p:spPr>
          <a:xfrm>
            <a:off x="1727200" y="2591143"/>
            <a:ext cx="1532021" cy="926757"/>
          </a:xfrm>
          <a:prstGeom prst="round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Task      analysis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95CC66-8C2F-F44F-97F5-1740F79EE009}"/>
              </a:ext>
            </a:extLst>
          </p:cNvPr>
          <p:cNvSpPr/>
          <p:nvPr/>
        </p:nvSpPr>
        <p:spPr>
          <a:xfrm>
            <a:off x="3298284" y="1381090"/>
            <a:ext cx="1997160" cy="877501"/>
          </a:xfrm>
          <a:prstGeom prst="round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Product analysis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5962D6-2C23-3C48-8042-F2A3E7EF8CE1}"/>
              </a:ext>
            </a:extLst>
          </p:cNvPr>
          <p:cNvSpPr/>
          <p:nvPr/>
        </p:nvSpPr>
        <p:spPr>
          <a:xfrm>
            <a:off x="5009487" y="2591143"/>
            <a:ext cx="1758193" cy="926757"/>
          </a:xfrm>
          <a:prstGeom prst="round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Resource analysis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13F10C-88E9-2248-AB83-CDC72947B943}"/>
              </a:ext>
            </a:extLst>
          </p:cNvPr>
          <p:cNvSpPr/>
          <p:nvPr/>
        </p:nvSpPr>
        <p:spPr>
          <a:xfrm>
            <a:off x="4727246" y="4418843"/>
            <a:ext cx="1758193" cy="863575"/>
          </a:xfrm>
          <a:prstGeom prst="round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Resource  allocation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20AEC1-DFE7-934F-844A-429FA9529B84}"/>
              </a:ext>
            </a:extLst>
          </p:cNvPr>
          <p:cNvSpPr/>
          <p:nvPr/>
        </p:nvSpPr>
        <p:spPr>
          <a:xfrm>
            <a:off x="1943100" y="4523084"/>
            <a:ext cx="1871163" cy="655093"/>
          </a:xfrm>
          <a:prstGeom prst="roundRect">
            <a:avLst/>
          </a:prstGeom>
          <a:ln w="28575">
            <a:solidFill>
              <a:srgbClr val="000000"/>
            </a:solidFill>
            <a:prstDash val="solid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Scheduling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72D8DD-54B4-5A44-B3FA-14FE8FD8D9A0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flipV="1">
            <a:off x="2493211" y="1819841"/>
            <a:ext cx="805073" cy="7713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FFE0BE-204E-A84A-B0AE-D90ECE23C22D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5295444" y="1819841"/>
            <a:ext cx="593140" cy="77130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C319A2-47D3-124A-962C-8C35B331D9F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5606343" y="3517900"/>
            <a:ext cx="282241" cy="90094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BEF0FD-2B85-7449-A191-CD218C486C62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>
            <a:off x="3814263" y="4850631"/>
            <a:ext cx="91298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64E683-435A-D447-A5B6-4B16D0A6A22D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2493211" y="3517900"/>
            <a:ext cx="385471" cy="10051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E1440AB-DAC2-9F40-83EF-02335C532036}"/>
              </a:ext>
            </a:extLst>
          </p:cNvPr>
          <p:cNvSpPr txBox="1"/>
          <p:nvPr/>
        </p:nvSpPr>
        <p:spPr>
          <a:xfrm>
            <a:off x="259893" y="2454356"/>
            <a:ext cx="1532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chemeClr val="accent5"/>
                </a:solidFill>
              </a:rPr>
              <a:t>1. What need to be done?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36CD76-D787-8047-AEAB-186185626C61}"/>
              </a:ext>
            </a:extLst>
          </p:cNvPr>
          <p:cNvSpPr txBox="1"/>
          <p:nvPr/>
        </p:nvSpPr>
        <p:spPr>
          <a:xfrm>
            <a:off x="2400300" y="843006"/>
            <a:ext cx="4144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chemeClr val="accent5"/>
                </a:solidFill>
              </a:rPr>
              <a:t>2. What is to be produced?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23023C-32EB-6C48-BA7C-A7C78F90C7FA}"/>
              </a:ext>
            </a:extLst>
          </p:cNvPr>
          <p:cNvSpPr txBox="1"/>
          <p:nvPr/>
        </p:nvSpPr>
        <p:spPr>
          <a:xfrm>
            <a:off x="6916913" y="2298487"/>
            <a:ext cx="1939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chemeClr val="accent5"/>
                </a:solidFill>
              </a:rPr>
              <a:t>3. What and how much resource is needed?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97C207-EC19-F84F-84AF-03BCE18F87AB}"/>
              </a:ext>
            </a:extLst>
          </p:cNvPr>
          <p:cNvSpPr txBox="1"/>
          <p:nvPr/>
        </p:nvSpPr>
        <p:spPr>
          <a:xfrm>
            <a:off x="4572000" y="5316363"/>
            <a:ext cx="42846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chemeClr val="accent5"/>
                </a:solidFill>
              </a:rPr>
              <a:t>4. What and how much resource is to be given to the task?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F145E7-D714-E144-BD4E-8B3C4D5C9989}"/>
              </a:ext>
            </a:extLst>
          </p:cNvPr>
          <p:cNvSpPr/>
          <p:nvPr/>
        </p:nvSpPr>
        <p:spPr>
          <a:xfrm>
            <a:off x="1206500" y="5278943"/>
            <a:ext cx="27756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accent5"/>
                </a:solidFill>
              </a:rPr>
              <a:t>5. When the task is to start and finish? </a:t>
            </a:r>
            <a:endParaRPr lang="en-GB" sz="2400" i="1" dirty="0"/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2DEBD1D5-A106-9F4D-B45E-31592C741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975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764AB7-7477-6A4E-84D9-366CD228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SE Project Planning Activities (1)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EE213-F1F2-D149-A19B-6A8DF912F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sz="2800" dirty="0"/>
              <a:t>Task analysis:</a:t>
            </a:r>
          </a:p>
          <a:p>
            <a:pPr marL="677863" lvl="1" indent="-406400">
              <a:spcBef>
                <a:spcPts val="0"/>
              </a:spcBef>
            </a:pPr>
            <a:r>
              <a:rPr lang="en-GB" sz="2400" dirty="0"/>
              <a:t>To identify the tasks to be performed in the project</a:t>
            </a:r>
          </a:p>
          <a:p>
            <a:pPr marL="677863" lvl="1" indent="-406400">
              <a:spcBef>
                <a:spcPts val="0"/>
              </a:spcBef>
            </a:pPr>
            <a:r>
              <a:rPr lang="en-GB" sz="2400" dirty="0"/>
              <a:t>To decompose each task to sub-tasks of manageable sizes</a:t>
            </a:r>
          </a:p>
          <a:p>
            <a:pPr marL="677863" lvl="1" indent="-406400">
              <a:spcBef>
                <a:spcPts val="0"/>
              </a:spcBef>
            </a:pPr>
            <a:r>
              <a:rPr lang="en-GB" sz="2400" dirty="0"/>
              <a:t>To determine the dependence relationships among tasks/subtasks </a:t>
            </a:r>
          </a:p>
          <a:p>
            <a:pPr>
              <a:spcBef>
                <a:spcPts val="2400"/>
              </a:spcBef>
            </a:pPr>
            <a:r>
              <a:rPr lang="en-GB" sz="2800" dirty="0"/>
              <a:t>Product analysis</a:t>
            </a:r>
          </a:p>
          <a:p>
            <a:pPr marL="677863" lvl="1" indent="-406400">
              <a:spcBef>
                <a:spcPts val="0"/>
              </a:spcBef>
            </a:pPr>
            <a:r>
              <a:rPr lang="en-GB" sz="2400" dirty="0"/>
              <a:t>To decompose the product (including intermediate products) into components of manageable sizes</a:t>
            </a:r>
          </a:p>
          <a:p>
            <a:pPr marL="677863" lvl="1" indent="-406400">
              <a:spcBef>
                <a:spcPts val="0"/>
              </a:spcBef>
            </a:pPr>
            <a:r>
              <a:rPr lang="en-GB" sz="2400" dirty="0"/>
              <a:t>To determine the interdependence relationships between components</a:t>
            </a:r>
          </a:p>
          <a:p>
            <a:pPr marL="0" indent="0">
              <a:spcBef>
                <a:spcPts val="0"/>
              </a:spcBef>
              <a:buNone/>
            </a:pPr>
            <a:endParaRPr lang="en-GB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30B9B-EC2C-C34F-81E1-8AAFD3304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138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764AB7-7477-6A4E-84D9-366CD228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SE Project Planning Activities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EE213-F1F2-D149-A19B-6A8DF912F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7" y="836713"/>
            <a:ext cx="8461126" cy="561662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 sz="2800" dirty="0"/>
              <a:t>Resource analysis</a:t>
            </a:r>
          </a:p>
          <a:p>
            <a:pPr marL="628650" lvl="1" indent="-357188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400" dirty="0"/>
              <a:t>To identify the relationships between tasks/activities and product components</a:t>
            </a:r>
          </a:p>
          <a:p>
            <a:pPr marL="628650" lvl="1" indent="-357188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400" dirty="0"/>
              <a:t>To understand the technical requirements on each component (e.g. programming for Mac, Oracle database)</a:t>
            </a:r>
          </a:p>
          <a:p>
            <a:pPr marL="628650" lvl="1" indent="-357188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400" dirty="0"/>
              <a:t>To determine the required resources for each task (e.g. cost in terms of man-month) 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Resource allocation</a:t>
            </a:r>
          </a:p>
          <a:p>
            <a:pPr marL="577850" lvl="1" indent="-306388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400" dirty="0"/>
              <a:t>To allocate resources to each task (e.g. who is doing what)</a:t>
            </a:r>
          </a:p>
          <a:p>
            <a:pPr>
              <a:spcBef>
                <a:spcPts val="1200"/>
              </a:spcBef>
            </a:pPr>
            <a:r>
              <a:rPr lang="en-GB" sz="2800" dirty="0"/>
              <a:t>Scheduling</a:t>
            </a:r>
          </a:p>
          <a:p>
            <a:pPr marL="577850" lvl="1" indent="-306388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400" dirty="0"/>
              <a:t>To determine when a task is to be started</a:t>
            </a:r>
          </a:p>
          <a:p>
            <a:pPr marL="577850" lvl="1" indent="-306388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400" dirty="0"/>
              <a:t>To determine when a task is to be finished</a:t>
            </a:r>
          </a:p>
          <a:p>
            <a:pPr marL="577850" lvl="1" indent="-306388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GB" sz="2400" dirty="0"/>
              <a:t>To calculate when the project is going to finish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DB5EB-21DA-794A-92FF-66DDE5B56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54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29CD93-B0E7-DB4A-883F-A0F47717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Task Decomposition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98405-12A1-464C-B6DD-FB9687ABC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16</a:t>
            </a:fld>
            <a:endParaRPr lang="en-US" dirty="0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24FCAE62-70B9-7B41-B9E5-FD934A75D0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2213" y="4221163"/>
            <a:ext cx="411162" cy="4159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" name="Line 10">
            <a:extLst>
              <a:ext uri="{FF2B5EF4-FFF2-40B4-BE49-F238E27FC236}">
                <a16:creationId xmlns:a16="http://schemas.microsoft.com/office/drawing/2014/main" id="{1FD10F48-41D9-0F44-B01D-38E3BD98F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3661" y="4285641"/>
            <a:ext cx="410091" cy="37718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9E4A49D3-AC1F-7940-A021-8204578CE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25" y="3206750"/>
            <a:ext cx="0" cy="158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1EFA9E6A-F98E-3F47-95FF-A65215D67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6975" y="3206750"/>
            <a:ext cx="0" cy="174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1" name="Group 13">
            <a:extLst>
              <a:ext uri="{FF2B5EF4-FFF2-40B4-BE49-F238E27FC236}">
                <a16:creationId xmlns:a16="http://schemas.microsoft.com/office/drawing/2014/main" id="{D15C421A-B59C-1C49-B265-F1B0D87C90FF}"/>
              </a:ext>
            </a:extLst>
          </p:cNvPr>
          <p:cNvGrpSpPr>
            <a:grpSpLocks/>
          </p:cNvGrpSpPr>
          <p:nvPr/>
        </p:nvGrpSpPr>
        <p:grpSpPr bwMode="auto">
          <a:xfrm>
            <a:off x="5623719" y="1156811"/>
            <a:ext cx="1138238" cy="648072"/>
            <a:chOff x="3627" y="1164"/>
            <a:chExt cx="728" cy="561"/>
          </a:xfrm>
        </p:grpSpPr>
        <p:sp>
          <p:nvSpPr>
            <p:cNvPr id="12" name="AutoShape 14">
              <a:extLst>
                <a:ext uri="{FF2B5EF4-FFF2-40B4-BE49-F238E27FC236}">
                  <a16:creationId xmlns:a16="http://schemas.microsoft.com/office/drawing/2014/main" id="{E131FA20-2F3C-D248-B3C6-9FEA9A2AD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" y="1164"/>
              <a:ext cx="728" cy="499"/>
            </a:xfrm>
            <a:prstGeom prst="roundRect">
              <a:avLst>
                <a:gd name="adj" fmla="val 16597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latin typeface="Times" pitchFamily="2" charset="0"/>
              </a:endParaRP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DD64BE63-538E-4A46-9B48-C2F04C8E5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2" y="1709"/>
              <a:ext cx="0" cy="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AC9F14E7-018D-F642-BC6F-1FA68F7446D1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128545"/>
            <a:ext cx="1887538" cy="938951"/>
            <a:chOff x="2786" y="1628"/>
            <a:chExt cx="1207" cy="671"/>
          </a:xfrm>
        </p:grpSpPr>
        <p:sp>
          <p:nvSpPr>
            <p:cNvPr id="15" name="AutoShape 17">
              <a:extLst>
                <a:ext uri="{FF2B5EF4-FFF2-40B4-BE49-F238E27FC236}">
                  <a16:creationId xmlns:a16="http://schemas.microsoft.com/office/drawing/2014/main" id="{2CC42F66-FC60-BC4C-8211-5EDA8B517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854"/>
              <a:ext cx="728" cy="445"/>
            </a:xfrm>
            <a:prstGeom prst="roundRect">
              <a:avLst>
                <a:gd name="adj" fmla="val 16597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latin typeface="Times" pitchFamily="2" charset="0"/>
              </a:endParaRP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61F39C75-6DC3-E54E-8A37-9EF651D80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1628"/>
              <a:ext cx="845" cy="229"/>
            </a:xfrm>
            <a:custGeom>
              <a:avLst/>
              <a:gdLst>
                <a:gd name="T0" fmla="*/ 844 w 845"/>
                <a:gd name="T1" fmla="*/ 0 h 104"/>
                <a:gd name="T2" fmla="*/ 0 w 845"/>
                <a:gd name="T3" fmla="*/ 0 h 104"/>
                <a:gd name="T4" fmla="*/ 0 w 845"/>
                <a:gd name="T5" fmla="*/ 103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5" h="104">
                  <a:moveTo>
                    <a:pt x="844" y="0"/>
                  </a:moveTo>
                  <a:lnTo>
                    <a:pt x="0" y="0"/>
                  </a:lnTo>
                  <a:lnTo>
                    <a:pt x="0" y="1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17" name="Group 19">
            <a:extLst>
              <a:ext uri="{FF2B5EF4-FFF2-40B4-BE49-F238E27FC236}">
                <a16:creationId xmlns:a16="http://schemas.microsoft.com/office/drawing/2014/main" id="{7C800C5F-0893-1540-BE9A-A39BD426B3F6}"/>
              </a:ext>
            </a:extLst>
          </p:cNvPr>
          <p:cNvGrpSpPr>
            <a:grpSpLocks/>
          </p:cNvGrpSpPr>
          <p:nvPr/>
        </p:nvGrpSpPr>
        <p:grpSpPr bwMode="auto">
          <a:xfrm>
            <a:off x="6254750" y="2139742"/>
            <a:ext cx="1876425" cy="924959"/>
            <a:chOff x="4001" y="1636"/>
            <a:chExt cx="1200" cy="661"/>
          </a:xfrm>
        </p:grpSpPr>
        <p:sp>
          <p:nvSpPr>
            <p:cNvPr id="18" name="AutoShape 20">
              <a:extLst>
                <a:ext uri="{FF2B5EF4-FFF2-40B4-BE49-F238E27FC236}">
                  <a16:creationId xmlns:a16="http://schemas.microsoft.com/office/drawing/2014/main" id="{A7C79873-A4D9-5F4D-AB8E-25F178C42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3" y="1854"/>
              <a:ext cx="728" cy="443"/>
            </a:xfrm>
            <a:prstGeom prst="roundRect">
              <a:avLst>
                <a:gd name="adj" fmla="val 16597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latin typeface="Times" pitchFamily="2" charset="0"/>
              </a:endParaRPr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C8E63720-BF97-5B43-A02A-D17FD42F4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636"/>
              <a:ext cx="826" cy="217"/>
            </a:xfrm>
            <a:custGeom>
              <a:avLst/>
              <a:gdLst>
                <a:gd name="T0" fmla="*/ 0 w 826"/>
                <a:gd name="T1" fmla="*/ 0 h 100"/>
                <a:gd name="T2" fmla="*/ 825 w 826"/>
                <a:gd name="T3" fmla="*/ 0 h 100"/>
                <a:gd name="T4" fmla="*/ 825 w 826"/>
                <a:gd name="T5" fmla="*/ 99 h 1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6" h="100">
                  <a:moveTo>
                    <a:pt x="0" y="0"/>
                  </a:moveTo>
                  <a:lnTo>
                    <a:pt x="825" y="0"/>
                  </a:lnTo>
                  <a:lnTo>
                    <a:pt x="825" y="9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" name="AutoShape 23">
            <a:extLst>
              <a:ext uri="{FF2B5EF4-FFF2-40B4-BE49-F238E27FC236}">
                <a16:creationId xmlns:a16="http://schemas.microsoft.com/office/drawing/2014/main" id="{E8F4DFFE-619B-1D47-B714-1FFDB4663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75" y="3712243"/>
            <a:ext cx="1139485" cy="566070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imes" pitchFamily="2" charset="0"/>
            </a:endParaRPr>
          </a:p>
        </p:txBody>
      </p:sp>
      <p:sp>
        <p:nvSpPr>
          <p:cNvPr id="22" name="Freeform 24">
            <a:extLst>
              <a:ext uri="{FF2B5EF4-FFF2-40B4-BE49-F238E27FC236}">
                <a16:creationId xmlns:a16="http://schemas.microsoft.com/office/drawing/2014/main" id="{B2D0EC10-F796-5D4A-823D-8916B4DE2F41}"/>
              </a:ext>
            </a:extLst>
          </p:cNvPr>
          <p:cNvSpPr>
            <a:spLocks/>
          </p:cNvSpPr>
          <p:nvPr/>
        </p:nvSpPr>
        <p:spPr bwMode="auto">
          <a:xfrm>
            <a:off x="4293661" y="3425005"/>
            <a:ext cx="632352" cy="287238"/>
          </a:xfrm>
          <a:custGeom>
            <a:avLst/>
            <a:gdLst>
              <a:gd name="T0" fmla="*/ 403 w 404"/>
              <a:gd name="T1" fmla="*/ 0 h 110"/>
              <a:gd name="T2" fmla="*/ 0 w 404"/>
              <a:gd name="T3" fmla="*/ 0 h 110"/>
              <a:gd name="T4" fmla="*/ 0 w 404"/>
              <a:gd name="T5" fmla="*/ 109 h 1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4" h="110">
                <a:moveTo>
                  <a:pt x="403" y="0"/>
                </a:moveTo>
                <a:lnTo>
                  <a:pt x="0" y="0"/>
                </a:lnTo>
                <a:lnTo>
                  <a:pt x="0" y="10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" name="Line 25">
            <a:extLst>
              <a:ext uri="{FF2B5EF4-FFF2-40B4-BE49-F238E27FC236}">
                <a16:creationId xmlns:a16="http://schemas.microsoft.com/office/drawing/2014/main" id="{8CC871BB-6335-CE42-B792-E8C7CEA87E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48" y="3359150"/>
            <a:ext cx="0" cy="154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" name="AutoShape 27">
            <a:extLst>
              <a:ext uri="{FF2B5EF4-FFF2-40B4-BE49-F238E27FC236}">
                <a16:creationId xmlns:a16="http://schemas.microsoft.com/office/drawing/2014/main" id="{5E502752-F684-8C46-8222-D1FABF275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104" y="3712243"/>
            <a:ext cx="1136634" cy="566070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imes" pitchFamily="2" charset="0"/>
            </a:endParaRPr>
          </a:p>
        </p:txBody>
      </p:sp>
      <p:sp>
        <p:nvSpPr>
          <p:cNvPr id="26" name="Freeform 28">
            <a:extLst>
              <a:ext uri="{FF2B5EF4-FFF2-40B4-BE49-F238E27FC236}">
                <a16:creationId xmlns:a16="http://schemas.microsoft.com/office/drawing/2014/main" id="{8BD56017-0CA5-C943-9956-5A2C29278492}"/>
              </a:ext>
            </a:extLst>
          </p:cNvPr>
          <p:cNvSpPr>
            <a:spLocks/>
          </p:cNvSpPr>
          <p:nvPr/>
        </p:nvSpPr>
        <p:spPr bwMode="auto">
          <a:xfrm>
            <a:off x="4924425" y="3425005"/>
            <a:ext cx="644821" cy="270424"/>
          </a:xfrm>
          <a:custGeom>
            <a:avLst/>
            <a:gdLst>
              <a:gd name="T0" fmla="*/ 0 w 413"/>
              <a:gd name="T1" fmla="*/ 0 h 110"/>
              <a:gd name="T2" fmla="*/ 412 w 413"/>
              <a:gd name="T3" fmla="*/ 0 h 110"/>
              <a:gd name="T4" fmla="*/ 412 w 413"/>
              <a:gd name="T5" fmla="*/ 109 h 1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3" h="110">
                <a:moveTo>
                  <a:pt x="0" y="0"/>
                </a:moveTo>
                <a:lnTo>
                  <a:pt x="412" y="0"/>
                </a:lnTo>
                <a:lnTo>
                  <a:pt x="412" y="10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1D51DC78-A746-A145-8EC6-940663503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25" y="3359150"/>
            <a:ext cx="0" cy="154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07D41D02-9857-DA45-A50E-AE73FCC48120}"/>
              </a:ext>
            </a:extLst>
          </p:cNvPr>
          <p:cNvSpPr>
            <a:spLocks/>
          </p:cNvSpPr>
          <p:nvPr/>
        </p:nvSpPr>
        <p:spPr bwMode="auto">
          <a:xfrm>
            <a:off x="6916992" y="3425005"/>
            <a:ext cx="631571" cy="304052"/>
          </a:xfrm>
          <a:custGeom>
            <a:avLst/>
            <a:gdLst>
              <a:gd name="T0" fmla="*/ 403 w 404"/>
              <a:gd name="T1" fmla="*/ 0 h 116"/>
              <a:gd name="T2" fmla="*/ 0 w 404"/>
              <a:gd name="T3" fmla="*/ 0 h 116"/>
              <a:gd name="T4" fmla="*/ 0 w 404"/>
              <a:gd name="T5" fmla="*/ 115 h 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4" h="116">
                <a:moveTo>
                  <a:pt x="403" y="0"/>
                </a:moveTo>
                <a:lnTo>
                  <a:pt x="0" y="0"/>
                </a:lnTo>
                <a:lnTo>
                  <a:pt x="0" y="11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" name="AutoShape 32">
            <a:extLst>
              <a:ext uri="{FF2B5EF4-FFF2-40B4-BE49-F238E27FC236}">
                <a16:creationId xmlns:a16="http://schemas.microsoft.com/office/drawing/2014/main" id="{3A921913-749C-F544-8AD6-FFE63CC80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0" y="3729057"/>
            <a:ext cx="1138079" cy="549256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imes" pitchFamily="2" charset="0"/>
            </a:endParaRPr>
          </a:p>
        </p:txBody>
      </p:sp>
      <p:sp>
        <p:nvSpPr>
          <p:cNvPr id="31" name="Line 33">
            <a:extLst>
              <a:ext uri="{FF2B5EF4-FFF2-40B4-BE49-F238E27FC236}">
                <a16:creationId xmlns:a16="http://schemas.microsoft.com/office/drawing/2014/main" id="{72A5FD36-7FAE-D041-8908-9F9E591C8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7000" y="3359150"/>
            <a:ext cx="0" cy="1821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" name="Freeform 35">
            <a:extLst>
              <a:ext uri="{FF2B5EF4-FFF2-40B4-BE49-F238E27FC236}">
                <a16:creationId xmlns:a16="http://schemas.microsoft.com/office/drawing/2014/main" id="{54CA389F-93B5-404D-B6BE-639EB7141E37}"/>
              </a:ext>
            </a:extLst>
          </p:cNvPr>
          <p:cNvSpPr>
            <a:spLocks/>
          </p:cNvSpPr>
          <p:nvPr/>
        </p:nvSpPr>
        <p:spPr bwMode="auto">
          <a:xfrm>
            <a:off x="7546975" y="3425005"/>
            <a:ext cx="647191" cy="287238"/>
          </a:xfrm>
          <a:custGeom>
            <a:avLst/>
            <a:gdLst>
              <a:gd name="T0" fmla="*/ 0 w 414"/>
              <a:gd name="T1" fmla="*/ 0 h 116"/>
              <a:gd name="T2" fmla="*/ 413 w 414"/>
              <a:gd name="T3" fmla="*/ 0 h 116"/>
              <a:gd name="T4" fmla="*/ 413 w 414"/>
              <a:gd name="T5" fmla="*/ 115 h 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14" h="116">
                <a:moveTo>
                  <a:pt x="0" y="0"/>
                </a:moveTo>
                <a:lnTo>
                  <a:pt x="413" y="0"/>
                </a:lnTo>
                <a:lnTo>
                  <a:pt x="413" y="11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" name="AutoShape 36">
            <a:extLst>
              <a:ext uri="{FF2B5EF4-FFF2-40B4-BE49-F238E27FC236}">
                <a16:creationId xmlns:a16="http://schemas.microsoft.com/office/drawing/2014/main" id="{EA274A29-DC8E-6E45-B19D-F49EB4B2B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644" y="3729057"/>
            <a:ext cx="1138056" cy="549256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imes" pitchFamily="2" charset="0"/>
            </a:endParaRPr>
          </a:p>
        </p:txBody>
      </p:sp>
      <p:sp>
        <p:nvSpPr>
          <p:cNvPr id="35" name="Line 37">
            <a:extLst>
              <a:ext uri="{FF2B5EF4-FFF2-40B4-BE49-F238E27FC236}">
                <a16:creationId xmlns:a16="http://schemas.microsoft.com/office/drawing/2014/main" id="{152D4A77-B436-E44E-800E-C0F310495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6975" y="3359150"/>
            <a:ext cx="0" cy="1821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" name="Rectangle 38">
            <a:extLst>
              <a:ext uri="{FF2B5EF4-FFF2-40B4-BE49-F238E27FC236}">
                <a16:creationId xmlns:a16="http://schemas.microsoft.com/office/drawing/2014/main" id="{B4039260-669F-5243-AE1E-F217DF8A6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4519" y="1248511"/>
            <a:ext cx="1036638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id="{A557AD3D-2199-EB4A-98B9-7B264E02F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13" y="2584450"/>
            <a:ext cx="1019175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Stage 1</a:t>
            </a:r>
          </a:p>
        </p:txBody>
      </p:sp>
      <p:sp>
        <p:nvSpPr>
          <p:cNvPr id="38" name="Rectangle 40">
            <a:extLst>
              <a:ext uri="{FF2B5EF4-FFF2-40B4-BE49-F238E27FC236}">
                <a16:creationId xmlns:a16="http://schemas.microsoft.com/office/drawing/2014/main" id="{3D1B8DF2-CD18-AD4F-9103-650CD0ABC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2584450"/>
            <a:ext cx="1019175" cy="37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Stage 2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F867B8B8-25C0-554D-AF8F-9BAF9BBE1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2538" y="3792538"/>
            <a:ext cx="946150" cy="37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 1</a:t>
            </a:r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36954811-7468-F945-A313-6305594F1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450" y="3831549"/>
            <a:ext cx="933450" cy="37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 2</a:t>
            </a: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A296D358-EB43-B948-890F-A410897AF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563" y="3817938"/>
            <a:ext cx="954087" cy="37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 x</a:t>
            </a:r>
          </a:p>
        </p:txBody>
      </p:sp>
      <p:sp>
        <p:nvSpPr>
          <p:cNvPr id="42" name="Rectangle 44">
            <a:extLst>
              <a:ext uri="{FF2B5EF4-FFF2-40B4-BE49-F238E27FC236}">
                <a16:creationId xmlns:a16="http://schemas.microsoft.com/office/drawing/2014/main" id="{8D39C93B-9E29-384D-8EF0-284CE5D5D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644" y="3831549"/>
            <a:ext cx="1033463" cy="37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 Y</a:t>
            </a:r>
          </a:p>
        </p:txBody>
      </p:sp>
      <p:sp>
        <p:nvSpPr>
          <p:cNvPr id="43" name="Rectangle 45">
            <a:extLst>
              <a:ext uri="{FF2B5EF4-FFF2-40B4-BE49-F238E27FC236}">
                <a16:creationId xmlns:a16="http://schemas.microsoft.com/office/drawing/2014/main" id="{6E3890AE-8021-224B-9C71-2C7D52BD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6635" y="4823658"/>
            <a:ext cx="1258888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Activities</a:t>
            </a:r>
          </a:p>
        </p:txBody>
      </p:sp>
      <p:grpSp>
        <p:nvGrpSpPr>
          <p:cNvPr id="44" name="Group 46">
            <a:extLst>
              <a:ext uri="{FF2B5EF4-FFF2-40B4-BE49-F238E27FC236}">
                <a16:creationId xmlns:a16="http://schemas.microsoft.com/office/drawing/2014/main" id="{3C2A0822-1F2B-8542-B387-CD4C08F011E5}"/>
              </a:ext>
            </a:extLst>
          </p:cNvPr>
          <p:cNvGrpSpPr>
            <a:grpSpLocks/>
          </p:cNvGrpSpPr>
          <p:nvPr/>
        </p:nvGrpSpPr>
        <p:grpSpPr bwMode="auto">
          <a:xfrm>
            <a:off x="3732213" y="4630738"/>
            <a:ext cx="566737" cy="1033462"/>
            <a:chOff x="2346" y="3324"/>
            <a:chExt cx="363" cy="738"/>
          </a:xfrm>
        </p:grpSpPr>
        <p:sp>
          <p:nvSpPr>
            <p:cNvPr id="45" name="Line 47">
              <a:extLst>
                <a:ext uri="{FF2B5EF4-FFF2-40B4-BE49-F238E27FC236}">
                  <a16:creationId xmlns:a16="http://schemas.microsoft.com/office/drawing/2014/main" id="{56C65422-AC62-D744-8569-D67B48CA8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6" y="3324"/>
              <a:ext cx="0" cy="7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Line 48">
              <a:extLst>
                <a:ext uri="{FF2B5EF4-FFF2-40B4-BE49-F238E27FC236}">
                  <a16:creationId xmlns:a16="http://schemas.microsoft.com/office/drawing/2014/main" id="{B5ABDB04-6532-7E40-B1C9-0F5A4AE16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2" y="4062"/>
              <a:ext cx="3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Line 49">
              <a:extLst>
                <a:ext uri="{FF2B5EF4-FFF2-40B4-BE49-F238E27FC236}">
                  <a16:creationId xmlns:a16="http://schemas.microsoft.com/office/drawing/2014/main" id="{3BAE3BFE-381D-4440-9E17-1F7C06980C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8" y="3893"/>
              <a:ext cx="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Line 50">
              <a:extLst>
                <a:ext uri="{FF2B5EF4-FFF2-40B4-BE49-F238E27FC236}">
                  <a16:creationId xmlns:a16="http://schemas.microsoft.com/office/drawing/2014/main" id="{3B833AA6-4928-7942-9AB4-D5E010082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3" y="3738"/>
              <a:ext cx="3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Line 51">
              <a:extLst>
                <a:ext uri="{FF2B5EF4-FFF2-40B4-BE49-F238E27FC236}">
                  <a16:creationId xmlns:a16="http://schemas.microsoft.com/office/drawing/2014/main" id="{E4B4DE0B-7FC8-634D-A870-4D14080A9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3569"/>
              <a:ext cx="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0" name="Group 52">
            <a:extLst>
              <a:ext uri="{FF2B5EF4-FFF2-40B4-BE49-F238E27FC236}">
                <a16:creationId xmlns:a16="http://schemas.microsoft.com/office/drawing/2014/main" id="{201776B3-E645-9749-BCB4-1DEEC3450A29}"/>
              </a:ext>
            </a:extLst>
          </p:cNvPr>
          <p:cNvGrpSpPr>
            <a:grpSpLocks/>
          </p:cNvGrpSpPr>
          <p:nvPr/>
        </p:nvGrpSpPr>
        <p:grpSpPr bwMode="auto">
          <a:xfrm>
            <a:off x="4683125" y="4589463"/>
            <a:ext cx="501650" cy="1057275"/>
            <a:chOff x="3003" y="3331"/>
            <a:chExt cx="321" cy="755"/>
          </a:xfrm>
        </p:grpSpPr>
        <p:sp>
          <p:nvSpPr>
            <p:cNvPr id="51" name="Line 53">
              <a:extLst>
                <a:ext uri="{FF2B5EF4-FFF2-40B4-BE49-F238E27FC236}">
                  <a16:creationId xmlns:a16="http://schemas.microsoft.com/office/drawing/2014/main" id="{1450FDB4-2F31-6D41-9565-A13BE245B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3" y="3331"/>
              <a:ext cx="0" cy="7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Line 54">
              <a:extLst>
                <a:ext uri="{FF2B5EF4-FFF2-40B4-BE49-F238E27FC236}">
                  <a16:creationId xmlns:a16="http://schemas.microsoft.com/office/drawing/2014/main" id="{7E1FC9F8-A3EC-2D47-9132-1C11BA6D4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" y="4086"/>
              <a:ext cx="2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Line 55">
              <a:extLst>
                <a:ext uri="{FF2B5EF4-FFF2-40B4-BE49-F238E27FC236}">
                  <a16:creationId xmlns:a16="http://schemas.microsoft.com/office/drawing/2014/main" id="{6DC63A27-0C2B-6E48-BFCE-3D7D85D289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2" y="3670"/>
              <a:ext cx="2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4" name="Rectangle 56">
            <a:extLst>
              <a:ext uri="{FF2B5EF4-FFF2-40B4-BE49-F238E27FC236}">
                <a16:creationId xmlns:a16="http://schemas.microsoft.com/office/drawing/2014/main" id="{B13D2A2E-7F73-954A-8D13-ED3F2884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6691" y="4879719"/>
            <a:ext cx="1693862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Deliverables</a:t>
            </a:r>
          </a:p>
        </p:txBody>
      </p:sp>
      <p:sp>
        <p:nvSpPr>
          <p:cNvPr id="55" name="Rectangle 57">
            <a:extLst>
              <a:ext uri="{FF2B5EF4-FFF2-40B4-BE49-F238E27FC236}">
                <a16:creationId xmlns:a16="http://schemas.microsoft.com/office/drawing/2014/main" id="{A005B4C1-7DA7-ED49-9B62-C7272044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11" y="2809885"/>
            <a:ext cx="3433762" cy="119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Task/Activity/Deliverable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checklists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747474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should be defined</a:t>
            </a:r>
          </a:p>
        </p:txBody>
      </p:sp>
      <p:sp>
        <p:nvSpPr>
          <p:cNvPr id="56" name="Freeform 58">
            <a:extLst>
              <a:ext uri="{FF2B5EF4-FFF2-40B4-BE49-F238E27FC236}">
                <a16:creationId xmlns:a16="http://schemas.microsoft.com/office/drawing/2014/main" id="{BCD2E155-64E8-8042-9DE7-A6C35353620B}"/>
              </a:ext>
            </a:extLst>
          </p:cNvPr>
          <p:cNvSpPr>
            <a:spLocks/>
          </p:cNvSpPr>
          <p:nvPr/>
        </p:nvSpPr>
        <p:spPr bwMode="auto">
          <a:xfrm>
            <a:off x="1784349" y="4003685"/>
            <a:ext cx="626579" cy="1001860"/>
          </a:xfrm>
          <a:custGeom>
            <a:avLst/>
            <a:gdLst>
              <a:gd name="T0" fmla="*/ 0 w 573"/>
              <a:gd name="T1" fmla="*/ 0 h 664"/>
              <a:gd name="T2" fmla="*/ 0 w 573"/>
              <a:gd name="T3" fmla="*/ 2147483646 h 664"/>
              <a:gd name="T4" fmla="*/ 2147483646 w 573"/>
              <a:gd name="T5" fmla="*/ 2147483646 h 6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3" h="664">
                <a:moveTo>
                  <a:pt x="0" y="0"/>
                </a:moveTo>
                <a:lnTo>
                  <a:pt x="0" y="663"/>
                </a:lnTo>
                <a:lnTo>
                  <a:pt x="572" y="663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57" name="Line 55">
            <a:extLst>
              <a:ext uri="{FF2B5EF4-FFF2-40B4-BE49-F238E27FC236}">
                <a16:creationId xmlns:a16="http://schemas.microsoft.com/office/drawing/2014/main" id="{FFC3AD39-471E-6347-AE60-954E326D21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6784" y="1733260"/>
            <a:ext cx="0" cy="43441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8" name="Line 55">
            <a:extLst>
              <a:ext uri="{FF2B5EF4-FFF2-40B4-BE49-F238E27FC236}">
                <a16:creationId xmlns:a16="http://schemas.microsoft.com/office/drawing/2014/main" id="{4F6559D3-D585-1A4C-8AB6-74F12F1829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1388" y="3062287"/>
            <a:ext cx="1" cy="36271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9" name="Line 55">
            <a:extLst>
              <a:ext uri="{FF2B5EF4-FFF2-40B4-BE49-F238E27FC236}">
                <a16:creationId xmlns:a16="http://schemas.microsoft.com/office/drawing/2014/main" id="{FAB9756D-4494-2C48-BC6E-0000C03F0E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7644" y="3062287"/>
            <a:ext cx="1" cy="36271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894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23E9-4D4D-C64C-97E4-78C283EE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Work Breakdown Structure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FF455-8D67-1E4A-93E4-6AC8F3679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600"/>
              </a:spcBef>
              <a:buFont typeface="+mj-lt"/>
              <a:buAutoNum type="alphaUcPeriod"/>
            </a:pPr>
            <a:r>
              <a:rPr lang="en-GB" sz="2800" dirty="0"/>
              <a:t>Development tasks</a:t>
            </a:r>
          </a:p>
          <a:p>
            <a:pPr marL="892175" lvl="1" indent="-439738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Requirements analysis</a:t>
            </a:r>
          </a:p>
          <a:p>
            <a:pPr marL="1382713" lvl="2" indent="-452438">
              <a:spcBef>
                <a:spcPts val="600"/>
              </a:spcBef>
              <a:buFont typeface="+mj-lt"/>
              <a:buAutoNum type="alphaLcPeriod"/>
            </a:pPr>
            <a:r>
              <a:rPr lang="en-GB" sz="2400" dirty="0"/>
              <a:t>Requirements elicitation</a:t>
            </a:r>
          </a:p>
          <a:p>
            <a:pPr marL="1382713" lvl="2" indent="-452438">
              <a:spcBef>
                <a:spcPts val="600"/>
              </a:spcBef>
              <a:buFont typeface="+mj-lt"/>
              <a:buAutoNum type="alphaLcPeriod"/>
            </a:pPr>
            <a:r>
              <a:rPr lang="en-GB" sz="2400" dirty="0"/>
              <a:t>Requirements definition</a:t>
            </a:r>
          </a:p>
          <a:p>
            <a:pPr marL="1382713" lvl="2" indent="-452438">
              <a:spcBef>
                <a:spcPts val="600"/>
              </a:spcBef>
              <a:buFont typeface="+mj-lt"/>
              <a:buAutoNum type="alphaLcPeriod"/>
            </a:pPr>
            <a:r>
              <a:rPr lang="en-GB" sz="2400" dirty="0"/>
              <a:t>Modelling of required system</a:t>
            </a:r>
          </a:p>
          <a:p>
            <a:pPr marL="892175" lvl="1" indent="-452438">
              <a:spcBef>
                <a:spcPts val="600"/>
              </a:spcBef>
              <a:buFont typeface="+mj-lt"/>
              <a:buAutoNum type="arabicPeriod"/>
              <a:tabLst>
                <a:tab pos="439738" algn="l"/>
              </a:tabLst>
            </a:pPr>
            <a:r>
              <a:rPr lang="en-GB" sz="2400" dirty="0"/>
              <a:t>Architectural design</a:t>
            </a:r>
          </a:p>
          <a:p>
            <a:pPr marL="892175" lvl="1" indent="-452438">
              <a:spcBef>
                <a:spcPts val="600"/>
              </a:spcBef>
              <a:buFont typeface="+mj-lt"/>
              <a:buAutoNum type="arabicPeriod"/>
              <a:tabLst>
                <a:tab pos="439738" algn="l"/>
              </a:tabLst>
            </a:pPr>
            <a:r>
              <a:rPr lang="en-GB" sz="2400" dirty="0"/>
              <a:t>Detailed design</a:t>
            </a:r>
          </a:p>
          <a:p>
            <a:pPr marL="892175" lvl="1" indent="-452438">
              <a:spcBef>
                <a:spcPts val="600"/>
              </a:spcBef>
              <a:buFont typeface="+mj-lt"/>
              <a:buAutoNum type="arabicPeriod"/>
              <a:tabLst>
                <a:tab pos="439738" algn="l"/>
              </a:tabLst>
            </a:pPr>
            <a:r>
              <a:rPr lang="en-GB" sz="2400" dirty="0"/>
              <a:t>Coding</a:t>
            </a:r>
          </a:p>
          <a:p>
            <a:pPr marL="892175" lvl="1" indent="-452438">
              <a:spcBef>
                <a:spcPts val="600"/>
              </a:spcBef>
              <a:buFont typeface="+mj-lt"/>
              <a:buAutoNum type="arabicPeriod"/>
              <a:tabLst>
                <a:tab pos="439738" algn="l"/>
              </a:tabLst>
            </a:pPr>
            <a:r>
              <a:rPr lang="en-GB" sz="2400" dirty="0"/>
              <a:t>Integration</a:t>
            </a:r>
          </a:p>
          <a:p>
            <a:pPr marL="892175" lvl="1" indent="-452438">
              <a:spcBef>
                <a:spcPts val="600"/>
              </a:spcBef>
              <a:buFont typeface="+mj-lt"/>
              <a:buAutoNum type="arabicPeriod"/>
              <a:tabLst>
                <a:tab pos="439738" algn="l"/>
              </a:tabLst>
            </a:pPr>
            <a:r>
              <a:rPr lang="en-GB" sz="2400" dirty="0"/>
              <a:t>Deployment</a:t>
            </a:r>
          </a:p>
          <a:p>
            <a:pPr marL="892175" lvl="1" indent="-452438">
              <a:spcBef>
                <a:spcPts val="600"/>
              </a:spcBef>
              <a:buFont typeface="+mj-lt"/>
              <a:buAutoNum type="arabicPeriod"/>
              <a:tabLst>
                <a:tab pos="439738" algn="l"/>
              </a:tabLst>
            </a:pPr>
            <a:r>
              <a:rPr lang="en-GB" sz="2400" dirty="0"/>
              <a:t>Acceptance testing</a:t>
            </a:r>
          </a:p>
          <a:p>
            <a:pPr marL="0" indent="0">
              <a:spcBef>
                <a:spcPts val="600"/>
              </a:spcBef>
              <a:buNone/>
            </a:pPr>
            <a:endParaRPr lang="en-GB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FA453-F8F6-2548-B3A9-F5966AE7C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49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23E9-4D4D-C64C-97E4-78C283EE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Work Breakdown Structure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FF455-8D67-1E4A-93E4-6AC8F3679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2800" dirty="0"/>
              <a:t>B. Quality assurance tasks</a:t>
            </a:r>
          </a:p>
          <a:p>
            <a:pPr marL="725488" lvl="1" indent="-323850">
              <a:spcBef>
                <a:spcPts val="0"/>
              </a:spcBef>
              <a:buFont typeface="+mj-lt"/>
              <a:buAutoNum type="arabicPeriod"/>
            </a:pPr>
            <a:r>
              <a:rPr lang="en-GB" sz="2400" dirty="0"/>
              <a:t>Test planning</a:t>
            </a:r>
          </a:p>
          <a:p>
            <a:pPr marL="1260475" lvl="2" indent="-457200">
              <a:spcBef>
                <a:spcPts val="0"/>
              </a:spcBef>
              <a:buFont typeface="+mj-lt"/>
              <a:buAutoNum type="alphaLcPeriod"/>
            </a:pPr>
            <a:r>
              <a:rPr lang="en-GB" sz="2400" dirty="0"/>
              <a:t>Static test plan</a:t>
            </a:r>
          </a:p>
          <a:p>
            <a:pPr marL="1720850" lvl="3" indent="-514350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Requirements definition formal review</a:t>
            </a:r>
          </a:p>
          <a:p>
            <a:pPr marL="1720850" lvl="3" indent="-514350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Software model formal review </a:t>
            </a:r>
          </a:p>
          <a:p>
            <a:pPr marL="1720850" lvl="3" indent="-514350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Architectural design formal review</a:t>
            </a:r>
          </a:p>
          <a:p>
            <a:pPr marL="1720850" lvl="3" indent="-514350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Code review </a:t>
            </a:r>
          </a:p>
          <a:p>
            <a:pPr marL="1206500" lvl="2" indent="-403225">
              <a:spcBef>
                <a:spcPts val="0"/>
              </a:spcBef>
              <a:buFont typeface="+mj-lt"/>
              <a:buAutoNum type="alphaLcPeriod"/>
            </a:pPr>
            <a:r>
              <a:rPr lang="en-GB" sz="2400" dirty="0"/>
              <a:t>Dynamic test plan</a:t>
            </a:r>
          </a:p>
          <a:p>
            <a:pPr marL="1697038" lvl="3" indent="-541338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Unit test plan</a:t>
            </a:r>
          </a:p>
          <a:p>
            <a:pPr marL="1697038" lvl="3" indent="-541338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Integration test plan</a:t>
            </a:r>
          </a:p>
          <a:p>
            <a:pPr marL="1697038" lvl="3" indent="-541338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Performers test plan</a:t>
            </a:r>
          </a:p>
          <a:p>
            <a:pPr marL="1697038" lvl="3" indent="-541338">
              <a:spcBef>
                <a:spcPts val="0"/>
              </a:spcBef>
              <a:buFont typeface="+mj-lt"/>
              <a:buAutoNum type="romanLcPeriod"/>
            </a:pPr>
            <a:r>
              <a:rPr lang="en-GB" sz="2200" dirty="0"/>
              <a:t>User acceptance test plan </a:t>
            </a:r>
          </a:p>
          <a:p>
            <a:pPr marL="725488" lvl="1" indent="-323850">
              <a:spcBef>
                <a:spcPts val="0"/>
              </a:spcBef>
              <a:buFont typeface="+mj-lt"/>
              <a:buAutoNum type="arabicPeriod"/>
            </a:pPr>
            <a:r>
              <a:rPr lang="en-GB" sz="2400" dirty="0"/>
              <a:t>Test case design</a:t>
            </a:r>
          </a:p>
          <a:p>
            <a:pPr marL="725488" lvl="1" indent="-323850">
              <a:spcBef>
                <a:spcPts val="0"/>
              </a:spcBef>
              <a:buFont typeface="+mj-lt"/>
              <a:buAutoNum type="arabicPeriod"/>
            </a:pPr>
            <a:r>
              <a:rPr lang="en-GB" sz="2400" dirty="0"/>
              <a:t>Test data preparation</a:t>
            </a:r>
          </a:p>
          <a:p>
            <a:pPr marL="725488" lvl="1" indent="-323850">
              <a:spcBef>
                <a:spcPts val="0"/>
              </a:spcBef>
              <a:buFont typeface="+mj-lt"/>
              <a:buAutoNum type="arabicPeriod"/>
            </a:pPr>
            <a:r>
              <a:rPr lang="en-GB" sz="2400" dirty="0"/>
              <a:t>Testing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FA453-F8F6-2548-B3A9-F5966AE7C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809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23E9-4D4D-C64C-97E4-78C283EE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Work Breakdown Structure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FF455-8D67-1E4A-93E4-6AC8F3679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GB" sz="2800" dirty="0"/>
              <a:t>C. Management tasks</a:t>
            </a:r>
          </a:p>
          <a:p>
            <a:pPr marL="725488" lvl="1" indent="-323850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Set up management procedure and mechanism</a:t>
            </a:r>
          </a:p>
          <a:p>
            <a:pPr marL="725488" lvl="1" indent="-323850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Set up development team and organisational structure</a:t>
            </a:r>
          </a:p>
          <a:p>
            <a:pPr marL="725488" lvl="1" indent="-323850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Set up management infrastructure</a:t>
            </a:r>
          </a:p>
          <a:p>
            <a:pPr marL="1068388" lvl="2" indent="-352425">
              <a:spcBef>
                <a:spcPts val="600"/>
              </a:spcBef>
              <a:buFont typeface="+mj-lt"/>
              <a:buAutoNum type="alphaLcPeriod"/>
            </a:pPr>
            <a:r>
              <a:rPr lang="en-GB" sz="2400" dirty="0"/>
              <a:t>Set up configuration management platform (GitHub)</a:t>
            </a:r>
          </a:p>
          <a:p>
            <a:pPr marL="1068388" lvl="2" indent="-352425">
              <a:spcBef>
                <a:spcPts val="600"/>
              </a:spcBef>
              <a:buFont typeface="+mj-lt"/>
              <a:buAutoNum type="alphaLcPeriod"/>
            </a:pPr>
            <a:r>
              <a:rPr lang="en-GB" sz="2400" dirty="0"/>
              <a:t>Set up project communication platform </a:t>
            </a:r>
          </a:p>
          <a:p>
            <a:pPr marL="1068388" lvl="2" indent="-352425">
              <a:spcBef>
                <a:spcPts val="600"/>
              </a:spcBef>
              <a:buFont typeface="+mj-lt"/>
              <a:buAutoNum type="alphaLcPeriod"/>
            </a:pPr>
            <a:r>
              <a:rPr lang="en-GB" sz="2400" dirty="0"/>
              <a:t>Set up project documentation platform (web portal)</a:t>
            </a:r>
          </a:p>
          <a:p>
            <a:pPr marL="715963" lvl="1" indent="-314325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Development of project plan</a:t>
            </a:r>
          </a:p>
          <a:p>
            <a:pPr marL="715963" lvl="1" indent="-314325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Monitoring development process</a:t>
            </a:r>
          </a:p>
          <a:p>
            <a:pPr marL="715963" lvl="1" indent="-314325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Staff training</a:t>
            </a:r>
          </a:p>
          <a:p>
            <a:pPr marL="715963" lvl="1" indent="-314325">
              <a:spcBef>
                <a:spcPts val="600"/>
              </a:spcBef>
              <a:buFont typeface="+mj-lt"/>
              <a:buAutoNum type="arabicPeriod"/>
            </a:pPr>
            <a:r>
              <a:rPr lang="en-GB" sz="2400" dirty="0"/>
              <a:t>Staff recruitment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FA453-F8F6-2548-B3A9-F5966AE7C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013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D0F4B-CC7E-A74D-82E5-55CEAD8F181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GB" sz="3600" dirty="0"/>
              <a:t>How to decompose a project into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30BB9-95D4-CA41-86A9-C35435755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20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122AD3E-B0E9-CD4E-8CA8-3E1B0118D6B5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1008249"/>
            <a:ext cx="8461127" cy="5160539"/>
          </a:xfrm>
          <a:prstGeom prst="rect">
            <a:avLst/>
          </a:prstGeom>
          <a:noFill/>
        </p:spPr>
        <p:txBody>
          <a:bodyPr/>
          <a:lstStyle>
            <a:lvl1pPr marL="180975" indent="-180975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302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077913" indent="-163513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527175" indent="-155575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1974850" indent="-1460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 dirty="0"/>
              <a:t>Each task should be an indivisible units of work for one person</a:t>
            </a:r>
          </a:p>
          <a:p>
            <a:r>
              <a:rPr lang="en-US" altLang="en-US" sz="2800" dirty="0"/>
              <a:t>Rules of thumb</a:t>
            </a:r>
          </a:p>
          <a:p>
            <a:pPr marL="715963" lvl="1" indent="-258763"/>
            <a:r>
              <a:rPr lang="en-US" altLang="en-US" sz="2800" dirty="0"/>
              <a:t>Nothing less than a day is a task</a:t>
            </a:r>
          </a:p>
          <a:p>
            <a:pPr marL="715963" lvl="1" indent="-258763"/>
            <a:r>
              <a:rPr lang="en-US" altLang="en-US" sz="2800" dirty="0"/>
              <a:t>Anything more than a week is at least two tasks</a:t>
            </a:r>
          </a:p>
          <a:p>
            <a:pPr marL="1163638" lvl="2" indent="-258763"/>
            <a:r>
              <a:rPr lang="en-US" altLang="en-US" sz="2400" dirty="0"/>
              <a:t>Longer tasks harder to estimate</a:t>
            </a:r>
          </a:p>
          <a:p>
            <a:pPr marL="715963" lvl="1" indent="-258763"/>
            <a:r>
              <a:rPr lang="en-US" altLang="en-US" sz="2800" dirty="0"/>
              <a:t>A task is one logical piece </a:t>
            </a:r>
          </a:p>
          <a:p>
            <a:pPr marL="1163638" lvl="2" indent="-258763"/>
            <a:r>
              <a:rPr lang="en-US" altLang="en-US" sz="2400" dirty="0"/>
              <a:t>A task should not work on two or more irrelevant products</a:t>
            </a:r>
          </a:p>
        </p:txBody>
      </p:sp>
    </p:spTree>
    <p:extLst>
      <p:ext uri="{BB962C8B-B14F-4D97-AF65-F5344CB8AC3E}">
        <p14:creationId xmlns:p14="http://schemas.microsoft.com/office/powerpoint/2010/main" val="2237269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613B-0110-9D4F-8A6C-974ABDFD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Product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E9BF-E75D-7843-AED9-2E46293E3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21</a:t>
            </a:fld>
            <a:endParaRPr lang="en-US" dirty="0"/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4E1E3202-6732-1748-8F8B-D69071330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818" y="1070826"/>
            <a:ext cx="1430476" cy="707550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Project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Products</a:t>
            </a:r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D0782883-0473-2B4A-9D87-00971D7D5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31" y="2754669"/>
            <a:ext cx="1430476" cy="704748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Technical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Products</a:t>
            </a:r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1089747B-7FE1-EB44-A249-BF7D41E3EBAE}"/>
              </a:ext>
            </a:extLst>
          </p:cNvPr>
          <p:cNvSpPr>
            <a:spLocks/>
          </p:cNvSpPr>
          <p:nvPr/>
        </p:nvSpPr>
        <p:spPr bwMode="auto">
          <a:xfrm>
            <a:off x="1365950" y="2231666"/>
            <a:ext cx="3465974" cy="521602"/>
          </a:xfrm>
          <a:custGeom>
            <a:avLst/>
            <a:gdLst>
              <a:gd name="T0" fmla="*/ 2216 w 2217"/>
              <a:gd name="T1" fmla="*/ 0 h 103"/>
              <a:gd name="T2" fmla="*/ 0 w 2217"/>
              <a:gd name="T3" fmla="*/ 0 h 103"/>
              <a:gd name="T4" fmla="*/ 0 w 2217"/>
              <a:gd name="T5" fmla="*/ 102 h 1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17" h="103">
                <a:moveTo>
                  <a:pt x="2216" y="0"/>
                </a:moveTo>
                <a:lnTo>
                  <a:pt x="0" y="0"/>
                </a:lnTo>
                <a:lnTo>
                  <a:pt x="0" y="102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91F012DE-444E-554C-A3DD-66B5441B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3" y="4062888"/>
            <a:ext cx="1291337" cy="707550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34DF9656-3597-3E45-B039-0CA8CD0B8D6B}"/>
              </a:ext>
            </a:extLst>
          </p:cNvPr>
          <p:cNvSpPr>
            <a:spLocks/>
          </p:cNvSpPr>
          <p:nvPr/>
        </p:nvSpPr>
        <p:spPr bwMode="auto">
          <a:xfrm>
            <a:off x="679634" y="3737080"/>
            <a:ext cx="789498" cy="330012"/>
          </a:xfrm>
          <a:custGeom>
            <a:avLst/>
            <a:gdLst>
              <a:gd name="T0" fmla="*/ 504 w 505"/>
              <a:gd name="T1" fmla="*/ 0 h 110"/>
              <a:gd name="T2" fmla="*/ 0 w 505"/>
              <a:gd name="T3" fmla="*/ 0 h 110"/>
              <a:gd name="T4" fmla="*/ 0 w 505"/>
              <a:gd name="T5" fmla="*/ 109 h 1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05" h="110">
                <a:moveTo>
                  <a:pt x="504" y="0"/>
                </a:moveTo>
                <a:lnTo>
                  <a:pt x="0" y="0"/>
                </a:lnTo>
                <a:lnTo>
                  <a:pt x="0" y="10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1" name="Line 15">
            <a:extLst>
              <a:ext uri="{FF2B5EF4-FFF2-40B4-BE49-F238E27FC236}">
                <a16:creationId xmlns:a16="http://schemas.microsoft.com/office/drawing/2014/main" id="{F0FFBC82-8511-0B46-9EA8-18E446C2B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9132" y="3847120"/>
            <a:ext cx="0" cy="15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2" name="AutoShape 16">
            <a:extLst>
              <a:ext uri="{FF2B5EF4-FFF2-40B4-BE49-F238E27FC236}">
                <a16:creationId xmlns:a16="http://schemas.microsoft.com/office/drawing/2014/main" id="{C042ADB6-D51C-1540-BAE5-B7AFF12F2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131" y="4062888"/>
            <a:ext cx="1232651" cy="707550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995D5866-3596-0745-A5D5-1157E6F94042}"/>
              </a:ext>
            </a:extLst>
          </p:cNvPr>
          <p:cNvSpPr>
            <a:spLocks/>
          </p:cNvSpPr>
          <p:nvPr/>
        </p:nvSpPr>
        <p:spPr bwMode="auto">
          <a:xfrm>
            <a:off x="1467569" y="3737080"/>
            <a:ext cx="806695" cy="328612"/>
          </a:xfrm>
          <a:custGeom>
            <a:avLst/>
            <a:gdLst>
              <a:gd name="T0" fmla="*/ 0 w 516"/>
              <a:gd name="T1" fmla="*/ 0 h 109"/>
              <a:gd name="T2" fmla="*/ 515 w 516"/>
              <a:gd name="T3" fmla="*/ 0 h 109"/>
              <a:gd name="T4" fmla="*/ 515 w 516"/>
              <a:gd name="T5" fmla="*/ 108 h 1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6" h="109">
                <a:moveTo>
                  <a:pt x="0" y="0"/>
                </a:moveTo>
                <a:lnTo>
                  <a:pt x="515" y="0"/>
                </a:lnTo>
                <a:lnTo>
                  <a:pt x="515" y="10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4" name="Line 18">
            <a:extLst>
              <a:ext uri="{FF2B5EF4-FFF2-40B4-BE49-F238E27FC236}">
                <a16:creationId xmlns:a16="http://schemas.microsoft.com/office/drawing/2014/main" id="{9FE8B249-E351-CF40-8432-122E3FC2C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9132" y="3847120"/>
            <a:ext cx="0" cy="15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5" name="AutoShape 19">
            <a:extLst>
              <a:ext uri="{FF2B5EF4-FFF2-40B4-BE49-F238E27FC236}">
                <a16:creationId xmlns:a16="http://schemas.microsoft.com/office/drawing/2014/main" id="{547B1289-448F-FB44-AF0D-15CD23F76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7574" y="2702050"/>
            <a:ext cx="1430476" cy="704748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Management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 Products</a:t>
            </a:r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D3170671-B6E0-9340-85C5-037C3057235C}"/>
              </a:ext>
            </a:extLst>
          </p:cNvPr>
          <p:cNvSpPr>
            <a:spLocks/>
          </p:cNvSpPr>
          <p:nvPr/>
        </p:nvSpPr>
        <p:spPr bwMode="auto">
          <a:xfrm>
            <a:off x="4831924" y="2232362"/>
            <a:ext cx="2229275" cy="467013"/>
          </a:xfrm>
          <a:custGeom>
            <a:avLst/>
            <a:gdLst>
              <a:gd name="T0" fmla="*/ 0 w 2108"/>
              <a:gd name="T1" fmla="*/ 0 h 100"/>
              <a:gd name="T2" fmla="*/ 2107 w 2108"/>
              <a:gd name="T3" fmla="*/ 0 h 100"/>
              <a:gd name="T4" fmla="*/ 2107 w 2108"/>
              <a:gd name="T5" fmla="*/ 99 h 1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08" h="100">
                <a:moveTo>
                  <a:pt x="0" y="0"/>
                </a:moveTo>
                <a:lnTo>
                  <a:pt x="2107" y="0"/>
                </a:lnTo>
                <a:lnTo>
                  <a:pt x="2107" y="9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7" name="AutoShape 21">
            <a:extLst>
              <a:ext uri="{FF2B5EF4-FFF2-40B4-BE49-F238E27FC236}">
                <a16:creationId xmlns:a16="http://schemas.microsoft.com/office/drawing/2014/main" id="{67A89A73-35F0-FB4A-9BE1-AEF8AC3C7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7936" y="2723971"/>
            <a:ext cx="1428913" cy="706149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QA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Times" pitchFamily="2" charset="0"/>
              </a:rPr>
              <a:t>Products</a:t>
            </a:r>
          </a:p>
        </p:txBody>
      </p:sp>
      <p:sp>
        <p:nvSpPr>
          <p:cNvPr id="18" name="AutoShape 22">
            <a:extLst>
              <a:ext uri="{FF2B5EF4-FFF2-40B4-BE49-F238E27FC236}">
                <a16:creationId xmlns:a16="http://schemas.microsoft.com/office/drawing/2014/main" id="{35F9A0EF-4D4C-EF4D-97F6-F112A9115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944" y="4039372"/>
            <a:ext cx="1137406" cy="707550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9" name="Freeform 23">
            <a:extLst>
              <a:ext uri="{FF2B5EF4-FFF2-40B4-BE49-F238E27FC236}">
                <a16:creationId xmlns:a16="http://schemas.microsoft.com/office/drawing/2014/main" id="{D0DA8FB6-0D95-6E47-89CE-06BC6C5753EF}"/>
              </a:ext>
            </a:extLst>
          </p:cNvPr>
          <p:cNvSpPr>
            <a:spLocks/>
          </p:cNvSpPr>
          <p:nvPr/>
        </p:nvSpPr>
        <p:spPr bwMode="auto">
          <a:xfrm>
            <a:off x="6274828" y="3736994"/>
            <a:ext cx="786371" cy="287875"/>
          </a:xfrm>
          <a:custGeom>
            <a:avLst/>
            <a:gdLst>
              <a:gd name="T0" fmla="*/ 502 w 503"/>
              <a:gd name="T1" fmla="*/ 0 h 110"/>
              <a:gd name="T2" fmla="*/ 0 w 503"/>
              <a:gd name="T3" fmla="*/ 0 h 110"/>
              <a:gd name="T4" fmla="*/ 0 w 503"/>
              <a:gd name="T5" fmla="*/ 109 h 1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03" h="110">
                <a:moveTo>
                  <a:pt x="502" y="0"/>
                </a:moveTo>
                <a:lnTo>
                  <a:pt x="0" y="0"/>
                </a:lnTo>
                <a:lnTo>
                  <a:pt x="0" y="10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959D0A8A-98B8-1341-A789-2E2ED1340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1025" y="3837313"/>
            <a:ext cx="0" cy="15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1" name="AutoShape 25">
            <a:extLst>
              <a:ext uri="{FF2B5EF4-FFF2-40B4-BE49-F238E27FC236}">
                <a16:creationId xmlns:a16="http://schemas.microsoft.com/office/drawing/2014/main" id="{2BBF3268-3197-D94F-BE45-83645F164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051" y="4024869"/>
            <a:ext cx="1137406" cy="707550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22" name="Freeform 26">
            <a:extLst>
              <a:ext uri="{FF2B5EF4-FFF2-40B4-BE49-F238E27FC236}">
                <a16:creationId xmlns:a16="http://schemas.microsoft.com/office/drawing/2014/main" id="{571EAFC5-4772-CC49-89F9-E40E1A66F88F}"/>
              </a:ext>
            </a:extLst>
          </p:cNvPr>
          <p:cNvSpPr>
            <a:spLocks/>
          </p:cNvSpPr>
          <p:nvPr/>
        </p:nvSpPr>
        <p:spPr bwMode="auto">
          <a:xfrm>
            <a:off x="7064515" y="3738133"/>
            <a:ext cx="805132" cy="286735"/>
          </a:xfrm>
          <a:custGeom>
            <a:avLst/>
            <a:gdLst>
              <a:gd name="T0" fmla="*/ 0 w 515"/>
              <a:gd name="T1" fmla="*/ 0 h 110"/>
              <a:gd name="T2" fmla="*/ 514 w 515"/>
              <a:gd name="T3" fmla="*/ 0 h 110"/>
              <a:gd name="T4" fmla="*/ 514 w 515"/>
              <a:gd name="T5" fmla="*/ 109 h 1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5" h="110">
                <a:moveTo>
                  <a:pt x="0" y="0"/>
                </a:moveTo>
                <a:lnTo>
                  <a:pt x="514" y="0"/>
                </a:lnTo>
                <a:lnTo>
                  <a:pt x="514" y="10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196CDBB1-4AF2-3B48-92EB-F9C6CF10C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1025" y="3837313"/>
            <a:ext cx="0" cy="15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4" name="AutoShape 28">
            <a:extLst>
              <a:ext uri="{FF2B5EF4-FFF2-40B4-BE49-F238E27FC236}">
                <a16:creationId xmlns:a16="http://schemas.microsoft.com/office/drawing/2014/main" id="{1ED9A5B5-F0F4-4942-AE3E-519C9C026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132" y="4053080"/>
            <a:ext cx="1137406" cy="706149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25" name="Freeform 29">
            <a:extLst>
              <a:ext uri="{FF2B5EF4-FFF2-40B4-BE49-F238E27FC236}">
                <a16:creationId xmlns:a16="http://schemas.microsoft.com/office/drawing/2014/main" id="{DB8F525B-7D25-7741-AD7E-DD2CF4F27A8D}"/>
              </a:ext>
            </a:extLst>
          </p:cNvPr>
          <p:cNvSpPr>
            <a:spLocks/>
          </p:cNvSpPr>
          <p:nvPr/>
        </p:nvSpPr>
        <p:spPr bwMode="auto">
          <a:xfrm>
            <a:off x="3359602" y="3737079"/>
            <a:ext cx="787935" cy="315903"/>
          </a:xfrm>
          <a:custGeom>
            <a:avLst/>
            <a:gdLst>
              <a:gd name="T0" fmla="*/ 503 w 504"/>
              <a:gd name="T1" fmla="*/ 0 h 110"/>
              <a:gd name="T2" fmla="*/ 0 w 504"/>
              <a:gd name="T3" fmla="*/ 0 h 110"/>
              <a:gd name="T4" fmla="*/ 0 w 504"/>
              <a:gd name="T5" fmla="*/ 109 h 1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04" h="110">
                <a:moveTo>
                  <a:pt x="503" y="0"/>
                </a:moveTo>
                <a:lnTo>
                  <a:pt x="0" y="0"/>
                </a:lnTo>
                <a:lnTo>
                  <a:pt x="0" y="109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6" name="Line 30">
            <a:extLst>
              <a:ext uri="{FF2B5EF4-FFF2-40B4-BE49-F238E27FC236}">
                <a16:creationId xmlns:a16="http://schemas.microsoft.com/office/drawing/2014/main" id="{30EF1E0A-E4A4-9B4B-94C6-B1EE6DD0B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9472" y="3847120"/>
            <a:ext cx="0" cy="168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7" name="AutoShape 31">
            <a:extLst>
              <a:ext uri="{FF2B5EF4-FFF2-40B4-BE49-F238E27FC236}">
                <a16:creationId xmlns:a16="http://schemas.microsoft.com/office/drawing/2014/main" id="{2B4C5114-7CCA-2746-AB74-A200A37CF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963" y="4037690"/>
            <a:ext cx="1248472" cy="706149"/>
          </a:xfrm>
          <a:prstGeom prst="roundRect">
            <a:avLst>
              <a:gd name="adj" fmla="val 16597"/>
            </a:avLst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28" name="Freeform 32">
            <a:extLst>
              <a:ext uri="{FF2B5EF4-FFF2-40B4-BE49-F238E27FC236}">
                <a16:creationId xmlns:a16="http://schemas.microsoft.com/office/drawing/2014/main" id="{A64D0BDA-7855-7549-B45F-240A0C00CEC6}"/>
              </a:ext>
            </a:extLst>
          </p:cNvPr>
          <p:cNvSpPr>
            <a:spLocks/>
          </p:cNvSpPr>
          <p:nvPr/>
        </p:nvSpPr>
        <p:spPr bwMode="auto">
          <a:xfrm>
            <a:off x="4153885" y="3735967"/>
            <a:ext cx="806695" cy="288903"/>
          </a:xfrm>
          <a:custGeom>
            <a:avLst/>
            <a:gdLst>
              <a:gd name="T0" fmla="*/ 0 w 516"/>
              <a:gd name="T1" fmla="*/ 0 h 109"/>
              <a:gd name="T2" fmla="*/ 515 w 516"/>
              <a:gd name="T3" fmla="*/ 0 h 109"/>
              <a:gd name="T4" fmla="*/ 515 w 516"/>
              <a:gd name="T5" fmla="*/ 108 h 1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16" h="109">
                <a:moveTo>
                  <a:pt x="0" y="0"/>
                </a:moveTo>
                <a:lnTo>
                  <a:pt x="515" y="0"/>
                </a:lnTo>
                <a:lnTo>
                  <a:pt x="515" y="108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9" name="Line 33">
            <a:extLst>
              <a:ext uri="{FF2B5EF4-FFF2-40B4-BE49-F238E27FC236}">
                <a16:creationId xmlns:a16="http://schemas.microsoft.com/office/drawing/2014/main" id="{CA22BBF4-D191-EF4F-9330-29B0CD77D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9472" y="3847120"/>
            <a:ext cx="0" cy="168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0" name="Line 34">
            <a:extLst>
              <a:ext uri="{FF2B5EF4-FFF2-40B4-BE49-F238E27FC236}">
                <a16:creationId xmlns:a16="http://schemas.microsoft.com/office/drawing/2014/main" id="{24948E79-8B88-6848-B20B-985278F52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689" y="1777713"/>
            <a:ext cx="0" cy="45395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1" name="Rectangle 35">
            <a:extLst>
              <a:ext uri="{FF2B5EF4-FFF2-40B4-BE49-F238E27FC236}">
                <a16:creationId xmlns:a16="http://schemas.microsoft.com/office/drawing/2014/main" id="{ACFAE154-D81D-9641-BD8E-73F9F94C5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081" y="4252912"/>
            <a:ext cx="992188" cy="3286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Reports</a:t>
            </a:r>
          </a:p>
        </p:txBody>
      </p:sp>
      <p:sp>
        <p:nvSpPr>
          <p:cNvPr id="34" name="Rectangle 38">
            <a:extLst>
              <a:ext uri="{FF2B5EF4-FFF2-40B4-BE49-F238E27FC236}">
                <a16:creationId xmlns:a16="http://schemas.microsoft.com/office/drawing/2014/main" id="{E737F941-1717-754A-94A6-353B631D8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28" y="4146549"/>
            <a:ext cx="1096963" cy="6969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Program Code</a:t>
            </a:r>
          </a:p>
          <a:p>
            <a:pPr algn="ctr" eaLnBrk="1">
              <a:spcBef>
                <a:spcPct val="0"/>
              </a:spcBef>
              <a:buFontTx/>
              <a:buNone/>
            </a:pPr>
            <a:endParaRPr lang="en-US" altLang="en-US" sz="1700" dirty="0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5" name="Rectangle 39">
            <a:extLst>
              <a:ext uri="{FF2B5EF4-FFF2-40B4-BE49-F238E27FC236}">
                <a16:creationId xmlns:a16="http://schemas.microsoft.com/office/drawing/2014/main" id="{718E0924-A4A1-AE4D-80DB-574C73A9C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425" y="4279900"/>
            <a:ext cx="1190357" cy="3286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Documents</a:t>
            </a:r>
          </a:p>
        </p:txBody>
      </p:sp>
      <p:sp>
        <p:nvSpPr>
          <p:cNvPr id="38" name="Rectangle 42">
            <a:extLst>
              <a:ext uri="{FF2B5EF4-FFF2-40B4-BE49-F238E27FC236}">
                <a16:creationId xmlns:a16="http://schemas.microsoft.com/office/drawing/2014/main" id="{A627DEF0-7FB3-3644-8F0A-9152B48C1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400" y="4277130"/>
            <a:ext cx="64611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Plans</a:t>
            </a:r>
          </a:p>
        </p:txBody>
      </p:sp>
      <p:sp>
        <p:nvSpPr>
          <p:cNvPr id="39" name="Rectangle 43">
            <a:extLst>
              <a:ext uri="{FF2B5EF4-FFF2-40B4-BE49-F238E27FC236}">
                <a16:creationId xmlns:a16="http://schemas.microsoft.com/office/drawing/2014/main" id="{1736BD81-02F3-C541-9F91-E0B849409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0764" y="4265612"/>
            <a:ext cx="944562" cy="2809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QA Plans</a:t>
            </a:r>
          </a:p>
        </p:txBody>
      </p:sp>
      <p:sp>
        <p:nvSpPr>
          <p:cNvPr id="40" name="Rectangle 44">
            <a:extLst>
              <a:ext uri="{FF2B5EF4-FFF2-40B4-BE49-F238E27FC236}">
                <a16:creationId xmlns:a16="http://schemas.microsoft.com/office/drawing/2014/main" id="{ED0DD5D1-8F02-924C-9E0F-3059E61DF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496" y="4280693"/>
            <a:ext cx="1087438" cy="2143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QC Results</a:t>
            </a:r>
          </a:p>
        </p:txBody>
      </p:sp>
      <p:sp>
        <p:nvSpPr>
          <p:cNvPr id="42" name="Line 34">
            <a:extLst>
              <a:ext uri="{FF2B5EF4-FFF2-40B4-BE49-F238E27FC236}">
                <a16:creationId xmlns:a16="http://schemas.microsoft.com/office/drawing/2014/main" id="{A6935C90-8241-C340-B6CC-92348E8CF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689" y="2231666"/>
            <a:ext cx="0" cy="45395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43" name="Line 34">
            <a:extLst>
              <a:ext uri="{FF2B5EF4-FFF2-40B4-BE49-F238E27FC236}">
                <a16:creationId xmlns:a16="http://schemas.microsoft.com/office/drawing/2014/main" id="{441CE8BF-2838-6B43-BC32-796FBAD19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6957" y="3459417"/>
            <a:ext cx="4264" cy="2762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44" name="Line 34">
            <a:extLst>
              <a:ext uri="{FF2B5EF4-FFF2-40B4-BE49-F238E27FC236}">
                <a16:creationId xmlns:a16="http://schemas.microsoft.com/office/drawing/2014/main" id="{B91C7739-888D-C540-8EEC-487228B02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1949" y="3434092"/>
            <a:ext cx="4264" cy="2762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45" name="Line 34">
            <a:extLst>
              <a:ext uri="{FF2B5EF4-FFF2-40B4-BE49-F238E27FC236}">
                <a16:creationId xmlns:a16="http://schemas.microsoft.com/office/drawing/2014/main" id="{C77E09F6-4559-994A-8BC6-B6215E193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3760" y="3409451"/>
            <a:ext cx="4264" cy="2762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1F9C7A-2A3E-C34B-8E8A-5B997EB33455}"/>
              </a:ext>
            </a:extLst>
          </p:cNvPr>
          <p:cNvSpPr txBox="1"/>
          <p:nvPr/>
        </p:nvSpPr>
        <p:spPr>
          <a:xfrm>
            <a:off x="395536" y="5212918"/>
            <a:ext cx="8311736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To determine the dependence among tasks, it is necessary to know what are the products of each task.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9BD038-139C-F84E-9205-DDD2FBBBF31D}"/>
              </a:ext>
            </a:extLst>
          </p:cNvPr>
          <p:cNvSpPr txBox="1"/>
          <p:nvPr/>
        </p:nvSpPr>
        <p:spPr>
          <a:xfrm>
            <a:off x="5123189" y="859889"/>
            <a:ext cx="358408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Typical classification of products/artefacts of SE project. </a:t>
            </a:r>
          </a:p>
        </p:txBody>
      </p:sp>
    </p:spTree>
    <p:extLst>
      <p:ext uri="{BB962C8B-B14F-4D97-AF65-F5344CB8AC3E}">
        <p14:creationId xmlns:p14="http://schemas.microsoft.com/office/powerpoint/2010/main" val="3733015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EB77-EBEC-EF44-BD6A-09A2A851AF7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GB" sz="3600" dirty="0"/>
              <a:t>Relations between Tasks and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AF567-9746-A94E-AF78-9A0CB671F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22</a:t>
            </a:fld>
            <a:endParaRPr lang="en-US" dirty="0"/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AA66892C-E339-C44A-AAE3-70698B530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063" y="1555750"/>
            <a:ext cx="1096962" cy="463550"/>
          </a:xfrm>
          <a:prstGeom prst="roundRect">
            <a:avLst>
              <a:gd name="adj" fmla="val 16597"/>
            </a:avLst>
          </a:prstGeom>
          <a:solidFill>
            <a:srgbClr val="FFFFCC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75A0FE34-6921-5D4C-A518-E283BC084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2549525"/>
            <a:ext cx="1096963" cy="461963"/>
          </a:xfrm>
          <a:prstGeom prst="roundRect">
            <a:avLst>
              <a:gd name="adj" fmla="val 16597"/>
            </a:avLst>
          </a:prstGeom>
          <a:solidFill>
            <a:srgbClr val="FFFFCC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8A5B03A6-BFC3-B843-B3DD-069BB2C6ABE9}"/>
              </a:ext>
            </a:extLst>
          </p:cNvPr>
          <p:cNvSpPr>
            <a:spLocks/>
          </p:cNvSpPr>
          <p:nvPr/>
        </p:nvSpPr>
        <p:spPr bwMode="auto">
          <a:xfrm>
            <a:off x="3124200" y="2295525"/>
            <a:ext cx="2655888" cy="241300"/>
          </a:xfrm>
          <a:custGeom>
            <a:avLst/>
            <a:gdLst>
              <a:gd name="T0" fmla="*/ 2147483646 w 1699"/>
              <a:gd name="T1" fmla="*/ 0 h 67"/>
              <a:gd name="T2" fmla="*/ 0 w 1699"/>
              <a:gd name="T3" fmla="*/ 0 h 67"/>
              <a:gd name="T4" fmla="*/ 0 w 1699"/>
              <a:gd name="T5" fmla="*/ 2147483646 h 6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99" h="67">
                <a:moveTo>
                  <a:pt x="1698" y="0"/>
                </a:moveTo>
                <a:lnTo>
                  <a:pt x="0" y="0"/>
                </a:lnTo>
                <a:lnTo>
                  <a:pt x="0" y="66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9FA33687-6B7F-A148-9E34-9CEEE04E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263" y="2549525"/>
            <a:ext cx="1382712" cy="461963"/>
          </a:xfrm>
          <a:prstGeom prst="roundRect">
            <a:avLst>
              <a:gd name="adj" fmla="val 16597"/>
            </a:avLst>
          </a:prstGeom>
          <a:solidFill>
            <a:srgbClr val="FFFFCC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FEA1800B-5581-9840-9531-CDBCAF34A125}"/>
              </a:ext>
            </a:extLst>
          </p:cNvPr>
          <p:cNvSpPr>
            <a:spLocks/>
          </p:cNvSpPr>
          <p:nvPr/>
        </p:nvSpPr>
        <p:spPr bwMode="auto">
          <a:xfrm>
            <a:off x="6005513" y="2480618"/>
            <a:ext cx="2524125" cy="217488"/>
          </a:xfrm>
          <a:custGeom>
            <a:avLst/>
            <a:gdLst>
              <a:gd name="T0" fmla="*/ 0 w 1614"/>
              <a:gd name="T1" fmla="*/ 0 h 66"/>
              <a:gd name="T2" fmla="*/ 2147483646 w 1614"/>
              <a:gd name="T3" fmla="*/ 0 h 66"/>
              <a:gd name="T4" fmla="*/ 2147483646 w 1614"/>
              <a:gd name="T5" fmla="*/ 2147483646 h 6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14" h="66">
                <a:moveTo>
                  <a:pt x="0" y="0"/>
                </a:moveTo>
                <a:lnTo>
                  <a:pt x="1613" y="0"/>
                </a:lnTo>
                <a:lnTo>
                  <a:pt x="1613" y="65"/>
                </a:lnTo>
              </a:path>
            </a:pathLst>
          </a:custGeom>
          <a:noFill/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F1F418A9-6EA7-A541-B12E-6D432490B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6050" y="2528888"/>
            <a:ext cx="1095375" cy="463550"/>
          </a:xfrm>
          <a:prstGeom prst="roundRect">
            <a:avLst>
              <a:gd name="adj" fmla="val 16597"/>
            </a:avLst>
          </a:prstGeom>
          <a:solidFill>
            <a:srgbClr val="FFFFCC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BEB8380C-9A3A-1A4C-93A8-DC736559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0087" y="2033688"/>
            <a:ext cx="1" cy="46511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77B4312-EEB7-5A49-9E90-0769BCD11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75" y="1647825"/>
            <a:ext cx="1525588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Products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54AE361A-545D-1B49-8713-2676E27E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813" y="2635250"/>
            <a:ext cx="1173162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Technical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6472507A-3EBB-4547-8A84-2BE6B0B7C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425" y="2657475"/>
            <a:ext cx="1114425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Quality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6A393CE5-86BF-2745-A1FA-DDEB93AC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6956" y="2627313"/>
            <a:ext cx="1652587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Management</a:t>
            </a:r>
          </a:p>
        </p:txBody>
      </p:sp>
      <p:sp>
        <p:nvSpPr>
          <p:cNvPr id="18" name="AutoShape 20">
            <a:extLst>
              <a:ext uri="{FF2B5EF4-FFF2-40B4-BE49-F238E27FC236}">
                <a16:creationId xmlns:a16="http://schemas.microsoft.com/office/drawing/2014/main" id="{3AD39E5E-DE8A-6145-B34F-C4F2D881E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9" y="2857500"/>
            <a:ext cx="1898646" cy="3227388"/>
          </a:xfrm>
          <a:prstGeom prst="roundRect">
            <a:avLst>
              <a:gd name="adj" fmla="val 0"/>
            </a:avLst>
          </a:prstGeom>
          <a:solidFill>
            <a:srgbClr val="CCFFCC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3D6C4388-0BDE-CE49-9E70-B2D498B8F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9" y="2954197"/>
            <a:ext cx="1819275" cy="306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65113" indent="144463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64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64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 A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Activity A1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Activity A2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Activity A3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 B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Activity B1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Activity B2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Task C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Activity C1</a:t>
            </a:r>
          </a:p>
          <a:p>
            <a:pPr eaLnBrk="1">
              <a:spcBef>
                <a:spcPct val="0"/>
              </a:spcBef>
              <a:buFontTx/>
              <a:buNone/>
            </a:pPr>
            <a:endParaRPr lang="en-US" altLang="en-US" sz="2200" dirty="0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2186424C-A955-A342-8CD4-4724156F2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950" y="3567113"/>
            <a:ext cx="6515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D7EE475A-E33E-7A46-BE71-A99DD3DF7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8063" y="3859213"/>
            <a:ext cx="65135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B408052C-EC53-EA44-82ED-261F1F0AA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4152900"/>
            <a:ext cx="651668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3" name="Line 25">
            <a:extLst>
              <a:ext uri="{FF2B5EF4-FFF2-40B4-BE49-F238E27FC236}">
                <a16:creationId xmlns:a16="http://schemas.microsoft.com/office/drawing/2014/main" id="{8CA65BCC-D69C-154C-90E3-87C2D71D1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9013" y="4827588"/>
            <a:ext cx="65135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4" name="Line 26">
            <a:extLst>
              <a:ext uri="{FF2B5EF4-FFF2-40B4-BE49-F238E27FC236}">
                <a16:creationId xmlns:a16="http://schemas.microsoft.com/office/drawing/2014/main" id="{171AFA9E-547C-C141-922E-CE75569BB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0125" y="5157788"/>
            <a:ext cx="65166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5" name="Line 27">
            <a:extLst>
              <a:ext uri="{FF2B5EF4-FFF2-40B4-BE49-F238E27FC236}">
                <a16:creationId xmlns:a16="http://schemas.microsoft.com/office/drawing/2014/main" id="{364C6BF7-57B1-0F4F-9074-82E04EF18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0600" y="5829300"/>
            <a:ext cx="6515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grpSp>
        <p:nvGrpSpPr>
          <p:cNvPr id="26" name="Group 28">
            <a:extLst>
              <a:ext uri="{FF2B5EF4-FFF2-40B4-BE49-F238E27FC236}">
                <a16:creationId xmlns:a16="http://schemas.microsoft.com/office/drawing/2014/main" id="{E493D718-434D-CC49-9C28-99642671BDA9}"/>
              </a:ext>
            </a:extLst>
          </p:cNvPr>
          <p:cNvGrpSpPr>
            <a:grpSpLocks/>
          </p:cNvGrpSpPr>
          <p:nvPr/>
        </p:nvGrpSpPr>
        <p:grpSpPr bwMode="auto">
          <a:xfrm>
            <a:off x="2720975" y="3054350"/>
            <a:ext cx="808038" cy="2905125"/>
            <a:chOff x="1877" y="2188"/>
            <a:chExt cx="517" cy="2075"/>
          </a:xfrm>
        </p:grpSpPr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8C5F0D5D-FA6F-C849-8609-0B7336D2D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7" y="2194"/>
              <a:ext cx="0" cy="20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598AD962-1EAD-CC44-8913-CB9252783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7" y="2188"/>
              <a:ext cx="0" cy="20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5CAE0B7D-8913-4D46-8C57-08A97806F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" y="2196"/>
              <a:ext cx="0" cy="20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F11ED39D-5E5B-7B48-BF6F-AEC186581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5" y="2190"/>
              <a:ext cx="0" cy="20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41EB71D6-5945-924B-B395-E59B5DCA2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4" y="2197"/>
              <a:ext cx="0" cy="20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</p:grpSp>
      <p:grpSp>
        <p:nvGrpSpPr>
          <p:cNvPr id="32" name="Group 34">
            <a:extLst>
              <a:ext uri="{FF2B5EF4-FFF2-40B4-BE49-F238E27FC236}">
                <a16:creationId xmlns:a16="http://schemas.microsoft.com/office/drawing/2014/main" id="{BF427A48-519D-7C45-BFB9-51F882BE29A1}"/>
              </a:ext>
            </a:extLst>
          </p:cNvPr>
          <p:cNvGrpSpPr>
            <a:grpSpLocks/>
          </p:cNvGrpSpPr>
          <p:nvPr/>
        </p:nvGrpSpPr>
        <p:grpSpPr bwMode="auto">
          <a:xfrm>
            <a:off x="5356225" y="3038475"/>
            <a:ext cx="860425" cy="2905125"/>
            <a:chOff x="3562" y="2177"/>
            <a:chExt cx="550" cy="2074"/>
          </a:xfrm>
        </p:grpSpPr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63347252-3486-4E44-A02F-9243DD5E0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2177"/>
              <a:ext cx="0" cy="20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4" name="Line 36">
              <a:extLst>
                <a:ext uri="{FF2B5EF4-FFF2-40B4-BE49-F238E27FC236}">
                  <a16:creationId xmlns:a16="http://schemas.microsoft.com/office/drawing/2014/main" id="{51F8B187-4CE8-A441-AA3F-C1B3916986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6" y="2184"/>
              <a:ext cx="0" cy="20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5" name="Line 37">
              <a:extLst>
                <a:ext uri="{FF2B5EF4-FFF2-40B4-BE49-F238E27FC236}">
                  <a16:creationId xmlns:a16="http://schemas.microsoft.com/office/drawing/2014/main" id="{E49C4CD5-B0A3-134A-A8F8-491463692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9" y="2177"/>
              <a:ext cx="0" cy="20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6" name="Line 38">
              <a:extLst>
                <a:ext uri="{FF2B5EF4-FFF2-40B4-BE49-F238E27FC236}">
                  <a16:creationId xmlns:a16="http://schemas.microsoft.com/office/drawing/2014/main" id="{DAC1FF73-798E-5F43-B91C-F511023F1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" y="2184"/>
              <a:ext cx="0" cy="20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</p:grpSp>
      <p:sp>
        <p:nvSpPr>
          <p:cNvPr id="37" name="Line 39">
            <a:extLst>
              <a:ext uri="{FF2B5EF4-FFF2-40B4-BE49-F238E27FC236}">
                <a16:creationId xmlns:a16="http://schemas.microsoft.com/office/drawing/2014/main" id="{D3DF051F-D249-3945-B112-B19818EB0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1638" y="3038475"/>
            <a:ext cx="0" cy="2895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8" name="Line 40">
            <a:extLst>
              <a:ext uri="{FF2B5EF4-FFF2-40B4-BE49-F238E27FC236}">
                <a16:creationId xmlns:a16="http://schemas.microsoft.com/office/drawing/2014/main" id="{FCA4C763-C9F2-D14D-ADFD-1F8A405E4A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0" y="3048000"/>
            <a:ext cx="0" cy="2895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64FFEC4D-398D-F343-AE2A-B40887ED87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6450" y="3038475"/>
            <a:ext cx="0" cy="2895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40" name="Line 42">
            <a:extLst>
              <a:ext uri="{FF2B5EF4-FFF2-40B4-BE49-F238E27FC236}">
                <a16:creationId xmlns:a16="http://schemas.microsoft.com/office/drawing/2014/main" id="{D1B49D9F-9560-3347-8791-FA9E6C276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8063" y="3048000"/>
            <a:ext cx="0" cy="2895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41" name="Oval 43">
            <a:extLst>
              <a:ext uri="{FF2B5EF4-FFF2-40B4-BE49-F238E27FC236}">
                <a16:creationId xmlns:a16="http://schemas.microsoft.com/office/drawing/2014/main" id="{E096C9A2-1958-3D42-B627-2F57E014F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3467100"/>
            <a:ext cx="198437" cy="215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2" name="Oval 44">
            <a:extLst>
              <a:ext uri="{FF2B5EF4-FFF2-40B4-BE49-F238E27FC236}">
                <a16:creationId xmlns:a16="http://schemas.microsoft.com/office/drawing/2014/main" id="{B6C7EBA6-A0C1-E34C-9803-4D769F9EF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475038"/>
            <a:ext cx="198437" cy="217487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3" name="Oval 45">
            <a:extLst>
              <a:ext uri="{FF2B5EF4-FFF2-40B4-BE49-F238E27FC236}">
                <a16:creationId xmlns:a16="http://schemas.microsoft.com/office/drawing/2014/main" id="{A50E9450-EC53-C047-BEA2-7686F8B72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663" y="3768725"/>
            <a:ext cx="201612" cy="21748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4" name="Oval 46">
            <a:extLst>
              <a:ext uri="{FF2B5EF4-FFF2-40B4-BE49-F238E27FC236}">
                <a16:creationId xmlns:a16="http://schemas.microsoft.com/office/drawing/2014/main" id="{C2EABC6A-15FE-A246-99E6-E74798581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863" y="3779838"/>
            <a:ext cx="196850" cy="215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5" name="Oval 47">
            <a:extLst>
              <a:ext uri="{FF2B5EF4-FFF2-40B4-BE49-F238E27FC236}">
                <a16:creationId xmlns:a16="http://schemas.microsoft.com/office/drawing/2014/main" id="{594E0198-03E0-9A49-B23A-936EF1FD4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4073525"/>
            <a:ext cx="196850" cy="21748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6" name="Oval 48">
            <a:extLst>
              <a:ext uri="{FF2B5EF4-FFF2-40B4-BE49-F238E27FC236}">
                <a16:creationId xmlns:a16="http://schemas.microsoft.com/office/drawing/2014/main" id="{3A567013-0746-834D-894B-0BB3B77AD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8950" y="4765675"/>
            <a:ext cx="198438" cy="215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7" name="Oval 49">
            <a:extLst>
              <a:ext uri="{FF2B5EF4-FFF2-40B4-BE49-F238E27FC236}">
                <a16:creationId xmlns:a16="http://schemas.microsoft.com/office/drawing/2014/main" id="{954F4845-0772-A44A-9144-DA7247219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5078413"/>
            <a:ext cx="198437" cy="215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8" name="Oval 50">
            <a:extLst>
              <a:ext uri="{FF2B5EF4-FFF2-40B4-BE49-F238E27FC236}">
                <a16:creationId xmlns:a16="http://schemas.microsoft.com/office/drawing/2014/main" id="{AB084CCF-BCC9-5D43-A8A1-D72BAABD1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5732463"/>
            <a:ext cx="198437" cy="2159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49" name="Oval 51">
            <a:extLst>
              <a:ext uri="{FF2B5EF4-FFF2-40B4-BE49-F238E27FC236}">
                <a16:creationId xmlns:a16="http://schemas.microsoft.com/office/drawing/2014/main" id="{4835EF13-FA9B-0648-9C53-AC62BF5FE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9613" y="5075238"/>
            <a:ext cx="200025" cy="217487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50" name="Oval 52">
            <a:extLst>
              <a:ext uri="{FF2B5EF4-FFF2-40B4-BE49-F238E27FC236}">
                <a16:creationId xmlns:a16="http://schemas.microsoft.com/office/drawing/2014/main" id="{1A88BE0B-4B5C-504A-A2B3-9636DADB9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163" y="4745038"/>
            <a:ext cx="200025" cy="217487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51" name="Text Box 53">
            <a:extLst>
              <a:ext uri="{FF2B5EF4-FFF2-40B4-BE49-F238E27FC236}">
                <a16:creationId xmlns:a16="http://schemas.microsoft.com/office/drawing/2014/main" id="{7AEC461B-2386-F548-B13F-0C830538C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890687"/>
            <a:ext cx="80309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dirty="0">
                <a:solidFill>
                  <a:schemeClr val="accent5"/>
                </a:solidFill>
                <a:cs typeface="Arial" panose="020B0604020202020204" pitchFamily="34" charset="0"/>
              </a:rPr>
              <a:t>Need to identify which task/activity contributes to which product</a:t>
            </a:r>
          </a:p>
        </p:txBody>
      </p:sp>
    </p:spTree>
    <p:extLst>
      <p:ext uri="{BB962C8B-B14F-4D97-AF65-F5344CB8AC3E}">
        <p14:creationId xmlns:p14="http://schemas.microsoft.com/office/powerpoint/2010/main" val="765610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564F-9F5C-B74F-8990-6BB0CAF3147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3600" dirty="0"/>
              <a:t>Identification of Task Dependences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72255-A363-904A-BEDD-AD829D878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DF195-3018-3448-A292-2B53427E1BCD}"/>
              </a:ext>
            </a:extLst>
          </p:cNvPr>
          <p:cNvSpPr txBox="1"/>
          <p:nvPr/>
        </p:nvSpPr>
        <p:spPr>
          <a:xfrm>
            <a:off x="2921014" y="836713"/>
            <a:ext cx="59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chemeClr val="tx2"/>
                </a:solidFill>
              </a:rPr>
              <a:t>Task A depends on task B, if and only if task A needs the results of task B.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55657-1BF0-9147-828F-214EA429D6A8}"/>
              </a:ext>
            </a:extLst>
          </p:cNvPr>
          <p:cNvSpPr txBox="1"/>
          <p:nvPr/>
        </p:nvSpPr>
        <p:spPr>
          <a:xfrm>
            <a:off x="545500" y="1000422"/>
            <a:ext cx="1651000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Requirements Elicitation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5814D-ED95-2B42-8387-D25B7D62E8DA}"/>
              </a:ext>
            </a:extLst>
          </p:cNvPr>
          <p:cNvSpPr txBox="1"/>
          <p:nvPr/>
        </p:nvSpPr>
        <p:spPr>
          <a:xfrm>
            <a:off x="545500" y="1994636"/>
            <a:ext cx="1651000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Requirements Definition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63110-491C-514D-A975-427370A5B1ED}"/>
              </a:ext>
            </a:extLst>
          </p:cNvPr>
          <p:cNvSpPr txBox="1"/>
          <p:nvPr/>
        </p:nvSpPr>
        <p:spPr>
          <a:xfrm>
            <a:off x="640750" y="3167814"/>
            <a:ext cx="1460500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Software Modelling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99F06-1DEA-4B47-AD0B-6DB468C42913}"/>
              </a:ext>
            </a:extLst>
          </p:cNvPr>
          <p:cNvSpPr txBox="1"/>
          <p:nvPr/>
        </p:nvSpPr>
        <p:spPr>
          <a:xfrm>
            <a:off x="640750" y="4298305"/>
            <a:ext cx="1460500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Architectural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B6CB50-8051-EF47-84D9-095CFD49B0B8}"/>
              </a:ext>
            </a:extLst>
          </p:cNvPr>
          <p:cNvSpPr txBox="1"/>
          <p:nvPr/>
        </p:nvSpPr>
        <p:spPr>
          <a:xfrm>
            <a:off x="647102" y="5544770"/>
            <a:ext cx="1460500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Detailed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EADCC9-A638-534E-9ADB-50B64E393712}"/>
              </a:ext>
            </a:extLst>
          </p:cNvPr>
          <p:cNvSpPr txBox="1"/>
          <p:nvPr/>
        </p:nvSpPr>
        <p:spPr>
          <a:xfrm>
            <a:off x="5049508" y="4806167"/>
            <a:ext cx="1460500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Coding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20801-EE71-F143-9233-4CA7F683AA48}"/>
              </a:ext>
            </a:extLst>
          </p:cNvPr>
          <p:cNvSpPr txBox="1"/>
          <p:nvPr/>
        </p:nvSpPr>
        <p:spPr>
          <a:xfrm>
            <a:off x="2663370" y="2130998"/>
            <a:ext cx="1685791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Test Plan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53916-7928-D641-A631-B854EF6E2053}"/>
              </a:ext>
            </a:extLst>
          </p:cNvPr>
          <p:cNvSpPr txBox="1"/>
          <p:nvPr/>
        </p:nvSpPr>
        <p:spPr>
          <a:xfrm>
            <a:off x="2582557" y="2791118"/>
            <a:ext cx="1824367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RD Static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623EF-286C-F847-BA02-E995697FC385}"/>
              </a:ext>
            </a:extLst>
          </p:cNvPr>
          <p:cNvSpPr txBox="1"/>
          <p:nvPr/>
        </p:nvSpPr>
        <p:spPr>
          <a:xfrm>
            <a:off x="5129437" y="1993587"/>
            <a:ext cx="1460500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Test Case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1BEE5-1C11-884E-B8A9-B4261269D715}"/>
              </a:ext>
            </a:extLst>
          </p:cNvPr>
          <p:cNvSpPr txBox="1"/>
          <p:nvPr/>
        </p:nvSpPr>
        <p:spPr>
          <a:xfrm>
            <a:off x="5129437" y="3025248"/>
            <a:ext cx="1460500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Test Data Preparation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87A721-03EA-A443-B084-534BDBF59960}"/>
              </a:ext>
            </a:extLst>
          </p:cNvPr>
          <p:cNvSpPr txBox="1"/>
          <p:nvPr/>
        </p:nvSpPr>
        <p:spPr>
          <a:xfrm>
            <a:off x="7361564" y="4806167"/>
            <a:ext cx="1460500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Unit Test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FEF93C-A8F0-954D-B0D9-6E4A0EE18C93}"/>
              </a:ext>
            </a:extLst>
          </p:cNvPr>
          <p:cNvSpPr txBox="1"/>
          <p:nvPr/>
        </p:nvSpPr>
        <p:spPr>
          <a:xfrm>
            <a:off x="5049508" y="5443718"/>
            <a:ext cx="1460500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Integration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3DEE1-4C81-7443-9014-882A660F86EC}"/>
              </a:ext>
            </a:extLst>
          </p:cNvPr>
          <p:cNvSpPr txBox="1"/>
          <p:nvPr/>
        </p:nvSpPr>
        <p:spPr>
          <a:xfrm>
            <a:off x="5049508" y="6081705"/>
            <a:ext cx="1460500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Deployment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3964CA-5618-CF41-B06E-147375EA97A4}"/>
              </a:ext>
            </a:extLst>
          </p:cNvPr>
          <p:cNvSpPr txBox="1"/>
          <p:nvPr/>
        </p:nvSpPr>
        <p:spPr>
          <a:xfrm>
            <a:off x="7124436" y="5436027"/>
            <a:ext cx="1460500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System Test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ACBDCB-82BE-D94B-A941-5B1FB5DF5FD9}"/>
              </a:ext>
            </a:extLst>
          </p:cNvPr>
          <p:cNvSpPr txBox="1"/>
          <p:nvPr/>
        </p:nvSpPr>
        <p:spPr>
          <a:xfrm>
            <a:off x="6963438" y="6067944"/>
            <a:ext cx="1909750" cy="369332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Acceptance Test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906209-548D-F14B-8B32-BB4AAEC7E88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71000" y="1646753"/>
            <a:ext cx="0" cy="347883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07341A-B690-E64C-B545-14B0D7E9262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371000" y="2640967"/>
            <a:ext cx="0" cy="526847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187A8C-C44C-DB49-8FEF-75CB11D2AB0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371000" y="3814145"/>
            <a:ext cx="0" cy="48416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E037A2-9E71-EA47-8FD9-7DF7021472B9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371000" y="4944636"/>
            <a:ext cx="6352" cy="600134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BB58B32-06B2-3940-9987-DC816304C290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2196500" y="2315664"/>
            <a:ext cx="466870" cy="2138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4EEB6C4-192D-0C4C-AD89-EF60D2BD1469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349161" y="2315664"/>
            <a:ext cx="780276" cy="1089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09581D2-F0C1-704A-BBB4-B5891C3BCF8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5859687" y="2639918"/>
            <a:ext cx="0" cy="38533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4A4AA2-3D6A-F94E-84B0-13D8BEE70AB1}"/>
              </a:ext>
            </a:extLst>
          </p:cNvPr>
          <p:cNvCxnSpPr>
            <a:cxnSpLocks/>
          </p:cNvCxnSpPr>
          <p:nvPr/>
        </p:nvCxnSpPr>
        <p:spPr>
          <a:xfrm>
            <a:off x="2196500" y="2640967"/>
            <a:ext cx="386057" cy="150151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150B3D-BC60-1849-93CE-75DB40213DB5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4406924" y="2975784"/>
            <a:ext cx="719992" cy="161982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14FAB9E-D606-574F-8050-B013FF5C7A04}"/>
              </a:ext>
            </a:extLst>
          </p:cNvPr>
          <p:cNvCxnSpPr>
            <a:cxnSpLocks/>
            <a:stCxn id="9" idx="3"/>
            <a:endCxn id="53" idx="1"/>
          </p:cNvCxnSpPr>
          <p:nvPr/>
        </p:nvCxnSpPr>
        <p:spPr>
          <a:xfrm>
            <a:off x="2101250" y="3490980"/>
            <a:ext cx="483652" cy="18930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C7B51D5-18D2-DC46-8861-00099A73B66A}"/>
              </a:ext>
            </a:extLst>
          </p:cNvPr>
          <p:cNvSpPr txBox="1"/>
          <p:nvPr/>
        </p:nvSpPr>
        <p:spPr>
          <a:xfrm>
            <a:off x="2584902" y="3357114"/>
            <a:ext cx="1824372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Software Model Static Test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059FFFE1-3625-D342-A8A4-E31F0AB6726E}"/>
              </a:ext>
            </a:extLst>
          </p:cNvPr>
          <p:cNvCxnSpPr>
            <a:cxnSpLocks/>
            <a:stCxn id="16" idx="1"/>
            <a:endCxn id="53" idx="3"/>
          </p:cNvCxnSpPr>
          <p:nvPr/>
        </p:nvCxnSpPr>
        <p:spPr>
          <a:xfrm flipH="1">
            <a:off x="4409274" y="3348414"/>
            <a:ext cx="720163" cy="331866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633B1BD-BC13-4A42-859B-4FD767FE43C3}"/>
              </a:ext>
            </a:extLst>
          </p:cNvPr>
          <p:cNvSpPr txBox="1"/>
          <p:nvPr/>
        </p:nvSpPr>
        <p:spPr>
          <a:xfrm>
            <a:off x="2584902" y="4298305"/>
            <a:ext cx="1826724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Arch. Design Static Test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822643B-46DC-224B-8FCB-DDE8278AE4EC}"/>
              </a:ext>
            </a:extLst>
          </p:cNvPr>
          <p:cNvSpPr txBox="1"/>
          <p:nvPr/>
        </p:nvSpPr>
        <p:spPr>
          <a:xfrm>
            <a:off x="2582557" y="5545199"/>
            <a:ext cx="1826724" cy="64633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tx2"/>
                </a:solidFill>
              </a:rPr>
              <a:t>Detailed Design Static Test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D938300-4A14-1E47-A651-B166E57E7583}"/>
              </a:ext>
            </a:extLst>
          </p:cNvPr>
          <p:cNvCxnSpPr>
            <a:cxnSpLocks/>
          </p:cNvCxnSpPr>
          <p:nvPr/>
        </p:nvCxnSpPr>
        <p:spPr>
          <a:xfrm flipH="1">
            <a:off x="4381655" y="3659895"/>
            <a:ext cx="745261" cy="661125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E67BCA-A82F-6149-B263-870F074D7F39}"/>
              </a:ext>
            </a:extLst>
          </p:cNvPr>
          <p:cNvCxnSpPr>
            <a:cxnSpLocks/>
          </p:cNvCxnSpPr>
          <p:nvPr/>
        </p:nvCxnSpPr>
        <p:spPr>
          <a:xfrm flipH="1">
            <a:off x="4381655" y="3679419"/>
            <a:ext cx="1002616" cy="1873702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63388-67B1-C342-A47A-95938448FA4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589937" y="3348414"/>
            <a:ext cx="945691" cy="1420964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125F736-3695-5A4C-A33A-03940F011848}"/>
              </a:ext>
            </a:extLst>
          </p:cNvPr>
          <p:cNvCxnSpPr>
            <a:cxnSpLocks/>
          </p:cNvCxnSpPr>
          <p:nvPr/>
        </p:nvCxnSpPr>
        <p:spPr>
          <a:xfrm>
            <a:off x="6565313" y="3679419"/>
            <a:ext cx="674946" cy="1702908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0401774-5097-7E4E-8986-EA87AAE7BEF2}"/>
              </a:ext>
            </a:extLst>
          </p:cNvPr>
          <p:cNvCxnSpPr>
            <a:cxnSpLocks/>
          </p:cNvCxnSpPr>
          <p:nvPr/>
        </p:nvCxnSpPr>
        <p:spPr>
          <a:xfrm>
            <a:off x="6329962" y="3679419"/>
            <a:ext cx="785424" cy="2341868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E75B77D-89D3-6249-8A6D-153776B69AF2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2101250" y="4990833"/>
            <a:ext cx="2948258" cy="570128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99755E6-B532-DF4F-901C-4C3D9C6ADE93}"/>
              </a:ext>
            </a:extLst>
          </p:cNvPr>
          <p:cNvCxnSpPr>
            <a:cxnSpLocks/>
            <a:stCxn id="10" idx="3"/>
            <a:endCxn id="70" idx="1"/>
          </p:cNvCxnSpPr>
          <p:nvPr/>
        </p:nvCxnSpPr>
        <p:spPr>
          <a:xfrm>
            <a:off x="2101250" y="4621471"/>
            <a:ext cx="483652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2DDAF37-C823-B44C-A05A-126636E49D1C}"/>
              </a:ext>
            </a:extLst>
          </p:cNvPr>
          <p:cNvCxnSpPr>
            <a:cxnSpLocks/>
            <a:stCxn id="11" idx="3"/>
            <a:endCxn id="80" idx="1"/>
          </p:cNvCxnSpPr>
          <p:nvPr/>
        </p:nvCxnSpPr>
        <p:spPr>
          <a:xfrm>
            <a:off x="2107602" y="5867936"/>
            <a:ext cx="474955" cy="429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DDF9B7CF-347B-C94D-9CD3-05CD9C5EAA33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>
            <a:off x="5779758" y="5175499"/>
            <a:ext cx="0" cy="268219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CD46B9D-DC18-1B46-B8C4-B5BFD2A5721F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5779758" y="5813050"/>
            <a:ext cx="0" cy="268655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782A73B-691E-5346-81FE-75E90EA602C8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>
            <a:off x="6510008" y="4990833"/>
            <a:ext cx="851556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0C3E04B-9B3E-1D45-B041-5D71F78C037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6510008" y="5620693"/>
            <a:ext cx="614428" cy="7691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696A6C3F-6C01-C74A-8A12-13E9909526EF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6510008" y="6252610"/>
            <a:ext cx="453430" cy="13761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70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194764-5C0B-274B-BC05-4EB4A284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Task Duration Estimates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142EA-0B49-2A4E-A1B2-60E34BC2F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24</a:t>
            </a:fld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40825EA-E27C-934C-A5F0-238A7D774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536" y="908720"/>
            <a:ext cx="8670825" cy="528198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1204" tIns="39889" rIns="81204" bIns="39889">
            <a:spAutoFit/>
          </a:bodyPr>
          <a:lstStyle>
            <a:lvl1pPr defTabSz="820738">
              <a:spcBef>
                <a:spcPct val="20000"/>
              </a:spcBef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0738">
              <a:spcBef>
                <a:spcPct val="20000"/>
              </a:spcBef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0738">
              <a:spcBef>
                <a:spcPct val="20000"/>
              </a:spcBef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0738">
              <a:spcBef>
                <a:spcPct val="20000"/>
              </a:spcBef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0738">
              <a:spcBef>
                <a:spcPct val="20000"/>
              </a:spcBef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tabLst>
                <a:tab pos="433388" algn="l"/>
                <a:tab pos="638175" algn="l"/>
                <a:tab pos="842963" algn="l"/>
                <a:tab pos="1036638" algn="l"/>
                <a:tab pos="1230313" algn="l"/>
                <a:tab pos="1436688" algn="l"/>
                <a:tab pos="1641475" algn="l"/>
                <a:tab pos="1846263" algn="l"/>
                <a:tab pos="2051050" algn="l"/>
                <a:tab pos="2255838" algn="l"/>
                <a:tab pos="2462213" algn="l"/>
                <a:tab pos="2667000" algn="l"/>
                <a:tab pos="2871788" algn="l"/>
                <a:tab pos="3076575" algn="l"/>
                <a:tab pos="3282950" algn="l"/>
                <a:tab pos="3681413" algn="l"/>
                <a:tab pos="4103688" algn="l"/>
                <a:tab pos="45132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63538" indent="-363538" algn="just">
              <a:spcBef>
                <a:spcPct val="0"/>
              </a:spcBef>
              <a:buFont typeface="Wingdings" pitchFamily="2" charset="2"/>
              <a:buChar char="Ø"/>
            </a:pPr>
            <a:r>
              <a:rPr lang="en-GB" altLang="en-US" sz="28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Each task requires a duration (time required for the work to complete) to be estimated.  </a:t>
            </a:r>
          </a:p>
          <a:p>
            <a:pPr marL="363538" indent="-363538" algn="just">
              <a:spcBef>
                <a:spcPts val="1800"/>
              </a:spcBef>
              <a:buFont typeface="Wingdings" pitchFamily="2" charset="2"/>
              <a:buChar char="Ø"/>
            </a:pPr>
            <a:r>
              <a:rPr lang="en-GB" altLang="en-US" sz="28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Make three estimates for each activity:</a:t>
            </a:r>
            <a:endParaRPr lang="en-GB" altLang="en-US" sz="2800" dirty="0"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Optimistic time</a:t>
            </a:r>
            <a:r>
              <a:rPr lang="en-GB" altLang="en-US" sz="24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: the best time possible for completing the activity</a:t>
            </a:r>
          </a:p>
          <a:p>
            <a:pPr lvl="1" algn="just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Pessimistic time</a:t>
            </a:r>
            <a:r>
              <a:rPr lang="en-GB" altLang="en-US" sz="24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: worst possible time</a:t>
            </a:r>
          </a:p>
          <a:p>
            <a:pPr lvl="1" algn="just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GB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Most likely time</a:t>
            </a:r>
            <a:r>
              <a:rPr lang="en-GB" altLang="en-US" sz="24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: the expected time</a:t>
            </a:r>
            <a:endParaRPr lang="en-GB" altLang="en-US" sz="2400" dirty="0"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363538" indent="-363538" algn="just">
              <a:spcBef>
                <a:spcPts val="1800"/>
              </a:spcBef>
              <a:buFont typeface="Wingdings" pitchFamily="2" charset="2"/>
              <a:buChar char="Ø"/>
            </a:pPr>
            <a:r>
              <a:rPr lang="en-GB" altLang="en-US" sz="2800" dirty="0">
                <a:solidFill>
                  <a:schemeClr val="tx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Use these three estimates to calculate a weighted (best estimate) mean using the following formula: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 </a:t>
            </a:r>
          </a:p>
          <a:p>
            <a:pPr marL="11113" indent="-11113">
              <a:spcBef>
                <a:spcPct val="0"/>
              </a:spcBef>
              <a:buFontTx/>
              <a:buNone/>
            </a:pPr>
            <a:r>
              <a:rPr lang="en-GB" altLang="en-US" dirty="0">
                <a:latin typeface="Arial Unicode MS" panose="020B0604020202020204" pitchFamily="34" charset="-128"/>
                <a:cs typeface="Times New Roman" panose="02020603050405020304" pitchFamily="18" charset="0"/>
              </a:rPr>
              <a:t>	</a:t>
            </a:r>
            <a:r>
              <a:rPr lang="en-GB" altLang="en-US" dirty="0">
                <a:solidFill>
                  <a:schemeClr val="accent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Time = </a:t>
            </a:r>
            <a:r>
              <a:rPr lang="en-GB" altLang="en-US" u="sng" dirty="0">
                <a:solidFill>
                  <a:schemeClr val="accent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OptimisticTime+4*</a:t>
            </a:r>
            <a:r>
              <a:rPr lang="en-GB" altLang="en-US" u="sng">
                <a:solidFill>
                  <a:schemeClr val="accent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Most Likely Time </a:t>
            </a:r>
            <a:r>
              <a:rPr lang="en-GB" altLang="en-US" u="sng" dirty="0">
                <a:solidFill>
                  <a:schemeClr val="accent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+ Pessimistic Time</a:t>
            </a:r>
            <a:endParaRPr lang="en-GB" altLang="en-US" dirty="0">
              <a:solidFill>
                <a:schemeClr val="accent2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11113" indent="-11113" algn="just"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accent2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				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3576794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0BE64-202B-224E-9672-E67579AB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Estimating Task Durations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3B1FE-EBB0-CF4A-842E-2D039DEA9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25</a:t>
            </a:fld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5A966A-EA24-C04B-8E3D-990DE33FB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33053"/>
            <a:ext cx="8461127" cy="539154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dirty="0">
                <a:solidFill>
                  <a:schemeClr val="tx2"/>
                </a:solidFill>
              </a:rPr>
              <a:t>Estimate again after assigning tasks to individuals and allocated resources</a:t>
            </a:r>
          </a:p>
          <a:p>
            <a:r>
              <a:rPr lang="en-US" altLang="en-US" sz="2800" dirty="0">
                <a:solidFill>
                  <a:schemeClr val="tx2"/>
                </a:solidFill>
              </a:rPr>
              <a:t>Let individuals estimate time for their own tasks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They know their own abilities best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Genuine commitment to their own promises (sense of responsibility)</a:t>
            </a:r>
          </a:p>
          <a:p>
            <a:r>
              <a:rPr lang="en-US" altLang="en-US" sz="2800" dirty="0">
                <a:solidFill>
                  <a:schemeClr val="tx2"/>
                </a:solidFill>
              </a:rPr>
              <a:t>Apply fudge factor 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People generally underestimate what is required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Allows for the unexpected problems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Fudge factor could as large as 2 times</a:t>
            </a:r>
          </a:p>
          <a:p>
            <a:pPr lvl="1"/>
            <a:r>
              <a:rPr lang="en-US" altLang="en-US" sz="2400" dirty="0">
                <a:solidFill>
                  <a:schemeClr val="tx2"/>
                </a:solidFill>
              </a:rPr>
              <a:t>Adjust your fudge factor according to the individual</a:t>
            </a:r>
          </a:p>
        </p:txBody>
      </p:sp>
    </p:spTree>
    <p:extLst>
      <p:ext uri="{BB962C8B-B14F-4D97-AF65-F5344CB8AC3E}">
        <p14:creationId xmlns:p14="http://schemas.microsoft.com/office/powerpoint/2010/main" val="839124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0725-BBD7-B344-AE6C-C5A85063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PERT Chart: Notation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41692-1E77-6C4E-B0AC-BEA8C9B1B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26</a:t>
            </a:fld>
            <a:endParaRPr lang="en-US" dirty="0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27AE5BD3-24E0-5D40-B21A-4EF8DD7233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4725" y="2209800"/>
            <a:ext cx="1404938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7B12DCB-A95A-874C-BD36-03CF3F00E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871604"/>
            <a:ext cx="33890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</a:rPr>
              <a:t>Arc</a:t>
            </a:r>
            <a:r>
              <a:rPr lang="en-GB" altLang="en-US" sz="2400" dirty="0">
                <a:solidFill>
                  <a:schemeClr val="tx2"/>
                </a:solidFill>
                <a:latin typeface="Arial Unicode MS" panose="020B0604020202020204" pitchFamily="34" charset="-128"/>
              </a:rPr>
              <a:t>: Activity / Task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4B52EEA-88D8-4B43-A8E3-E10A7E6EE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1866900"/>
            <a:ext cx="468313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600">
                <a:solidFill>
                  <a:schemeClr val="tx2"/>
                </a:solidFill>
              </a:rPr>
              <a:t>40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600">
                <a:solidFill>
                  <a:schemeClr val="tx2"/>
                </a:solidFill>
              </a:rPr>
              <a:t>5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FAD31FC8-05B5-D649-8C2C-FD214CC1F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637" y="1078091"/>
            <a:ext cx="2016125" cy="433387"/>
          </a:xfrm>
          <a:prstGeom prst="wedgeRoundRectCallout">
            <a:avLst>
              <a:gd name="adj1" fmla="val -61813"/>
              <a:gd name="adj2" fmla="val 163188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2"/>
                </a:solidFill>
                <a:latin typeface="Arial Unicode MS" panose="020B0604020202020204" pitchFamily="34" charset="-128"/>
              </a:rPr>
              <a:t>A</a:t>
            </a:r>
            <a:r>
              <a:rPr lang="en-GB" altLang="en-US" sz="1800" dirty="0">
                <a:solidFill>
                  <a:schemeClr val="tx2"/>
                </a:solidFill>
                <a:latin typeface="Arial Unicode MS" panose="020B0604020202020204" pitchFamily="34" charset="-128"/>
              </a:rPr>
              <a:t>ctivity number</a:t>
            </a:r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3F1ED896-1FA1-B845-9646-A8E9361F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638" y="3058595"/>
            <a:ext cx="2016125" cy="433387"/>
          </a:xfrm>
          <a:prstGeom prst="wedgeRoundRectCallout">
            <a:avLst>
              <a:gd name="adj1" fmla="val -63072"/>
              <a:gd name="adj2" fmla="val -182600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2"/>
                </a:solidFill>
                <a:latin typeface="Arial Unicode MS" panose="020B0604020202020204" pitchFamily="34" charset="-128"/>
              </a:rPr>
              <a:t>A</a:t>
            </a:r>
            <a:r>
              <a:rPr lang="en-GB" altLang="en-US" sz="1800" dirty="0">
                <a:solidFill>
                  <a:schemeClr val="tx2"/>
                </a:solidFill>
                <a:latin typeface="Arial Unicode MS" panose="020B0604020202020204" pitchFamily="34" charset="-128"/>
              </a:rPr>
              <a:t>ctivity duration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9160F437-20D1-3146-BC95-925C4AC38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" y="3800631"/>
            <a:ext cx="25765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  <a:latin typeface="Arial Unicode MS" panose="020B0604020202020204" pitchFamily="34" charset="-128"/>
              </a:rPr>
              <a:t>Time event (node):</a:t>
            </a: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BB1DC021-B14D-B441-87AA-604429916474}"/>
              </a:ext>
            </a:extLst>
          </p:cNvPr>
          <p:cNvGrpSpPr>
            <a:grpSpLocks/>
          </p:cNvGrpSpPr>
          <p:nvPr/>
        </p:nvGrpSpPr>
        <p:grpSpPr bwMode="auto">
          <a:xfrm>
            <a:off x="2955925" y="3683077"/>
            <a:ext cx="781050" cy="647700"/>
            <a:chOff x="385" y="1888"/>
            <a:chExt cx="454" cy="408"/>
          </a:xfrm>
        </p:grpSpPr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E2433D13-E1B3-AF42-B0C9-1166480E2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88"/>
              <a:ext cx="454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6A8710A2-0811-ED4C-A000-6E58584DE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501052FC-C8C7-3F44-84F0-46A37EE35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979"/>
              <a:ext cx="403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5  12</a:t>
              </a:r>
            </a:p>
          </p:txBody>
        </p:sp>
      </p:grpSp>
      <p:sp>
        <p:nvSpPr>
          <p:cNvPr id="15" name="AutoShape 12">
            <a:extLst>
              <a:ext uri="{FF2B5EF4-FFF2-40B4-BE49-F238E27FC236}">
                <a16:creationId xmlns:a16="http://schemas.microsoft.com/office/drawing/2014/main" id="{4287F262-B8F2-7646-B214-09B94CD79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7" y="2890915"/>
            <a:ext cx="1728788" cy="433387"/>
          </a:xfrm>
          <a:prstGeom prst="wedgeRoundRectCallout">
            <a:avLst>
              <a:gd name="adj1" fmla="val -16759"/>
              <a:gd name="adj2" fmla="val 145606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2"/>
                </a:solidFill>
                <a:latin typeface="Arial Unicode MS" panose="020B0604020202020204" pitchFamily="34" charset="-128"/>
              </a:rPr>
              <a:t>E</a:t>
            </a:r>
            <a:r>
              <a:rPr lang="en-GB" altLang="en-US" sz="1800" dirty="0">
                <a:solidFill>
                  <a:schemeClr val="tx2"/>
                </a:solidFill>
                <a:latin typeface="Arial Unicode MS" panose="020B0604020202020204" pitchFamily="34" charset="-128"/>
              </a:rPr>
              <a:t>arliest time</a:t>
            </a: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FAD99F4D-0D0C-F944-BBF6-4B2139027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675" y="4486275"/>
            <a:ext cx="2016125" cy="433387"/>
          </a:xfrm>
          <a:prstGeom prst="wedgeRoundRectCallout">
            <a:avLst>
              <a:gd name="adj1" fmla="val -49843"/>
              <a:gd name="adj2" fmla="val -109343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dirty="0">
                <a:solidFill>
                  <a:schemeClr val="tx2"/>
                </a:solidFill>
                <a:latin typeface="Arial Unicode MS" panose="020B0604020202020204" pitchFamily="34" charset="-128"/>
              </a:rPr>
              <a:t>L</a:t>
            </a:r>
            <a:r>
              <a:rPr lang="en-GB" altLang="en-US" sz="1800" dirty="0">
                <a:solidFill>
                  <a:schemeClr val="tx2"/>
                </a:solidFill>
                <a:latin typeface="Arial Unicode MS" panose="020B0604020202020204" pitchFamily="34" charset="-128"/>
              </a:rPr>
              <a:t>atest time</a:t>
            </a:r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1DDAB412-368C-3843-8522-8AC6E6BAD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75" y="1849438"/>
            <a:ext cx="78105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3272BAA9-3645-E740-9A5B-409D5616BB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1851025"/>
            <a:ext cx="0" cy="646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83D7843E-18BC-4847-9EB0-8D4637F0F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0" y="1993900"/>
            <a:ext cx="7280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</a:t>
            </a:r>
            <a:r>
              <a:rPr lang="en-GB" altLang="en-US" sz="1800" baseline="-25000" dirty="0">
                <a:solidFill>
                  <a:schemeClr val="tx2"/>
                </a:solidFill>
              </a:rPr>
              <a:t>s </a:t>
            </a:r>
            <a:r>
              <a:rPr lang="en-GB" altLang="en-US" sz="1800" dirty="0">
                <a:solidFill>
                  <a:schemeClr val="tx2"/>
                </a:solidFill>
              </a:rPr>
              <a:t> L</a:t>
            </a:r>
            <a:r>
              <a:rPr lang="en-GB" altLang="en-US" sz="1800" baseline="-25000" dirty="0">
                <a:solidFill>
                  <a:schemeClr val="tx2"/>
                </a:solidFill>
              </a:rPr>
              <a:t>s</a:t>
            </a:r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7650AA6D-27BC-4448-BC30-DEA7F125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1849438"/>
            <a:ext cx="78105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21" name="Line 18">
            <a:extLst>
              <a:ext uri="{FF2B5EF4-FFF2-40B4-BE49-F238E27FC236}">
                <a16:creationId xmlns:a16="http://schemas.microsoft.com/office/drawing/2014/main" id="{1F4436B1-D8F2-D74F-B72E-6DA24CDA0B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1300" y="1851025"/>
            <a:ext cx="0" cy="646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DC39BD55-7F4C-4B4A-A8D7-8351F5FB6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7450" y="1993900"/>
            <a:ext cx="726481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 err="1">
                <a:solidFill>
                  <a:schemeClr val="tx2"/>
                </a:solidFill>
              </a:rPr>
              <a:t>E</a:t>
            </a:r>
            <a:r>
              <a:rPr lang="en-GB" altLang="en-US" sz="1800" baseline="-25000" dirty="0" err="1">
                <a:solidFill>
                  <a:schemeClr val="tx2"/>
                </a:solidFill>
              </a:rPr>
              <a:t>f</a:t>
            </a:r>
            <a:r>
              <a:rPr lang="en-GB" altLang="en-US" sz="1800" baseline="-25000" dirty="0">
                <a:solidFill>
                  <a:schemeClr val="tx2"/>
                </a:solidFill>
              </a:rPr>
              <a:t>    </a:t>
            </a:r>
            <a:r>
              <a:rPr lang="en-GB" altLang="en-US" dirty="0" err="1">
                <a:solidFill>
                  <a:schemeClr val="tx2"/>
                </a:solidFill>
              </a:rPr>
              <a:t>L</a:t>
            </a:r>
            <a:r>
              <a:rPr lang="en-GB" altLang="en-US" sz="1800" baseline="-25000" dirty="0" err="1">
                <a:solidFill>
                  <a:schemeClr val="tx2"/>
                </a:solidFill>
              </a:rPr>
              <a:t>f</a:t>
            </a:r>
            <a:endParaRPr lang="en-GB" altLang="en-US" sz="1800" baseline="-25000" dirty="0">
              <a:solidFill>
                <a:schemeClr val="tx2"/>
              </a:solidFill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D01DE2E2-F0BB-1249-B702-C4E4B529DC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8763" y="3786188"/>
            <a:ext cx="1404937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sysDot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A8C7298B-3E84-B644-8F21-6052AC2F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4360863"/>
            <a:ext cx="2016125" cy="936625"/>
          </a:xfrm>
          <a:prstGeom prst="wedgeRoundRectCallout">
            <a:avLst>
              <a:gd name="adj1" fmla="val -5592"/>
              <a:gd name="adj2" fmla="val -108644"/>
              <a:gd name="adj3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tx2"/>
                </a:solidFill>
                <a:latin typeface="Arial Unicode MS" panose="020B0604020202020204" pitchFamily="34" charset="-128"/>
              </a:rPr>
              <a:t>Dummy activity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chemeClr val="tx2"/>
                </a:solidFill>
                <a:latin typeface="Arial Unicode MS" panose="020B0604020202020204" pitchFamily="34" charset="-128"/>
              </a:rPr>
              <a:t>used to indicate a task dependency</a:t>
            </a:r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D1F36F34-F27F-1943-800B-C44AF743C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7" y="1329867"/>
            <a:ext cx="3671887" cy="504825"/>
          </a:xfrm>
          <a:prstGeom prst="wedgeRoundRectCallout">
            <a:avLst>
              <a:gd name="adj1" fmla="val -41653"/>
              <a:gd name="adj2" fmla="val -33019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b="1" dirty="0">
                <a:solidFill>
                  <a:schemeClr val="tx2"/>
                </a:solidFill>
                <a:latin typeface="Arial Unicode MS" panose="020B0604020202020204" pitchFamily="34" charset="-128"/>
              </a:rPr>
              <a:t>Node</a:t>
            </a:r>
            <a:r>
              <a:rPr lang="en-GB" altLang="en-US" sz="2400" dirty="0">
                <a:solidFill>
                  <a:schemeClr val="tx2"/>
                </a:solidFill>
                <a:latin typeface="Arial Unicode MS" panose="020B0604020202020204" pitchFamily="34" charset="-128"/>
              </a:rPr>
              <a:t>: Event / Milestone</a:t>
            </a: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ECD2219A-1ADE-E741-A3B7-E2283FD7A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02" y="5569821"/>
            <a:ext cx="8461127" cy="76944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PERT “Program Evaluation and Review Technique” U.S. Navy, 1957</a:t>
            </a:r>
          </a:p>
          <a:p>
            <a:pPr>
              <a:buFontTx/>
              <a:buNone/>
            </a:pPr>
            <a:r>
              <a:rPr lang="en-US" altLang="en-US" sz="20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PERT is also called CPM (Critical Path Method)</a:t>
            </a:r>
            <a:endParaRPr lang="en-GB" altLang="en-US" sz="2000" dirty="0">
              <a:solidFill>
                <a:schemeClr val="accent5"/>
              </a:solidFill>
              <a:latin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3140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8A442E-0227-C648-A23A-8661DA21F68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3600" dirty="0"/>
              <a:t>Example: (1) Results of Task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1F54B-26E4-AF46-A0C4-555D7B49F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27</a:t>
            </a:fld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7A5577F-7312-7F4B-943A-3071F29BD8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7" y="866585"/>
            <a:ext cx="8461126" cy="5544616"/>
          </a:xfrm>
          <a:solidFill>
            <a:srgbClr val="FFFFCC"/>
          </a:solidFill>
        </p:spPr>
        <p:txBody>
          <a:bodyPr/>
          <a:lstStyle/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ACTIVITY		DURATION	DEPENDS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		(Weeks)	ON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10 Architectural Design	2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15 Install open source code		6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20 Test open source code 	9		15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25 Test infrastructure	2		20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30 Install database system	3		10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40 Create data files	5		30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50 Write operation manual	3		40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60 Write Program Specs.	3		10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70 Construct Programs	12		60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80 Integration test		5		25, 70, 40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90 Acceptance test	2		10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100 User training 		6		90 </a:t>
            </a:r>
          </a:p>
          <a:p>
            <a:pPr marL="225425" indent="-225425">
              <a:spcBef>
                <a:spcPts val="300"/>
              </a:spcBef>
              <a:buFontTx/>
              <a:buNone/>
              <a:tabLst>
                <a:tab pos="3633788" algn="l"/>
              </a:tabLst>
            </a:pPr>
            <a:r>
              <a:rPr lang="en-GB" altLang="en-US" sz="2000" dirty="0"/>
              <a:t>	110 Handover		2		100, 80, 50</a:t>
            </a:r>
          </a:p>
        </p:txBody>
      </p:sp>
    </p:spTree>
    <p:extLst>
      <p:ext uri="{BB962C8B-B14F-4D97-AF65-F5344CB8AC3E}">
        <p14:creationId xmlns:p14="http://schemas.microsoft.com/office/powerpoint/2010/main" val="688118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771ED9-5CD7-2C43-9ADA-9BACF453FED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3200" dirty="0"/>
              <a:t>Example: (2) Construction of PERT Chart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939D2-9113-3C4E-8ABD-14D74CECE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28</a:t>
            </a:fld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F3DC7AF2-12B7-3247-8395-468DBBC28740}"/>
              </a:ext>
            </a:extLst>
          </p:cNvPr>
          <p:cNvGrpSpPr>
            <a:grpSpLocks/>
          </p:cNvGrpSpPr>
          <p:nvPr/>
        </p:nvGrpSpPr>
        <p:grpSpPr bwMode="auto">
          <a:xfrm>
            <a:off x="357762" y="2330441"/>
            <a:ext cx="8423275" cy="4176713"/>
            <a:chOff x="354" y="1071"/>
            <a:chExt cx="5306" cy="2631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B01B5A7C-FAE5-F34B-9DE3-C5EE108DC6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" y="1888"/>
              <a:ext cx="492" cy="408"/>
              <a:chOff x="385" y="1888"/>
              <a:chExt cx="454" cy="408"/>
            </a:xfrm>
          </p:grpSpPr>
          <p:sp>
            <p:nvSpPr>
              <p:cNvPr id="77" name="Oval 5">
                <a:extLst>
                  <a:ext uri="{FF2B5EF4-FFF2-40B4-BE49-F238E27FC236}">
                    <a16:creationId xmlns:a16="http://schemas.microsoft.com/office/drawing/2014/main" id="{F0D383E2-1A6D-1C40-9E1B-700DD6B55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8" name="Line 6">
                <a:extLst>
                  <a:ext uri="{FF2B5EF4-FFF2-40B4-BE49-F238E27FC236}">
                    <a16:creationId xmlns:a16="http://schemas.microsoft.com/office/drawing/2014/main" id="{ECDB4F8D-2481-A440-9DF5-56565B0690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AEF02EE-09B0-BC40-B4DA-0EFC69D105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" y="1071"/>
              <a:ext cx="492" cy="408"/>
              <a:chOff x="385" y="1888"/>
              <a:chExt cx="454" cy="408"/>
            </a:xfrm>
          </p:grpSpPr>
          <p:sp>
            <p:nvSpPr>
              <p:cNvPr id="74" name="Oval 9">
                <a:extLst>
                  <a:ext uri="{FF2B5EF4-FFF2-40B4-BE49-F238E27FC236}">
                    <a16:creationId xmlns:a16="http://schemas.microsoft.com/office/drawing/2014/main" id="{E7303551-FF50-DA45-BF7D-68DCA5C15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5" name="Line 10">
                <a:extLst>
                  <a:ext uri="{FF2B5EF4-FFF2-40B4-BE49-F238E27FC236}">
                    <a16:creationId xmlns:a16="http://schemas.microsoft.com/office/drawing/2014/main" id="{03E8B453-2B16-9B4A-9B6C-2D50989D6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C70E7542-D282-9E4C-B9DB-A177229F5A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8" y="1888"/>
              <a:ext cx="492" cy="408"/>
              <a:chOff x="385" y="1888"/>
              <a:chExt cx="454" cy="408"/>
            </a:xfrm>
          </p:grpSpPr>
          <p:sp>
            <p:nvSpPr>
              <p:cNvPr id="71" name="Oval 13">
                <a:extLst>
                  <a:ext uri="{FF2B5EF4-FFF2-40B4-BE49-F238E27FC236}">
                    <a16:creationId xmlns:a16="http://schemas.microsoft.com/office/drawing/2014/main" id="{38A34055-7846-4D44-96C0-1495DDB1C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2" name="Line 14">
                <a:extLst>
                  <a:ext uri="{FF2B5EF4-FFF2-40B4-BE49-F238E27FC236}">
                    <a16:creationId xmlns:a16="http://schemas.microsoft.com/office/drawing/2014/main" id="{A8AE2FBB-B2E0-D840-AFC1-995902330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1" name="Group 16">
              <a:extLst>
                <a:ext uri="{FF2B5EF4-FFF2-40B4-BE49-F238E27FC236}">
                  <a16:creationId xmlns:a16="http://schemas.microsoft.com/office/drawing/2014/main" id="{F75239DA-6B6C-3442-B14E-7F74015774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2" y="1888"/>
              <a:ext cx="492" cy="408"/>
              <a:chOff x="385" y="1888"/>
              <a:chExt cx="454" cy="408"/>
            </a:xfrm>
          </p:grpSpPr>
          <p:sp>
            <p:nvSpPr>
              <p:cNvPr id="68" name="Oval 17">
                <a:extLst>
                  <a:ext uri="{FF2B5EF4-FFF2-40B4-BE49-F238E27FC236}">
                    <a16:creationId xmlns:a16="http://schemas.microsoft.com/office/drawing/2014/main" id="{A0B0AFFB-B05C-EC4D-B7C8-D0786DE4D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9" name="Line 18">
                <a:extLst>
                  <a:ext uri="{FF2B5EF4-FFF2-40B4-BE49-F238E27FC236}">
                    <a16:creationId xmlns:a16="http://schemas.microsoft.com/office/drawing/2014/main" id="{F65E5C05-C786-3A48-87ED-B275D83A0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2" name="Oval 20">
              <a:extLst>
                <a:ext uri="{FF2B5EF4-FFF2-40B4-BE49-F238E27FC236}">
                  <a16:creationId xmlns:a16="http://schemas.microsoft.com/office/drawing/2014/main" id="{E397843F-6895-C54A-B601-EBAADF6CE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" y="188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3" name="Line 21">
              <a:extLst>
                <a:ext uri="{FF2B5EF4-FFF2-40B4-BE49-F238E27FC236}">
                  <a16:creationId xmlns:a16="http://schemas.microsoft.com/office/drawing/2014/main" id="{074637B7-3E43-FE42-8167-DED56B1908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13AADBCF-E959-6C43-A2AB-14E211FB3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1888"/>
              <a:ext cx="491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589CC4A3-E264-564F-A738-5C810EB05D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5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8" name="Oval 26">
              <a:extLst>
                <a:ext uri="{FF2B5EF4-FFF2-40B4-BE49-F238E27FC236}">
                  <a16:creationId xmlns:a16="http://schemas.microsoft.com/office/drawing/2014/main" id="{FB98DF46-8358-F44A-9317-FDAE6AB3B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1" y="188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21390921-E00A-5940-A82D-58CD1DC3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7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1" name="Oval 29">
              <a:extLst>
                <a:ext uri="{FF2B5EF4-FFF2-40B4-BE49-F238E27FC236}">
                  <a16:creationId xmlns:a16="http://schemas.microsoft.com/office/drawing/2014/main" id="{482CA9CA-5AAC-774A-9013-C214D185B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071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8F4C254A-E0D7-544B-8BCC-CC08F44DD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5" y="1072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grpSp>
          <p:nvGrpSpPr>
            <p:cNvPr id="24" name="Group 32">
              <a:extLst>
                <a:ext uri="{FF2B5EF4-FFF2-40B4-BE49-F238E27FC236}">
                  <a16:creationId xmlns:a16="http://schemas.microsoft.com/office/drawing/2014/main" id="{0F2910D7-11F3-604D-9C7C-1C3E0E78B0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9" y="2659"/>
              <a:ext cx="492" cy="408"/>
              <a:chOff x="385" y="1888"/>
              <a:chExt cx="454" cy="408"/>
            </a:xfrm>
          </p:grpSpPr>
          <p:sp>
            <p:nvSpPr>
              <p:cNvPr id="65" name="Oval 33">
                <a:extLst>
                  <a:ext uri="{FF2B5EF4-FFF2-40B4-BE49-F238E27FC236}">
                    <a16:creationId xmlns:a16="http://schemas.microsoft.com/office/drawing/2014/main" id="{398B91D1-5D10-9641-978A-135056F1C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6" name="Line 34">
                <a:extLst>
                  <a:ext uri="{FF2B5EF4-FFF2-40B4-BE49-F238E27FC236}">
                    <a16:creationId xmlns:a16="http://schemas.microsoft.com/office/drawing/2014/main" id="{ED4333F6-3274-B54F-B75E-4CB6E2F8F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5" name="Oval 36">
              <a:extLst>
                <a:ext uri="{FF2B5EF4-FFF2-40B4-BE49-F238E27FC236}">
                  <a16:creationId xmlns:a16="http://schemas.microsoft.com/office/drawing/2014/main" id="{6550DD2F-A1A7-D245-8AE7-FBBE5DFCE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2659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6" name="Line 37">
              <a:extLst>
                <a:ext uri="{FF2B5EF4-FFF2-40B4-BE49-F238E27FC236}">
                  <a16:creationId xmlns:a16="http://schemas.microsoft.com/office/drawing/2014/main" id="{850EBFB5-C199-7C4F-BE33-AFA4C1EDF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7" y="2660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grpSp>
          <p:nvGrpSpPr>
            <p:cNvPr id="28" name="Group 39">
              <a:extLst>
                <a:ext uri="{FF2B5EF4-FFF2-40B4-BE49-F238E27FC236}">
                  <a16:creationId xmlns:a16="http://schemas.microsoft.com/office/drawing/2014/main" id="{1B0BDB4B-F6E5-A64E-9D75-DFBECB2EAA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9" y="3294"/>
              <a:ext cx="492" cy="408"/>
              <a:chOff x="385" y="1888"/>
              <a:chExt cx="454" cy="408"/>
            </a:xfrm>
          </p:grpSpPr>
          <p:sp>
            <p:nvSpPr>
              <p:cNvPr id="62" name="Oval 40">
                <a:extLst>
                  <a:ext uri="{FF2B5EF4-FFF2-40B4-BE49-F238E27FC236}">
                    <a16:creationId xmlns:a16="http://schemas.microsoft.com/office/drawing/2014/main" id="{583BE818-082D-2B40-AA88-626C331BC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3" name="Line 41">
                <a:extLst>
                  <a:ext uri="{FF2B5EF4-FFF2-40B4-BE49-F238E27FC236}">
                    <a16:creationId xmlns:a16="http://schemas.microsoft.com/office/drawing/2014/main" id="{7E5C766D-8290-8E4E-988D-4AAAA1A9C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9" name="Line 43">
              <a:extLst>
                <a:ext uri="{FF2B5EF4-FFF2-40B4-BE49-F238E27FC236}">
                  <a16:creationId xmlns:a16="http://schemas.microsoft.com/office/drawing/2014/main" id="{2EE4434C-9E05-5345-BAC6-96D6FC073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" y="1480"/>
              <a:ext cx="295" cy="4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0" name="Text Box 44">
              <a:extLst>
                <a:ext uri="{FF2B5EF4-FFF2-40B4-BE49-F238E27FC236}">
                  <a16:creationId xmlns:a16="http://schemas.microsoft.com/office/drawing/2014/main" id="{77EA7968-3989-094E-9077-3090497D2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379429">
              <a:off x="697" y="147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31" name="Line 45">
              <a:extLst>
                <a:ext uri="{FF2B5EF4-FFF2-40B4-BE49-F238E27FC236}">
                  <a16:creationId xmlns:a16="http://schemas.microsoft.com/office/drawing/2014/main" id="{863F6543-E2B7-F440-8A8D-CB3704CB5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7" y="1298"/>
              <a:ext cx="93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2" name="Text Box 46">
              <a:extLst>
                <a:ext uri="{FF2B5EF4-FFF2-40B4-BE49-F238E27FC236}">
                  <a16:creationId xmlns:a16="http://schemas.microsoft.com/office/drawing/2014/main" id="{CFF96848-F60D-CD4E-98C0-4C6E4F75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3" y="1093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</a:t>
              </a:r>
            </a:p>
          </p:txBody>
        </p:sp>
        <p:sp>
          <p:nvSpPr>
            <p:cNvPr id="33" name="Line 47">
              <a:extLst>
                <a:ext uri="{FF2B5EF4-FFF2-40B4-BE49-F238E27FC236}">
                  <a16:creationId xmlns:a16="http://schemas.microsoft.com/office/drawing/2014/main" id="{3309DB8C-2EED-1542-800F-EC8A2B5C4F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" y="2115"/>
              <a:ext cx="39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4" name="Text Box 48">
              <a:extLst>
                <a:ext uri="{FF2B5EF4-FFF2-40B4-BE49-F238E27FC236}">
                  <a16:creationId xmlns:a16="http://schemas.microsoft.com/office/drawing/2014/main" id="{1284838E-8412-0449-BA6C-D1420DED2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1903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5" name="Line 49">
              <a:extLst>
                <a:ext uri="{FF2B5EF4-FFF2-40B4-BE49-F238E27FC236}">
                  <a16:creationId xmlns:a16="http://schemas.microsoft.com/office/drawing/2014/main" id="{A05BA188-D6D6-2E48-A59A-88CF0C43E2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0" y="206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6" name="Text Box 50">
              <a:extLst>
                <a:ext uri="{FF2B5EF4-FFF2-40B4-BE49-F238E27FC236}">
                  <a16:creationId xmlns:a16="http://schemas.microsoft.com/office/drawing/2014/main" id="{B09C8F9E-E1AB-5B41-B954-FD66FF0D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9" y="1888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7" name="Line 51">
              <a:extLst>
                <a:ext uri="{FF2B5EF4-FFF2-40B4-BE49-F238E27FC236}">
                  <a16:creationId xmlns:a16="http://schemas.microsoft.com/office/drawing/2014/main" id="{E743585A-6318-2648-94AD-697B86384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" y="2296"/>
              <a:ext cx="344" cy="4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8" name="Text Box 52">
              <a:extLst>
                <a:ext uri="{FF2B5EF4-FFF2-40B4-BE49-F238E27FC236}">
                  <a16:creationId xmlns:a16="http://schemas.microsoft.com/office/drawing/2014/main" id="{B47A8813-8BF1-BC42-868A-42A68CE6A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31926">
              <a:off x="1534" y="2309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748FA3B8-9B43-CB46-9521-9973DF7BD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251"/>
              <a:ext cx="344" cy="122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0" name="Line 54">
              <a:extLst>
                <a:ext uri="{FF2B5EF4-FFF2-40B4-BE49-F238E27FC236}">
                  <a16:creationId xmlns:a16="http://schemas.microsoft.com/office/drawing/2014/main" id="{764CDFA2-3CB1-084D-B9CC-094245066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1" y="3475"/>
              <a:ext cx="176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1" name="Text Box 55">
              <a:extLst>
                <a:ext uri="{FF2B5EF4-FFF2-40B4-BE49-F238E27FC236}">
                  <a16:creationId xmlns:a16="http://schemas.microsoft.com/office/drawing/2014/main" id="{AF443DEB-E920-8C4F-B474-C4D4D9ADB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" y="3294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2" name="Line 56">
              <a:extLst>
                <a:ext uri="{FF2B5EF4-FFF2-40B4-BE49-F238E27FC236}">
                  <a16:creationId xmlns:a16="http://schemas.microsoft.com/office/drawing/2014/main" id="{477A4043-AE40-5D42-903E-2B95BC6F5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2" y="2886"/>
              <a:ext cx="53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3" name="Text Box 57">
              <a:extLst>
                <a:ext uri="{FF2B5EF4-FFF2-40B4-BE49-F238E27FC236}">
                  <a16:creationId xmlns:a16="http://schemas.microsoft.com/office/drawing/2014/main" id="{27218591-E175-D740-8B0D-2E5AA703D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9" y="2704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40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44" name="Line 58">
              <a:extLst>
                <a:ext uri="{FF2B5EF4-FFF2-40B4-BE49-F238E27FC236}">
                  <a16:creationId xmlns:a16="http://schemas.microsoft.com/office/drawing/2014/main" id="{C308B6A2-D64D-C640-BE4B-27816C800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1298"/>
              <a:ext cx="492" cy="6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5" name="Text Box 59">
              <a:extLst>
                <a:ext uri="{FF2B5EF4-FFF2-40B4-BE49-F238E27FC236}">
                  <a16:creationId xmlns:a16="http://schemas.microsoft.com/office/drawing/2014/main" id="{AEC21F06-039A-DC42-A679-D471C3834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980631">
              <a:off x="2860" y="1402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6" name="Line 60">
              <a:extLst>
                <a:ext uri="{FF2B5EF4-FFF2-40B4-BE49-F238E27FC236}">
                  <a16:creationId xmlns:a16="http://schemas.microsoft.com/office/drawing/2014/main" id="{D05EF7BF-F9CC-094C-8E4F-A04890C6C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" y="206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7" name="Text Box 61">
              <a:extLst>
                <a:ext uri="{FF2B5EF4-FFF2-40B4-BE49-F238E27FC236}">
                  <a16:creationId xmlns:a16="http://schemas.microsoft.com/office/drawing/2014/main" id="{8B2453E1-9B39-F247-B465-1513FDC98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2" y="188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70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12</a:t>
              </a:r>
            </a:p>
          </p:txBody>
        </p:sp>
        <p:sp>
          <p:nvSpPr>
            <p:cNvPr id="48" name="Line 62">
              <a:extLst>
                <a:ext uri="{FF2B5EF4-FFF2-40B4-BE49-F238E27FC236}">
                  <a16:creationId xmlns:a16="http://schemas.microsoft.com/office/drawing/2014/main" id="{BBC84E54-832F-A64C-A7FA-07362FBEA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4" y="2296"/>
              <a:ext cx="148" cy="40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9" name="Line 63">
              <a:extLst>
                <a:ext uri="{FF2B5EF4-FFF2-40B4-BE49-F238E27FC236}">
                  <a16:creationId xmlns:a16="http://schemas.microsoft.com/office/drawing/2014/main" id="{DFDDB677-5D9C-0E46-922F-B5F2F9AA8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8" y="206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0" name="Text Box 64">
              <a:extLst>
                <a:ext uri="{FF2B5EF4-FFF2-40B4-BE49-F238E27FC236}">
                  <a16:creationId xmlns:a16="http://schemas.microsoft.com/office/drawing/2014/main" id="{0A40CD0B-3147-B947-95E6-647156BB7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" y="188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80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51" name="Line 65">
              <a:extLst>
                <a:ext uri="{FF2B5EF4-FFF2-40B4-BE49-F238E27FC236}">
                  <a16:creationId xmlns:a16="http://schemas.microsoft.com/office/drawing/2014/main" id="{017D8B4B-08E3-E949-AC7F-EFE89BA195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1" y="2069"/>
              <a:ext cx="5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2" name="Text Box 66">
              <a:extLst>
                <a:ext uri="{FF2B5EF4-FFF2-40B4-BE49-F238E27FC236}">
                  <a16:creationId xmlns:a16="http://schemas.microsoft.com/office/drawing/2014/main" id="{C5DF668E-EABC-984E-9958-24E06A4E1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" y="1872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110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53" name="Line 67">
              <a:extLst>
                <a:ext uri="{FF2B5EF4-FFF2-40B4-BE49-F238E27FC236}">
                  <a16:creationId xmlns:a16="http://schemas.microsoft.com/office/drawing/2014/main" id="{63D90B09-6274-AF46-8167-C1A563CC3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4" y="2251"/>
              <a:ext cx="883" cy="54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4" name="Line 68">
              <a:extLst>
                <a:ext uri="{FF2B5EF4-FFF2-40B4-BE49-F238E27FC236}">
                  <a16:creationId xmlns:a16="http://schemas.microsoft.com/office/drawing/2014/main" id="{3E9B26F5-F48F-A643-BD40-AE275590E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2" y="2296"/>
              <a:ext cx="394" cy="104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5" name="Text Box 69">
              <a:extLst>
                <a:ext uri="{FF2B5EF4-FFF2-40B4-BE49-F238E27FC236}">
                  <a16:creationId xmlns:a16="http://schemas.microsoft.com/office/drawing/2014/main" id="{EE01A2DD-7A9B-1D43-9CCF-87B0866CD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710899">
              <a:off x="3428" y="2389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56" name="Text Box 70">
              <a:extLst>
                <a:ext uri="{FF2B5EF4-FFF2-40B4-BE49-F238E27FC236}">
                  <a16:creationId xmlns:a16="http://schemas.microsoft.com/office/drawing/2014/main" id="{42BC6379-5607-8D4A-9431-8C2B654A5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532981">
              <a:off x="3843" y="2612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100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61" name="AutoShape 75">
              <a:extLst>
                <a:ext uri="{FF2B5EF4-FFF2-40B4-BE49-F238E27FC236}">
                  <a16:creationId xmlns:a16="http://schemas.microsoft.com/office/drawing/2014/main" id="{47D3C387-94BF-D449-8B72-DD6BB13EE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3067"/>
              <a:ext cx="1178" cy="453"/>
            </a:xfrm>
            <a:prstGeom prst="wedgeRoundRectCallout">
              <a:avLst>
                <a:gd name="adj1" fmla="val -156250"/>
                <a:gd name="adj2" fmla="val -155079"/>
                <a:gd name="adj3" fmla="val 16667"/>
              </a:avLst>
            </a:prstGeom>
            <a:solidFill>
              <a:srgbClr val="CC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Dummy task since: 50 depends on 40, and 80 also on 40</a:t>
              </a:r>
            </a:p>
          </p:txBody>
        </p:sp>
      </p:grpSp>
      <p:sp>
        <p:nvSpPr>
          <p:cNvPr id="80" name="Text Box 77">
            <a:extLst>
              <a:ext uri="{FF2B5EF4-FFF2-40B4-BE49-F238E27FC236}">
                <a16:creationId xmlns:a16="http://schemas.microsoft.com/office/drawing/2014/main" id="{FE9E15A4-B1EA-CE49-A0B7-02BF99028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02" y="803504"/>
            <a:ext cx="8427462" cy="1415772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solidFill>
                  <a:schemeClr val="accent5"/>
                </a:solidFill>
              </a:rPr>
              <a:t>Draw a Pert chart network diagram</a:t>
            </a:r>
          </a:p>
          <a:p>
            <a:pPr marL="342900" indent="-342900">
              <a:spcBef>
                <a:spcPts val="600"/>
              </a:spcBef>
            </a:pPr>
            <a:r>
              <a:rPr lang="en-GB" altLang="en-US" sz="2400" dirty="0">
                <a:solidFill>
                  <a:schemeClr val="accent5"/>
                </a:solidFill>
              </a:rPr>
              <a:t>Activities as arcs (add dummy arcs when necessary) </a:t>
            </a:r>
          </a:p>
          <a:p>
            <a:pPr marL="342900" indent="-342900">
              <a:spcBef>
                <a:spcPts val="600"/>
              </a:spcBef>
            </a:pPr>
            <a:r>
              <a:rPr lang="en-GB" altLang="en-US" sz="2400" dirty="0">
                <a:solidFill>
                  <a:schemeClr val="accent5"/>
                </a:solidFill>
              </a:rPr>
              <a:t>Milestones/event as nodes</a:t>
            </a:r>
          </a:p>
        </p:txBody>
      </p:sp>
    </p:spTree>
    <p:extLst>
      <p:ext uri="{BB962C8B-B14F-4D97-AF65-F5344CB8AC3E}">
        <p14:creationId xmlns:p14="http://schemas.microsoft.com/office/powerpoint/2010/main" val="2185404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1662-9951-F34D-A183-A224EC2B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/>
              <a:t>Dummy Activity (1)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B1FCC-03AD-824F-BF1E-81FD1D615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29</a:t>
            </a:fld>
            <a:endParaRPr lang="en-US" dirty="0"/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69CE7EE7-3DFC-F044-8ECF-E614965BD002}"/>
              </a:ext>
            </a:extLst>
          </p:cNvPr>
          <p:cNvGrpSpPr>
            <a:grpSpLocks/>
          </p:cNvGrpSpPr>
          <p:nvPr/>
        </p:nvGrpSpPr>
        <p:grpSpPr bwMode="auto">
          <a:xfrm>
            <a:off x="1420813" y="1764744"/>
            <a:ext cx="493712" cy="504825"/>
            <a:chOff x="385" y="1888"/>
            <a:chExt cx="454" cy="408"/>
          </a:xfrm>
        </p:grpSpPr>
        <p:sp>
          <p:nvSpPr>
            <p:cNvPr id="7" name="Oval 11">
              <a:extLst>
                <a:ext uri="{FF2B5EF4-FFF2-40B4-BE49-F238E27FC236}">
                  <a16:creationId xmlns:a16="http://schemas.microsoft.com/office/drawing/2014/main" id="{7171F215-8238-C74C-87D5-E94BA528B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88"/>
              <a:ext cx="454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092CAB95-73BF-4040-B418-A72499D6C1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15BC7AD2-E125-C64D-87F3-EC2C7E99E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79"/>
              <a:ext cx="286" cy="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  </a:t>
              </a:r>
            </a:p>
          </p:txBody>
        </p:sp>
      </p:grpSp>
      <p:sp>
        <p:nvSpPr>
          <p:cNvPr id="10" name="Line 14">
            <a:extLst>
              <a:ext uri="{FF2B5EF4-FFF2-40B4-BE49-F238E27FC236}">
                <a16:creationId xmlns:a16="http://schemas.microsoft.com/office/drawing/2014/main" id="{D1F650F8-4C61-5241-9B9B-E80D76A12F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52613" y="1477407"/>
            <a:ext cx="863600" cy="43021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EA5DAC2C-A4F5-6742-895C-DED1AF1AF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8" y="1532969"/>
            <a:ext cx="466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4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12" name="Line 16">
            <a:extLst>
              <a:ext uri="{FF2B5EF4-FFF2-40B4-BE49-F238E27FC236}">
                <a16:creationId xmlns:a16="http://schemas.microsoft.com/office/drawing/2014/main" id="{6D311277-8D23-2F49-9F9F-481F04DD3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2613" y="2126694"/>
            <a:ext cx="865187" cy="3619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20B76021-6EBA-CD4B-84ED-F922379A8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388" y="2180669"/>
            <a:ext cx="466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400">
                <a:solidFill>
                  <a:schemeClr val="tx2"/>
                </a:solidFill>
              </a:rPr>
              <a:t>C</a:t>
            </a:r>
          </a:p>
        </p:txBody>
      </p:sp>
      <p:grpSp>
        <p:nvGrpSpPr>
          <p:cNvPr id="14" name="Group 18">
            <a:extLst>
              <a:ext uri="{FF2B5EF4-FFF2-40B4-BE49-F238E27FC236}">
                <a16:creationId xmlns:a16="http://schemas.microsoft.com/office/drawing/2014/main" id="{BD31228E-3AB9-9A43-A506-D28068A8E318}"/>
              </a:ext>
            </a:extLst>
          </p:cNvPr>
          <p:cNvGrpSpPr>
            <a:grpSpLocks/>
          </p:cNvGrpSpPr>
          <p:nvPr/>
        </p:nvGrpSpPr>
        <p:grpSpPr bwMode="auto">
          <a:xfrm>
            <a:off x="3519488" y="1693307"/>
            <a:ext cx="493712" cy="504825"/>
            <a:chOff x="385" y="1888"/>
            <a:chExt cx="454" cy="408"/>
          </a:xfrm>
        </p:grpSpPr>
        <p:sp>
          <p:nvSpPr>
            <p:cNvPr id="15" name="Oval 19">
              <a:extLst>
                <a:ext uri="{FF2B5EF4-FFF2-40B4-BE49-F238E27FC236}">
                  <a16:creationId xmlns:a16="http://schemas.microsoft.com/office/drawing/2014/main" id="{6172508B-E909-BF43-BCE4-64ABB5ECC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88"/>
              <a:ext cx="454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7CD948E2-DF72-A045-A17C-81F409011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49B80137-CF91-CB49-9BD4-11E113A66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79"/>
              <a:ext cx="286" cy="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  </a:t>
              </a:r>
            </a:p>
          </p:txBody>
        </p:sp>
      </p:grpSp>
      <p:sp>
        <p:nvSpPr>
          <p:cNvPr id="18" name="Line 22">
            <a:extLst>
              <a:ext uri="{FF2B5EF4-FFF2-40B4-BE49-F238E27FC236}">
                <a16:creationId xmlns:a16="http://schemas.microsoft.com/office/drawing/2014/main" id="{8AB09766-7987-F442-801F-2ACC79D3B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6213" y="1475819"/>
            <a:ext cx="865187" cy="3619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19" name="Line 23">
            <a:extLst>
              <a:ext uri="{FF2B5EF4-FFF2-40B4-BE49-F238E27FC236}">
                <a16:creationId xmlns:a16="http://schemas.microsoft.com/office/drawing/2014/main" id="{DED770AC-168F-7445-BF5D-3CED57C52E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7800" y="2055257"/>
            <a:ext cx="863600" cy="43021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0" name="Line 24">
            <a:extLst>
              <a:ext uri="{FF2B5EF4-FFF2-40B4-BE49-F238E27FC236}">
                <a16:creationId xmlns:a16="http://schemas.microsoft.com/office/drawing/2014/main" id="{B9D3E4A6-F6BD-4241-8820-A716196D9F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650" y="2053669"/>
            <a:ext cx="7937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1" name="Text Box 25">
            <a:extLst>
              <a:ext uri="{FF2B5EF4-FFF2-40B4-BE49-F238E27FC236}">
                <a16:creationId xmlns:a16="http://schemas.microsoft.com/office/drawing/2014/main" id="{991289F9-8744-3949-A190-6E14995E8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1766332"/>
            <a:ext cx="466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4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22" name="Line 26">
            <a:extLst>
              <a:ext uri="{FF2B5EF4-FFF2-40B4-BE49-F238E27FC236}">
                <a16:creationId xmlns:a16="http://schemas.microsoft.com/office/drawing/2014/main" id="{569E30A1-99DF-074E-B24F-D6ADEBA5D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1613" y="1980644"/>
            <a:ext cx="7937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>
              <a:solidFill>
                <a:schemeClr val="tx2"/>
              </a:solidFill>
            </a:endParaRPr>
          </a:p>
        </p:txBody>
      </p:sp>
      <p:sp>
        <p:nvSpPr>
          <p:cNvPr id="23" name="Text Box 27">
            <a:extLst>
              <a:ext uri="{FF2B5EF4-FFF2-40B4-BE49-F238E27FC236}">
                <a16:creationId xmlns:a16="http://schemas.microsoft.com/office/drawing/2014/main" id="{67FCC392-C6F9-1C45-8637-45BF15267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050" y="1693307"/>
            <a:ext cx="466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400">
                <a:solidFill>
                  <a:schemeClr val="tx2"/>
                </a:solidFill>
              </a:rPr>
              <a:t>E</a:t>
            </a:r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AEFF2844-BB93-AD44-B832-11E212F4D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2" y="894210"/>
            <a:ext cx="4009225" cy="18004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GB" altLang="en-US" sz="2400" b="1" i="1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Problem to be solved</a:t>
            </a: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: </a:t>
            </a:r>
          </a:p>
          <a:p>
            <a:pPr marL="342900" indent="-342900">
              <a:spcBef>
                <a:spcPts val="600"/>
              </a:spcBef>
            </a:pP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B depends on A</a:t>
            </a:r>
          </a:p>
          <a:p>
            <a:pPr marL="342900" indent="-342900">
              <a:spcBef>
                <a:spcPts val="600"/>
              </a:spcBef>
            </a:pP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C depends on A</a:t>
            </a:r>
          </a:p>
          <a:p>
            <a:pPr marL="342900" indent="-342900">
              <a:spcBef>
                <a:spcPts val="600"/>
              </a:spcBef>
            </a:pP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E depends on B and C</a:t>
            </a:r>
          </a:p>
        </p:txBody>
      </p:sp>
      <p:grpSp>
        <p:nvGrpSpPr>
          <p:cNvPr id="25" name="Group 29">
            <a:extLst>
              <a:ext uri="{FF2B5EF4-FFF2-40B4-BE49-F238E27FC236}">
                <a16:creationId xmlns:a16="http://schemas.microsoft.com/office/drawing/2014/main" id="{ACFAB3B7-C02E-5649-8D6E-78C910FB1E63}"/>
              </a:ext>
            </a:extLst>
          </p:cNvPr>
          <p:cNvGrpSpPr>
            <a:grpSpLocks/>
          </p:cNvGrpSpPr>
          <p:nvPr/>
        </p:nvGrpSpPr>
        <p:grpSpPr bwMode="auto">
          <a:xfrm>
            <a:off x="1527176" y="3851831"/>
            <a:ext cx="493712" cy="512249"/>
            <a:chOff x="385" y="1888"/>
            <a:chExt cx="454" cy="414"/>
          </a:xfrm>
        </p:grpSpPr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DAE3DADE-FA0E-924D-AA7A-CF2FA1C7A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88"/>
              <a:ext cx="454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7" name="Line 31">
              <a:extLst>
                <a:ext uri="{FF2B5EF4-FFF2-40B4-BE49-F238E27FC236}">
                  <a16:creationId xmlns:a16="http://schemas.microsoft.com/office/drawing/2014/main" id="{4509A024-346A-9E4A-8977-34CF1830B0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000">
                <a:solidFill>
                  <a:schemeClr val="tx2"/>
                </a:solidFill>
              </a:endParaRPr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50CAA4BD-1927-734F-B06A-338E8D4D9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79"/>
              <a:ext cx="300" cy="3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>
                  <a:solidFill>
                    <a:schemeClr val="tx2"/>
                  </a:solidFill>
                </a:rPr>
                <a:t>  </a:t>
              </a:r>
            </a:p>
          </p:txBody>
        </p:sp>
      </p:grpSp>
      <p:sp>
        <p:nvSpPr>
          <p:cNvPr id="29" name="Line 33">
            <a:extLst>
              <a:ext uri="{FF2B5EF4-FFF2-40B4-BE49-F238E27FC236}">
                <a16:creationId xmlns:a16="http://schemas.microsoft.com/office/drawing/2014/main" id="{4F73CEFB-F7B0-A844-85AC-BF3DBA433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0413" y="4066144"/>
            <a:ext cx="1008063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000">
              <a:solidFill>
                <a:schemeClr val="tx2"/>
              </a:solidFill>
            </a:endParaRPr>
          </a:p>
        </p:txBody>
      </p:sp>
      <p:sp>
        <p:nvSpPr>
          <p:cNvPr id="30" name="Text Box 34">
            <a:extLst>
              <a:ext uri="{FF2B5EF4-FFF2-40B4-BE49-F238E27FC236}">
                <a16:creationId xmlns:a16="http://schemas.microsoft.com/office/drawing/2014/main" id="{51356599-16E5-7246-8DF9-956300BBB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38" y="3780394"/>
            <a:ext cx="4667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6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31" name="Line 35">
            <a:extLst>
              <a:ext uri="{FF2B5EF4-FFF2-40B4-BE49-F238E27FC236}">
                <a16:creationId xmlns:a16="http://schemas.microsoft.com/office/drawing/2014/main" id="{B138E087-449F-0C49-8D21-580E17225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8976" y="4285219"/>
            <a:ext cx="647700" cy="64611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000">
              <a:solidFill>
                <a:schemeClr val="tx2"/>
              </a:solidFill>
            </a:endParaRPr>
          </a:p>
        </p:txBody>
      </p:sp>
      <p:sp>
        <p:nvSpPr>
          <p:cNvPr id="32" name="Text Box 36">
            <a:extLst>
              <a:ext uri="{FF2B5EF4-FFF2-40B4-BE49-F238E27FC236}">
                <a16:creationId xmlns:a16="http://schemas.microsoft.com/office/drawing/2014/main" id="{395B1681-29BD-B34A-8D27-1C47844DD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438" y="4339194"/>
            <a:ext cx="4667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60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33" name="Line 37">
            <a:extLst>
              <a:ext uri="{FF2B5EF4-FFF2-40B4-BE49-F238E27FC236}">
                <a16:creationId xmlns:a16="http://schemas.microsoft.com/office/drawing/2014/main" id="{539C6764-70A2-FE47-9DC5-9E492BCAD3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013" y="4140756"/>
            <a:ext cx="7937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000">
              <a:solidFill>
                <a:schemeClr val="tx2"/>
              </a:solidFill>
            </a:endParaRPr>
          </a:p>
        </p:txBody>
      </p:sp>
      <p:sp>
        <p:nvSpPr>
          <p:cNvPr id="34" name="Text Box 38">
            <a:extLst>
              <a:ext uri="{FF2B5EF4-FFF2-40B4-BE49-F238E27FC236}">
                <a16:creationId xmlns:a16="http://schemas.microsoft.com/office/drawing/2014/main" id="{1F2CA5E1-C39E-E943-BF1F-347E133E3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1" y="3853419"/>
            <a:ext cx="4667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6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5" name="Line 39">
            <a:extLst>
              <a:ext uri="{FF2B5EF4-FFF2-40B4-BE49-F238E27FC236}">
                <a16:creationId xmlns:a16="http://schemas.microsoft.com/office/drawing/2014/main" id="{1E1DD56A-A5A1-6F4B-8873-3E746FF2D8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7038" y="4283631"/>
            <a:ext cx="215900" cy="64770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000">
              <a:solidFill>
                <a:schemeClr val="tx2"/>
              </a:solidFill>
            </a:endParaRPr>
          </a:p>
        </p:txBody>
      </p:sp>
      <p:grpSp>
        <p:nvGrpSpPr>
          <p:cNvPr id="36" name="Group 40">
            <a:extLst>
              <a:ext uri="{FF2B5EF4-FFF2-40B4-BE49-F238E27FC236}">
                <a16:creationId xmlns:a16="http://schemas.microsoft.com/office/drawing/2014/main" id="{DE8DF1AA-BF56-3C41-966C-D5308D6A1EF8}"/>
              </a:ext>
            </a:extLst>
          </p:cNvPr>
          <p:cNvGrpSpPr>
            <a:grpSpLocks/>
          </p:cNvGrpSpPr>
          <p:nvPr/>
        </p:nvGrpSpPr>
        <p:grpSpPr bwMode="auto">
          <a:xfrm>
            <a:off x="3038476" y="3780394"/>
            <a:ext cx="493712" cy="512249"/>
            <a:chOff x="385" y="1888"/>
            <a:chExt cx="454" cy="414"/>
          </a:xfrm>
        </p:grpSpPr>
        <p:sp>
          <p:nvSpPr>
            <p:cNvPr id="37" name="Oval 41">
              <a:extLst>
                <a:ext uri="{FF2B5EF4-FFF2-40B4-BE49-F238E27FC236}">
                  <a16:creationId xmlns:a16="http://schemas.microsoft.com/office/drawing/2014/main" id="{7DA1CE6D-B9EE-DA42-8F1B-9B903A1AD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88"/>
              <a:ext cx="454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38" name="Line 42">
              <a:extLst>
                <a:ext uri="{FF2B5EF4-FFF2-40B4-BE49-F238E27FC236}">
                  <a16:creationId xmlns:a16="http://schemas.microsoft.com/office/drawing/2014/main" id="{48AAC819-462E-1C44-A546-1EDDE3AF3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000">
                <a:solidFill>
                  <a:schemeClr val="tx2"/>
                </a:solidFill>
              </a:endParaRPr>
            </a:p>
          </p:txBody>
        </p:sp>
        <p:sp>
          <p:nvSpPr>
            <p:cNvPr id="39" name="Text Box 43">
              <a:extLst>
                <a:ext uri="{FF2B5EF4-FFF2-40B4-BE49-F238E27FC236}">
                  <a16:creationId xmlns:a16="http://schemas.microsoft.com/office/drawing/2014/main" id="{629F9A97-466A-3B43-A267-43276B5CF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79"/>
              <a:ext cx="300" cy="3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>
                  <a:solidFill>
                    <a:schemeClr val="tx2"/>
                  </a:solidFill>
                </a:rPr>
                <a:t>  </a:t>
              </a:r>
            </a:p>
          </p:txBody>
        </p:sp>
      </p:grpSp>
      <p:sp>
        <p:nvSpPr>
          <p:cNvPr id="40" name="Line 44">
            <a:extLst>
              <a:ext uri="{FF2B5EF4-FFF2-40B4-BE49-F238E27FC236}">
                <a16:creationId xmlns:a16="http://schemas.microsoft.com/office/drawing/2014/main" id="{A46A0076-4BE6-EC4B-86BB-7BD9955D41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0601" y="4067731"/>
            <a:ext cx="7937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2000">
              <a:solidFill>
                <a:schemeClr val="tx2"/>
              </a:solidFill>
            </a:endParaRPr>
          </a:p>
        </p:txBody>
      </p:sp>
      <p:sp>
        <p:nvSpPr>
          <p:cNvPr id="41" name="Text Box 45">
            <a:extLst>
              <a:ext uri="{FF2B5EF4-FFF2-40B4-BE49-F238E27FC236}">
                <a16:creationId xmlns:a16="http://schemas.microsoft.com/office/drawing/2014/main" id="{47AD585C-28B3-EF45-AB27-30752E76F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038" y="3780394"/>
            <a:ext cx="4667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600">
                <a:solidFill>
                  <a:schemeClr val="tx2"/>
                </a:solidFill>
              </a:rPr>
              <a:t>E</a:t>
            </a:r>
          </a:p>
        </p:txBody>
      </p:sp>
      <p:grpSp>
        <p:nvGrpSpPr>
          <p:cNvPr id="42" name="Group 46">
            <a:extLst>
              <a:ext uri="{FF2B5EF4-FFF2-40B4-BE49-F238E27FC236}">
                <a16:creationId xmlns:a16="http://schemas.microsoft.com/office/drawing/2014/main" id="{8372D101-3CA7-AE4D-A653-049BEF6554D0}"/>
              </a:ext>
            </a:extLst>
          </p:cNvPr>
          <p:cNvGrpSpPr>
            <a:grpSpLocks/>
          </p:cNvGrpSpPr>
          <p:nvPr/>
        </p:nvGrpSpPr>
        <p:grpSpPr bwMode="auto">
          <a:xfrm>
            <a:off x="2535238" y="4859894"/>
            <a:ext cx="493713" cy="512249"/>
            <a:chOff x="385" y="1888"/>
            <a:chExt cx="454" cy="414"/>
          </a:xfrm>
        </p:grpSpPr>
        <p:sp>
          <p:nvSpPr>
            <p:cNvPr id="43" name="Oval 47">
              <a:extLst>
                <a:ext uri="{FF2B5EF4-FFF2-40B4-BE49-F238E27FC236}">
                  <a16:creationId xmlns:a16="http://schemas.microsoft.com/office/drawing/2014/main" id="{E404A421-E33E-4D4E-8848-A83EE1839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888"/>
              <a:ext cx="454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000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44" name="Line 48">
              <a:extLst>
                <a:ext uri="{FF2B5EF4-FFF2-40B4-BE49-F238E27FC236}">
                  <a16:creationId xmlns:a16="http://schemas.microsoft.com/office/drawing/2014/main" id="{F5B826BA-5DED-3C44-B2B2-0D9ADED871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000">
                <a:solidFill>
                  <a:schemeClr val="tx2"/>
                </a:solidFill>
              </a:endParaRPr>
            </a:p>
          </p:txBody>
        </p:sp>
        <p:sp>
          <p:nvSpPr>
            <p:cNvPr id="45" name="Text Box 49">
              <a:extLst>
                <a:ext uri="{FF2B5EF4-FFF2-40B4-BE49-F238E27FC236}">
                  <a16:creationId xmlns:a16="http://schemas.microsoft.com/office/drawing/2014/main" id="{5D513804-6D73-8F4E-A6F3-9B771355D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979"/>
              <a:ext cx="300" cy="3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>
                  <a:solidFill>
                    <a:schemeClr val="tx2"/>
                  </a:solidFill>
                </a:rPr>
                <a:t>  </a:t>
              </a:r>
            </a:p>
          </p:txBody>
        </p:sp>
      </p:grpSp>
      <p:sp>
        <p:nvSpPr>
          <p:cNvPr id="46" name="Text Box 50">
            <a:extLst>
              <a:ext uri="{FF2B5EF4-FFF2-40B4-BE49-F238E27FC236}">
                <a16:creationId xmlns:a16="http://schemas.microsoft.com/office/drawing/2014/main" id="{49611787-BC3A-7142-94E4-41C8FAA53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113" y="4555094"/>
            <a:ext cx="46672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600">
                <a:solidFill>
                  <a:schemeClr val="tx2"/>
                </a:solidFill>
              </a:rPr>
              <a:t>D</a:t>
            </a:r>
          </a:p>
        </p:txBody>
      </p:sp>
      <p:sp>
        <p:nvSpPr>
          <p:cNvPr id="47" name="Text Box 51">
            <a:extLst>
              <a:ext uri="{FF2B5EF4-FFF2-40B4-BE49-F238E27FC236}">
                <a16:creationId xmlns:a16="http://schemas.microsoft.com/office/drawing/2014/main" id="{E580B4EC-4033-184E-8CF0-292F12EEE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175" y="6021388"/>
            <a:ext cx="79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>
              <a:latin typeface="Times" pitchFamily="2" charset="0"/>
            </a:endParaRPr>
          </a:p>
        </p:txBody>
      </p:sp>
      <p:sp>
        <p:nvSpPr>
          <p:cNvPr id="48" name="Text Box 54">
            <a:extLst>
              <a:ext uri="{FF2B5EF4-FFF2-40B4-BE49-F238E27FC236}">
                <a16:creationId xmlns:a16="http://schemas.microsoft.com/office/drawing/2014/main" id="{F7FB7E14-95C6-CD47-A974-D4209F9FA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1" y="4428094"/>
            <a:ext cx="863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6000">
                <a:solidFill>
                  <a:schemeClr val="tx2"/>
                </a:solidFill>
                <a:latin typeface="Times" pitchFamily="2" charset="0"/>
                <a:sym typeface="Wingdings 2" pitchFamily="2" charset="2"/>
              </a:rPr>
              <a:t></a:t>
            </a:r>
          </a:p>
        </p:txBody>
      </p:sp>
      <p:sp>
        <p:nvSpPr>
          <p:cNvPr id="49" name="Text Box 55">
            <a:extLst>
              <a:ext uri="{FF2B5EF4-FFF2-40B4-BE49-F238E27FC236}">
                <a16:creationId xmlns:a16="http://schemas.microsoft.com/office/drawing/2014/main" id="{6BDA0B25-FF8C-2B44-BCA5-7F97F502F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963" y="2126694"/>
            <a:ext cx="71913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5400">
                <a:solidFill>
                  <a:schemeClr val="tx2"/>
                </a:solidFill>
                <a:latin typeface="Times" pitchFamily="2" charset="0"/>
                <a:sym typeface="Wingdings 2" pitchFamily="2" charset="2"/>
              </a:rPr>
              <a:t></a:t>
            </a:r>
          </a:p>
        </p:txBody>
      </p:sp>
      <p:sp>
        <p:nvSpPr>
          <p:cNvPr id="50" name="Text Box 28">
            <a:extLst>
              <a:ext uri="{FF2B5EF4-FFF2-40B4-BE49-F238E27FC236}">
                <a16:creationId xmlns:a16="http://schemas.microsoft.com/office/drawing/2014/main" id="{2CFDA371-CFE0-9C45-83C8-3C80A3A02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1" y="3623959"/>
            <a:ext cx="3843334" cy="23852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ts val="600"/>
              </a:spcBef>
            </a:pPr>
            <a:r>
              <a:rPr lang="en-GB" altLang="en-US" sz="2400" b="1" i="1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Error</a:t>
            </a: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: Pert Chart does not allow multiple arcs between same pair of nodes</a:t>
            </a:r>
          </a:p>
          <a:p>
            <a:pPr marL="342900" indent="-342900">
              <a:spcBef>
                <a:spcPts val="600"/>
              </a:spcBef>
            </a:pPr>
            <a:r>
              <a:rPr lang="en-GB" altLang="en-US" sz="2400" b="1" i="1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Solution</a:t>
            </a: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: Use a dummy task D</a:t>
            </a:r>
          </a:p>
        </p:txBody>
      </p:sp>
    </p:spTree>
    <p:extLst>
      <p:ext uri="{BB962C8B-B14F-4D97-AF65-F5344CB8AC3E}">
        <p14:creationId xmlns:p14="http://schemas.microsoft.com/office/powerpoint/2010/main" val="2919212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2A0A-DF7B-5D4A-96D8-4311D02D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/>
              <a:t>Dummy Activity (2)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5C62A-926D-FE46-AB99-F36747D57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30</a:t>
            </a:fld>
            <a:endParaRPr lang="en-US" dirty="0"/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C79D8862-8BF0-9D4E-B98B-EE1D78653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5" y="1170261"/>
            <a:ext cx="377904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 i="1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Problem to be solved: </a:t>
            </a:r>
          </a:p>
          <a:p>
            <a:pPr marL="285750" indent="-285750">
              <a:spcBef>
                <a:spcPct val="50000"/>
              </a:spcBef>
            </a:pP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C depends on A and B</a:t>
            </a:r>
          </a:p>
          <a:p>
            <a:pPr marL="285750" indent="-285750">
              <a:spcBef>
                <a:spcPct val="50000"/>
              </a:spcBef>
            </a:pP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E depends on B only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29B495B-7C61-8A4B-ACC2-B88EC907E959}"/>
              </a:ext>
            </a:extLst>
          </p:cNvPr>
          <p:cNvGrpSpPr/>
          <p:nvPr/>
        </p:nvGrpSpPr>
        <p:grpSpPr>
          <a:xfrm>
            <a:off x="4980150" y="1150465"/>
            <a:ext cx="3527425" cy="1655762"/>
            <a:chOff x="849313" y="1268413"/>
            <a:chExt cx="3527425" cy="1655762"/>
          </a:xfrm>
        </p:grpSpPr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96C3144B-9EF3-CE4A-9215-F6A0DDD75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7375" y="1771650"/>
              <a:ext cx="493713" cy="504825"/>
              <a:chOff x="385" y="1888"/>
              <a:chExt cx="454" cy="408"/>
            </a:xfrm>
          </p:grpSpPr>
          <p:sp>
            <p:nvSpPr>
              <p:cNvPr id="7" name="Oval 10">
                <a:extLst>
                  <a:ext uri="{FF2B5EF4-FFF2-40B4-BE49-F238E27FC236}">
                    <a16:creationId xmlns:a16="http://schemas.microsoft.com/office/drawing/2014/main" id="{34D6D4EC-C2F8-6C4C-AD72-C9E0835F0C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8" name="Line 11">
                <a:extLst>
                  <a:ext uri="{FF2B5EF4-FFF2-40B4-BE49-F238E27FC236}">
                    <a16:creationId xmlns:a16="http://schemas.microsoft.com/office/drawing/2014/main" id="{0C6A1819-774C-1D47-BA16-D2D0BF99B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9" name="Text Box 12">
                <a:extLst>
                  <a:ext uri="{FF2B5EF4-FFF2-40B4-BE49-F238E27FC236}">
                    <a16:creationId xmlns:a16="http://schemas.microsoft.com/office/drawing/2014/main" id="{BE972EA9-1FC9-2E44-88EB-215B160358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9D52EC26-D2DA-024B-82C4-6E1A46CE0F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0613" y="1557338"/>
              <a:ext cx="647700" cy="35718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5D03FF1F-572F-464A-BCDF-C983CE376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613" y="2060575"/>
              <a:ext cx="647700" cy="4318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C33DF208-5955-1A4E-BCB3-C32D5349C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150" y="1412875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C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31A23C3F-613C-FC43-8BAA-11B4A0C0CE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313" y="1268413"/>
              <a:ext cx="493712" cy="504825"/>
              <a:chOff x="385" y="1888"/>
              <a:chExt cx="454" cy="408"/>
            </a:xfrm>
          </p:grpSpPr>
          <p:sp>
            <p:nvSpPr>
              <p:cNvPr id="14" name="Oval 18">
                <a:extLst>
                  <a:ext uri="{FF2B5EF4-FFF2-40B4-BE49-F238E27FC236}">
                    <a16:creationId xmlns:a16="http://schemas.microsoft.com/office/drawing/2014/main" id="{5F38E5FA-DF3C-4549-B55C-C4DE69F17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15" name="Line 19">
                <a:extLst>
                  <a:ext uri="{FF2B5EF4-FFF2-40B4-BE49-F238E27FC236}">
                    <a16:creationId xmlns:a16="http://schemas.microsoft.com/office/drawing/2014/main" id="{5F206E6B-4FCE-7B46-B493-8775CC0C6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16" name="Text Box 20">
                <a:extLst>
                  <a:ext uri="{FF2B5EF4-FFF2-40B4-BE49-F238E27FC236}">
                    <a16:creationId xmlns:a16="http://schemas.microsoft.com/office/drawing/2014/main" id="{12454FC5-5191-1144-857D-2EC2D8FD23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D785D688-3E1A-0543-AE3B-F1E15BE8E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550" y="1557338"/>
              <a:ext cx="577850" cy="36036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8" name="Text Box 24">
              <a:extLst>
                <a:ext uri="{FF2B5EF4-FFF2-40B4-BE49-F238E27FC236}">
                  <a16:creationId xmlns:a16="http://schemas.microsoft.com/office/drawing/2014/main" id="{F5E35952-48BA-694D-A6B9-EFC301FE3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25" y="1412875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D9CC28B0-6B4C-E24B-998E-E50672D69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0150" y="2060575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E</a:t>
              </a:r>
            </a:p>
          </p:txBody>
        </p:sp>
        <p:sp>
          <p:nvSpPr>
            <p:cNvPr id="35" name="Text Box 54">
              <a:extLst>
                <a:ext uri="{FF2B5EF4-FFF2-40B4-BE49-F238E27FC236}">
                  <a16:creationId xmlns:a16="http://schemas.microsoft.com/office/drawing/2014/main" id="{0F8267D5-90A7-6D4B-B580-C8A0C61E5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009775"/>
              <a:ext cx="719138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GB" altLang="en-US" sz="5400">
                  <a:solidFill>
                    <a:schemeClr val="tx2"/>
                  </a:solidFill>
                  <a:latin typeface="Times" pitchFamily="2" charset="0"/>
                  <a:sym typeface="Wingdings 2" pitchFamily="2" charset="2"/>
                </a:rPr>
                <a:t></a:t>
              </a:r>
            </a:p>
          </p:txBody>
        </p:sp>
        <p:grpSp>
          <p:nvGrpSpPr>
            <p:cNvPr id="36" name="Group 55">
              <a:extLst>
                <a:ext uri="{FF2B5EF4-FFF2-40B4-BE49-F238E27FC236}">
                  <a16:creationId xmlns:a16="http://schemas.microsoft.com/office/drawing/2014/main" id="{C2FB5C6E-BD9E-EE4A-9174-D9157E331A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838" y="1268413"/>
              <a:ext cx="493712" cy="504825"/>
              <a:chOff x="385" y="1888"/>
              <a:chExt cx="454" cy="408"/>
            </a:xfrm>
          </p:grpSpPr>
          <p:sp>
            <p:nvSpPr>
              <p:cNvPr id="37" name="Oval 56">
                <a:extLst>
                  <a:ext uri="{FF2B5EF4-FFF2-40B4-BE49-F238E27FC236}">
                    <a16:creationId xmlns:a16="http://schemas.microsoft.com/office/drawing/2014/main" id="{DF30080C-81EB-C942-A0FB-EB81DA587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38" name="Line 57">
                <a:extLst>
                  <a:ext uri="{FF2B5EF4-FFF2-40B4-BE49-F238E27FC236}">
                    <a16:creationId xmlns:a16="http://schemas.microsoft.com/office/drawing/2014/main" id="{5730DB79-DBD2-5247-B82F-44FFDDBD1A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39" name="Text Box 58">
                <a:extLst>
                  <a:ext uri="{FF2B5EF4-FFF2-40B4-BE49-F238E27FC236}">
                    <a16:creationId xmlns:a16="http://schemas.microsoft.com/office/drawing/2014/main" id="{D2FA4098-CA8B-EB41-892A-723FF1C539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40" name="Text Box 59">
              <a:extLst>
                <a:ext uri="{FF2B5EF4-FFF2-40B4-BE49-F238E27FC236}">
                  <a16:creationId xmlns:a16="http://schemas.microsoft.com/office/drawing/2014/main" id="{1CDE5F60-A255-2F44-BD4F-22F1CB415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100" y="2347913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B</a:t>
              </a:r>
            </a:p>
          </p:txBody>
        </p:sp>
        <p:grpSp>
          <p:nvGrpSpPr>
            <p:cNvPr id="41" name="Group 60">
              <a:extLst>
                <a:ext uri="{FF2B5EF4-FFF2-40B4-BE49-F238E27FC236}">
                  <a16:creationId xmlns:a16="http://schemas.microsoft.com/office/drawing/2014/main" id="{49640941-9DA8-224C-9DF1-EBA926410A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313" y="2203450"/>
              <a:ext cx="493712" cy="504825"/>
              <a:chOff x="385" y="1888"/>
              <a:chExt cx="454" cy="408"/>
            </a:xfrm>
          </p:grpSpPr>
          <p:sp>
            <p:nvSpPr>
              <p:cNvPr id="42" name="Oval 61">
                <a:extLst>
                  <a:ext uri="{FF2B5EF4-FFF2-40B4-BE49-F238E27FC236}">
                    <a16:creationId xmlns:a16="http://schemas.microsoft.com/office/drawing/2014/main" id="{7AC29975-93CC-D842-B661-F40AB6EA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43" name="Line 62">
                <a:extLst>
                  <a:ext uri="{FF2B5EF4-FFF2-40B4-BE49-F238E27FC236}">
                    <a16:creationId xmlns:a16="http://schemas.microsoft.com/office/drawing/2014/main" id="{A989EFA7-AFFC-7F4E-8224-AA81DC0876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44" name="Text Box 63">
                <a:extLst>
                  <a:ext uri="{FF2B5EF4-FFF2-40B4-BE49-F238E27FC236}">
                    <a16:creationId xmlns:a16="http://schemas.microsoft.com/office/drawing/2014/main" id="{1E199C9E-C6B5-AD4C-8703-00BF24263C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45" name="Line 64">
              <a:extLst>
                <a:ext uri="{FF2B5EF4-FFF2-40B4-BE49-F238E27FC236}">
                  <a16:creationId xmlns:a16="http://schemas.microsoft.com/office/drawing/2014/main" id="{24B2D98D-D516-3B48-8D6A-0F9165F2C9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550" y="2133600"/>
              <a:ext cx="576263" cy="35877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grpSp>
          <p:nvGrpSpPr>
            <p:cNvPr id="46" name="Group 65">
              <a:extLst>
                <a:ext uri="{FF2B5EF4-FFF2-40B4-BE49-F238E27FC236}">
                  <a16:creationId xmlns:a16="http://schemas.microsoft.com/office/drawing/2014/main" id="{88935F27-79BA-1848-8976-D83F9E74CD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313" y="2205038"/>
              <a:ext cx="493712" cy="504825"/>
              <a:chOff x="385" y="1888"/>
              <a:chExt cx="454" cy="408"/>
            </a:xfrm>
          </p:grpSpPr>
          <p:sp>
            <p:nvSpPr>
              <p:cNvPr id="47" name="Oval 66">
                <a:extLst>
                  <a:ext uri="{FF2B5EF4-FFF2-40B4-BE49-F238E27FC236}">
                    <a16:creationId xmlns:a16="http://schemas.microsoft.com/office/drawing/2014/main" id="{5E08A44B-580D-4B49-8E95-3CFEAC308C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48" name="Line 67">
                <a:extLst>
                  <a:ext uri="{FF2B5EF4-FFF2-40B4-BE49-F238E27FC236}">
                    <a16:creationId xmlns:a16="http://schemas.microsoft.com/office/drawing/2014/main" id="{01C4A8FB-A6F4-C347-8C7D-3A483AE54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49" name="Text Box 68">
                <a:extLst>
                  <a:ext uri="{FF2B5EF4-FFF2-40B4-BE49-F238E27FC236}">
                    <a16:creationId xmlns:a16="http://schemas.microsoft.com/office/drawing/2014/main" id="{A5EF029D-2C99-384E-B4B3-80354047DB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CE9CABC-A084-7244-9D30-CA2BCFDAEDEF}"/>
              </a:ext>
            </a:extLst>
          </p:cNvPr>
          <p:cNvGrpSpPr/>
          <p:nvPr/>
        </p:nvGrpSpPr>
        <p:grpSpPr>
          <a:xfrm>
            <a:off x="4856162" y="3731839"/>
            <a:ext cx="4030662" cy="1825625"/>
            <a:chOff x="849313" y="3403600"/>
            <a:chExt cx="4030662" cy="1825625"/>
          </a:xfrm>
        </p:grpSpPr>
        <p:sp>
          <p:nvSpPr>
            <p:cNvPr id="5" name="Text Box 8">
              <a:extLst>
                <a:ext uri="{FF2B5EF4-FFF2-40B4-BE49-F238E27FC236}">
                  <a16:creationId xmlns:a16="http://schemas.microsoft.com/office/drawing/2014/main" id="{74678560-788D-044E-A61D-C169E70A7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250" y="4221163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D</a:t>
              </a:r>
            </a:p>
          </p:txBody>
        </p:sp>
        <p:grpSp>
          <p:nvGrpSpPr>
            <p:cNvPr id="21" name="Group 28">
              <a:extLst>
                <a:ext uri="{FF2B5EF4-FFF2-40B4-BE49-F238E27FC236}">
                  <a16:creationId xmlns:a16="http://schemas.microsoft.com/office/drawing/2014/main" id="{37B08F2F-C612-9541-83D6-CEFC68C83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4713" y="3475038"/>
              <a:ext cx="493712" cy="504825"/>
              <a:chOff x="385" y="1888"/>
              <a:chExt cx="454" cy="408"/>
            </a:xfrm>
          </p:grpSpPr>
          <p:sp>
            <p:nvSpPr>
              <p:cNvPr id="22" name="Oval 29">
                <a:extLst>
                  <a:ext uri="{FF2B5EF4-FFF2-40B4-BE49-F238E27FC236}">
                    <a16:creationId xmlns:a16="http://schemas.microsoft.com/office/drawing/2014/main" id="{E0ED1919-43D3-5C4E-8DB9-5212279B8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23" name="Line 30">
                <a:extLst>
                  <a:ext uri="{FF2B5EF4-FFF2-40B4-BE49-F238E27FC236}">
                    <a16:creationId xmlns:a16="http://schemas.microsoft.com/office/drawing/2014/main" id="{AFCE4493-CD0F-D34E-AC00-DF8A3E8057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Text Box 31">
                <a:extLst>
                  <a:ext uri="{FF2B5EF4-FFF2-40B4-BE49-F238E27FC236}">
                    <a16:creationId xmlns:a16="http://schemas.microsoft.com/office/drawing/2014/main" id="{D1A38935-4B71-BC45-8BCB-22A565F58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25" name="Line 32">
              <a:extLst>
                <a:ext uri="{FF2B5EF4-FFF2-40B4-BE49-F238E27FC236}">
                  <a16:creationId xmlns:a16="http://schemas.microsoft.com/office/drawing/2014/main" id="{258F940B-0578-2246-A888-85B11B9E1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7950" y="3716338"/>
              <a:ext cx="1008063" cy="158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6" name="Text Box 33">
              <a:extLst>
                <a:ext uri="{FF2B5EF4-FFF2-40B4-BE49-F238E27FC236}">
                  <a16:creationId xmlns:a16="http://schemas.microsoft.com/office/drawing/2014/main" id="{59DC3196-9212-6F47-9521-B9F4838F5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6875" y="3403600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C</a:t>
              </a:r>
            </a:p>
          </p:txBody>
        </p:sp>
        <p:sp>
          <p:nvSpPr>
            <p:cNvPr id="27" name="Line 36">
              <a:extLst>
                <a:ext uri="{FF2B5EF4-FFF2-40B4-BE49-F238E27FC236}">
                  <a16:creationId xmlns:a16="http://schemas.microsoft.com/office/drawing/2014/main" id="{B5A7A56D-37DF-5C47-86E9-1F7468620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550" y="3763963"/>
              <a:ext cx="79375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8" name="Text Box 37">
              <a:extLst>
                <a:ext uri="{FF2B5EF4-FFF2-40B4-BE49-F238E27FC236}">
                  <a16:creationId xmlns:a16="http://schemas.microsoft.com/office/drawing/2014/main" id="{907C6C43-70FB-F741-AF0E-733D4CC69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3988" y="3476625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A</a:t>
              </a:r>
            </a:p>
          </p:txBody>
        </p:sp>
        <p:grpSp>
          <p:nvGrpSpPr>
            <p:cNvPr id="29" name="Group 39">
              <a:extLst>
                <a:ext uri="{FF2B5EF4-FFF2-40B4-BE49-F238E27FC236}">
                  <a16:creationId xmlns:a16="http://schemas.microsoft.com/office/drawing/2014/main" id="{05FA646A-E2D3-7345-A68D-B027E7C449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6013" y="3403600"/>
              <a:ext cx="493712" cy="504825"/>
              <a:chOff x="385" y="1888"/>
              <a:chExt cx="454" cy="408"/>
            </a:xfrm>
          </p:grpSpPr>
          <p:sp>
            <p:nvSpPr>
              <p:cNvPr id="30" name="Oval 40">
                <a:extLst>
                  <a:ext uri="{FF2B5EF4-FFF2-40B4-BE49-F238E27FC236}">
                    <a16:creationId xmlns:a16="http://schemas.microsoft.com/office/drawing/2014/main" id="{5CF282E9-DCC6-254D-910A-60562D640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31" name="Line 41">
                <a:extLst>
                  <a:ext uri="{FF2B5EF4-FFF2-40B4-BE49-F238E27FC236}">
                    <a16:creationId xmlns:a16="http://schemas.microsoft.com/office/drawing/2014/main" id="{797ACFB1-7AC2-D346-B7A2-9579FFE541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32" name="Text Box 42">
                <a:extLst>
                  <a:ext uri="{FF2B5EF4-FFF2-40B4-BE49-F238E27FC236}">
                    <a16:creationId xmlns:a16="http://schemas.microsoft.com/office/drawing/2014/main" id="{BD5674F2-FF99-4E44-9B8D-1476ADE69C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34" name="Text Box 53">
              <a:extLst>
                <a:ext uri="{FF2B5EF4-FFF2-40B4-BE49-F238E27FC236}">
                  <a16:creationId xmlns:a16="http://schemas.microsoft.com/office/drawing/2014/main" id="{43A3B667-4BA2-DA4A-9295-058881B0F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6375" y="3789363"/>
              <a:ext cx="863600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GB" altLang="en-US" sz="5400">
                  <a:solidFill>
                    <a:schemeClr val="tx2"/>
                  </a:solidFill>
                  <a:latin typeface="Times" pitchFamily="2" charset="0"/>
                  <a:sym typeface="Wingdings 2" pitchFamily="2" charset="2"/>
                </a:rPr>
                <a:t></a:t>
              </a:r>
            </a:p>
          </p:txBody>
        </p:sp>
        <p:grpSp>
          <p:nvGrpSpPr>
            <p:cNvPr id="50" name="Group 69">
              <a:extLst>
                <a:ext uri="{FF2B5EF4-FFF2-40B4-BE49-F238E27FC236}">
                  <a16:creationId xmlns:a16="http://schemas.microsoft.com/office/drawing/2014/main" id="{19448C30-5A0B-A34D-A26E-4420F79178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838" y="3500438"/>
              <a:ext cx="493712" cy="504825"/>
              <a:chOff x="385" y="1888"/>
              <a:chExt cx="454" cy="408"/>
            </a:xfrm>
          </p:grpSpPr>
          <p:sp>
            <p:nvSpPr>
              <p:cNvPr id="51" name="Oval 70">
                <a:extLst>
                  <a:ext uri="{FF2B5EF4-FFF2-40B4-BE49-F238E27FC236}">
                    <a16:creationId xmlns:a16="http://schemas.microsoft.com/office/drawing/2014/main" id="{62FD1976-D703-7044-BDDE-F29E5E979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52" name="Line 71">
                <a:extLst>
                  <a:ext uri="{FF2B5EF4-FFF2-40B4-BE49-F238E27FC236}">
                    <a16:creationId xmlns:a16="http://schemas.microsoft.com/office/drawing/2014/main" id="{77100B32-CB87-E945-8D0A-B7378AF58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53" name="Text Box 72">
                <a:extLst>
                  <a:ext uri="{FF2B5EF4-FFF2-40B4-BE49-F238E27FC236}">
                    <a16:creationId xmlns:a16="http://schemas.microsoft.com/office/drawing/2014/main" id="{DC36B405-EF40-0545-A12B-8E95C8D3B9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grpSp>
          <p:nvGrpSpPr>
            <p:cNvPr id="54" name="Group 73">
              <a:extLst>
                <a:ext uri="{FF2B5EF4-FFF2-40B4-BE49-F238E27FC236}">
                  <a16:creationId xmlns:a16="http://schemas.microsoft.com/office/drawing/2014/main" id="{15A6B8A0-DA9E-0848-B579-0D4CC1D259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5188" y="4699000"/>
              <a:ext cx="493712" cy="504825"/>
              <a:chOff x="385" y="1888"/>
              <a:chExt cx="454" cy="408"/>
            </a:xfrm>
          </p:grpSpPr>
          <p:sp>
            <p:nvSpPr>
              <p:cNvPr id="55" name="Oval 74">
                <a:extLst>
                  <a:ext uri="{FF2B5EF4-FFF2-40B4-BE49-F238E27FC236}">
                    <a16:creationId xmlns:a16="http://schemas.microsoft.com/office/drawing/2014/main" id="{33816C23-DBC3-BC43-B0BD-C57C518B1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56" name="Line 75">
                <a:extLst>
                  <a:ext uri="{FF2B5EF4-FFF2-40B4-BE49-F238E27FC236}">
                    <a16:creationId xmlns:a16="http://schemas.microsoft.com/office/drawing/2014/main" id="{006DBDD7-D3D7-F743-9071-9AD3915A5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57" name="Text Box 76">
                <a:extLst>
                  <a:ext uri="{FF2B5EF4-FFF2-40B4-BE49-F238E27FC236}">
                    <a16:creationId xmlns:a16="http://schemas.microsoft.com/office/drawing/2014/main" id="{72E28CAD-9D03-BB4D-8EE4-8DB4DEF20C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58" name="Line 77">
              <a:extLst>
                <a:ext uri="{FF2B5EF4-FFF2-40B4-BE49-F238E27FC236}">
                  <a16:creationId xmlns:a16="http://schemas.microsoft.com/office/drawing/2014/main" id="{A71F28A4-99E0-F448-9620-4049371AC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8425" y="4940300"/>
              <a:ext cx="1008063" cy="15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9" name="Text Box 78">
              <a:extLst>
                <a:ext uri="{FF2B5EF4-FFF2-40B4-BE49-F238E27FC236}">
                  <a16:creationId xmlns:a16="http://schemas.microsoft.com/office/drawing/2014/main" id="{CC4E03DA-6E60-EF47-9237-634856406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7350" y="4627563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E</a:t>
              </a:r>
            </a:p>
          </p:txBody>
        </p:sp>
        <p:sp>
          <p:nvSpPr>
            <p:cNvPr id="60" name="Line 79">
              <a:extLst>
                <a:ext uri="{FF2B5EF4-FFF2-40B4-BE49-F238E27FC236}">
                  <a16:creationId xmlns:a16="http://schemas.microsoft.com/office/drawing/2014/main" id="{42DF80F7-3C59-AE43-9A66-35A888EC2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3025" y="4987925"/>
              <a:ext cx="79375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61" name="Text Box 80">
              <a:extLst>
                <a:ext uri="{FF2B5EF4-FFF2-40B4-BE49-F238E27FC236}">
                  <a16:creationId xmlns:a16="http://schemas.microsoft.com/office/drawing/2014/main" id="{A08CD7E3-F7B1-E645-81B1-825A1AEFC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4463" y="4700588"/>
              <a:ext cx="4667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B</a:t>
              </a:r>
            </a:p>
          </p:txBody>
        </p:sp>
        <p:grpSp>
          <p:nvGrpSpPr>
            <p:cNvPr id="62" name="Group 81">
              <a:extLst>
                <a:ext uri="{FF2B5EF4-FFF2-40B4-BE49-F238E27FC236}">
                  <a16:creationId xmlns:a16="http://schemas.microsoft.com/office/drawing/2014/main" id="{F255C2CC-E875-5342-B44C-A0B1FDA51D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6488" y="4627563"/>
              <a:ext cx="493712" cy="504825"/>
              <a:chOff x="385" y="1888"/>
              <a:chExt cx="454" cy="408"/>
            </a:xfrm>
          </p:grpSpPr>
          <p:sp>
            <p:nvSpPr>
              <p:cNvPr id="63" name="Oval 82">
                <a:extLst>
                  <a:ext uri="{FF2B5EF4-FFF2-40B4-BE49-F238E27FC236}">
                    <a16:creationId xmlns:a16="http://schemas.microsoft.com/office/drawing/2014/main" id="{397A2FE2-C3EA-B645-95A3-71C1943F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4" name="Line 83">
                <a:extLst>
                  <a:ext uri="{FF2B5EF4-FFF2-40B4-BE49-F238E27FC236}">
                    <a16:creationId xmlns:a16="http://schemas.microsoft.com/office/drawing/2014/main" id="{4A01CAA9-485E-E749-8695-44509B9C6C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5" name="Text Box 84">
                <a:extLst>
                  <a:ext uri="{FF2B5EF4-FFF2-40B4-BE49-F238E27FC236}">
                    <a16:creationId xmlns:a16="http://schemas.microsoft.com/office/drawing/2014/main" id="{4983D4DB-BD7B-7245-A3EF-53200B3BC6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grpSp>
          <p:nvGrpSpPr>
            <p:cNvPr id="66" name="Group 85">
              <a:extLst>
                <a:ext uri="{FF2B5EF4-FFF2-40B4-BE49-F238E27FC236}">
                  <a16:creationId xmlns:a16="http://schemas.microsoft.com/office/drawing/2014/main" id="{83725EB6-9921-6848-B24C-34BEDA950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9313" y="4724400"/>
              <a:ext cx="493712" cy="504825"/>
              <a:chOff x="385" y="1888"/>
              <a:chExt cx="454" cy="408"/>
            </a:xfrm>
          </p:grpSpPr>
          <p:sp>
            <p:nvSpPr>
              <p:cNvPr id="67" name="Oval 86">
                <a:extLst>
                  <a:ext uri="{FF2B5EF4-FFF2-40B4-BE49-F238E27FC236}">
                    <a16:creationId xmlns:a16="http://schemas.microsoft.com/office/drawing/2014/main" id="{067C58BB-0292-0041-9EE9-87B73291E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8" name="Line 87">
                <a:extLst>
                  <a:ext uri="{FF2B5EF4-FFF2-40B4-BE49-F238E27FC236}">
                    <a16:creationId xmlns:a16="http://schemas.microsoft.com/office/drawing/2014/main" id="{24C48883-C0A5-0F4A-8AC6-4E628A793D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9" name="Text Box 88">
                <a:extLst>
                  <a:ext uri="{FF2B5EF4-FFF2-40B4-BE49-F238E27FC236}">
                    <a16:creationId xmlns:a16="http://schemas.microsoft.com/office/drawing/2014/main" id="{B07137B4-CDC3-F04D-AA7F-7146A89035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1979"/>
                <a:ext cx="286" cy="2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  </a:t>
                </a:r>
              </a:p>
            </p:txBody>
          </p:sp>
        </p:grpSp>
        <p:sp>
          <p:nvSpPr>
            <p:cNvPr id="70" name="Line 89">
              <a:extLst>
                <a:ext uri="{FF2B5EF4-FFF2-40B4-BE49-F238E27FC236}">
                  <a16:creationId xmlns:a16="http://schemas.microsoft.com/office/drawing/2014/main" id="{B52FE42A-73E1-3940-910D-254CEAE619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0613" y="4005263"/>
              <a:ext cx="0" cy="719137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E193127-9CD9-3543-AE28-09110145EA1C}"/>
              </a:ext>
            </a:extLst>
          </p:cNvPr>
          <p:cNvSpPr txBox="1"/>
          <p:nvPr/>
        </p:nvSpPr>
        <p:spPr>
          <a:xfrm>
            <a:off x="568028" y="3455307"/>
            <a:ext cx="3772509" cy="2492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400" b="1" i="1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Error: </a:t>
            </a:r>
          </a:p>
          <a:p>
            <a:pPr lvl="1">
              <a:spcBef>
                <a:spcPct val="50000"/>
              </a:spcBef>
            </a:pP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Dependency is wrong on this  diagram</a:t>
            </a:r>
          </a:p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400" b="1" i="1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Solution: </a:t>
            </a:r>
          </a:p>
          <a:p>
            <a:pPr lvl="1">
              <a:spcBef>
                <a:spcPct val="50000"/>
              </a:spcBef>
            </a:pPr>
            <a:r>
              <a:rPr lang="en-GB" altLang="en-US" sz="2400" dirty="0">
                <a:solidFill>
                  <a:schemeClr val="accent5"/>
                </a:solidFill>
                <a:latin typeface="Arial Unicode MS" panose="020B0604020202020204" pitchFamily="34" charset="-128"/>
              </a:rPr>
              <a:t>Use a dummy task D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92DF38A-9B11-9747-8AA5-C4CCC9EE241E}"/>
              </a:ext>
            </a:extLst>
          </p:cNvPr>
          <p:cNvCxnSpPr>
            <a:cxnSpLocks/>
          </p:cNvCxnSpPr>
          <p:nvPr/>
        </p:nvCxnSpPr>
        <p:spPr>
          <a:xfrm flipV="1">
            <a:off x="4062715" y="2645076"/>
            <a:ext cx="1753279" cy="13720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45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771ED9-5CD7-2C43-9ADA-9BACF453FED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GB" sz="3200" dirty="0"/>
              <a:t>Example: (3) Calculation of earliest start times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939D2-9113-3C4E-8ABD-14D74CECE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31</a:t>
            </a:fld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F3DC7AF2-12B7-3247-8395-468DBBC28740}"/>
              </a:ext>
            </a:extLst>
          </p:cNvPr>
          <p:cNvGrpSpPr>
            <a:grpSpLocks/>
          </p:cNvGrpSpPr>
          <p:nvPr/>
        </p:nvGrpSpPr>
        <p:grpSpPr bwMode="auto">
          <a:xfrm>
            <a:off x="357762" y="2047866"/>
            <a:ext cx="8269288" cy="4256088"/>
            <a:chOff x="354" y="1021"/>
            <a:chExt cx="5209" cy="2681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B01B5A7C-FAE5-F34B-9DE3-C5EE108DC6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" y="1888"/>
              <a:ext cx="492" cy="408"/>
              <a:chOff x="385" y="1888"/>
              <a:chExt cx="454" cy="408"/>
            </a:xfrm>
          </p:grpSpPr>
          <p:sp>
            <p:nvSpPr>
              <p:cNvPr id="77" name="Oval 5">
                <a:extLst>
                  <a:ext uri="{FF2B5EF4-FFF2-40B4-BE49-F238E27FC236}">
                    <a16:creationId xmlns:a16="http://schemas.microsoft.com/office/drawing/2014/main" id="{F0D383E2-1A6D-1C40-9E1B-700DD6B55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8" name="Line 6">
                <a:extLst>
                  <a:ext uri="{FF2B5EF4-FFF2-40B4-BE49-F238E27FC236}">
                    <a16:creationId xmlns:a16="http://schemas.microsoft.com/office/drawing/2014/main" id="{ECDB4F8D-2481-A440-9DF5-56565B0690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9" name="Text Box 7">
                <a:extLst>
                  <a:ext uri="{FF2B5EF4-FFF2-40B4-BE49-F238E27FC236}">
                    <a16:creationId xmlns:a16="http://schemas.microsoft.com/office/drawing/2014/main" id="{05ED749D-8DEB-1F4D-8331-208AA6D399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0  0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AEF02EE-09B0-BC40-B4DA-0EFC69D105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" y="1071"/>
              <a:ext cx="492" cy="408"/>
              <a:chOff x="385" y="1888"/>
              <a:chExt cx="454" cy="408"/>
            </a:xfrm>
          </p:grpSpPr>
          <p:sp>
            <p:nvSpPr>
              <p:cNvPr id="74" name="Oval 9">
                <a:extLst>
                  <a:ext uri="{FF2B5EF4-FFF2-40B4-BE49-F238E27FC236}">
                    <a16:creationId xmlns:a16="http://schemas.microsoft.com/office/drawing/2014/main" id="{E7303551-FF50-DA45-BF7D-68DCA5C15A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5" name="Line 10">
                <a:extLst>
                  <a:ext uri="{FF2B5EF4-FFF2-40B4-BE49-F238E27FC236}">
                    <a16:creationId xmlns:a16="http://schemas.microsoft.com/office/drawing/2014/main" id="{03E8B453-2B16-9B4A-9B6C-2D50989D6E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6" name="Text Box 11">
                <a:extLst>
                  <a:ext uri="{FF2B5EF4-FFF2-40B4-BE49-F238E27FC236}">
                    <a16:creationId xmlns:a16="http://schemas.microsoft.com/office/drawing/2014/main" id="{224F80AD-F759-BB4D-A25F-2FDF20F80D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6  0</a:t>
                </a:r>
              </a:p>
            </p:txBody>
          </p:sp>
        </p:grpSp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C70E7542-D282-9E4C-B9DB-A177229F5A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8" y="1888"/>
              <a:ext cx="492" cy="408"/>
              <a:chOff x="385" y="1888"/>
              <a:chExt cx="454" cy="408"/>
            </a:xfrm>
          </p:grpSpPr>
          <p:sp>
            <p:nvSpPr>
              <p:cNvPr id="71" name="Oval 13">
                <a:extLst>
                  <a:ext uri="{FF2B5EF4-FFF2-40B4-BE49-F238E27FC236}">
                    <a16:creationId xmlns:a16="http://schemas.microsoft.com/office/drawing/2014/main" id="{38A34055-7846-4D44-96C0-1495DDB1C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2" name="Line 14">
                <a:extLst>
                  <a:ext uri="{FF2B5EF4-FFF2-40B4-BE49-F238E27FC236}">
                    <a16:creationId xmlns:a16="http://schemas.microsoft.com/office/drawing/2014/main" id="{A8AE2FBB-B2E0-D840-AFC1-9959023303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3" name="Text Box 15">
                <a:extLst>
                  <a:ext uri="{FF2B5EF4-FFF2-40B4-BE49-F238E27FC236}">
                    <a16:creationId xmlns:a16="http://schemas.microsoft.com/office/drawing/2014/main" id="{897C465B-653D-C042-9DD8-740E694609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2  0</a:t>
                </a:r>
              </a:p>
            </p:txBody>
          </p:sp>
        </p:grpSp>
        <p:grpSp>
          <p:nvGrpSpPr>
            <p:cNvPr id="11" name="Group 16">
              <a:extLst>
                <a:ext uri="{FF2B5EF4-FFF2-40B4-BE49-F238E27FC236}">
                  <a16:creationId xmlns:a16="http://schemas.microsoft.com/office/drawing/2014/main" id="{F75239DA-6B6C-3442-B14E-7F74015774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2" y="1888"/>
              <a:ext cx="492" cy="408"/>
              <a:chOff x="385" y="1888"/>
              <a:chExt cx="454" cy="408"/>
            </a:xfrm>
          </p:grpSpPr>
          <p:sp>
            <p:nvSpPr>
              <p:cNvPr id="68" name="Oval 17">
                <a:extLst>
                  <a:ext uri="{FF2B5EF4-FFF2-40B4-BE49-F238E27FC236}">
                    <a16:creationId xmlns:a16="http://schemas.microsoft.com/office/drawing/2014/main" id="{A0B0AFFB-B05C-EC4D-B7C8-D0786DE4D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9" name="Line 18">
                <a:extLst>
                  <a:ext uri="{FF2B5EF4-FFF2-40B4-BE49-F238E27FC236}">
                    <a16:creationId xmlns:a16="http://schemas.microsoft.com/office/drawing/2014/main" id="{F65E5C05-C786-3A48-87ED-B275D83A0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0" name="Text Box 19">
                <a:extLst>
                  <a:ext uri="{FF2B5EF4-FFF2-40B4-BE49-F238E27FC236}">
                    <a16:creationId xmlns:a16="http://schemas.microsoft.com/office/drawing/2014/main" id="{55B5DCB7-E045-2F4F-A242-D17993F045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5  0</a:t>
                </a:r>
              </a:p>
            </p:txBody>
          </p:sp>
        </p:grpSp>
        <p:sp>
          <p:nvSpPr>
            <p:cNvPr id="12" name="Oval 20">
              <a:extLst>
                <a:ext uri="{FF2B5EF4-FFF2-40B4-BE49-F238E27FC236}">
                  <a16:creationId xmlns:a16="http://schemas.microsoft.com/office/drawing/2014/main" id="{E397843F-6895-C54A-B601-EBAADF6CE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" y="188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3" name="Line 21">
              <a:extLst>
                <a:ext uri="{FF2B5EF4-FFF2-40B4-BE49-F238E27FC236}">
                  <a16:creationId xmlns:a16="http://schemas.microsoft.com/office/drawing/2014/main" id="{074637B7-3E43-FE42-8167-DED56B1908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4" name="Text Box 22">
              <a:extLst>
                <a:ext uri="{FF2B5EF4-FFF2-40B4-BE49-F238E27FC236}">
                  <a16:creationId xmlns:a16="http://schemas.microsoft.com/office/drawing/2014/main" id="{7DDF5C64-ECD2-5847-B21E-BCC0FBD11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1979"/>
              <a:ext cx="4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17  0</a:t>
              </a:r>
            </a:p>
          </p:txBody>
        </p:sp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13AADBCF-E959-6C43-A2AB-14E211FB3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1888"/>
              <a:ext cx="491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6" name="Line 24">
              <a:extLst>
                <a:ext uri="{FF2B5EF4-FFF2-40B4-BE49-F238E27FC236}">
                  <a16:creationId xmlns:a16="http://schemas.microsoft.com/office/drawing/2014/main" id="{589CC4A3-E264-564F-A738-5C810EB05D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5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7" name="Text Box 25">
              <a:extLst>
                <a:ext uri="{FF2B5EF4-FFF2-40B4-BE49-F238E27FC236}">
                  <a16:creationId xmlns:a16="http://schemas.microsoft.com/office/drawing/2014/main" id="{4D17B594-13D6-E346-9F3F-6E8D18AAF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9" y="1979"/>
              <a:ext cx="4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22  0</a:t>
              </a:r>
            </a:p>
          </p:txBody>
        </p:sp>
        <p:sp>
          <p:nvSpPr>
            <p:cNvPr id="18" name="Oval 26">
              <a:extLst>
                <a:ext uri="{FF2B5EF4-FFF2-40B4-BE49-F238E27FC236}">
                  <a16:creationId xmlns:a16="http://schemas.microsoft.com/office/drawing/2014/main" id="{FB98DF46-8358-F44A-9317-FDAE6AB3B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1" y="188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21390921-E00A-5940-A82D-58CD1DC3C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7" y="188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0" name="Text Box 28">
              <a:extLst>
                <a:ext uri="{FF2B5EF4-FFF2-40B4-BE49-F238E27FC236}">
                  <a16:creationId xmlns:a16="http://schemas.microsoft.com/office/drawing/2014/main" id="{4EEBF557-C19F-7642-962B-691257DC4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5" y="1979"/>
              <a:ext cx="3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24 0</a:t>
              </a:r>
            </a:p>
          </p:txBody>
        </p:sp>
        <p:sp>
          <p:nvSpPr>
            <p:cNvPr id="21" name="Oval 29">
              <a:extLst>
                <a:ext uri="{FF2B5EF4-FFF2-40B4-BE49-F238E27FC236}">
                  <a16:creationId xmlns:a16="http://schemas.microsoft.com/office/drawing/2014/main" id="{482CA9CA-5AAC-774A-9013-C214D185B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071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2" name="Line 30">
              <a:extLst>
                <a:ext uri="{FF2B5EF4-FFF2-40B4-BE49-F238E27FC236}">
                  <a16:creationId xmlns:a16="http://schemas.microsoft.com/office/drawing/2014/main" id="{8F4C254A-E0D7-544B-8BCC-CC08F44DD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5" y="1072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3" name="Text Box 31">
              <a:extLst>
                <a:ext uri="{FF2B5EF4-FFF2-40B4-BE49-F238E27FC236}">
                  <a16:creationId xmlns:a16="http://schemas.microsoft.com/office/drawing/2014/main" id="{878EE5CD-557C-1940-AE23-621E6EFFAA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" y="1162"/>
              <a:ext cx="436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15  0</a:t>
              </a:r>
            </a:p>
          </p:txBody>
        </p:sp>
        <p:grpSp>
          <p:nvGrpSpPr>
            <p:cNvPr id="24" name="Group 32">
              <a:extLst>
                <a:ext uri="{FF2B5EF4-FFF2-40B4-BE49-F238E27FC236}">
                  <a16:creationId xmlns:a16="http://schemas.microsoft.com/office/drawing/2014/main" id="{0F2910D7-11F3-604D-9C7C-1C3E0E78B0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9" y="2659"/>
              <a:ext cx="492" cy="408"/>
              <a:chOff x="385" y="1888"/>
              <a:chExt cx="454" cy="408"/>
            </a:xfrm>
          </p:grpSpPr>
          <p:sp>
            <p:nvSpPr>
              <p:cNvPr id="65" name="Oval 33">
                <a:extLst>
                  <a:ext uri="{FF2B5EF4-FFF2-40B4-BE49-F238E27FC236}">
                    <a16:creationId xmlns:a16="http://schemas.microsoft.com/office/drawing/2014/main" id="{398B91D1-5D10-9641-978A-135056F1C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6" name="Line 34">
                <a:extLst>
                  <a:ext uri="{FF2B5EF4-FFF2-40B4-BE49-F238E27FC236}">
                    <a16:creationId xmlns:a16="http://schemas.microsoft.com/office/drawing/2014/main" id="{ED4333F6-3274-B54F-B75E-4CB6E2F8F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7" name="Text Box 35">
                <a:extLst>
                  <a:ext uri="{FF2B5EF4-FFF2-40B4-BE49-F238E27FC236}">
                    <a16:creationId xmlns:a16="http://schemas.microsoft.com/office/drawing/2014/main" id="{54A9EA75-71AC-584B-8F7D-6C7DB54556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5  0</a:t>
                </a:r>
              </a:p>
            </p:txBody>
          </p:sp>
        </p:grpSp>
        <p:sp>
          <p:nvSpPr>
            <p:cNvPr id="25" name="Oval 36">
              <a:extLst>
                <a:ext uri="{FF2B5EF4-FFF2-40B4-BE49-F238E27FC236}">
                  <a16:creationId xmlns:a16="http://schemas.microsoft.com/office/drawing/2014/main" id="{6550DD2F-A1A7-D245-8AE7-FBBE5DFCE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1" y="2659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6" name="Line 37">
              <a:extLst>
                <a:ext uri="{FF2B5EF4-FFF2-40B4-BE49-F238E27FC236}">
                  <a16:creationId xmlns:a16="http://schemas.microsoft.com/office/drawing/2014/main" id="{850EBFB5-C199-7C4F-BE33-AFA4C1EDF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7" y="2660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7" name="Text Box 38">
              <a:extLst>
                <a:ext uri="{FF2B5EF4-FFF2-40B4-BE49-F238E27FC236}">
                  <a16:creationId xmlns:a16="http://schemas.microsoft.com/office/drawing/2014/main" id="{425CA4FC-FF85-184A-9E91-11B9B951F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2" y="2750"/>
              <a:ext cx="436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10  0</a:t>
              </a:r>
            </a:p>
          </p:txBody>
        </p:sp>
        <p:grpSp>
          <p:nvGrpSpPr>
            <p:cNvPr id="28" name="Group 39">
              <a:extLst>
                <a:ext uri="{FF2B5EF4-FFF2-40B4-BE49-F238E27FC236}">
                  <a16:creationId xmlns:a16="http://schemas.microsoft.com/office/drawing/2014/main" id="{1B0BDB4B-F6E5-A64E-9D75-DFBECB2EAA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9" y="3294"/>
              <a:ext cx="492" cy="408"/>
              <a:chOff x="385" y="1888"/>
              <a:chExt cx="454" cy="408"/>
            </a:xfrm>
          </p:grpSpPr>
          <p:sp>
            <p:nvSpPr>
              <p:cNvPr id="62" name="Oval 40">
                <a:extLst>
                  <a:ext uri="{FF2B5EF4-FFF2-40B4-BE49-F238E27FC236}">
                    <a16:creationId xmlns:a16="http://schemas.microsoft.com/office/drawing/2014/main" id="{583BE818-082D-2B40-AA88-626C331BC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3" name="Line 41">
                <a:extLst>
                  <a:ext uri="{FF2B5EF4-FFF2-40B4-BE49-F238E27FC236}">
                    <a16:creationId xmlns:a16="http://schemas.microsoft.com/office/drawing/2014/main" id="{7E5C766D-8290-8E4E-988D-4AAAA1A9C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4" name="Text Box 42">
                <a:extLst>
                  <a:ext uri="{FF2B5EF4-FFF2-40B4-BE49-F238E27FC236}">
                    <a16:creationId xmlns:a16="http://schemas.microsoft.com/office/drawing/2014/main" id="{DD4FBAB9-06C3-5A4C-920C-3DA531B685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4  0</a:t>
                </a:r>
              </a:p>
            </p:txBody>
          </p:sp>
        </p:grpSp>
        <p:sp>
          <p:nvSpPr>
            <p:cNvPr id="29" name="Line 43">
              <a:extLst>
                <a:ext uri="{FF2B5EF4-FFF2-40B4-BE49-F238E27FC236}">
                  <a16:creationId xmlns:a16="http://schemas.microsoft.com/office/drawing/2014/main" id="{2EE4434C-9E05-5345-BAC6-96D6FC073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" y="1480"/>
              <a:ext cx="295" cy="4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0" name="Text Box 44">
              <a:extLst>
                <a:ext uri="{FF2B5EF4-FFF2-40B4-BE49-F238E27FC236}">
                  <a16:creationId xmlns:a16="http://schemas.microsoft.com/office/drawing/2014/main" id="{77EA7968-3989-094E-9077-3090497D2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379429">
              <a:off x="697" y="147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31" name="Line 45">
              <a:extLst>
                <a:ext uri="{FF2B5EF4-FFF2-40B4-BE49-F238E27FC236}">
                  <a16:creationId xmlns:a16="http://schemas.microsoft.com/office/drawing/2014/main" id="{863F6543-E2B7-F440-8A8D-CB3704CB5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7" y="1298"/>
              <a:ext cx="93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2" name="Text Box 46">
              <a:extLst>
                <a:ext uri="{FF2B5EF4-FFF2-40B4-BE49-F238E27FC236}">
                  <a16:creationId xmlns:a16="http://schemas.microsoft.com/office/drawing/2014/main" id="{CFF96848-F60D-CD4E-98C0-4C6E4F75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3" y="1093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</a:t>
              </a:r>
            </a:p>
          </p:txBody>
        </p:sp>
        <p:sp>
          <p:nvSpPr>
            <p:cNvPr id="33" name="Line 47">
              <a:extLst>
                <a:ext uri="{FF2B5EF4-FFF2-40B4-BE49-F238E27FC236}">
                  <a16:creationId xmlns:a16="http://schemas.microsoft.com/office/drawing/2014/main" id="{3309DB8C-2EED-1542-800F-EC8A2B5C4F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" y="2115"/>
              <a:ext cx="39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4" name="Text Box 48">
              <a:extLst>
                <a:ext uri="{FF2B5EF4-FFF2-40B4-BE49-F238E27FC236}">
                  <a16:creationId xmlns:a16="http://schemas.microsoft.com/office/drawing/2014/main" id="{1284838E-8412-0449-BA6C-D1420DED2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1903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5" name="Line 49">
              <a:extLst>
                <a:ext uri="{FF2B5EF4-FFF2-40B4-BE49-F238E27FC236}">
                  <a16:creationId xmlns:a16="http://schemas.microsoft.com/office/drawing/2014/main" id="{A05BA188-D6D6-2E48-A59A-88CF0C43E2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0" y="206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6" name="Text Box 50">
              <a:extLst>
                <a:ext uri="{FF2B5EF4-FFF2-40B4-BE49-F238E27FC236}">
                  <a16:creationId xmlns:a16="http://schemas.microsoft.com/office/drawing/2014/main" id="{B09C8F9E-E1AB-5B41-B954-FD66FF0D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9" y="1888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7" name="Line 51">
              <a:extLst>
                <a:ext uri="{FF2B5EF4-FFF2-40B4-BE49-F238E27FC236}">
                  <a16:creationId xmlns:a16="http://schemas.microsoft.com/office/drawing/2014/main" id="{E743585A-6318-2648-94AD-697B86384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4" y="2296"/>
              <a:ext cx="344" cy="4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8" name="Text Box 52">
              <a:extLst>
                <a:ext uri="{FF2B5EF4-FFF2-40B4-BE49-F238E27FC236}">
                  <a16:creationId xmlns:a16="http://schemas.microsoft.com/office/drawing/2014/main" id="{B47A8813-8BF1-BC42-868A-42A68CE6A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31926">
              <a:off x="1534" y="2309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748FA3B8-9B43-CB46-9521-9973DF7BD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251"/>
              <a:ext cx="344" cy="122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0" name="Line 54">
              <a:extLst>
                <a:ext uri="{FF2B5EF4-FFF2-40B4-BE49-F238E27FC236}">
                  <a16:creationId xmlns:a16="http://schemas.microsoft.com/office/drawing/2014/main" id="{764CDFA2-3CB1-084D-B9CC-094245066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1" y="3475"/>
              <a:ext cx="176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1" name="Text Box 55">
              <a:extLst>
                <a:ext uri="{FF2B5EF4-FFF2-40B4-BE49-F238E27FC236}">
                  <a16:creationId xmlns:a16="http://schemas.microsoft.com/office/drawing/2014/main" id="{AF443DEB-E920-8C4F-B474-C4D4D9ADB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" y="3294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2" name="Line 56">
              <a:extLst>
                <a:ext uri="{FF2B5EF4-FFF2-40B4-BE49-F238E27FC236}">
                  <a16:creationId xmlns:a16="http://schemas.microsoft.com/office/drawing/2014/main" id="{477A4043-AE40-5D42-903E-2B95BC6F5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2" y="2886"/>
              <a:ext cx="53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3" name="Text Box 57">
              <a:extLst>
                <a:ext uri="{FF2B5EF4-FFF2-40B4-BE49-F238E27FC236}">
                  <a16:creationId xmlns:a16="http://schemas.microsoft.com/office/drawing/2014/main" id="{27218591-E175-D740-8B0D-2E5AA703D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9" y="2704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40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44" name="Line 58">
              <a:extLst>
                <a:ext uri="{FF2B5EF4-FFF2-40B4-BE49-F238E27FC236}">
                  <a16:creationId xmlns:a16="http://schemas.microsoft.com/office/drawing/2014/main" id="{C308B6A2-D64D-C640-BE4B-27816C800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1298"/>
              <a:ext cx="492" cy="6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5" name="Text Box 59">
              <a:extLst>
                <a:ext uri="{FF2B5EF4-FFF2-40B4-BE49-F238E27FC236}">
                  <a16:creationId xmlns:a16="http://schemas.microsoft.com/office/drawing/2014/main" id="{AEC21F06-039A-DC42-A679-D471C3834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980631">
              <a:off x="2860" y="1402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6" name="Line 60">
              <a:extLst>
                <a:ext uri="{FF2B5EF4-FFF2-40B4-BE49-F238E27FC236}">
                  <a16:creationId xmlns:a16="http://schemas.microsoft.com/office/drawing/2014/main" id="{D05EF7BF-F9CC-094C-8E4F-A04890C6C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" y="206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7" name="Text Box 61">
              <a:extLst>
                <a:ext uri="{FF2B5EF4-FFF2-40B4-BE49-F238E27FC236}">
                  <a16:creationId xmlns:a16="http://schemas.microsoft.com/office/drawing/2014/main" id="{8B2453E1-9B39-F247-B465-1513FDC98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2" y="188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70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12</a:t>
              </a:r>
            </a:p>
          </p:txBody>
        </p:sp>
        <p:sp>
          <p:nvSpPr>
            <p:cNvPr id="48" name="Line 62">
              <a:extLst>
                <a:ext uri="{FF2B5EF4-FFF2-40B4-BE49-F238E27FC236}">
                  <a16:creationId xmlns:a16="http://schemas.microsoft.com/office/drawing/2014/main" id="{BBC84E54-832F-A64C-A7FA-07362FBEA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4" y="2296"/>
              <a:ext cx="148" cy="40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9" name="Line 63">
              <a:extLst>
                <a:ext uri="{FF2B5EF4-FFF2-40B4-BE49-F238E27FC236}">
                  <a16:creationId xmlns:a16="http://schemas.microsoft.com/office/drawing/2014/main" id="{DFDDB677-5D9C-0E46-922F-B5F2F9AA84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8" y="206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0" name="Text Box 64">
              <a:extLst>
                <a:ext uri="{FF2B5EF4-FFF2-40B4-BE49-F238E27FC236}">
                  <a16:creationId xmlns:a16="http://schemas.microsoft.com/office/drawing/2014/main" id="{0A40CD0B-3147-B947-95E6-647156BB7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" y="188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80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51" name="Line 65">
              <a:extLst>
                <a:ext uri="{FF2B5EF4-FFF2-40B4-BE49-F238E27FC236}">
                  <a16:creationId xmlns:a16="http://schemas.microsoft.com/office/drawing/2014/main" id="{017D8B4B-08E3-E949-AC7F-EFE89BA195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1" y="2069"/>
              <a:ext cx="5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2" name="Text Box 66">
              <a:extLst>
                <a:ext uri="{FF2B5EF4-FFF2-40B4-BE49-F238E27FC236}">
                  <a16:creationId xmlns:a16="http://schemas.microsoft.com/office/drawing/2014/main" id="{C5DF668E-EABC-984E-9958-24E06A4E1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" y="1872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110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53" name="Line 67">
              <a:extLst>
                <a:ext uri="{FF2B5EF4-FFF2-40B4-BE49-F238E27FC236}">
                  <a16:creationId xmlns:a16="http://schemas.microsoft.com/office/drawing/2014/main" id="{63D90B09-6274-AF46-8167-C1A563CC3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4" y="2251"/>
              <a:ext cx="883" cy="54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4" name="Line 68">
              <a:extLst>
                <a:ext uri="{FF2B5EF4-FFF2-40B4-BE49-F238E27FC236}">
                  <a16:creationId xmlns:a16="http://schemas.microsoft.com/office/drawing/2014/main" id="{3E9B26F5-F48F-A643-BD40-AE275590E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2" y="2296"/>
              <a:ext cx="394" cy="104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5" name="Text Box 69">
              <a:extLst>
                <a:ext uri="{FF2B5EF4-FFF2-40B4-BE49-F238E27FC236}">
                  <a16:creationId xmlns:a16="http://schemas.microsoft.com/office/drawing/2014/main" id="{EE01A2DD-7A9B-1D43-9CCF-87B0866CD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710899">
              <a:off x="3428" y="2389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56" name="Text Box 70">
              <a:extLst>
                <a:ext uri="{FF2B5EF4-FFF2-40B4-BE49-F238E27FC236}">
                  <a16:creationId xmlns:a16="http://schemas.microsoft.com/office/drawing/2014/main" id="{42BC6379-5607-8D4A-9431-8C2B654A5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532981">
              <a:off x="3843" y="2612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100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57" name="Text Box 71">
              <a:extLst>
                <a:ext uri="{FF2B5EF4-FFF2-40B4-BE49-F238E27FC236}">
                  <a16:creationId xmlns:a16="http://schemas.microsoft.com/office/drawing/2014/main" id="{0D33F7E0-55DB-B44D-9C40-BB4FF8BDA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3" y="1842"/>
              <a:ext cx="34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22</a:t>
              </a:r>
            </a:p>
          </p:txBody>
        </p:sp>
        <p:sp>
          <p:nvSpPr>
            <p:cNvPr id="58" name="Text Box 72">
              <a:extLst>
                <a:ext uri="{FF2B5EF4-FFF2-40B4-BE49-F238E27FC236}">
                  <a16:creationId xmlns:a16="http://schemas.microsoft.com/office/drawing/2014/main" id="{F2218B58-23EA-EE42-923F-9B2C66B5A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" y="2205"/>
              <a:ext cx="3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13</a:t>
              </a:r>
            </a:p>
          </p:txBody>
        </p:sp>
        <p:sp>
          <p:nvSpPr>
            <p:cNvPr id="59" name="Text Box 73">
              <a:extLst>
                <a:ext uri="{FF2B5EF4-FFF2-40B4-BE49-F238E27FC236}">
                  <a16:creationId xmlns:a16="http://schemas.microsoft.com/office/drawing/2014/main" id="{BBAA3085-0F49-4542-9385-98CDCCD50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7" y="2387"/>
              <a:ext cx="3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60" name="AutoShape 74">
              <a:extLst>
                <a:ext uri="{FF2B5EF4-FFF2-40B4-BE49-F238E27FC236}">
                  <a16:creationId xmlns:a16="http://schemas.microsoft.com/office/drawing/2014/main" id="{315E6AB2-155E-5747-A8BB-45BF95AD1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1021"/>
              <a:ext cx="688" cy="364"/>
            </a:xfrm>
            <a:prstGeom prst="wedgeRoundRectCallout">
              <a:avLst>
                <a:gd name="adj1" fmla="val -53320"/>
                <a:gd name="adj2" fmla="val 220653"/>
                <a:gd name="adj3" fmla="val 16667"/>
              </a:avLst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Take max time</a:t>
              </a:r>
            </a:p>
          </p:txBody>
        </p:sp>
      </p:grpSp>
      <p:sp>
        <p:nvSpPr>
          <p:cNvPr id="80" name="Text Box 77">
            <a:extLst>
              <a:ext uri="{FF2B5EF4-FFF2-40B4-BE49-F238E27FC236}">
                <a16:creationId xmlns:a16="http://schemas.microsoft.com/office/drawing/2014/main" id="{FE9E15A4-B1EA-CE49-A0B7-02BF99028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02" y="803504"/>
            <a:ext cx="8427462" cy="969496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solidFill>
                  <a:schemeClr val="accent5"/>
                </a:solidFill>
              </a:rPr>
              <a:t>Forward pass:</a:t>
            </a:r>
          </a:p>
          <a:p>
            <a:pPr marL="342900" indent="-342900">
              <a:spcBef>
                <a:spcPts val="600"/>
              </a:spcBef>
            </a:pPr>
            <a:r>
              <a:rPr lang="en-GB" altLang="en-US" sz="2400" dirty="0">
                <a:solidFill>
                  <a:schemeClr val="accent5"/>
                </a:solidFill>
              </a:rPr>
              <a:t>Work from left to right to determine task earliest start times</a:t>
            </a:r>
          </a:p>
        </p:txBody>
      </p:sp>
    </p:spTree>
    <p:extLst>
      <p:ext uri="{BB962C8B-B14F-4D97-AF65-F5344CB8AC3E}">
        <p14:creationId xmlns:p14="http://schemas.microsoft.com/office/powerpoint/2010/main" val="3755819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8AF3-7999-0148-9829-03F8BD220E5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GB" dirty="0"/>
              <a:t>Example: (4) Calculation of latest finish times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50A42-9E16-F340-B5C7-C3076CD38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32</a:t>
            </a:fld>
            <a:endParaRPr lang="en-US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2265E2B-6180-6146-BE44-A1953359D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13" y="777029"/>
            <a:ext cx="8483600" cy="133882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solidFill>
                  <a:schemeClr val="accent5"/>
                </a:solidFill>
              </a:rPr>
              <a:t>Backward pass:</a:t>
            </a:r>
          </a:p>
          <a:p>
            <a:pPr marL="285750" indent="-285750">
              <a:spcBef>
                <a:spcPts val="600"/>
              </a:spcBef>
            </a:pPr>
            <a:r>
              <a:rPr lang="en-GB" altLang="en-US" sz="2400" dirty="0">
                <a:solidFill>
                  <a:schemeClr val="accent5"/>
                </a:solidFill>
              </a:rPr>
              <a:t>Work from right to left to determine task latest start and finish times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E859E4-3762-3E48-AD01-BEB1F79A196C}"/>
              </a:ext>
            </a:extLst>
          </p:cNvPr>
          <p:cNvGrpSpPr>
            <a:grpSpLocks/>
          </p:cNvGrpSpPr>
          <p:nvPr/>
        </p:nvGrpSpPr>
        <p:grpSpPr bwMode="auto">
          <a:xfrm>
            <a:off x="621833" y="2341189"/>
            <a:ext cx="8269288" cy="4176712"/>
            <a:chOff x="542" y="981"/>
            <a:chExt cx="5209" cy="26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CDC5D26-BC60-474C-8266-925DA2C72A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" y="1798"/>
              <a:ext cx="492" cy="408"/>
              <a:chOff x="385" y="1888"/>
              <a:chExt cx="454" cy="408"/>
            </a:xfrm>
          </p:grpSpPr>
          <p:sp>
            <p:nvSpPr>
              <p:cNvPr id="77" name="Oval 7">
                <a:extLst>
                  <a:ext uri="{FF2B5EF4-FFF2-40B4-BE49-F238E27FC236}">
                    <a16:creationId xmlns:a16="http://schemas.microsoft.com/office/drawing/2014/main" id="{86529B10-22E9-6B4C-A263-D288EF2E7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8" name="Line 8">
                <a:extLst>
                  <a:ext uri="{FF2B5EF4-FFF2-40B4-BE49-F238E27FC236}">
                    <a16:creationId xmlns:a16="http://schemas.microsoft.com/office/drawing/2014/main" id="{7F3BA3DC-1D02-AA4D-A655-73F08BB6D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9" name="Text Box 9">
                <a:extLst>
                  <a:ext uri="{FF2B5EF4-FFF2-40B4-BE49-F238E27FC236}">
                    <a16:creationId xmlns:a16="http://schemas.microsoft.com/office/drawing/2014/main" id="{995FF3A1-CA29-F646-8BCD-D4D9C322B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0   0</a:t>
                </a: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7F9721D1-4630-194C-81B5-602E2D58C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3" y="981"/>
              <a:ext cx="492" cy="408"/>
              <a:chOff x="385" y="1888"/>
              <a:chExt cx="454" cy="408"/>
            </a:xfrm>
          </p:grpSpPr>
          <p:sp>
            <p:nvSpPr>
              <p:cNvPr id="74" name="Oval 11">
                <a:extLst>
                  <a:ext uri="{FF2B5EF4-FFF2-40B4-BE49-F238E27FC236}">
                    <a16:creationId xmlns:a16="http://schemas.microsoft.com/office/drawing/2014/main" id="{5DF50AE5-B7C4-CE41-A23C-B240B4FEC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5" name="Line 12">
                <a:extLst>
                  <a:ext uri="{FF2B5EF4-FFF2-40B4-BE49-F238E27FC236}">
                    <a16:creationId xmlns:a16="http://schemas.microsoft.com/office/drawing/2014/main" id="{F4C6853D-A74A-EF45-ACED-557629701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6" name="Text Box 13">
                <a:extLst>
                  <a:ext uri="{FF2B5EF4-FFF2-40B4-BE49-F238E27FC236}">
                    <a16:creationId xmlns:a16="http://schemas.microsoft.com/office/drawing/2014/main" id="{FF109721-DBFF-594C-BFF6-832181AE34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6  6</a:t>
                </a:r>
              </a:p>
            </p:txBody>
          </p:sp>
        </p:grpSp>
        <p:grpSp>
          <p:nvGrpSpPr>
            <p:cNvPr id="9" name="Group 14">
              <a:extLst>
                <a:ext uri="{FF2B5EF4-FFF2-40B4-BE49-F238E27FC236}">
                  <a16:creationId xmlns:a16="http://schemas.microsoft.com/office/drawing/2014/main" id="{FD522778-87FA-4D44-B946-968C36409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6" y="1798"/>
              <a:ext cx="492" cy="408"/>
              <a:chOff x="385" y="1888"/>
              <a:chExt cx="454" cy="408"/>
            </a:xfrm>
          </p:grpSpPr>
          <p:sp>
            <p:nvSpPr>
              <p:cNvPr id="71" name="Oval 15">
                <a:extLst>
                  <a:ext uri="{FF2B5EF4-FFF2-40B4-BE49-F238E27FC236}">
                    <a16:creationId xmlns:a16="http://schemas.microsoft.com/office/drawing/2014/main" id="{1828F8C3-2BE2-8245-82B1-25A05296C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2" name="Line 16">
                <a:extLst>
                  <a:ext uri="{FF2B5EF4-FFF2-40B4-BE49-F238E27FC236}">
                    <a16:creationId xmlns:a16="http://schemas.microsoft.com/office/drawing/2014/main" id="{E4D8B527-B735-2F4C-9EDD-8E27549F2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3" name="Text Box 17">
                <a:extLst>
                  <a:ext uri="{FF2B5EF4-FFF2-40B4-BE49-F238E27FC236}">
                    <a16:creationId xmlns:a16="http://schemas.microsoft.com/office/drawing/2014/main" id="{C87E2B30-58D8-9945-8DAF-0941E23916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2   2</a:t>
                </a:r>
              </a:p>
            </p:txBody>
          </p:sp>
        </p:grpSp>
        <p:grpSp>
          <p:nvGrpSpPr>
            <p:cNvPr id="10" name="Group 18">
              <a:extLst>
                <a:ext uri="{FF2B5EF4-FFF2-40B4-BE49-F238E27FC236}">
                  <a16:creationId xmlns:a16="http://schemas.microsoft.com/office/drawing/2014/main" id="{AB3CA5F4-E5E1-9147-B77F-748CA274F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798"/>
              <a:ext cx="492" cy="408"/>
              <a:chOff x="385" y="1888"/>
              <a:chExt cx="454" cy="408"/>
            </a:xfrm>
          </p:grpSpPr>
          <p:sp>
            <p:nvSpPr>
              <p:cNvPr id="68" name="Oval 19">
                <a:extLst>
                  <a:ext uri="{FF2B5EF4-FFF2-40B4-BE49-F238E27FC236}">
                    <a16:creationId xmlns:a16="http://schemas.microsoft.com/office/drawing/2014/main" id="{8923C8FD-D4B4-1246-A77C-3C8297AA6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9" name="Line 20">
                <a:extLst>
                  <a:ext uri="{FF2B5EF4-FFF2-40B4-BE49-F238E27FC236}">
                    <a16:creationId xmlns:a16="http://schemas.microsoft.com/office/drawing/2014/main" id="{937CFCF9-D98A-7D46-8367-72175A52D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0" name="Text Box 21">
                <a:extLst>
                  <a:ext uri="{FF2B5EF4-FFF2-40B4-BE49-F238E27FC236}">
                    <a16:creationId xmlns:a16="http://schemas.microsoft.com/office/drawing/2014/main" id="{78A57C77-1E07-534D-ABA6-1C7FA0D1F9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5   5</a:t>
                </a:r>
              </a:p>
            </p:txBody>
          </p:sp>
        </p:grpSp>
        <p:sp>
          <p:nvSpPr>
            <p:cNvPr id="11" name="Oval 22">
              <a:extLst>
                <a:ext uri="{FF2B5EF4-FFF2-40B4-BE49-F238E27FC236}">
                  <a16:creationId xmlns:a16="http://schemas.microsoft.com/office/drawing/2014/main" id="{FF117BE7-4BDE-6D4C-A2D2-4DB4DEB07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179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6A4457AF-E2FA-4242-BF67-8C3ADD5AF7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0" y="179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3" name="Text Box 24">
              <a:extLst>
                <a:ext uri="{FF2B5EF4-FFF2-40B4-BE49-F238E27FC236}">
                  <a16:creationId xmlns:a16="http://schemas.microsoft.com/office/drawing/2014/main" id="{6CC08803-2374-B748-9D12-8CC3CC324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1" y="1889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17  17</a:t>
              </a:r>
            </a:p>
          </p:txBody>
        </p:sp>
        <p:sp>
          <p:nvSpPr>
            <p:cNvPr id="14" name="Oval 25">
              <a:extLst>
                <a:ext uri="{FF2B5EF4-FFF2-40B4-BE49-F238E27FC236}">
                  <a16:creationId xmlns:a16="http://schemas.microsoft.com/office/drawing/2014/main" id="{B53F38D6-AEA3-9D40-BE7F-50B90163B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798"/>
              <a:ext cx="491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86F70C0E-6BE7-1A4D-95A7-ADAE9E669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3" y="179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04CCA7A4-96DB-7147-8F93-552185073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" y="1889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22  22</a:t>
              </a:r>
            </a:p>
          </p:txBody>
        </p:sp>
        <p:sp>
          <p:nvSpPr>
            <p:cNvPr id="17" name="Oval 28">
              <a:extLst>
                <a:ext uri="{FF2B5EF4-FFF2-40B4-BE49-F238E27FC236}">
                  <a16:creationId xmlns:a16="http://schemas.microsoft.com/office/drawing/2014/main" id="{FFE1D790-12BC-3547-B38F-0CAE9F788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" y="179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8" name="Line 29">
              <a:extLst>
                <a:ext uri="{FF2B5EF4-FFF2-40B4-BE49-F238E27FC236}">
                  <a16:creationId xmlns:a16="http://schemas.microsoft.com/office/drawing/2014/main" id="{1E5C9DAF-7831-A342-95C6-EBFFC644D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05" y="179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9" name="Text Box 30">
              <a:extLst>
                <a:ext uri="{FF2B5EF4-FFF2-40B4-BE49-F238E27FC236}">
                  <a16:creationId xmlns:a16="http://schemas.microsoft.com/office/drawing/2014/main" id="{B3BE932A-30CB-EB47-B5B8-729DABF3D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5" y="1889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24 24</a:t>
              </a:r>
            </a:p>
          </p:txBody>
        </p:sp>
        <p:sp>
          <p:nvSpPr>
            <p:cNvPr id="20" name="Oval 31">
              <a:extLst>
                <a:ext uri="{FF2B5EF4-FFF2-40B4-BE49-F238E27FC236}">
                  <a16:creationId xmlns:a16="http://schemas.microsoft.com/office/drawing/2014/main" id="{773458B0-DFD6-7847-A8CF-3896C99AB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7" y="981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1" name="Line 32">
              <a:extLst>
                <a:ext uri="{FF2B5EF4-FFF2-40B4-BE49-F238E27FC236}">
                  <a16:creationId xmlns:a16="http://schemas.microsoft.com/office/drawing/2014/main" id="{A98296FB-F456-0349-9184-BA3E5265B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" y="982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2" name="Text Box 33">
              <a:extLst>
                <a:ext uri="{FF2B5EF4-FFF2-40B4-BE49-F238E27FC236}">
                  <a16:creationId xmlns:a16="http://schemas.microsoft.com/office/drawing/2014/main" id="{8AAF4FCB-719B-5F4B-884E-91DEFA871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8" y="1072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15  15</a:t>
              </a:r>
            </a:p>
          </p:txBody>
        </p:sp>
        <p:grpSp>
          <p:nvGrpSpPr>
            <p:cNvPr id="23" name="Group 34">
              <a:extLst>
                <a:ext uri="{FF2B5EF4-FFF2-40B4-BE49-F238E27FC236}">
                  <a16:creationId xmlns:a16="http://schemas.microsoft.com/office/drawing/2014/main" id="{3096C5BF-4ED7-C943-805E-96E82123A0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7" y="2569"/>
              <a:ext cx="492" cy="408"/>
              <a:chOff x="385" y="1888"/>
              <a:chExt cx="454" cy="408"/>
            </a:xfrm>
          </p:grpSpPr>
          <p:sp>
            <p:nvSpPr>
              <p:cNvPr id="65" name="Oval 35">
                <a:extLst>
                  <a:ext uri="{FF2B5EF4-FFF2-40B4-BE49-F238E27FC236}">
                    <a16:creationId xmlns:a16="http://schemas.microsoft.com/office/drawing/2014/main" id="{A711408F-6E50-944E-8E33-D89D3F24B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6" name="Line 36">
                <a:extLst>
                  <a:ext uri="{FF2B5EF4-FFF2-40B4-BE49-F238E27FC236}">
                    <a16:creationId xmlns:a16="http://schemas.microsoft.com/office/drawing/2014/main" id="{68B18301-EC21-034F-B5A4-1990AF05A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7" name="Text Box 37">
                <a:extLst>
                  <a:ext uri="{FF2B5EF4-FFF2-40B4-BE49-F238E27FC236}">
                    <a16:creationId xmlns:a16="http://schemas.microsoft.com/office/drawing/2014/main" id="{79856645-433A-9C45-BE2A-C9755BFBD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403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5  12</a:t>
                </a:r>
              </a:p>
            </p:txBody>
          </p:sp>
        </p:grpSp>
        <p:sp>
          <p:nvSpPr>
            <p:cNvPr id="24" name="Oval 38">
              <a:extLst>
                <a:ext uri="{FF2B5EF4-FFF2-40B4-BE49-F238E27FC236}">
                  <a16:creationId xmlns:a16="http://schemas.microsoft.com/office/drawing/2014/main" id="{2CDB0F25-2EA5-6842-A09A-39C04D631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2569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5" name="Line 39">
              <a:extLst>
                <a:ext uri="{FF2B5EF4-FFF2-40B4-BE49-F238E27FC236}">
                  <a16:creationId xmlns:a16="http://schemas.microsoft.com/office/drawing/2014/main" id="{58D63801-9B73-9248-9168-161891D25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5" y="2570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6" name="Text Box 40">
              <a:extLst>
                <a:ext uri="{FF2B5EF4-FFF2-40B4-BE49-F238E27FC236}">
                  <a16:creationId xmlns:a16="http://schemas.microsoft.com/office/drawing/2014/main" id="{65C7DB56-9EC1-4646-8001-790608081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" y="2660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10  17</a:t>
              </a:r>
            </a:p>
          </p:txBody>
        </p:sp>
        <p:grpSp>
          <p:nvGrpSpPr>
            <p:cNvPr id="27" name="Group 41">
              <a:extLst>
                <a:ext uri="{FF2B5EF4-FFF2-40B4-BE49-F238E27FC236}">
                  <a16:creationId xmlns:a16="http://schemas.microsoft.com/office/drawing/2014/main" id="{FE2DEED8-9453-0646-A9A2-D7DC007FA3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7" y="3204"/>
              <a:ext cx="492" cy="408"/>
              <a:chOff x="385" y="1888"/>
              <a:chExt cx="454" cy="408"/>
            </a:xfrm>
          </p:grpSpPr>
          <p:sp>
            <p:nvSpPr>
              <p:cNvPr id="62" name="Oval 42">
                <a:extLst>
                  <a:ext uri="{FF2B5EF4-FFF2-40B4-BE49-F238E27FC236}">
                    <a16:creationId xmlns:a16="http://schemas.microsoft.com/office/drawing/2014/main" id="{A15A8832-49D0-C04E-9306-AE4C44AAB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3" name="Line 43">
                <a:extLst>
                  <a:ext uri="{FF2B5EF4-FFF2-40B4-BE49-F238E27FC236}">
                    <a16:creationId xmlns:a16="http://schemas.microsoft.com/office/drawing/2014/main" id="{EF98CD6B-F80D-0849-B2B1-C2BF28520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4" name="Text Box 44">
                <a:extLst>
                  <a:ext uri="{FF2B5EF4-FFF2-40B4-BE49-F238E27FC236}">
                    <a16:creationId xmlns:a16="http://schemas.microsoft.com/office/drawing/2014/main" id="{2E19860C-EDCC-394C-8526-63EDA70ABA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4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4  16</a:t>
                </a:r>
              </a:p>
            </p:txBody>
          </p:sp>
        </p:grpSp>
        <p:sp>
          <p:nvSpPr>
            <p:cNvPr id="28" name="Line 45">
              <a:extLst>
                <a:ext uri="{FF2B5EF4-FFF2-40B4-BE49-F238E27FC236}">
                  <a16:creationId xmlns:a16="http://schemas.microsoft.com/office/drawing/2014/main" id="{38F3EE6C-A929-5240-B00D-CBC649CC5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5" y="1390"/>
              <a:ext cx="295" cy="4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9" name="Text Box 46">
              <a:extLst>
                <a:ext uri="{FF2B5EF4-FFF2-40B4-BE49-F238E27FC236}">
                  <a16:creationId xmlns:a16="http://schemas.microsoft.com/office/drawing/2014/main" id="{07C184ED-28EA-B34F-A86D-7F484C2E7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408605">
              <a:off x="885" y="138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30" name="Line 47">
              <a:extLst>
                <a:ext uri="{FF2B5EF4-FFF2-40B4-BE49-F238E27FC236}">
                  <a16:creationId xmlns:a16="http://schemas.microsoft.com/office/drawing/2014/main" id="{B9D87B08-08BF-5646-B701-3989B46C6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5" y="1208"/>
              <a:ext cx="93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1" name="Text Box 48">
              <a:extLst>
                <a:ext uri="{FF2B5EF4-FFF2-40B4-BE49-F238E27FC236}">
                  <a16:creationId xmlns:a16="http://schemas.microsoft.com/office/drawing/2014/main" id="{40B52E7B-3B51-B24E-A769-86DD5ACD8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1" y="1027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</a:t>
              </a:r>
            </a:p>
          </p:txBody>
        </p:sp>
        <p:sp>
          <p:nvSpPr>
            <p:cNvPr id="32" name="Line 49">
              <a:extLst>
                <a:ext uri="{FF2B5EF4-FFF2-40B4-BE49-F238E27FC236}">
                  <a16:creationId xmlns:a16="http://schemas.microsoft.com/office/drawing/2014/main" id="{5AE55605-AC1D-D94C-8E51-912039B48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3" y="2025"/>
              <a:ext cx="39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3" name="Text Box 50">
              <a:extLst>
                <a:ext uri="{FF2B5EF4-FFF2-40B4-BE49-F238E27FC236}">
                  <a16:creationId xmlns:a16="http://schemas.microsoft.com/office/drawing/2014/main" id="{B0E66756-2D56-0848-835C-14C9AA5F2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" y="1813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4" name="Line 51">
              <a:extLst>
                <a:ext uri="{FF2B5EF4-FFF2-40B4-BE49-F238E27FC236}">
                  <a16:creationId xmlns:a16="http://schemas.microsoft.com/office/drawing/2014/main" id="{2C208E49-825C-1946-B820-3B699AC2D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8" y="197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5" name="Text Box 52">
              <a:extLst>
                <a:ext uri="{FF2B5EF4-FFF2-40B4-BE49-F238E27FC236}">
                  <a16:creationId xmlns:a16="http://schemas.microsoft.com/office/drawing/2014/main" id="{0423A298-7CE2-B94B-A5D3-2B5983C99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7" y="1798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6" name="Line 53">
              <a:extLst>
                <a:ext uri="{FF2B5EF4-FFF2-40B4-BE49-F238E27FC236}">
                  <a16:creationId xmlns:a16="http://schemas.microsoft.com/office/drawing/2014/main" id="{10EA6A7A-B76A-344A-BB92-01B73DEF6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2206"/>
              <a:ext cx="344" cy="4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7" name="Text Box 54">
              <a:extLst>
                <a:ext uri="{FF2B5EF4-FFF2-40B4-BE49-F238E27FC236}">
                  <a16:creationId xmlns:a16="http://schemas.microsoft.com/office/drawing/2014/main" id="{14C41131-A17D-CD4B-BCF8-5439390F3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72417">
              <a:off x="1722" y="2219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8" name="Line 55">
              <a:extLst>
                <a:ext uri="{FF2B5EF4-FFF2-40B4-BE49-F238E27FC236}">
                  <a16:creationId xmlns:a16="http://schemas.microsoft.com/office/drawing/2014/main" id="{A26C0238-7CC6-D34A-8E34-5F4E22648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5" y="2161"/>
              <a:ext cx="344" cy="122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9" name="Line 56">
              <a:extLst>
                <a:ext uri="{FF2B5EF4-FFF2-40B4-BE49-F238E27FC236}">
                  <a16:creationId xmlns:a16="http://schemas.microsoft.com/office/drawing/2014/main" id="{FB3A0301-DB7E-0E4E-BCAC-B1D0A09F7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9" y="3385"/>
              <a:ext cx="176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0" name="Text Box 57">
              <a:extLst>
                <a:ext uri="{FF2B5EF4-FFF2-40B4-BE49-F238E27FC236}">
                  <a16:creationId xmlns:a16="http://schemas.microsoft.com/office/drawing/2014/main" id="{5126825C-61E7-A84A-B6BD-AFE903BFA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3204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1" name="Line 58">
              <a:extLst>
                <a:ext uri="{FF2B5EF4-FFF2-40B4-BE49-F238E27FC236}">
                  <a16:creationId xmlns:a16="http://schemas.microsoft.com/office/drawing/2014/main" id="{1BDD18DA-73E9-1446-AEFA-9AB4128B8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0" y="2796"/>
              <a:ext cx="53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2" name="Text Box 59">
              <a:extLst>
                <a:ext uri="{FF2B5EF4-FFF2-40B4-BE49-F238E27FC236}">
                  <a16:creationId xmlns:a16="http://schemas.microsoft.com/office/drawing/2014/main" id="{EC137D29-2001-1345-9472-24BEB2F49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7" y="2614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40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43" name="Line 60">
              <a:extLst>
                <a:ext uri="{FF2B5EF4-FFF2-40B4-BE49-F238E27FC236}">
                  <a16:creationId xmlns:a16="http://schemas.microsoft.com/office/drawing/2014/main" id="{65C11FAE-0F61-8041-887C-094B371B1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208"/>
              <a:ext cx="492" cy="63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4" name="Text Box 61">
              <a:extLst>
                <a:ext uri="{FF2B5EF4-FFF2-40B4-BE49-F238E27FC236}">
                  <a16:creationId xmlns:a16="http://schemas.microsoft.com/office/drawing/2014/main" id="{845DFD84-8BD6-6449-B659-A413854FA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46679">
              <a:off x="3048" y="1312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5" name="Line 62">
              <a:extLst>
                <a:ext uri="{FF2B5EF4-FFF2-40B4-BE49-F238E27FC236}">
                  <a16:creationId xmlns:a16="http://schemas.microsoft.com/office/drawing/2014/main" id="{756E1321-E5F8-C24D-809B-2F3619C74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2" y="197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6" name="Text Box 63">
              <a:extLst>
                <a:ext uri="{FF2B5EF4-FFF2-40B4-BE49-F238E27FC236}">
                  <a16:creationId xmlns:a16="http://schemas.microsoft.com/office/drawing/2014/main" id="{EB166DA5-7D07-2047-97D4-84A34B480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0" y="179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70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12</a:t>
              </a:r>
            </a:p>
          </p:txBody>
        </p:sp>
        <p:sp>
          <p:nvSpPr>
            <p:cNvPr id="47" name="Line 64">
              <a:extLst>
                <a:ext uri="{FF2B5EF4-FFF2-40B4-BE49-F238E27FC236}">
                  <a16:creationId xmlns:a16="http://schemas.microsoft.com/office/drawing/2014/main" id="{B96692AB-84F9-4F4B-8867-F092AAC34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" y="2206"/>
              <a:ext cx="148" cy="40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8" name="Line 65">
              <a:extLst>
                <a:ext uri="{FF2B5EF4-FFF2-40B4-BE49-F238E27FC236}">
                  <a16:creationId xmlns:a16="http://schemas.microsoft.com/office/drawing/2014/main" id="{0463A020-6942-ED49-BE9B-CC503B326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6" y="1979"/>
              <a:ext cx="44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9" name="Text Box 66">
              <a:extLst>
                <a:ext uri="{FF2B5EF4-FFF2-40B4-BE49-F238E27FC236}">
                  <a16:creationId xmlns:a16="http://schemas.microsoft.com/office/drawing/2014/main" id="{6E33DAB4-2DE1-D146-BF47-A373DED61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4" y="1774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80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50" name="Line 67">
              <a:extLst>
                <a:ext uri="{FF2B5EF4-FFF2-40B4-BE49-F238E27FC236}">
                  <a16:creationId xmlns:a16="http://schemas.microsoft.com/office/drawing/2014/main" id="{09CE1EA0-2DCB-B346-86EE-C91DDD84A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9" y="1979"/>
              <a:ext cx="5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1" name="Text Box 68">
              <a:extLst>
                <a:ext uri="{FF2B5EF4-FFF2-40B4-BE49-F238E27FC236}">
                  <a16:creationId xmlns:a16="http://schemas.microsoft.com/office/drawing/2014/main" id="{EA3CB545-FA7A-C44F-8E28-36FDDBE2F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8" y="1798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52" name="Line 69">
              <a:extLst>
                <a:ext uri="{FF2B5EF4-FFF2-40B4-BE49-F238E27FC236}">
                  <a16:creationId xmlns:a16="http://schemas.microsoft.com/office/drawing/2014/main" id="{9E3284EE-3998-1B4D-B906-2748129BD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2" y="2161"/>
              <a:ext cx="883" cy="54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3" name="Line 70">
              <a:extLst>
                <a:ext uri="{FF2B5EF4-FFF2-40B4-BE49-F238E27FC236}">
                  <a16:creationId xmlns:a16="http://schemas.microsoft.com/office/drawing/2014/main" id="{39CEF28C-DE6B-D345-B22D-6E5A3D925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0" y="2206"/>
              <a:ext cx="394" cy="104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4" name="Text Box 71">
              <a:extLst>
                <a:ext uri="{FF2B5EF4-FFF2-40B4-BE49-F238E27FC236}">
                  <a16:creationId xmlns:a16="http://schemas.microsoft.com/office/drawing/2014/main" id="{F1D2D12E-B700-3E45-95D6-CD594298D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794493">
              <a:off x="3736" y="2251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55" name="Text Box 72">
              <a:extLst>
                <a:ext uri="{FF2B5EF4-FFF2-40B4-BE49-F238E27FC236}">
                  <a16:creationId xmlns:a16="http://schemas.microsoft.com/office/drawing/2014/main" id="{7D6F467C-3C05-AE43-8A66-FA09E9636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628351">
              <a:off x="4055" y="2538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100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56" name="Text Box 73">
              <a:extLst>
                <a:ext uri="{FF2B5EF4-FFF2-40B4-BE49-F238E27FC236}">
                  <a16:creationId xmlns:a16="http://schemas.microsoft.com/office/drawing/2014/main" id="{F6476475-09A4-9147-BFA8-64FBAB1F7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2" y="2614"/>
              <a:ext cx="34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19</a:t>
              </a:r>
            </a:p>
          </p:txBody>
        </p:sp>
        <p:sp>
          <p:nvSpPr>
            <p:cNvPr id="57" name="Text Box 74">
              <a:extLst>
                <a:ext uri="{FF2B5EF4-FFF2-40B4-BE49-F238E27FC236}">
                  <a16:creationId xmlns:a16="http://schemas.microsoft.com/office/drawing/2014/main" id="{DA5A2BFA-530B-D240-BAAE-E3136C94D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6" y="2342"/>
              <a:ext cx="34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17</a:t>
              </a:r>
            </a:p>
          </p:txBody>
        </p:sp>
        <p:sp>
          <p:nvSpPr>
            <p:cNvPr id="58" name="Text Box 75">
              <a:extLst>
                <a:ext uri="{FF2B5EF4-FFF2-40B4-BE49-F238E27FC236}">
                  <a16:creationId xmlns:a16="http://schemas.microsoft.com/office/drawing/2014/main" id="{BC12F777-B6C5-6B4E-A440-50617F47D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2" y="2130"/>
              <a:ext cx="3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59" name="Text Box 76">
              <a:extLst>
                <a:ext uri="{FF2B5EF4-FFF2-40B4-BE49-F238E27FC236}">
                  <a16:creationId xmlns:a16="http://schemas.microsoft.com/office/drawing/2014/main" id="{51221CBC-49C7-784A-BB54-4ACBDA1F7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9" y="1707"/>
              <a:ext cx="34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60" name="Text Box 77">
              <a:extLst>
                <a:ext uri="{FF2B5EF4-FFF2-40B4-BE49-F238E27FC236}">
                  <a16:creationId xmlns:a16="http://schemas.microsoft.com/office/drawing/2014/main" id="{8A7CFE05-7A58-894A-BD78-7B77CE4FF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9" y="2115"/>
              <a:ext cx="3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600" dirty="0">
                  <a:solidFill>
                    <a:srgbClr val="FF0000"/>
                  </a:solidFill>
                </a:rPr>
                <a:t>14</a:t>
              </a:r>
            </a:p>
          </p:txBody>
        </p:sp>
        <p:sp>
          <p:nvSpPr>
            <p:cNvPr id="61" name="AutoShape 78">
              <a:extLst>
                <a:ext uri="{FF2B5EF4-FFF2-40B4-BE49-F238E27FC236}">
                  <a16:creationId xmlns:a16="http://schemas.microsoft.com/office/drawing/2014/main" id="{1AF8036E-59D1-064A-A305-FFE67413A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" y="2756"/>
              <a:ext cx="688" cy="345"/>
            </a:xfrm>
            <a:prstGeom prst="wedgeRoundRectCallout">
              <a:avLst>
                <a:gd name="adj1" fmla="val 78662"/>
                <a:gd name="adj2" fmla="val -188106"/>
                <a:gd name="adj3" fmla="val 16667"/>
              </a:avLst>
            </a:prstGeom>
            <a:solidFill>
              <a:srgbClr val="FFFF99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Take min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708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8AF3-7999-0148-9829-03F8BD220E5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3200" dirty="0"/>
              <a:t>Example: (5) Identifying critical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50A42-9E16-F340-B5C7-C3076CD38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33</a:t>
            </a:fld>
            <a:endParaRPr lang="en-US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2265E2B-6180-6146-BE44-A1953359D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13" y="878629"/>
            <a:ext cx="8483600" cy="107721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800" dirty="0">
                <a:solidFill>
                  <a:schemeClr val="accent5"/>
                </a:solidFill>
              </a:rPr>
              <a:t>A critical path has no float.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 dirty="0">
                <a:solidFill>
                  <a:schemeClr val="accent5"/>
                </a:solidFill>
              </a:rPr>
              <a:t>A Pert Chart may have many critical paths.  </a:t>
            </a:r>
            <a:endParaRPr lang="en-GB" altLang="en-US" sz="2000" dirty="0">
              <a:solidFill>
                <a:schemeClr val="accent5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E859E4-3762-3E48-AD01-BEB1F79A196C}"/>
              </a:ext>
            </a:extLst>
          </p:cNvPr>
          <p:cNvGrpSpPr>
            <a:grpSpLocks/>
          </p:cNvGrpSpPr>
          <p:nvPr/>
        </p:nvGrpSpPr>
        <p:grpSpPr bwMode="auto">
          <a:xfrm>
            <a:off x="437356" y="2081304"/>
            <a:ext cx="8269288" cy="4176712"/>
            <a:chOff x="542" y="981"/>
            <a:chExt cx="5209" cy="26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CDC5D26-BC60-474C-8266-925DA2C72A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2" y="1798"/>
              <a:ext cx="492" cy="408"/>
              <a:chOff x="385" y="1888"/>
              <a:chExt cx="454" cy="408"/>
            </a:xfrm>
          </p:grpSpPr>
          <p:sp>
            <p:nvSpPr>
              <p:cNvPr id="77" name="Oval 7">
                <a:extLst>
                  <a:ext uri="{FF2B5EF4-FFF2-40B4-BE49-F238E27FC236}">
                    <a16:creationId xmlns:a16="http://schemas.microsoft.com/office/drawing/2014/main" id="{86529B10-22E9-6B4C-A263-D288EF2E7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8" name="Line 8">
                <a:extLst>
                  <a:ext uri="{FF2B5EF4-FFF2-40B4-BE49-F238E27FC236}">
                    <a16:creationId xmlns:a16="http://schemas.microsoft.com/office/drawing/2014/main" id="{7F3BA3DC-1D02-AA4D-A655-73F08BB6D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9" name="Text Box 9">
                <a:extLst>
                  <a:ext uri="{FF2B5EF4-FFF2-40B4-BE49-F238E27FC236}">
                    <a16:creationId xmlns:a16="http://schemas.microsoft.com/office/drawing/2014/main" id="{995FF3A1-CA29-F646-8BCD-D4D9C322B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0   0</a:t>
                </a:r>
              </a:p>
            </p:txBody>
          </p:sp>
        </p:grp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7F9721D1-4630-194C-81B5-602E2D58C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3" y="981"/>
              <a:ext cx="492" cy="408"/>
              <a:chOff x="385" y="1888"/>
              <a:chExt cx="454" cy="408"/>
            </a:xfrm>
          </p:grpSpPr>
          <p:sp>
            <p:nvSpPr>
              <p:cNvPr id="74" name="Oval 11">
                <a:extLst>
                  <a:ext uri="{FF2B5EF4-FFF2-40B4-BE49-F238E27FC236}">
                    <a16:creationId xmlns:a16="http://schemas.microsoft.com/office/drawing/2014/main" id="{5DF50AE5-B7C4-CE41-A23C-B240B4FEC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5" name="Line 12">
                <a:extLst>
                  <a:ext uri="{FF2B5EF4-FFF2-40B4-BE49-F238E27FC236}">
                    <a16:creationId xmlns:a16="http://schemas.microsoft.com/office/drawing/2014/main" id="{F4C6853D-A74A-EF45-ACED-557629701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6" name="Text Box 13">
                <a:extLst>
                  <a:ext uri="{FF2B5EF4-FFF2-40B4-BE49-F238E27FC236}">
                    <a16:creationId xmlns:a16="http://schemas.microsoft.com/office/drawing/2014/main" id="{FF109721-DBFF-594C-BFF6-832181AE34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29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6  6</a:t>
                </a:r>
              </a:p>
            </p:txBody>
          </p:sp>
        </p:grpSp>
        <p:grpSp>
          <p:nvGrpSpPr>
            <p:cNvPr id="9" name="Group 14">
              <a:extLst>
                <a:ext uri="{FF2B5EF4-FFF2-40B4-BE49-F238E27FC236}">
                  <a16:creationId xmlns:a16="http://schemas.microsoft.com/office/drawing/2014/main" id="{FD522778-87FA-4D44-B946-968C364090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6" y="1798"/>
              <a:ext cx="492" cy="408"/>
              <a:chOff x="385" y="1888"/>
              <a:chExt cx="454" cy="408"/>
            </a:xfrm>
          </p:grpSpPr>
          <p:sp>
            <p:nvSpPr>
              <p:cNvPr id="71" name="Oval 15">
                <a:extLst>
                  <a:ext uri="{FF2B5EF4-FFF2-40B4-BE49-F238E27FC236}">
                    <a16:creationId xmlns:a16="http://schemas.microsoft.com/office/drawing/2014/main" id="{1828F8C3-2BE2-8245-82B1-25A05296C9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72" name="Line 16">
                <a:extLst>
                  <a:ext uri="{FF2B5EF4-FFF2-40B4-BE49-F238E27FC236}">
                    <a16:creationId xmlns:a16="http://schemas.microsoft.com/office/drawing/2014/main" id="{E4D8B527-B735-2F4C-9EDD-8E27549F2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3" name="Text Box 17">
                <a:extLst>
                  <a:ext uri="{FF2B5EF4-FFF2-40B4-BE49-F238E27FC236}">
                    <a16:creationId xmlns:a16="http://schemas.microsoft.com/office/drawing/2014/main" id="{C87E2B30-58D8-9945-8DAF-0941E23916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2   2</a:t>
                </a:r>
              </a:p>
            </p:txBody>
          </p:sp>
        </p:grpSp>
        <p:grpSp>
          <p:nvGrpSpPr>
            <p:cNvPr id="10" name="Group 18">
              <a:extLst>
                <a:ext uri="{FF2B5EF4-FFF2-40B4-BE49-F238E27FC236}">
                  <a16:creationId xmlns:a16="http://schemas.microsoft.com/office/drawing/2014/main" id="{AB3CA5F4-E5E1-9147-B77F-748CA274FC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798"/>
              <a:ext cx="492" cy="408"/>
              <a:chOff x="385" y="1888"/>
              <a:chExt cx="454" cy="408"/>
            </a:xfrm>
          </p:grpSpPr>
          <p:sp>
            <p:nvSpPr>
              <p:cNvPr id="68" name="Oval 19">
                <a:extLst>
                  <a:ext uri="{FF2B5EF4-FFF2-40B4-BE49-F238E27FC236}">
                    <a16:creationId xmlns:a16="http://schemas.microsoft.com/office/drawing/2014/main" id="{8923C8FD-D4B4-1246-A77C-3C8297AA6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9" name="Line 20">
                <a:extLst>
                  <a:ext uri="{FF2B5EF4-FFF2-40B4-BE49-F238E27FC236}">
                    <a16:creationId xmlns:a16="http://schemas.microsoft.com/office/drawing/2014/main" id="{937CFCF9-D98A-7D46-8367-72175A52D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70" name="Text Box 21">
                <a:extLst>
                  <a:ext uri="{FF2B5EF4-FFF2-40B4-BE49-F238E27FC236}">
                    <a16:creationId xmlns:a16="http://schemas.microsoft.com/office/drawing/2014/main" id="{78A57C77-1E07-534D-ABA6-1C7FA0D1F9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36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 dirty="0">
                    <a:solidFill>
                      <a:schemeClr val="tx2"/>
                    </a:solidFill>
                  </a:rPr>
                  <a:t>5   5</a:t>
                </a:r>
              </a:p>
            </p:txBody>
          </p:sp>
        </p:grpSp>
        <p:sp>
          <p:nvSpPr>
            <p:cNvPr id="11" name="Oval 22">
              <a:extLst>
                <a:ext uri="{FF2B5EF4-FFF2-40B4-BE49-F238E27FC236}">
                  <a16:creationId xmlns:a16="http://schemas.microsoft.com/office/drawing/2014/main" id="{FF117BE7-4BDE-6D4C-A2D2-4DB4DEB07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4" y="179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2" name="Line 23">
              <a:extLst>
                <a:ext uri="{FF2B5EF4-FFF2-40B4-BE49-F238E27FC236}">
                  <a16:creationId xmlns:a16="http://schemas.microsoft.com/office/drawing/2014/main" id="{6A4457AF-E2FA-4242-BF67-8C3ADD5AF7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0" y="179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3" name="Text Box 24">
              <a:extLst>
                <a:ext uri="{FF2B5EF4-FFF2-40B4-BE49-F238E27FC236}">
                  <a16:creationId xmlns:a16="http://schemas.microsoft.com/office/drawing/2014/main" id="{6CC08803-2374-B748-9D12-8CC3CC324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1" y="1889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17  17</a:t>
              </a:r>
            </a:p>
          </p:txBody>
        </p:sp>
        <p:sp>
          <p:nvSpPr>
            <p:cNvPr id="14" name="Oval 25">
              <a:extLst>
                <a:ext uri="{FF2B5EF4-FFF2-40B4-BE49-F238E27FC236}">
                  <a16:creationId xmlns:a16="http://schemas.microsoft.com/office/drawing/2014/main" id="{B53F38D6-AEA3-9D40-BE7F-50B90163B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798"/>
              <a:ext cx="491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86F70C0E-6BE7-1A4D-95A7-ADAE9E669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3" y="179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6" name="Text Box 27">
              <a:extLst>
                <a:ext uri="{FF2B5EF4-FFF2-40B4-BE49-F238E27FC236}">
                  <a16:creationId xmlns:a16="http://schemas.microsoft.com/office/drawing/2014/main" id="{04CCA7A4-96DB-7147-8F93-552185073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" y="1889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22  22</a:t>
              </a:r>
            </a:p>
          </p:txBody>
        </p:sp>
        <p:sp>
          <p:nvSpPr>
            <p:cNvPr id="17" name="Oval 28">
              <a:extLst>
                <a:ext uri="{FF2B5EF4-FFF2-40B4-BE49-F238E27FC236}">
                  <a16:creationId xmlns:a16="http://schemas.microsoft.com/office/drawing/2014/main" id="{FFE1D790-12BC-3547-B38F-0CAE9F788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9" y="1798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18" name="Line 29">
              <a:extLst>
                <a:ext uri="{FF2B5EF4-FFF2-40B4-BE49-F238E27FC236}">
                  <a16:creationId xmlns:a16="http://schemas.microsoft.com/office/drawing/2014/main" id="{1E5C9DAF-7831-A342-95C6-EBFFC644D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05" y="1799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19" name="Text Box 30">
              <a:extLst>
                <a:ext uri="{FF2B5EF4-FFF2-40B4-BE49-F238E27FC236}">
                  <a16:creationId xmlns:a16="http://schemas.microsoft.com/office/drawing/2014/main" id="{B3BE932A-30CB-EB47-B5B8-729DABF3D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5" y="1889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 dirty="0">
                  <a:solidFill>
                    <a:schemeClr val="tx2"/>
                  </a:solidFill>
                </a:rPr>
                <a:t>24 24</a:t>
              </a:r>
            </a:p>
          </p:txBody>
        </p:sp>
        <p:sp>
          <p:nvSpPr>
            <p:cNvPr id="20" name="Oval 31">
              <a:extLst>
                <a:ext uri="{FF2B5EF4-FFF2-40B4-BE49-F238E27FC236}">
                  <a16:creationId xmlns:a16="http://schemas.microsoft.com/office/drawing/2014/main" id="{773458B0-DFD6-7847-A8CF-3896C99AB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7" y="981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1" name="Line 32">
              <a:extLst>
                <a:ext uri="{FF2B5EF4-FFF2-40B4-BE49-F238E27FC236}">
                  <a16:creationId xmlns:a16="http://schemas.microsoft.com/office/drawing/2014/main" id="{A98296FB-F456-0349-9184-BA3E5265B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" y="982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2" name="Text Box 33">
              <a:extLst>
                <a:ext uri="{FF2B5EF4-FFF2-40B4-BE49-F238E27FC236}">
                  <a16:creationId xmlns:a16="http://schemas.microsoft.com/office/drawing/2014/main" id="{8AAF4FCB-719B-5F4B-884E-91DEFA871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8" y="1072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15  15</a:t>
              </a:r>
            </a:p>
          </p:txBody>
        </p:sp>
        <p:grpSp>
          <p:nvGrpSpPr>
            <p:cNvPr id="23" name="Group 34">
              <a:extLst>
                <a:ext uri="{FF2B5EF4-FFF2-40B4-BE49-F238E27FC236}">
                  <a16:creationId xmlns:a16="http://schemas.microsoft.com/office/drawing/2014/main" id="{3096C5BF-4ED7-C943-805E-96E82123A0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7" y="2569"/>
              <a:ext cx="492" cy="408"/>
              <a:chOff x="385" y="1888"/>
              <a:chExt cx="454" cy="408"/>
            </a:xfrm>
          </p:grpSpPr>
          <p:sp>
            <p:nvSpPr>
              <p:cNvPr id="65" name="Oval 35">
                <a:extLst>
                  <a:ext uri="{FF2B5EF4-FFF2-40B4-BE49-F238E27FC236}">
                    <a16:creationId xmlns:a16="http://schemas.microsoft.com/office/drawing/2014/main" id="{A711408F-6E50-944E-8E33-D89D3F24B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6" name="Line 36">
                <a:extLst>
                  <a:ext uri="{FF2B5EF4-FFF2-40B4-BE49-F238E27FC236}">
                    <a16:creationId xmlns:a16="http://schemas.microsoft.com/office/drawing/2014/main" id="{68B18301-EC21-034F-B5A4-1990AF05A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7" name="Text Box 37">
                <a:extLst>
                  <a:ext uri="{FF2B5EF4-FFF2-40B4-BE49-F238E27FC236}">
                    <a16:creationId xmlns:a16="http://schemas.microsoft.com/office/drawing/2014/main" id="{79856645-433A-9C45-BE2A-C9755BFBD4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403" cy="23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5  12</a:t>
                </a:r>
              </a:p>
            </p:txBody>
          </p:sp>
        </p:grpSp>
        <p:sp>
          <p:nvSpPr>
            <p:cNvPr id="24" name="Oval 38">
              <a:extLst>
                <a:ext uri="{FF2B5EF4-FFF2-40B4-BE49-F238E27FC236}">
                  <a16:creationId xmlns:a16="http://schemas.microsoft.com/office/drawing/2014/main" id="{2CDB0F25-2EA5-6842-A09A-39C04D631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" y="2569"/>
              <a:ext cx="492" cy="40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25" name="Line 39">
              <a:extLst>
                <a:ext uri="{FF2B5EF4-FFF2-40B4-BE49-F238E27FC236}">
                  <a16:creationId xmlns:a16="http://schemas.microsoft.com/office/drawing/2014/main" id="{58D63801-9B73-9248-9168-161891D255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5" y="2570"/>
              <a:ext cx="0" cy="407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6" name="Text Box 40">
              <a:extLst>
                <a:ext uri="{FF2B5EF4-FFF2-40B4-BE49-F238E27FC236}">
                  <a16:creationId xmlns:a16="http://schemas.microsoft.com/office/drawing/2014/main" id="{65C7DB56-9EC1-4646-8001-790608081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0" y="2660"/>
              <a:ext cx="5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800">
                  <a:solidFill>
                    <a:schemeClr val="tx2"/>
                  </a:solidFill>
                </a:rPr>
                <a:t>10  17</a:t>
              </a:r>
            </a:p>
          </p:txBody>
        </p:sp>
        <p:grpSp>
          <p:nvGrpSpPr>
            <p:cNvPr id="27" name="Group 41">
              <a:extLst>
                <a:ext uri="{FF2B5EF4-FFF2-40B4-BE49-F238E27FC236}">
                  <a16:creationId xmlns:a16="http://schemas.microsoft.com/office/drawing/2014/main" id="{FE2DEED8-9453-0646-A9A2-D7DC007FA3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7" y="3204"/>
              <a:ext cx="492" cy="408"/>
              <a:chOff x="385" y="1888"/>
              <a:chExt cx="454" cy="408"/>
            </a:xfrm>
          </p:grpSpPr>
          <p:sp>
            <p:nvSpPr>
              <p:cNvPr id="62" name="Oval 42">
                <a:extLst>
                  <a:ext uri="{FF2B5EF4-FFF2-40B4-BE49-F238E27FC236}">
                    <a16:creationId xmlns:a16="http://schemas.microsoft.com/office/drawing/2014/main" id="{A15A8832-49D0-C04E-9306-AE4C44AAB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888"/>
                <a:ext cx="454" cy="40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chemeClr val="tx2"/>
                  </a:solidFill>
                  <a:latin typeface="Times" pitchFamily="2" charset="0"/>
                </a:endParaRPr>
              </a:p>
            </p:txBody>
          </p:sp>
          <p:sp>
            <p:nvSpPr>
              <p:cNvPr id="63" name="Line 43">
                <a:extLst>
                  <a:ext uri="{FF2B5EF4-FFF2-40B4-BE49-F238E27FC236}">
                    <a16:creationId xmlns:a16="http://schemas.microsoft.com/office/drawing/2014/main" id="{EF98CD6B-F80D-0849-B2B1-C2BF28520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12" y="1889"/>
                <a:ext cx="0" cy="407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64" name="Text Box 44">
                <a:extLst>
                  <a:ext uri="{FF2B5EF4-FFF2-40B4-BE49-F238E27FC236}">
                    <a16:creationId xmlns:a16="http://schemas.microsoft.com/office/drawing/2014/main" id="{2E19860C-EDCC-394C-8526-63EDA70ABA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1979"/>
                <a:ext cx="4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sz="1800">
                    <a:solidFill>
                      <a:schemeClr val="tx2"/>
                    </a:solidFill>
                  </a:rPr>
                  <a:t>4  16</a:t>
                </a:r>
              </a:p>
            </p:txBody>
          </p:sp>
        </p:grpSp>
        <p:sp>
          <p:nvSpPr>
            <p:cNvPr id="28" name="Line 45">
              <a:extLst>
                <a:ext uri="{FF2B5EF4-FFF2-40B4-BE49-F238E27FC236}">
                  <a16:creationId xmlns:a16="http://schemas.microsoft.com/office/drawing/2014/main" id="{38F3EE6C-A929-5240-B00D-CBC649CC5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5" y="1390"/>
              <a:ext cx="295" cy="4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29" name="Text Box 46">
              <a:extLst>
                <a:ext uri="{FF2B5EF4-FFF2-40B4-BE49-F238E27FC236}">
                  <a16:creationId xmlns:a16="http://schemas.microsoft.com/office/drawing/2014/main" id="{07C184ED-28EA-B34F-A86D-7F484C2E7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408605">
              <a:off x="885" y="138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  <p:sp>
          <p:nvSpPr>
            <p:cNvPr id="30" name="Line 47">
              <a:extLst>
                <a:ext uri="{FF2B5EF4-FFF2-40B4-BE49-F238E27FC236}">
                  <a16:creationId xmlns:a16="http://schemas.microsoft.com/office/drawing/2014/main" id="{B9D87B08-08BF-5646-B701-3989B46C6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5" y="1208"/>
              <a:ext cx="93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1" name="Text Box 48">
              <a:extLst>
                <a:ext uri="{FF2B5EF4-FFF2-40B4-BE49-F238E27FC236}">
                  <a16:creationId xmlns:a16="http://schemas.microsoft.com/office/drawing/2014/main" id="{40B52E7B-3B51-B24E-A769-86DD5ACD8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1" y="1027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</a:t>
              </a:r>
            </a:p>
          </p:txBody>
        </p:sp>
        <p:sp>
          <p:nvSpPr>
            <p:cNvPr id="32" name="Line 49">
              <a:extLst>
                <a:ext uri="{FF2B5EF4-FFF2-40B4-BE49-F238E27FC236}">
                  <a16:creationId xmlns:a16="http://schemas.microsoft.com/office/drawing/2014/main" id="{5AE55605-AC1D-D94C-8E51-912039B48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3" y="2025"/>
              <a:ext cx="39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3" name="Text Box 50">
              <a:extLst>
                <a:ext uri="{FF2B5EF4-FFF2-40B4-BE49-F238E27FC236}">
                  <a16:creationId xmlns:a16="http://schemas.microsoft.com/office/drawing/2014/main" id="{B0E66756-2D56-0848-835C-14C9AA5F2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" y="1813"/>
              <a:ext cx="26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34" name="Line 51">
              <a:extLst>
                <a:ext uri="{FF2B5EF4-FFF2-40B4-BE49-F238E27FC236}">
                  <a16:creationId xmlns:a16="http://schemas.microsoft.com/office/drawing/2014/main" id="{2C208E49-825C-1946-B820-3B699AC2D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8" y="1979"/>
              <a:ext cx="44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5" name="Text Box 52">
              <a:extLst>
                <a:ext uri="{FF2B5EF4-FFF2-40B4-BE49-F238E27FC236}">
                  <a16:creationId xmlns:a16="http://schemas.microsoft.com/office/drawing/2014/main" id="{0423A298-7CE2-B94B-A5D3-2B5983C99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7" y="1798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6" name="Line 53">
              <a:extLst>
                <a:ext uri="{FF2B5EF4-FFF2-40B4-BE49-F238E27FC236}">
                  <a16:creationId xmlns:a16="http://schemas.microsoft.com/office/drawing/2014/main" id="{10EA6A7A-B76A-344A-BB92-01B73DEF6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2206"/>
              <a:ext cx="344" cy="4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7" name="Text Box 54">
              <a:extLst>
                <a:ext uri="{FF2B5EF4-FFF2-40B4-BE49-F238E27FC236}">
                  <a16:creationId xmlns:a16="http://schemas.microsoft.com/office/drawing/2014/main" id="{14C41131-A17D-CD4B-BCF8-5439390F3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72417">
              <a:off x="1722" y="2219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38" name="Line 55">
              <a:extLst>
                <a:ext uri="{FF2B5EF4-FFF2-40B4-BE49-F238E27FC236}">
                  <a16:creationId xmlns:a16="http://schemas.microsoft.com/office/drawing/2014/main" id="{A26C0238-7CC6-D34A-8E34-5F4E22648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5" y="2161"/>
              <a:ext cx="344" cy="122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39" name="Line 56">
              <a:extLst>
                <a:ext uri="{FF2B5EF4-FFF2-40B4-BE49-F238E27FC236}">
                  <a16:creationId xmlns:a16="http://schemas.microsoft.com/office/drawing/2014/main" id="{FB3A0301-DB7E-0E4E-BCAC-B1D0A09F7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9" y="3385"/>
              <a:ext cx="176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0" name="Text Box 57">
              <a:extLst>
                <a:ext uri="{FF2B5EF4-FFF2-40B4-BE49-F238E27FC236}">
                  <a16:creationId xmlns:a16="http://schemas.microsoft.com/office/drawing/2014/main" id="{5126825C-61E7-A84A-B6BD-AFE903BFA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" y="3204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90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1" name="Line 58">
              <a:extLst>
                <a:ext uri="{FF2B5EF4-FFF2-40B4-BE49-F238E27FC236}">
                  <a16:creationId xmlns:a16="http://schemas.microsoft.com/office/drawing/2014/main" id="{1BDD18DA-73E9-1446-AEFA-9AB4128B8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0" y="2796"/>
              <a:ext cx="53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2" name="Text Box 59">
              <a:extLst>
                <a:ext uri="{FF2B5EF4-FFF2-40B4-BE49-F238E27FC236}">
                  <a16:creationId xmlns:a16="http://schemas.microsoft.com/office/drawing/2014/main" id="{EC137D29-2001-1345-9472-24BEB2F49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7" y="2614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40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43" name="Line 60">
              <a:extLst>
                <a:ext uri="{FF2B5EF4-FFF2-40B4-BE49-F238E27FC236}">
                  <a16:creationId xmlns:a16="http://schemas.microsoft.com/office/drawing/2014/main" id="{65C11FAE-0F61-8041-887C-094B371B1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9" y="1208"/>
              <a:ext cx="492" cy="6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4" name="Text Box 61">
              <a:extLst>
                <a:ext uri="{FF2B5EF4-FFF2-40B4-BE49-F238E27FC236}">
                  <a16:creationId xmlns:a16="http://schemas.microsoft.com/office/drawing/2014/main" id="{845DFD84-8BD6-6449-B659-A413854FA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46679">
              <a:off x="3048" y="1312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25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45" name="Line 62">
              <a:extLst>
                <a:ext uri="{FF2B5EF4-FFF2-40B4-BE49-F238E27FC236}">
                  <a16:creationId xmlns:a16="http://schemas.microsoft.com/office/drawing/2014/main" id="{756E1321-E5F8-C24D-809B-2F3619C74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2" y="1979"/>
              <a:ext cx="44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6" name="Text Box 63">
              <a:extLst>
                <a:ext uri="{FF2B5EF4-FFF2-40B4-BE49-F238E27FC236}">
                  <a16:creationId xmlns:a16="http://schemas.microsoft.com/office/drawing/2014/main" id="{EB166DA5-7D07-2047-97D4-84A34B480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0" y="1798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70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12</a:t>
              </a:r>
            </a:p>
          </p:txBody>
        </p:sp>
        <p:sp>
          <p:nvSpPr>
            <p:cNvPr id="47" name="Line 64">
              <a:extLst>
                <a:ext uri="{FF2B5EF4-FFF2-40B4-BE49-F238E27FC236}">
                  <a16:creationId xmlns:a16="http://schemas.microsoft.com/office/drawing/2014/main" id="{B96692AB-84F9-4F4B-8867-F092AAC34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" y="2206"/>
              <a:ext cx="148" cy="40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sysDot"/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8" name="Line 65">
              <a:extLst>
                <a:ext uri="{FF2B5EF4-FFF2-40B4-BE49-F238E27FC236}">
                  <a16:creationId xmlns:a16="http://schemas.microsoft.com/office/drawing/2014/main" id="{0463A020-6942-ED49-BE9B-CC503B326C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6" y="1979"/>
              <a:ext cx="44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49" name="Text Box 66">
              <a:extLst>
                <a:ext uri="{FF2B5EF4-FFF2-40B4-BE49-F238E27FC236}">
                  <a16:creationId xmlns:a16="http://schemas.microsoft.com/office/drawing/2014/main" id="{6E33DAB4-2DE1-D146-BF47-A373DED61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4" y="1774"/>
              <a:ext cx="295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80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 dirty="0">
                  <a:solidFill>
                    <a:schemeClr val="tx2"/>
                  </a:solidFill>
                </a:rPr>
                <a:t>5</a:t>
              </a:r>
            </a:p>
          </p:txBody>
        </p:sp>
        <p:sp>
          <p:nvSpPr>
            <p:cNvPr id="50" name="Line 67">
              <a:extLst>
                <a:ext uri="{FF2B5EF4-FFF2-40B4-BE49-F238E27FC236}">
                  <a16:creationId xmlns:a16="http://schemas.microsoft.com/office/drawing/2014/main" id="{09CE1EA0-2DCB-B346-86EE-C91DDD84A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9" y="1979"/>
              <a:ext cx="5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1" name="Text Box 68">
              <a:extLst>
                <a:ext uri="{FF2B5EF4-FFF2-40B4-BE49-F238E27FC236}">
                  <a16:creationId xmlns:a16="http://schemas.microsoft.com/office/drawing/2014/main" id="{EA3CB545-FA7A-C44F-8E28-36FDDBE2F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8" y="1798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110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52" name="Line 69">
              <a:extLst>
                <a:ext uri="{FF2B5EF4-FFF2-40B4-BE49-F238E27FC236}">
                  <a16:creationId xmlns:a16="http://schemas.microsoft.com/office/drawing/2014/main" id="{9E3284EE-3998-1B4D-B906-2748129BD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2" y="2161"/>
              <a:ext cx="883" cy="54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3" name="Line 70">
              <a:extLst>
                <a:ext uri="{FF2B5EF4-FFF2-40B4-BE49-F238E27FC236}">
                  <a16:creationId xmlns:a16="http://schemas.microsoft.com/office/drawing/2014/main" id="{39CEF28C-DE6B-D345-B22D-6E5A3D925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0" y="2206"/>
              <a:ext cx="394" cy="104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>
                <a:solidFill>
                  <a:schemeClr val="tx2"/>
                </a:solidFill>
              </a:endParaRPr>
            </a:p>
          </p:txBody>
        </p:sp>
        <p:sp>
          <p:nvSpPr>
            <p:cNvPr id="54" name="Text Box 71">
              <a:extLst>
                <a:ext uri="{FF2B5EF4-FFF2-40B4-BE49-F238E27FC236}">
                  <a16:creationId xmlns:a16="http://schemas.microsoft.com/office/drawing/2014/main" id="{F1D2D12E-B700-3E45-95D6-CD594298D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794493">
              <a:off x="3736" y="2251"/>
              <a:ext cx="29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50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55" name="Text Box 72">
              <a:extLst>
                <a:ext uri="{FF2B5EF4-FFF2-40B4-BE49-F238E27FC236}">
                  <a16:creationId xmlns:a16="http://schemas.microsoft.com/office/drawing/2014/main" id="{7D6F467C-3C05-AE43-8A66-FA09E9636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628351">
              <a:off x="4055" y="2538"/>
              <a:ext cx="344" cy="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100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1400">
                  <a:solidFill>
                    <a:schemeClr val="tx2"/>
                  </a:solidFill>
                </a:rPr>
                <a:t>6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FC69A5E-BE1D-8F40-995F-307087DE6CFF}"/>
              </a:ext>
            </a:extLst>
          </p:cNvPr>
          <p:cNvSpPr txBox="1"/>
          <p:nvPr/>
        </p:nvSpPr>
        <p:spPr>
          <a:xfrm>
            <a:off x="5350669" y="2158654"/>
            <a:ext cx="3505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FF0000"/>
                </a:solidFill>
              </a:rPr>
              <a:t>a task that can start at different time without affect whole project’s finish time. 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DD77A27-492D-F646-AA52-79B30319B698}"/>
              </a:ext>
            </a:extLst>
          </p:cNvPr>
          <p:cNvCxnSpPr>
            <a:cxnSpLocks/>
          </p:cNvCxnSpPr>
          <p:nvPr/>
        </p:nvCxnSpPr>
        <p:spPr>
          <a:xfrm flipH="1" flipV="1">
            <a:off x="4350758" y="1326210"/>
            <a:ext cx="1079048" cy="94031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1BAA620-03A3-5046-936C-D47AA71B02E2}"/>
              </a:ext>
            </a:extLst>
          </p:cNvPr>
          <p:cNvSpPr txBox="1"/>
          <p:nvPr/>
        </p:nvSpPr>
        <p:spPr>
          <a:xfrm>
            <a:off x="7114678" y="4614163"/>
            <a:ext cx="16563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FF0000"/>
                </a:solidFill>
              </a:rPr>
              <a:t>the task’s earliest start time is different from the latest start time.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9AC48F4-077E-3941-84B6-3C3915F8B5FC}"/>
              </a:ext>
            </a:extLst>
          </p:cNvPr>
          <p:cNvCxnSpPr>
            <a:cxnSpLocks/>
          </p:cNvCxnSpPr>
          <p:nvPr/>
        </p:nvCxnSpPr>
        <p:spPr>
          <a:xfrm flipH="1" flipV="1">
            <a:off x="6909593" y="2945697"/>
            <a:ext cx="735899" cy="172799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F80B3BF-376B-0442-9A42-30BC86D371C5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6167226" y="5491326"/>
            <a:ext cx="947452" cy="26345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F7C4E70-B4F5-9C42-91C7-2D9F3D6807A0}"/>
              </a:ext>
            </a:extLst>
          </p:cNvPr>
          <p:cNvCxnSpPr>
            <a:cxnSpLocks/>
          </p:cNvCxnSpPr>
          <p:nvPr/>
        </p:nvCxnSpPr>
        <p:spPr>
          <a:xfrm flipH="1" flipV="1">
            <a:off x="5131887" y="4962616"/>
            <a:ext cx="2080173" cy="1944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718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D0F24E6-9479-385F-31C2-E62DFD43418B}"/>
              </a:ext>
            </a:extLst>
          </p:cNvPr>
          <p:cNvCxnSpPr/>
          <p:nvPr/>
        </p:nvCxnSpPr>
        <p:spPr>
          <a:xfrm>
            <a:off x="2141220" y="2971800"/>
            <a:ext cx="1310640" cy="0"/>
          </a:xfrm>
          <a:prstGeom prst="line">
            <a:avLst/>
          </a:prstGeom>
          <a:ln w="25400">
            <a:solidFill>
              <a:srgbClr val="0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EF02627-1CC2-CE4F-9D4C-54EDA2789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3600" dirty="0"/>
              <a:t>Gantt chart: Notation</a:t>
            </a: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E3346-0150-0242-BB85-C45AE1AE3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34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634A047-570A-BE44-9CDF-0CC6BB04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86" y="1853448"/>
            <a:ext cx="3024187" cy="409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6AC1DAF-4462-1342-8379-F81701ED3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87" y="2567406"/>
            <a:ext cx="1912054" cy="409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59D6953-2FB5-6840-AA70-03B9688D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700" y="1770521"/>
            <a:ext cx="23070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chemeClr val="tx2"/>
                </a:solidFill>
                <a:latin typeface="Arial Unicode MS" panose="020B0604020202020204" pitchFamily="34" charset="-128"/>
              </a:rPr>
              <a:t>Activity timeline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CF3F52F8-EF1F-964E-9025-80212F94F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576" y="2500649"/>
            <a:ext cx="4015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chemeClr val="tx2"/>
                </a:solidFill>
                <a:latin typeface="Arial Unicode MS" panose="020B0604020202020204" pitchFamily="34" charset="-128"/>
              </a:rPr>
              <a:t>Activity with float time (dark)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CE6CF687-1753-4F43-9765-5059BA686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1" y="3278426"/>
            <a:ext cx="501650" cy="409953"/>
          </a:xfrm>
          <a:prstGeom prst="diamond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2"/>
              </a:solidFill>
              <a:latin typeface="Times" pitchFamily="2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A360A3B1-0849-774F-BF99-F9D36E3D0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3252569"/>
            <a:ext cx="165735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dirty="0">
                <a:solidFill>
                  <a:schemeClr val="tx2"/>
                </a:solidFill>
                <a:latin typeface="Arial Unicode MS" panose="020B0604020202020204" pitchFamily="34" charset="-128"/>
              </a:rPr>
              <a:t>Milestone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80951F-0199-3243-B561-E8060C08E5B2}"/>
              </a:ext>
            </a:extLst>
          </p:cNvPr>
          <p:cNvSpPr txBox="1"/>
          <p:nvPr/>
        </p:nvSpPr>
        <p:spPr>
          <a:xfrm>
            <a:off x="395536" y="836713"/>
            <a:ext cx="8461127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/>
                </a:solidFill>
              </a:rPr>
              <a:t>Gantt, H.L. (1910). "Work, Wages and Profit". </a:t>
            </a:r>
            <a:r>
              <a:rPr lang="en-GB" sz="2400" i="1" dirty="0">
                <a:solidFill>
                  <a:schemeClr val="accent5"/>
                </a:solidFill>
                <a:hlinkClick r:id="rId2" tooltip="Engineering Magazin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Engineering Magazine</a:t>
            </a:r>
            <a:r>
              <a:rPr lang="en-GB" sz="2400" dirty="0">
                <a:solidFill>
                  <a:schemeClr val="accent5"/>
                </a:solidFill>
              </a:rPr>
              <a:t>. New York.</a:t>
            </a:r>
          </a:p>
        </p:txBody>
      </p:sp>
      <p:pic>
        <p:nvPicPr>
          <p:cNvPr id="14" name="Picture 115" descr="Pert_example_gantt_chart">
            <a:hlinkClick r:id="rId3"/>
            <a:extLst>
              <a:ext uri="{FF2B5EF4-FFF2-40B4-BE49-F238E27FC236}">
                <a16:creationId xmlns:a16="http://schemas.microsoft.com/office/drawing/2014/main" id="{53EE501B-4D7F-CD4A-8C13-05DCD3D68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86" y="4270488"/>
            <a:ext cx="8179699" cy="188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160">
            <a:extLst>
              <a:ext uri="{FF2B5EF4-FFF2-40B4-BE49-F238E27FC236}">
                <a16:creationId xmlns:a16="http://schemas.microsoft.com/office/drawing/2014/main" id="{568FBFBC-858B-9144-9FDC-002166EDF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689" y="3314434"/>
            <a:ext cx="2016125" cy="720725"/>
          </a:xfrm>
          <a:prstGeom prst="wedgeRoundRectCallout">
            <a:avLst>
              <a:gd name="adj1" fmla="val -41968"/>
              <a:gd name="adj2" fmla="val 87005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chemeClr val="tx2"/>
                </a:solidFill>
              </a:rPr>
              <a:t>Using Microsoft project</a:t>
            </a:r>
          </a:p>
        </p:txBody>
      </p:sp>
    </p:spTree>
    <p:extLst>
      <p:ext uri="{BB962C8B-B14F-4D97-AF65-F5344CB8AC3E}">
        <p14:creationId xmlns:p14="http://schemas.microsoft.com/office/powerpoint/2010/main" val="2011978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4A78-E345-394A-9F9D-2CF955AA5B6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3200" dirty="0"/>
              <a:t>Gantt Chart with Summary and Milestones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F2894-F59B-C94A-BCB0-BD0B1740C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35</a:t>
            </a:fld>
            <a:endParaRPr lang="en-US" dirty="0"/>
          </a:p>
        </p:txBody>
      </p:sp>
      <p:pic>
        <p:nvPicPr>
          <p:cNvPr id="5" name="Picture 2" descr="gantt_ex4">
            <a:extLst>
              <a:ext uri="{FF2B5EF4-FFF2-40B4-BE49-F238E27FC236}">
                <a16:creationId xmlns:a16="http://schemas.microsoft.com/office/drawing/2014/main" id="{2B564BC7-097C-5C4E-B9E7-3CFDD1B838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4"/>
          <a:stretch/>
        </p:blipFill>
        <p:spPr bwMode="auto">
          <a:xfrm>
            <a:off x="313275" y="1023582"/>
            <a:ext cx="8543388" cy="555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8747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2C97-EE76-334B-85C6-3BF1134A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Other Uses of Gantt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F2A89-66AB-FC48-97D2-EBAD585D9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36</a:t>
            </a:fld>
            <a:endParaRPr 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9EC20262-A8FB-3644-888A-5D35E1ECCF3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12526"/>
            <a:ext cx="8603332" cy="4878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9AED4E-94A0-944F-AB72-8D4E61AFDBD0}"/>
              </a:ext>
            </a:extLst>
          </p:cNvPr>
          <p:cNvSpPr txBox="1"/>
          <p:nvPr/>
        </p:nvSpPr>
        <p:spPr>
          <a:xfrm>
            <a:off x="395536" y="963713"/>
            <a:ext cx="8367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Staff Workload</a:t>
            </a:r>
          </a:p>
        </p:txBody>
      </p:sp>
    </p:spTree>
    <p:extLst>
      <p:ext uri="{BB962C8B-B14F-4D97-AF65-F5344CB8AC3E}">
        <p14:creationId xmlns:p14="http://schemas.microsoft.com/office/powerpoint/2010/main" val="3460364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E4C5-1F3E-B940-9413-19DA66E8C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CA58B1-9566-7749-B3B2-59C474A93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Basics of software project management </a:t>
            </a:r>
          </a:p>
          <a:p>
            <a:pPr lvl="1"/>
            <a:r>
              <a:rPr lang="en-GB" dirty="0"/>
              <a:t>The aspects: what to be managed</a:t>
            </a:r>
          </a:p>
          <a:p>
            <a:pPr lvl="1"/>
            <a:r>
              <a:rPr lang="en-GB" dirty="0"/>
              <a:t>The means: how to manage</a:t>
            </a:r>
          </a:p>
          <a:p>
            <a:pPr>
              <a:spcBef>
                <a:spcPts val="300"/>
              </a:spcBef>
            </a:pPr>
            <a:r>
              <a:rPr lang="en-GB" dirty="0"/>
              <a:t>Key techniques of software project management</a:t>
            </a:r>
          </a:p>
          <a:p>
            <a:pPr lvl="1"/>
            <a:r>
              <a:rPr lang="en-GB" dirty="0"/>
              <a:t>Risk management</a:t>
            </a:r>
          </a:p>
          <a:p>
            <a:pPr lvl="2"/>
            <a:r>
              <a:rPr lang="en-GB" dirty="0"/>
              <a:t>The notion of risk and types of risks</a:t>
            </a:r>
          </a:p>
          <a:p>
            <a:pPr lvl="2"/>
            <a:r>
              <a:rPr lang="en-GB" dirty="0"/>
              <a:t>Activities and processes</a:t>
            </a:r>
          </a:p>
          <a:p>
            <a:pPr lvl="3"/>
            <a:r>
              <a:rPr lang="en-GB" dirty="0"/>
              <a:t>Risk identification, risk planning, risk assessment, risk monitoring, </a:t>
            </a:r>
          </a:p>
          <a:p>
            <a:pPr lvl="1"/>
            <a:r>
              <a:rPr lang="en-GB" dirty="0"/>
              <a:t>Project planning </a:t>
            </a:r>
          </a:p>
          <a:p>
            <a:pPr lvl="2"/>
            <a:r>
              <a:rPr lang="en-GB" dirty="0"/>
              <a:t>Activities and processes: </a:t>
            </a:r>
          </a:p>
          <a:p>
            <a:pPr lvl="3"/>
            <a:r>
              <a:rPr lang="en-GB" dirty="0"/>
              <a:t>Task analysis: identification and decomposition</a:t>
            </a:r>
          </a:p>
          <a:p>
            <a:pPr lvl="3"/>
            <a:r>
              <a:rPr lang="en-GB" dirty="0"/>
              <a:t>Product analysis: decomposition and relating to tasks</a:t>
            </a:r>
          </a:p>
          <a:p>
            <a:pPr lvl="3"/>
            <a:r>
              <a:rPr lang="en-GB" dirty="0"/>
              <a:t>Resource analysis: estimation of resource requirements</a:t>
            </a:r>
          </a:p>
          <a:p>
            <a:pPr lvl="3"/>
            <a:r>
              <a:rPr lang="en-GB" dirty="0"/>
              <a:t>Resource allocation and scheduling: </a:t>
            </a:r>
          </a:p>
          <a:p>
            <a:pPr lvl="2"/>
            <a:r>
              <a:rPr lang="en-GB" dirty="0"/>
              <a:t>Techniques:</a:t>
            </a:r>
          </a:p>
          <a:p>
            <a:pPr lvl="3"/>
            <a:r>
              <a:rPr lang="en-GB" dirty="0"/>
              <a:t>Pert chart, Gantt chart </a:t>
            </a:r>
          </a:p>
          <a:p>
            <a:pPr lvl="3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3A524-055E-BC43-9650-3F62EF241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8214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B5B62-3B2E-5D49-AEEA-C16D2C76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Further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EB89C-72AC-8847-9AAA-AECE1D8F9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Sommerville, I., </a:t>
            </a:r>
            <a:r>
              <a:rPr lang="en-GB" sz="2800" i="1" dirty="0"/>
              <a:t>Software Engineering</a:t>
            </a:r>
            <a:r>
              <a:rPr lang="en-GB" sz="2800" dirty="0"/>
              <a:t>, 9</a:t>
            </a:r>
            <a:r>
              <a:rPr lang="en-GB" sz="2800" baseline="30000" dirty="0"/>
              <a:t>th</a:t>
            </a:r>
            <a:r>
              <a:rPr lang="en-GB" sz="2800" dirty="0"/>
              <a:t> Eds. 2011, Pearson. </a:t>
            </a:r>
          </a:p>
          <a:p>
            <a:pPr lvl="1"/>
            <a:r>
              <a:rPr lang="en-GB" sz="2400" dirty="0"/>
              <a:t>Chapter 22: Project Management</a:t>
            </a:r>
          </a:p>
          <a:p>
            <a:pPr lvl="1"/>
            <a:r>
              <a:rPr lang="en-GB" sz="2400" dirty="0"/>
              <a:t>Chapter 23: Project planning</a:t>
            </a:r>
          </a:p>
          <a:p>
            <a:pPr lvl="1"/>
            <a:r>
              <a:rPr lang="en-GB" sz="2400" dirty="0"/>
              <a:t>Chapter 25: Configuration management</a:t>
            </a:r>
          </a:p>
          <a:p>
            <a:r>
              <a:rPr lang="en-GB" sz="2800" dirty="0"/>
              <a:t>Pressman, R. S., and Ince, D. </a:t>
            </a:r>
            <a:r>
              <a:rPr lang="en-GB" sz="2800" i="1" dirty="0"/>
              <a:t>Software Engineering: A Practitioner’s Approach</a:t>
            </a:r>
            <a:r>
              <a:rPr lang="en-GB" sz="2800" dirty="0"/>
              <a:t>, 5</a:t>
            </a:r>
            <a:r>
              <a:rPr lang="en-GB" sz="2800" baseline="30000" dirty="0"/>
              <a:t>th</a:t>
            </a:r>
            <a:r>
              <a:rPr lang="en-GB" sz="2800" dirty="0"/>
              <a:t> Eds. McGraw Hill. </a:t>
            </a:r>
          </a:p>
          <a:p>
            <a:pPr lvl="1"/>
            <a:r>
              <a:rPr lang="en-GB" sz="2400" dirty="0"/>
              <a:t>Chapter 5: Software Project Planning</a:t>
            </a:r>
          </a:p>
          <a:p>
            <a:pPr lvl="1"/>
            <a:r>
              <a:rPr lang="en-GB" sz="2400" dirty="0"/>
              <a:t>Chapter 6: Risk Analysis and Management</a:t>
            </a:r>
          </a:p>
          <a:p>
            <a:pPr lvl="1"/>
            <a:r>
              <a:rPr lang="en-GB" sz="2400" dirty="0"/>
              <a:t>Chapter 7: Project Scheduling and Tracking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E1044-5B3C-DA44-A729-0272E2D7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AF88E988-FB04-AB4E-BE5A-59F242AF7F7A}" type="slidenum">
              <a:rPr lang="en-US" smtClean="0"/>
              <a:pPr algn="r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10003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Custom 18">
      <a:dk1>
        <a:srgbClr val="A2AD00"/>
      </a:dk1>
      <a:lt1>
        <a:srgbClr val="FFFFFF"/>
      </a:lt1>
      <a:dk2>
        <a:srgbClr val="000000"/>
      </a:dk2>
      <a:lt2>
        <a:srgbClr val="36424A"/>
      </a:lt2>
      <a:accent1>
        <a:srgbClr val="A2AD00"/>
      </a:accent1>
      <a:accent2>
        <a:srgbClr val="970074"/>
      </a:accent2>
      <a:accent3>
        <a:srgbClr val="C90044"/>
      </a:accent3>
      <a:accent4>
        <a:srgbClr val="EDB700"/>
      </a:accent4>
      <a:accent5>
        <a:srgbClr val="00338E"/>
      </a:accent5>
      <a:accent6>
        <a:srgbClr val="00693E"/>
      </a:accent6>
      <a:hlink>
        <a:srgbClr val="A2AD00"/>
      </a:hlink>
      <a:folHlink>
        <a:srgbClr val="36424A"/>
      </a:folHlink>
    </a:clrScheme>
    <a:fontScheme name="Custom 6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0">
          <a:solidFill>
            <a:srgbClr val="FF0000">
              <a:alpha val="30000"/>
            </a:srgbClr>
          </a:solidFill>
          <a:prstDash val="dash"/>
          <a:tailEnd type="stealth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4745</TotalTime>
  <Words>2362</Words>
  <Application>Microsoft Office PowerPoint</Application>
  <PresentationFormat>On-screen Show (4:3)</PresentationFormat>
  <Paragraphs>634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 Unicode MS</vt:lpstr>
      <vt:lpstr>Arial</vt:lpstr>
      <vt:lpstr>Calibri</vt:lpstr>
      <vt:lpstr>Courier New</vt:lpstr>
      <vt:lpstr>Times</vt:lpstr>
      <vt:lpstr>Times New Roman</vt:lpstr>
      <vt:lpstr>Wingdings</vt:lpstr>
      <vt:lpstr>Default Theme</vt:lpstr>
      <vt:lpstr>Software Engineering</vt:lpstr>
      <vt:lpstr>Today’s Learning Outcomes</vt:lpstr>
      <vt:lpstr>1. Basics of Project Management</vt:lpstr>
      <vt:lpstr>The Aspects </vt:lpstr>
      <vt:lpstr>The Means</vt:lpstr>
      <vt:lpstr>2. Risk Management </vt:lpstr>
      <vt:lpstr>Risks and Uncertainty</vt:lpstr>
      <vt:lpstr>Classification of SE Risks</vt:lpstr>
      <vt:lpstr>Risk Management Activities</vt:lpstr>
      <vt:lpstr>Risk Identification</vt:lpstr>
      <vt:lpstr>Risk Assessment Chart</vt:lpstr>
      <vt:lpstr>3. Project Planning</vt:lpstr>
      <vt:lpstr>SE Project Planning Activities</vt:lpstr>
      <vt:lpstr>SE Project Planning Activities (1)</vt:lpstr>
      <vt:lpstr>SE Project Planning Activities (2)</vt:lpstr>
      <vt:lpstr>Task Decomposition</vt:lpstr>
      <vt:lpstr>Work Breakdown Structure (1)</vt:lpstr>
      <vt:lpstr>Work Breakdown Structure (2)</vt:lpstr>
      <vt:lpstr>Work Breakdown Structure (3)</vt:lpstr>
      <vt:lpstr>How to decompose a project into tasks</vt:lpstr>
      <vt:lpstr>Product Decomposition</vt:lpstr>
      <vt:lpstr>Relations between Tasks and Products</vt:lpstr>
      <vt:lpstr>Identification of Task Dependences</vt:lpstr>
      <vt:lpstr>Task Duration Estimates</vt:lpstr>
      <vt:lpstr>Estimating Task Durations</vt:lpstr>
      <vt:lpstr>PERT Chart: Notation</vt:lpstr>
      <vt:lpstr>Example: (1) Results of Task Analysis</vt:lpstr>
      <vt:lpstr>Example: (2) Construction of PERT Chart</vt:lpstr>
      <vt:lpstr>Dummy Activity (1)</vt:lpstr>
      <vt:lpstr>Dummy Activity (2)</vt:lpstr>
      <vt:lpstr>Example: (3) Calculation of earliest start times</vt:lpstr>
      <vt:lpstr>Example: (4) Calculation of latest finish times </vt:lpstr>
      <vt:lpstr>Example: (5) Identifying critical path</vt:lpstr>
      <vt:lpstr>Gantt chart: Notation</vt:lpstr>
      <vt:lpstr>Gantt Chart with Summary and Milestones</vt:lpstr>
      <vt:lpstr>Other Uses of Gantt Chart</vt:lpstr>
      <vt:lpstr>Summary</vt:lpstr>
      <vt:lpstr>Further 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COMP6030 (U08173) Software Engineering</dc:title>
  <dc:creator>Hong Zhu</dc:creator>
  <cp:lastModifiedBy>Aymen Chebira</cp:lastModifiedBy>
  <cp:revision>56</cp:revision>
  <dcterms:created xsi:type="dcterms:W3CDTF">2019-10-03T12:32:39Z</dcterms:created>
  <dcterms:modified xsi:type="dcterms:W3CDTF">2023-10-08T08:07:48Z</dcterms:modified>
</cp:coreProperties>
</file>